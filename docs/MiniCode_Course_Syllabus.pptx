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9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86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400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84124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67928" y="84124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69096" y="841248"/>
            <a:ext cx="128016" cy="128016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1097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minicode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Find out why the solution
  isn't compiling and fix it.
</a:t>
            </a:r>
            <a:r>
              <a:rPr lang="en-US" sz="9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Inspect → Build → Fix → 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· C# · PROJECT-BASED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Mini Claude Code–Style Agent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Microsoft Agent Framework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single-agent, tool-driven coding assistant — from first principles to a shippable .NET CLI capstone: MiniCode.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011680" cy="0"/>
          </a:xfrm>
          <a:prstGeom prst="line">
            <a:avLst/>
          </a:prstGeom>
          <a:noFill/>
          <a:ln w="31750">
            <a:solidFill>
              <a:srgbClr val="00D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project-based course teaches how to build a practical AI coding agent in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using Microsoft Agent Framework (MAF)</a:t>
            </a: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The finished application resembles a lightweight Claude Code: a command-line assistant that examines a .NET repository, understands a request, selects and invokes tools, edits source, builds, tests, inspects errors, self-corrects, and reports its changes.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251960"/>
            <a:ext cx="6035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NO ORCHESTRA.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manager, planner, coding, testing, or reviewer agent. A single CodingAgent uses tools and an iterative loop to accomplish the entire task — keeping the architecture understandable while teaching the real mechanics behind production coding agents.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18872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0" y="135331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0" y="11887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foundations to capstone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88036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304495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Microsoft Agent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457200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5400000" algn="bl" rotWithShape="0">
              <a:srgbClr val="BFC9E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473659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45720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CodingAgent, tool-driven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learning objectives, grouped into five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agents vs. chatbots; build with MAF; connect an LLM; create strongly typed C# tools.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Understanding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075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repo safely; enforce workspace boundaries; search and read code efficiently.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813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context without dumping the repo; summarize completed work; compact long sessions; plan and track tasks.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Build &amp; Repair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3813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under control; run dotnet build/test; capture output; iteratively diagnose and repair code.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5212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Safety &amp; Delivery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5504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Git status/diff/log; require human approval; stream activity; ship CLI modes and a full autonomous workflow.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512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by design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5486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built by one agent with tools — no multi-agent orchestration required to reach a production-quality capstone.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>
            <a:extLst>
              <a:ext uri="{FF2B5EF4-FFF2-40B4-BE49-F238E27FC236}">
                <a16:creationId xmlns:a16="http://schemas.microsoft.com/office/drawing/2014/main" id="{3DCBAB02-AC66-525D-769D-ADB2904BFD4A}"/>
              </a:ext>
            </a:extLst>
          </p:cNvPr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Single-Agent Philosophy</a:t>
            </a:r>
            <a:endParaRPr lang="en-US" sz="32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EE494214-F1CC-9225-3FE1-BACC079F5706}"/>
              </a:ext>
            </a:extLst>
          </p:cNvPr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CodingAgent. Many tools. A repeating loop.</a:t>
            </a:r>
            <a:endParaRPr lang="en-US" sz="1300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AC746BC0-8D22-A9F1-A3FA-61DF11ADF712}"/>
              </a:ext>
            </a:extLst>
          </p:cNvPr>
          <p:cNvSpPr/>
          <p:nvPr/>
        </p:nvSpPr>
        <p:spPr>
          <a:xfrm>
            <a:off x="2926080" y="2514600"/>
            <a:ext cx="2103120" cy="2103120"/>
          </a:xfrm>
          <a:prstGeom prst="ellipse">
            <a:avLst/>
          </a:prstGeom>
          <a:solidFill>
            <a:srgbClr val="00D26A"/>
          </a:solidFill>
          <a:ln/>
          <a:effectLst>
            <a:outerShdw blurRad="127000" dist="38100" dir="5400000" algn="bl" rotWithShape="0">
              <a:srgbClr val="00291A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1DB3B4DD-0B7C-B73B-D0B5-653DE0FA9551}"/>
              </a:ext>
            </a:extLst>
          </p:cNvPr>
          <p:cNvSpPr/>
          <p:nvPr/>
        </p:nvSpPr>
        <p:spPr>
          <a:xfrm>
            <a:off x="292608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CodingAgent</a:t>
            </a:r>
            <a:endParaRPr lang="en-US" sz="1500" dirty="0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EE17D7FD-5193-2831-A430-5CBE563C3676}"/>
              </a:ext>
            </a:extLst>
          </p:cNvPr>
          <p:cNvSpPr/>
          <p:nvPr/>
        </p:nvSpPr>
        <p:spPr>
          <a:xfrm>
            <a:off x="2926080" y="14630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2C3EB362-7448-A7A7-0A37-A68BB9DE76B2}"/>
              </a:ext>
            </a:extLst>
          </p:cNvPr>
          <p:cNvSpPr/>
          <p:nvPr/>
        </p:nvSpPr>
        <p:spPr>
          <a:xfrm>
            <a:off x="2999232" y="146304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 / ReadFile</a:t>
            </a:r>
            <a:endParaRPr lang="en-US" sz="1050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1D5C255B-1117-24E2-9E35-3379D1523211}"/>
              </a:ext>
            </a:extLst>
          </p:cNvPr>
          <p:cNvSpPr/>
          <p:nvPr/>
        </p:nvSpPr>
        <p:spPr>
          <a:xfrm>
            <a:off x="5360947" y="2386192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65150C20-DCBD-B62B-09D8-F3D5EF371002}"/>
              </a:ext>
            </a:extLst>
          </p:cNvPr>
          <p:cNvSpPr/>
          <p:nvPr/>
        </p:nvSpPr>
        <p:spPr>
          <a:xfrm>
            <a:off x="5434099" y="2386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SearchFiles</a:t>
            </a:r>
            <a:endParaRPr lang="en-US" sz="105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F6795A57-1791-F8C1-1996-770EAFB7B230}"/>
              </a:ext>
            </a:extLst>
          </p:cNvPr>
          <p:cNvSpPr/>
          <p:nvPr/>
        </p:nvSpPr>
        <p:spPr>
          <a:xfrm>
            <a:off x="5305081" y="4114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66EBEB74-C987-22EB-7E67-6B47771ACB9D}"/>
              </a:ext>
            </a:extLst>
          </p:cNvPr>
          <p:cNvSpPr/>
          <p:nvPr/>
        </p:nvSpPr>
        <p:spPr>
          <a:xfrm>
            <a:off x="5378233" y="411480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EditFile / WriteFile</a:t>
            </a:r>
            <a:endParaRPr lang="en-US" sz="105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C58C031-D994-303E-017A-C52E00769C77}"/>
              </a:ext>
            </a:extLst>
          </p:cNvPr>
          <p:cNvSpPr/>
          <p:nvPr/>
        </p:nvSpPr>
        <p:spPr>
          <a:xfrm>
            <a:off x="2926080" y="5429125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AA7F057B-F59E-F095-85E9-2C19126DA12E}"/>
              </a:ext>
            </a:extLst>
          </p:cNvPr>
          <p:cNvSpPr/>
          <p:nvPr/>
        </p:nvSpPr>
        <p:spPr>
          <a:xfrm>
            <a:off x="2999232" y="5429125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RunCommand</a:t>
            </a:r>
            <a:endParaRPr lang="en-US" sz="1050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CA34809D-8935-C641-E29E-82456B94A412}"/>
              </a:ext>
            </a:extLst>
          </p:cNvPr>
          <p:cNvSpPr/>
          <p:nvPr/>
        </p:nvSpPr>
        <p:spPr>
          <a:xfrm>
            <a:off x="553154" y="4114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E5BAEB3D-FA99-2458-E57A-0BAF49985276}"/>
              </a:ext>
            </a:extLst>
          </p:cNvPr>
          <p:cNvSpPr/>
          <p:nvPr/>
        </p:nvSpPr>
        <p:spPr>
          <a:xfrm>
            <a:off x="628700" y="4143839"/>
            <a:ext cx="1956816" cy="4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GitStatus / Diff / Log</a:t>
            </a:r>
            <a:endParaRPr lang="en-US" sz="1050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C146E867-C880-5CBB-8898-8FC16E21E994}"/>
              </a:ext>
            </a:extLst>
          </p:cNvPr>
          <p:cNvSpPr/>
          <p:nvPr/>
        </p:nvSpPr>
        <p:spPr>
          <a:xfrm>
            <a:off x="553154" y="244602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A390918B-B453-3FFF-DD2D-5993140E9280}"/>
              </a:ext>
            </a:extLst>
          </p:cNvPr>
          <p:cNvSpPr/>
          <p:nvPr/>
        </p:nvSpPr>
        <p:spPr>
          <a:xfrm>
            <a:off x="626306" y="24460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Middleware</a:t>
            </a:r>
            <a:endParaRPr lang="en-US" sz="1050" dirty="0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9E7AE53D-7B26-3BF2-8CD3-68F08982372A}"/>
              </a:ext>
            </a:extLst>
          </p:cNvPr>
          <p:cNvSpPr/>
          <p:nvPr/>
        </p:nvSpPr>
        <p:spPr>
          <a:xfrm>
            <a:off x="800100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A891B9B3-F3A3-3BD3-A8C3-DEA6771F50BD}"/>
              </a:ext>
            </a:extLst>
          </p:cNvPr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</a:t>
            </a:r>
            <a:endParaRPr lang="en-US" sz="1300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E2361882-8344-251C-0326-56336FB5B231}"/>
              </a:ext>
            </a:extLst>
          </p:cNvPr>
          <p:cNvSpPr/>
          <p:nvPr/>
        </p:nvSpPr>
        <p:spPr>
          <a:xfrm>
            <a:off x="8275320" y="224028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coding / test / reviewer 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</a:t>
            </a:r>
            <a:endParaRPr lang="en-US" sz="125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DC32F813-68DA-CB33-EB7F-21FA548180AA}"/>
              </a:ext>
            </a:extLst>
          </p:cNvPr>
          <p:cNvSpPr/>
          <p:nvPr/>
        </p:nvSpPr>
        <p:spPr>
          <a:xfrm>
            <a:off x="827532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is the subject of a follow-on course.</a:t>
            </a:r>
            <a:endParaRPr lang="en-US" sz="105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444558E-7A8D-6232-FF08-C178BB9CAD75}"/>
              </a:ext>
            </a:extLst>
          </p:cNvPr>
          <p:cNvCxnSpPr>
            <a:stCxn id="52" idx="0"/>
            <a:endCxn id="55" idx="2"/>
          </p:cNvCxnSpPr>
          <p:nvPr/>
        </p:nvCxnSpPr>
        <p:spPr>
          <a:xfrm flipV="1">
            <a:off x="3977640" y="1965960"/>
            <a:ext cx="0" cy="548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81AA026-DDCB-20C6-6285-772F948C3E02}"/>
              </a:ext>
            </a:extLst>
          </p:cNvPr>
          <p:cNvCxnSpPr>
            <a:stCxn id="52" idx="4"/>
            <a:endCxn id="60" idx="0"/>
          </p:cNvCxnSpPr>
          <p:nvPr/>
        </p:nvCxnSpPr>
        <p:spPr>
          <a:xfrm>
            <a:off x="3977640" y="4617720"/>
            <a:ext cx="0" cy="811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Capstone: MiniCode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CLI application the student builds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41B49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MyProject
$ minicode
</a:t>
            </a:r>
            <a:r>
              <a:rPr lang="en-US" sz="13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Find out why the solution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isn't compiling and fix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MiniCode does autonomously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95728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42816" y="425196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42816" y="42519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95728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95728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42816" y="4974336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42816" y="49743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95728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95728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GitDiff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42816" y="5696712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0D26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42816" y="56967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508760"/>
            <a:ext cx="56235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keeps working until it: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33172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2487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completed and verified by build and test.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38328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it can't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recognizes it cannot complete the task and reports why.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434840"/>
            <a:ext cx="146304" cy="146304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940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4590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hits an operation — like a destructive command or git push — that requires human sign-off.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Progression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basics → tools → repository understanding → context → planning → editing → execution → autonomous loop → self-correction → Git → safety → CLI modes → observability → packaging → capstone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678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6118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85846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5846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5–9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12157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3597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13325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Execution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13325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10–13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9635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1075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40803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Safety &amp; CLI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40803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14–16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67114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94"/>
                </a:solidFill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58554" y="2011680"/>
            <a:ext cx="2154326" cy="914400"/>
          </a:xfrm>
          <a:prstGeom prst="roundRect">
            <a:avLst>
              <a:gd name="adj" fmla="val 8000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68282" y="2121408"/>
            <a:ext cx="1934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Deliver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68282" y="2542032"/>
            <a:ext cx="1934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17–19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“v” milestones this course consolidates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read access, repo discovery, MAF basics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8912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editing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365760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9244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92440" y="40965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 &amp; early self-correction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 &amp; human approval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8912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loop &amp; self-correction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470916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92440" y="4782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92440" y="5148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context management, planning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76072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" y="5833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v0.7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" y="61996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the developer CLI operating modes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Foundations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paradigm, stand up MAF, and design the solution before writing agent logic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Coding Agents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vs. agents, agentic execution loops, tool calling, and why Claude Code–style systems are primarily agent harnesses.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1588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15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0056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0056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1588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Fundamentals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1588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agent, model providers, instructions, sessions, messages, tool calling, and streaming responses.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916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MiniCode Solution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91656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Cli, Agent, Tools, Workspace, and Infrastructure projects with clear responsibilities.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38844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21724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217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21724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Workspace Sandbox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1724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root, path normalization, allowed/ignored directories — the agent must never escape its sandbox.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Context &amp;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eyes on the repo, then teach it to manage context and plan before acting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3334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334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Agent Read Access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ListFiles, ReadFile, SearchFiles — MAF tool registration, parameters, and returning useful results to the model.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676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676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Discovery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4944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.sln, .csproj, global.json and more to summarize solution structure, projects, and dependencies.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5488" y="141732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with AGENTS.md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368" y="269748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and load repository-specific rules, combining system and project instructions.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133344" y="42702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33344" y="4270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84632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&amp; Compaction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31520" y="534924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Search-before-read instead of reading everything; periodically summarize completed work and compact long sessions.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22064" y="4069080"/>
            <a:ext cx="3544824" cy="2423160"/>
          </a:xfrm>
          <a:prstGeom prst="roundRect">
            <a:avLst>
              <a:gd name="adj" fmla="val 339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04944" y="4251960"/>
            <a:ext cx="502920" cy="502920"/>
          </a:xfrm>
          <a:prstGeom prst="ellipse">
            <a:avLst/>
          </a:prstGeom>
          <a:solidFill>
            <a:srgbClr val="334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04944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06768" y="42702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06768" y="4270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v0.6/0.7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04944" y="484632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Task State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04944" y="534924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request into an inspectable task plan; track pending/in-progress/complete/blocked state; replan as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· Editing &amp;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change code, run the build, and correct its own mistakes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8998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8998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Editing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WriteFile and EditFile with targeted, deterministic edits — preferred over rewriting whole files.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8708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1588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15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0056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0056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1588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 Execution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1588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RunCommand wraps dotnet restore/build/test/format with timeouts, cancellation, and allowlists.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916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5012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5012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91656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Coding Loop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91656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build → examine errors → search → edit → rebuild, with stopping conditions and loop limits.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8844" y="1417320"/>
            <a:ext cx="2601468" cy="5074920"/>
          </a:xfrm>
          <a:prstGeom prst="roundRect">
            <a:avLst>
              <a:gd name="adj" fmla="val 316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21724" y="1600200"/>
            <a:ext cx="502920" cy="502920"/>
          </a:xfrm>
          <a:prstGeom prst="ellipse">
            <a:avLst/>
          </a:prstGeom>
          <a:solidFill>
            <a:srgbClr val="466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217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v0.3/0.5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21724" y="2194560"/>
            <a:ext cx="22357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&amp; Self-Correction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21724" y="2697480"/>
            <a:ext cx="22357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parse test output, interpret failures, and drive test-driven agent repair.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· Git, Safety &amp; CLI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version-control awareness, human guardrails, and a real developer-facing interface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33344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3344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GitStatus, GitDiff, GitLog — the agent can inspect changes but cannot commit automatically.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6768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6768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&amp; Safety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4944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operations run freely; destructive ones (delete, push, package install) require explicit approval.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5488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5A8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80192" y="16184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8019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CLI &amp; Operating Modes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368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/plan, /diff, /test, /review, /commit — distinct modes layered on top of one agent, with streamed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· Ship &amp; Deliver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agent, package it as a real tool, and prove it end to 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of agent requests, tool calls, durations, token use, and full execution traces.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064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04944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4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4944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MiniCode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4944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 a .NET global tool: dotnet tool install -g MiniCode, with configuration and credentials.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417320"/>
            <a:ext cx="3544824" cy="5074920"/>
          </a:xfrm>
          <a:prstGeom prst="roundRect">
            <a:avLst>
              <a:gd name="adj" fmla="val 23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8368" y="1600200"/>
            <a:ext cx="502920" cy="502920"/>
          </a:xfrm>
          <a:prstGeom prst="ellipse">
            <a:avLst/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83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8368" y="219456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8368" y="2697480"/>
            <a:ext cx="31790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production-quality MiniCode that completes a real development task fully autonomously.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MAF agent — intelligence centralized, everything else deterministic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228600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301752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Coding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0" cy="228600"/>
          </a:xfrm>
          <a:prstGeom prst="line">
            <a:avLst/>
          </a:prstGeom>
          <a:noFill/>
          <a:ln w="1905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0760" y="2788920"/>
            <a:ext cx="0" cy="228600"/>
          </a:xfrm>
          <a:prstGeom prst="line">
            <a:avLst/>
          </a:prstGeom>
          <a:noFill/>
          <a:ln w="1905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5458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5001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5001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5477256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80160" y="54772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32220" y="3566160"/>
            <a:ext cx="0" cy="0"/>
          </a:xfrm>
          <a:prstGeom prst="line">
            <a:avLst/>
          </a:prstGeom>
          <a:noFill/>
          <a:ln w="15875">
            <a:solidFill>
              <a:srgbClr val="5A6B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96000" y="3566160"/>
            <a:ext cx="0" cy="411480"/>
          </a:xfrm>
          <a:prstGeom prst="line">
            <a:avLst/>
          </a:prstGeom>
          <a:noFill/>
          <a:ln w="15875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3977549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408727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4526189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4526189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5001677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500167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52660" y="3566160"/>
            <a:ext cx="0" cy="0"/>
          </a:xfrm>
          <a:prstGeom prst="line">
            <a:avLst/>
          </a:prstGeom>
          <a:noFill/>
          <a:ln w="15875">
            <a:solidFill>
              <a:srgbClr val="5A6B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3566160"/>
            <a:ext cx="0" cy="91"/>
          </a:xfrm>
          <a:prstGeom prst="line">
            <a:avLst/>
          </a:prstGeom>
          <a:noFill/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595360" y="3977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3252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7824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7824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78240" y="5001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78240" y="5001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78240" y="5477256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78240" y="54772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80560" y="6263640"/>
            <a:ext cx="32004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80560" y="6263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Repository</a:t>
            </a:r>
            <a:endParaRPr lang="en-US" sz="1250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409EA42D-CD83-B570-BA07-CDC0D8BAE09A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4114800" y="2011680"/>
            <a:ext cx="205740" cy="37261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090AB8F-BA42-F828-AC49-A376F313F110}"/>
              </a:ext>
            </a:extLst>
          </p:cNvPr>
          <p:cNvCxnSpPr>
            <a:cxnSpLocks/>
            <a:stCxn id="35" idx="0"/>
          </p:cNvCxnSpPr>
          <p:nvPr/>
        </p:nvCxnSpPr>
        <p:spPr>
          <a:xfrm rot="16200000" flipV="1">
            <a:off x="7871460" y="1996440"/>
            <a:ext cx="205740" cy="375666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told which files to open or what commands to run…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155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886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12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24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55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281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93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224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50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62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893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619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83140" y="14630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5629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28860" y="17190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155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886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12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824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55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281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93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24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50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162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893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619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83140" y="2377440"/>
            <a:ext cx="1729740" cy="777240"/>
          </a:xfrm>
          <a:prstGeom prst="roundRect">
            <a:avLst>
              <a:gd name="adj" fmla="val 8235"/>
            </a:avLst>
          </a:prstGeom>
          <a:solidFill>
            <a:srgbClr val="00D2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562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28860" y="2633472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703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CustomerService tests are failing.
  Find the problem and fix it.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assignment walks the full loop, for example: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3492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so customers without an email address can't be created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appropriate unit tests, then build, test, diagnose, and repair until green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final git diff and explain the completed changes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8229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41B49"/>
          </a:solidFill>
          <a:ln w="12700">
            <a:solidFill>
              <a:srgbClr val="5A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03920" y="10515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build
</a:t>
            </a:r>
            <a:r>
              <a:rPr lang="en-US" sz="11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succeeded.
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test
</a:t>
            </a:r>
            <a:r>
              <a:rPr lang="en-US" sz="1100" b="1" dirty="0">
                <a:solidFill>
                  <a:srgbClr val="00D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Passed! 42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A Complete Coding Workflow.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agentic loops through a production-quality capstone, this course builds a full mental model — and a working tool — for what today's coding agents actually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011680" cy="0"/>
          </a:xfrm>
          <a:prstGeom prst="line">
            <a:avLst/>
          </a:prstGeom>
          <a:noFill/>
          <a:ln w="31750">
            <a:solidFill>
              <a:srgbClr val="00D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— manager, architect, and reviewer agents — is the next course.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1440</Words>
  <Application>Microsoft Office PowerPoint</Application>
  <PresentationFormat>Widescreen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 Tryon</cp:lastModifiedBy>
  <cp:revision>3</cp:revision>
  <dcterms:created xsi:type="dcterms:W3CDTF">2026-09-05T01:40:20Z</dcterms:created>
  <dcterms:modified xsi:type="dcterms:W3CDTF">2026-09-05T01:49:46Z</dcterms:modified>
</cp:coreProperties>
</file>