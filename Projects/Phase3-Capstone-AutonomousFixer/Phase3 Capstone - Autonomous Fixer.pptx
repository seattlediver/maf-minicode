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gave MiniCode hands: it can edit files, run a shell command, loop until a build or test run passes, and read what the test runner actually said. This Capstone stamps that as v0.3, and fixes three seams that only show up once the Phase is looked at as a whole. We start from the Module 13 folder. Setup: nothing new, no package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Phase 3 is in this folder: safe file editing from Module 10, running a process safely and the command allow list from Modules 11a and 11b, the autonomous coding loop from Module 12, and automated testing and self-correction from Module 13, plus everything Phase 1 and Phase 2 built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Phase is where the interactions surface. Every Module in Phase 3 was verified in isolation and every one worked. The three defects only exist between Modules. None of them was visible from inside the Module that introduced the code, only once a later Module changed what that code actually 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Seam one: the 'no changes' notice stopped being true the moment it mattered. Planner.NoChangesNotice has read 'No files have been modified.' since Module 9, when it was accurate: nothing in the solution could modify a file yet. Module 10 gave MiniCode edit_file and write_file, and Module 12 put those tools in a loop that runs immediately after the plan is shown. The notice kept printing, describing a run that was about to make it false within seconds. The fix is one word: modified yet. It still prints in the same place, at the same moment; it now claims only what is true at that moment. A worded guarantee has an expiry date set by whatever Module ships next, not by the Module that wrote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Seam two: compaction forgot half of what the agent had tried. Module 8b's WorkingState distills a compacted run into what must survive, but it only ever watched file-shaped tool calls. Module 11a added run_command, a tool with no path argument at all, so FileNote never saw it. An agent mid-loop that had already run dotnet build twice would lose both attempts the moment the session compacted, and could re-run a command it had already tried. WorkingNoteKind gains a CommandRun kind, and WorkingState records one for every run_command call. CommandNote checks the tool name the same way FileNote checks for write_file and edit_file. It describes the call with JsonSerializer.Serialize, the same serialization Module 12 uses to compare tool calls, because ToString on an array-valued argument prints the type name, not its contents. Label grew one case so these notes render under their own heading, 'Commands already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Seam three: the context budget can't see the loop it was built for. Module 8a's whole premise is that every path that spends the window reports it. CodingAgent.RunStreamingAsync charges the estimate of update.ToString() for each streamed update, but that only concatenates TextContent. A tool call and its result carry no TextContent at all, so ToString silently returns an empty string for both. That was a rounding error before Module 12 called up to twenty tools in one turn, some of them run_command results carrying thousands of characters of build or test output. The budget now also charges the serialized call arguments and the result text for every FunctionCallContent and FunctionResultContent in the update. The fix lives entirely inside the await foreach loop: it adds no new call, no new type and no new dependency. A result is charged with a plain ToString, because it is already the string MiniCode's tools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v0.3 is. MiniCode can now read a repository, plan against it, edit a file, run a command from a fixed allow list, and keep looping build-then-test attempts until they pass or a guard trips it. All the while, a compaction preserves both the files it touched and the commands it already tried, and a context estimate finally counts what those commands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correlate a command's outcome, not just its shape. CommandNote records what was run but not whether it succeeded; a note reading dotnet test looks identical whether that run passed or failed. Use the FunctionResultContent's matching CallId to find the tool result that followed the call, and fold its exit code into the note, for example 'dotnet test, exit 0'. Acceptance criteria: a passing command's note ends differently from a failing one; a run_command call whose result has not arrived yet renders without a status rather than throwing; every other note kind is unaffected. Two: make the plan reflect what actually happened. TaskPlan's WithState, Current and IsComplete have existed since Module 9 and nothing calls them during an autonomous run. After RunStreamingAsync completes, mark a plan step complete when its title contains 'build' or 'test' and the most recent matching run_command in the session history returned exit code 0. Acceptance criteria: a plan whose build step ran clean renders [x] for that step; a step whose last matching command failed stays [ ]; steps with no matching command are untouched; the plan is re-rendered once, after the run, below the answer. Neither has a reference implementation in a later Module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output, captured by calling this Capstone's own MiniCode.Agent code directly, with no model call involved, since all three seams are deterministic. Seam one: No files have been modified yet. Seam two: WorkingState across a build, fail, edit, build, pass run, then compacted. The slide leaves out the 'What was established' and 'Files already examined' sections, which record the fixed semicolon and src/Program.cs (modified); the new section is Commands already run. Seam three: the same update shapes RunStreamingAsync sees mid-loop. callUpdate.ToString() and resultUpdate.ToString() are both empty, and before this Capstone those empty strings were all the budget saw. ToolActivityText now returns the call's arguments and the result's text; the result line is left off the slide. A full autonomous run needs a live OPENAI_API_KEY: a condensed exit code 2 failure points at a file and line, read_file or search_files finds the method, edit_file corrects it, and run_command runs the suite again to confirm. The difference now is that WorkingState keeps a record of every one of those commands if the session compacts mid-loop, and the context estimate reflects what each of them cost. Five files differ from the Module 13 folder: MiniCodeVersion.cs, Planner.cs, WorkingNoteKind.cs, WorkingState.cs and CodingAgent.cs.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v0.3 is not: nobody is asked permission for any of it. Every edit lands, every command runs, every loop iteration fires, with no pause for a human to say yes. That is deliberate. Module 14 gives MiniCode Git, so it can see its own trail instead of relying on memory that compaction can discard, and Module 15 is what finally asks. Module 17 makes a run legible from the outside with structured tracing, and Module 18 packages MiniCode as a global tool, stamping the version this Capstone moved. One more gap: the plan shown at the start of a turn is still just a snapshot. Its per-step markers stay unticked even after the loop finishes the step, because nothing in Phase 3 writes back to a TaskPlan once planning is done. That predates this Phase: Module 9 built the state machine and nothing has driven it since.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PHASE 3 CAPSTONE  ·  V0.3</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Autonomous Fixer</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Phase 3 — Taking Action, consolidated</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Module13-AutomatedTestingAndSelfCorrection/</a:t>
            </a:r>
            <a:endParaRPr lang="en-US" sz="9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Phase3-Capstone-AutonomousFixer/</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MiniCode v0.3 can do on its own</a:t>
            </a:r>
            <a:endParaRPr lang="en-US" sz="1300" dirty="0"/>
          </a:p>
        </p:txBody>
      </p:sp>
      <p:sp>
        <p:nvSpPr>
          <p:cNvPr id="14" name="Shape 11"/>
          <p:cNvSpPr/>
          <p:nvPr/>
        </p:nvSpPr>
        <p:spPr>
          <a:xfrm>
            <a:off x="5257800" y="205282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2133661"/>
            <a:ext cx="149230" cy="149230"/>
          </a:xfrm>
          <a:prstGeom prst="rect">
            <a:avLst/>
          </a:prstGeom>
        </p:spPr>
      </p:pic>
      <p:sp>
        <p:nvSpPr>
          <p:cNvPr id="16" name="Text 12"/>
          <p:cNvSpPr txBox="1"/>
          <p:nvPr/>
        </p:nvSpPr>
        <p:spPr>
          <a:xfrm>
            <a:off x="5715000" y="20345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defects surface between Modules, not inside them</a:t>
            </a:r>
            <a:endParaRPr lang="en-US" sz="1300" dirty="0"/>
          </a:p>
        </p:txBody>
      </p:sp>
      <p:sp>
        <p:nvSpPr>
          <p:cNvPr id="17" name="Shape 13"/>
          <p:cNvSpPr/>
          <p:nvPr/>
        </p:nvSpPr>
        <p:spPr>
          <a:xfrm>
            <a:off x="5257800" y="285292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933761"/>
            <a:ext cx="149230" cy="149230"/>
          </a:xfrm>
          <a:prstGeom prst="rect">
            <a:avLst/>
          </a:prstGeom>
        </p:spPr>
      </p:pic>
      <p:sp>
        <p:nvSpPr>
          <p:cNvPr id="19" name="Text 14"/>
          <p:cNvSpPr txBox="1"/>
          <p:nvPr/>
        </p:nvSpPr>
        <p:spPr>
          <a:xfrm>
            <a:off x="5715000" y="28346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Three seams Phase 3 left behind, and their fixes</a:t>
            </a:r>
            <a:endParaRPr lang="en-US" sz="1300" dirty="0"/>
          </a:p>
        </p:txBody>
      </p:sp>
      <p:sp>
        <p:nvSpPr>
          <p:cNvPr id="20" name="Shape 15"/>
          <p:cNvSpPr/>
          <p:nvPr/>
        </p:nvSpPr>
        <p:spPr>
          <a:xfrm>
            <a:off x="5257800" y="365302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733861"/>
            <a:ext cx="149230" cy="149230"/>
          </a:xfrm>
          <a:prstGeom prst="rect">
            <a:avLst/>
          </a:prstGeom>
        </p:spPr>
      </p:pic>
      <p:sp>
        <p:nvSpPr>
          <p:cNvPr id="22" name="Text 16"/>
          <p:cNvSpPr txBox="1"/>
          <p:nvPr/>
        </p:nvSpPr>
        <p:spPr>
          <a:xfrm>
            <a:off x="5715000" y="36347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v0.3 still does without asking anyone</a:t>
            </a:r>
            <a:endParaRPr lang="en-US" sz="1300" dirty="0"/>
          </a:p>
        </p:txBody>
      </p:sp>
      <p:sp>
        <p:nvSpPr>
          <p:cNvPr id="23"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Phase 3 Capstone — Autonomous Fixer</a:t>
            </a:r>
            <a:endParaRPr lang="en-US" sz="900" dirty="0"/>
          </a:p>
        </p:txBody>
      </p:sp>
      <p:sp>
        <p:nvSpPr>
          <p:cNvPr id="24"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WHERE WE ARE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Everything Phase 3 built</a:t>
            </a:r>
            <a:endParaRPr lang="en-US" sz="2800" dirty="0"/>
          </a:p>
        </p:txBody>
      </p:sp>
      <p:sp>
        <p:nvSpPr>
          <p:cNvPr id="4" name="Shape 2"/>
          <p:cNvSpPr/>
          <p:nvPr/>
        </p:nvSpPr>
        <p:spPr>
          <a:xfrm>
            <a:off x="457200" y="1371600"/>
            <a:ext cx="256032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Module 10</a:t>
            </a:r>
            <a:endParaRPr lang="en-US" sz="1500" dirty="0"/>
          </a:p>
        </p:txBody>
      </p:sp>
      <p:sp>
        <p:nvSpPr>
          <p:cNvPr id="8" name="Text 5"/>
          <p:cNvSpPr txBox="1"/>
          <p:nvPr/>
        </p:nvSpPr>
        <p:spPr>
          <a:xfrm>
            <a:off x="64008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Safe file editing: write_file and edit_file</a:t>
            </a:r>
            <a:endParaRPr lang="en-US" sz="1200" dirty="0"/>
          </a:p>
        </p:txBody>
      </p:sp>
      <p:sp>
        <p:nvSpPr>
          <p:cNvPr id="9" name="Shape 6"/>
          <p:cNvSpPr/>
          <p:nvPr/>
        </p:nvSpPr>
        <p:spPr>
          <a:xfrm>
            <a:off x="3291840" y="1371600"/>
            <a:ext cx="256032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Module 11a</a:t>
            </a:r>
            <a:endParaRPr lang="en-US" sz="1500" dirty="0"/>
          </a:p>
        </p:txBody>
      </p:sp>
      <p:sp>
        <p:nvSpPr>
          <p:cNvPr id="13" name="Text 9"/>
          <p:cNvSpPr txBox="1"/>
          <p:nvPr/>
        </p:nvSpPr>
        <p:spPr>
          <a:xfrm>
            <a:off x="347472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Running a process safely</a:t>
            </a:r>
            <a:endParaRPr lang="en-US" sz="1200" dirty="0"/>
          </a:p>
        </p:txBody>
      </p:sp>
      <p:sp>
        <p:nvSpPr>
          <p:cNvPr id="14" name="Shape 10"/>
          <p:cNvSpPr/>
          <p:nvPr/>
        </p:nvSpPr>
        <p:spPr>
          <a:xfrm>
            <a:off x="6126480" y="1371600"/>
            <a:ext cx="256032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Module 11b</a:t>
            </a:r>
            <a:endParaRPr lang="en-US" sz="1500" dirty="0"/>
          </a:p>
        </p:txBody>
      </p:sp>
      <p:sp>
        <p:nvSpPr>
          <p:cNvPr id="18" name="Text 13"/>
          <p:cNvSpPr txBox="1"/>
          <p:nvPr/>
        </p:nvSpPr>
        <p:spPr>
          <a:xfrm>
            <a:off x="630936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command allow list</a:t>
            </a:r>
            <a:endParaRPr lang="en-US" sz="1200" dirty="0"/>
          </a:p>
        </p:txBody>
      </p:sp>
      <p:sp>
        <p:nvSpPr>
          <p:cNvPr id="19" name="Shape 14"/>
          <p:cNvSpPr/>
          <p:nvPr/>
        </p:nvSpPr>
        <p:spPr>
          <a:xfrm>
            <a:off x="457200" y="2994660"/>
            <a:ext cx="256032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64008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39932" y="3277392"/>
            <a:ext cx="184343" cy="184343"/>
          </a:xfrm>
          <a:prstGeom prst="rect">
            <a:avLst/>
          </a:prstGeom>
        </p:spPr>
      </p:pic>
      <p:sp>
        <p:nvSpPr>
          <p:cNvPr id="22" name="Text 16"/>
          <p:cNvSpPr txBox="1"/>
          <p:nvPr/>
        </p:nvSpPr>
        <p:spPr>
          <a:xfrm>
            <a:off x="1143000" y="317754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Module 12</a:t>
            </a:r>
            <a:endParaRPr lang="en-US" sz="1500" dirty="0"/>
          </a:p>
        </p:txBody>
      </p:sp>
      <p:sp>
        <p:nvSpPr>
          <p:cNvPr id="23" name="Text 17"/>
          <p:cNvSpPr txBox="1"/>
          <p:nvPr/>
        </p:nvSpPr>
        <p:spPr>
          <a:xfrm>
            <a:off x="64008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autonomous coding loop and its guard</a:t>
            </a:r>
            <a:endParaRPr lang="en-US" sz="1200" dirty="0"/>
          </a:p>
        </p:txBody>
      </p:sp>
      <p:sp>
        <p:nvSpPr>
          <p:cNvPr id="24" name="Shape 18"/>
          <p:cNvSpPr/>
          <p:nvPr/>
        </p:nvSpPr>
        <p:spPr>
          <a:xfrm>
            <a:off x="3291840" y="2994660"/>
            <a:ext cx="2560320" cy="1394460"/>
          </a:xfrm>
          <a:prstGeom prst="roundRect">
            <a:avLst>
              <a:gd name="adj" fmla="val 5246"/>
            </a:avLst>
          </a:prstGeom>
          <a:solidFill>
            <a:srgbClr val="EFEBFC"/>
          </a:solidFill>
          <a:ln w="12700">
            <a:solidFill>
              <a:srgbClr val="EFEBFC"/>
            </a:solidFill>
            <a:prstDash val="solid"/>
          </a:ln>
        </p:spPr>
      </p:sp>
      <p:sp>
        <p:nvSpPr>
          <p:cNvPr id="25" name="Shape 19"/>
          <p:cNvSpPr/>
          <p:nvPr/>
        </p:nvSpPr>
        <p:spPr>
          <a:xfrm>
            <a:off x="3474720" y="3177540"/>
            <a:ext cx="384048" cy="384048"/>
          </a:xfrm>
          <a:prstGeom prst="ellipse">
            <a:avLst/>
          </a:prstGeom>
          <a:solidFill>
            <a:srgbClr val="512BD4"/>
          </a:solidFill>
          <a:ln w="12700">
            <a:solidFill>
              <a:srgbClr val="512BD4"/>
            </a:solidFill>
            <a:prstDash val="solid"/>
          </a:ln>
        </p:spPr>
      </p:sp>
      <p:pic>
        <p:nvPicPr>
          <p:cNvPr id="26" name="Image 4" descr="preencoded.png">    </p:cNvPr>
          <p:cNvPicPr>
            <a:picLocks noChangeAspect="1"/>
          </p:cNvPicPr>
          <p:nvPr/>
        </p:nvPicPr>
        <p:blipFill>
          <a:blip r:embed="rId5"/>
          <a:stretch>
            <a:fillRect/>
          </a:stretch>
        </p:blipFill>
        <p:spPr>
          <a:xfrm>
            <a:off x="3574572" y="3277392"/>
            <a:ext cx="184343" cy="184343"/>
          </a:xfrm>
          <a:prstGeom prst="rect">
            <a:avLst/>
          </a:prstGeom>
        </p:spPr>
      </p:pic>
      <p:sp>
        <p:nvSpPr>
          <p:cNvPr id="27" name="Text 20"/>
          <p:cNvSpPr txBox="1"/>
          <p:nvPr/>
        </p:nvSpPr>
        <p:spPr>
          <a:xfrm>
            <a:off x="3977640" y="317754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Module 13</a:t>
            </a:r>
            <a:endParaRPr lang="en-US" sz="1500" dirty="0"/>
          </a:p>
        </p:txBody>
      </p:sp>
      <p:sp>
        <p:nvSpPr>
          <p:cNvPr id="28" name="Text 21"/>
          <p:cNvSpPr txBox="1"/>
          <p:nvPr/>
        </p:nvSpPr>
        <p:spPr>
          <a:xfrm>
            <a:off x="347472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Test output the model can read</a:t>
            </a:r>
            <a:endParaRPr lang="en-US" sz="1200" dirty="0"/>
          </a:p>
        </p:txBody>
      </p:sp>
      <p:sp>
        <p:nvSpPr>
          <p:cNvPr id="29" name="Shape 22"/>
          <p:cNvSpPr/>
          <p:nvPr/>
        </p:nvSpPr>
        <p:spPr>
          <a:xfrm>
            <a:off x="6126480" y="2994660"/>
            <a:ext cx="2560320" cy="1394460"/>
          </a:xfrm>
          <a:prstGeom prst="roundRect">
            <a:avLst>
              <a:gd name="adj" fmla="val 5246"/>
            </a:avLst>
          </a:prstGeom>
          <a:solidFill>
            <a:srgbClr val="512BD4"/>
          </a:solidFill>
          <a:ln w="12700">
            <a:solidFill>
              <a:srgbClr val="512BD4"/>
            </a:solidFill>
            <a:prstDash val="solid"/>
          </a:ln>
        </p:spPr>
      </p:sp>
      <p:sp>
        <p:nvSpPr>
          <p:cNvPr id="30" name="Shape 23"/>
          <p:cNvSpPr/>
          <p:nvPr/>
        </p:nvSpPr>
        <p:spPr>
          <a:xfrm>
            <a:off x="6309360" y="3177540"/>
            <a:ext cx="384048" cy="384048"/>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6409212" y="3277392"/>
            <a:ext cx="184343" cy="184343"/>
          </a:xfrm>
          <a:prstGeom prst="rect">
            <a:avLst/>
          </a:prstGeom>
        </p:spPr>
      </p:pic>
      <p:sp>
        <p:nvSpPr>
          <p:cNvPr id="32" name="Text 24"/>
          <p:cNvSpPr txBox="1"/>
          <p:nvPr/>
        </p:nvSpPr>
        <p:spPr>
          <a:xfrm>
            <a:off x="6812280" y="317754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Underneath</a:t>
            </a:r>
            <a:endParaRPr lang="en-US" sz="1500" dirty="0"/>
          </a:p>
        </p:txBody>
      </p:sp>
      <p:sp>
        <p:nvSpPr>
          <p:cNvPr id="33" name="Text 25"/>
          <p:cNvSpPr txBox="1"/>
          <p:nvPr/>
        </p:nvSpPr>
        <p:spPr>
          <a:xfrm>
            <a:off x="6309360" y="3680460"/>
            <a:ext cx="2194560" cy="6172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Everything Phases 1 and 2 built</a:t>
            </a:r>
            <a:endParaRPr lang="en-US" sz="1200" dirty="0"/>
          </a:p>
        </p:txBody>
      </p:sp>
      <p:sp>
        <p:nvSpPr>
          <p:cNvPr id="34"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3 Capstone — Autonomous Fixer</a:t>
            </a:r>
            <a:endParaRPr lang="en-US" sz="900" dirty="0"/>
          </a:p>
        </p:txBody>
      </p:sp>
      <p:sp>
        <p:nvSpPr>
          <p:cNvPr id="35"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Phase is where the interactions surface</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Three seams</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Each Module worked on its own. Each seam broke once a later Module changed what the code faced.</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Module 9 to 10</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notice that stopped being true</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Module 8b to 11a</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Compaction that forgot the commands</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Module 8a to 12</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budget blind to tool calls</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None was visible from inside the Module that introduced the code.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3 Capstone — Autonomous Fixer</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SEAM ONE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guarantee with an expiry date</a:t>
            </a:r>
            <a:endParaRPr lang="en-US" sz="2800" dirty="0"/>
          </a:p>
        </p:txBody>
      </p:sp>
      <p:sp>
        <p:nvSpPr>
          <p:cNvPr id="4" name="Shape 2"/>
          <p:cNvSpPr/>
          <p:nvPr/>
        </p:nvSpPr>
        <p:spPr>
          <a:xfrm>
            <a:off x="457200" y="1371600"/>
            <a:ext cx="3931920" cy="2606040"/>
          </a:xfrm>
          <a:prstGeom prst="roundRect">
            <a:avLst>
              <a:gd name="adj" fmla="val 280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Since Module 9</a:t>
            </a:r>
            <a:endParaRPr lang="en-US" sz="1700" dirty="0"/>
          </a:p>
        </p:txBody>
      </p:sp>
      <p:sp>
        <p:nvSpPr>
          <p:cNvPr id="8" name="Text 5"/>
          <p:cNvSpPr txBox="1"/>
          <p:nvPr/>
        </p:nvSpPr>
        <p:spPr>
          <a:xfrm>
            <a:off x="685800" y="2194560"/>
            <a:ext cx="3474720" cy="3657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True then: nothing could write a file</a:t>
            </a:r>
            <a:endParaRPr lang="en-US" sz="1300" dirty="0"/>
          </a:p>
        </p:txBody>
      </p:sp>
      <p:sp>
        <p:nvSpPr>
          <p:cNvPr id="9" name="Shape 6"/>
          <p:cNvSpPr/>
          <p:nvPr/>
        </p:nvSpPr>
        <p:spPr>
          <a:xfrm>
            <a:off x="685800" y="2633472"/>
            <a:ext cx="3474720" cy="1143000"/>
          </a:xfrm>
          <a:prstGeom prst="roundRect">
            <a:avLst>
              <a:gd name="adj" fmla="val 6400"/>
            </a:avLst>
          </a:prstGeom>
          <a:solidFill>
            <a:srgbClr val="0F1420"/>
          </a:solidFill>
          <a:ln w="12700">
            <a:solidFill>
              <a:srgbClr val="0F1420"/>
            </a:solidFill>
            <a:prstDash val="solid"/>
          </a:ln>
        </p:spPr>
      </p:sp>
      <p:sp>
        <p:nvSpPr>
          <p:cNvPr id="10" name="Text 7"/>
          <p:cNvSpPr txBox="1"/>
          <p:nvPr/>
        </p:nvSpPr>
        <p:spPr>
          <a:xfrm>
            <a:off x="868680" y="2770632"/>
            <a:ext cx="3108960" cy="86868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No files have been modified.</a:t>
            </a:r>
            <a:endParaRPr lang="en-US" sz="1100" dirty="0"/>
          </a:p>
        </p:txBody>
      </p:sp>
      <p:sp>
        <p:nvSpPr>
          <p:cNvPr id="11" name="Shape 8"/>
          <p:cNvSpPr/>
          <p:nvPr/>
        </p:nvSpPr>
        <p:spPr>
          <a:xfrm>
            <a:off x="4754880" y="1371600"/>
            <a:ext cx="3931920" cy="2606040"/>
          </a:xfrm>
          <a:prstGeom prst="roundRect">
            <a:avLst>
              <a:gd name="adj" fmla="val 2807"/>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16A34A"/>
          </a:solidFill>
          <a:ln w="12700">
            <a:solidFill>
              <a:srgbClr val="16A34A"/>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Now</a:t>
            </a:r>
            <a:endParaRPr lang="en-US" sz="1700" dirty="0"/>
          </a:p>
        </p:txBody>
      </p:sp>
      <p:sp>
        <p:nvSpPr>
          <p:cNvPr id="15" name="Text 11"/>
          <p:cNvSpPr txBox="1"/>
          <p:nvPr/>
        </p:nvSpPr>
        <p:spPr>
          <a:xfrm>
            <a:off x="4983480" y="2194560"/>
            <a:ext cx="3474720" cy="3657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True at the moment it prints</a:t>
            </a:r>
            <a:endParaRPr lang="en-US" sz="1300" dirty="0"/>
          </a:p>
        </p:txBody>
      </p:sp>
      <p:sp>
        <p:nvSpPr>
          <p:cNvPr id="16" name="Shape 12"/>
          <p:cNvSpPr/>
          <p:nvPr/>
        </p:nvSpPr>
        <p:spPr>
          <a:xfrm>
            <a:off x="4983480" y="2633472"/>
            <a:ext cx="3474720" cy="1143000"/>
          </a:xfrm>
          <a:prstGeom prst="roundRect">
            <a:avLst>
              <a:gd name="adj" fmla="val 6400"/>
            </a:avLst>
          </a:prstGeom>
          <a:solidFill>
            <a:srgbClr val="0F1420"/>
          </a:solidFill>
          <a:ln w="12700">
            <a:solidFill>
              <a:srgbClr val="0F1420"/>
            </a:solidFill>
            <a:prstDash val="solid"/>
          </a:ln>
        </p:spPr>
      </p:sp>
      <p:sp>
        <p:nvSpPr>
          <p:cNvPr id="17" name="Text 13"/>
          <p:cNvSpPr txBox="1"/>
          <p:nvPr/>
        </p:nvSpPr>
        <p:spPr>
          <a:xfrm>
            <a:off x="5166360" y="2770632"/>
            <a:ext cx="3108960" cy="868680"/>
          </a:xfrm>
          <a:prstGeom prst="rect">
            <a:avLst/>
          </a:prstGeom>
          <a:noFill/>
          <a:ln/>
        </p:spPr>
        <p:txBody>
          <a:bodyPr wrap="square" lIns="0" tIns="0" rIns="0" bIns="0" rtlCol="0" anchor="t"/>
          <a:lstStyle/>
          <a:p>
            <a:pPr indent="0" marL="0">
              <a:buNone/>
            </a:pPr>
            <a:r>
              <a:rPr lang="en-US" sz="1100" dirty="0">
                <a:solidFill>
                  <a:srgbClr val="9FE6B8"/>
                </a:solidFill>
                <a:latin typeface="Courier New" pitchFamily="34" charset="0"/>
                <a:ea typeface="Courier New" pitchFamily="34" charset="-122"/>
                <a:cs typeface="Courier New" pitchFamily="34" charset="-120"/>
              </a:rPr>
              <a:t>No files have been modified yet.</a:t>
            </a:r>
            <a:endParaRPr lang="en-US" sz="1100" dirty="0"/>
          </a:p>
        </p:txBody>
      </p:sp>
      <p:sp>
        <p:nvSpPr>
          <p:cNvPr id="18" name="Text 14"/>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worded guarantee expires with whatever Module ships next.</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3 Capstone — Autonomous Fixer</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SEAM TWO</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Compaction forgot the commands</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run_command</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Module 11a: a tool with no path argument</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FileNote</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Only ever watched file-shaped calls</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Lost mid-loop</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Two dotnet build attempts, forgotten</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CommandRun</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new note kind, one per run_command call</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new tool gets a new recognizer, not a change to the old one.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3 Capstone — Autonomous Fixer</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SEAM THREE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budget couldn't see the loop</a:t>
            </a:r>
            <a:endParaRPr lang="en-US" sz="2800" dirty="0"/>
          </a:p>
        </p:txBody>
      </p:sp>
      <p:sp>
        <p:nvSpPr>
          <p:cNvPr id="4" name="Shape 2"/>
          <p:cNvSpPr/>
          <p:nvPr/>
        </p:nvSpPr>
        <p:spPr>
          <a:xfrm>
            <a:off x="457200" y="1371600"/>
            <a:ext cx="3931920" cy="2011680"/>
          </a:xfrm>
          <a:prstGeom prst="roundRect">
            <a:avLst>
              <a:gd name="adj" fmla="val 3636"/>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Before</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ToString() joins only TextContent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tool call and its result: zero tokens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Up to twenty calls a turn since Module 12</a:t>
            </a:r>
            <a:endParaRPr lang="en-US" sz="1300" dirty="0"/>
          </a:p>
        </p:txBody>
      </p:sp>
      <p:sp>
        <p:nvSpPr>
          <p:cNvPr id="9" name="Shape 6"/>
          <p:cNvSpPr/>
          <p:nvPr/>
        </p:nvSpPr>
        <p:spPr>
          <a:xfrm>
            <a:off x="4754880" y="1371600"/>
            <a:ext cx="39319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After</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Charges each call's arguments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Charges each result's text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All inside the existing await foreach</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Module 8a's premise: every path that spends the window reports it.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3 Capstone — Autonomous Fixer</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V0.3 IS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Read, plan, edit, run, loop</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Read and plan</a:t>
            </a:r>
            <a:endParaRPr lang="en-US" sz="15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Phases 1 and 2</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Edit a file</a:t>
            </a:r>
            <a:endParaRPr lang="en-US" sz="15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Through the same sandbox</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Run a command</a:t>
            </a:r>
            <a:endParaRPr lang="en-US" sz="15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From a fixed allow list</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Loop until it passes</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Build, then test, until green or a guard trips</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Compaction keeps the files and commands; the budget counts what they cost.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3 Capstone — Autonomous Fixer</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Command outcomes, and a plan that updates</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One: fold each command's exit code into its CommandRun note. Two: after a run, mark build and test plan steps [x] when their last matching command exited 0.</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950" dirty="0">
                <a:solidFill>
                  <a:srgbClr val="B8B2E6"/>
                </a:solidFill>
                <a:latin typeface="Courier New" pitchFamily="34" charset="0"/>
                <a:ea typeface="Courier New" pitchFamily="34" charset="-122"/>
                <a:cs typeface="Courier New" pitchFamily="34" charset="-120"/>
              </a:rPr>
              <a:t>src/MiniCode.Agent/</a:t>
            </a:r>
            <a:endParaRPr lang="en-US" sz="9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passing command's note ends differently from a failing one</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call whose result has not arrived renders without a status, and nothing throws</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step whose last command passed shows [x]; a failed one stays [ ]; others are untouched</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plan is re-rendered once, after the run, below the answer</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3 Capstone — Autonomous Fixer</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All three seams, captured</a:t>
            </a:r>
            <a:endParaRPr lang="en-US" sz="2800" dirty="0"/>
          </a:p>
        </p:txBody>
      </p:sp>
      <p:sp>
        <p:nvSpPr>
          <p:cNvPr id="4" name="Shape 2"/>
          <p:cNvSpPr/>
          <p:nvPr/>
        </p:nvSpPr>
        <p:spPr>
          <a:xfrm>
            <a:off x="457200" y="1325880"/>
            <a:ext cx="5257800" cy="3246120"/>
          </a:xfrm>
          <a:prstGeom prst="roundRect">
            <a:avLst>
              <a:gd name="adj" fmla="val 2254"/>
            </a:avLst>
          </a:prstGeom>
          <a:solidFill>
            <a:srgbClr val="0F1420"/>
          </a:solidFill>
          <a:ln w="12700">
            <a:solidFill>
              <a:srgbClr val="0F1420"/>
            </a:solidFill>
            <a:prstDash val="solid"/>
          </a:ln>
        </p:spPr>
      </p:sp>
      <p:sp>
        <p:nvSpPr>
          <p:cNvPr id="5" name="Text 3"/>
          <p:cNvSpPr txBox="1"/>
          <p:nvPr/>
        </p:nvSpPr>
        <p:spPr>
          <a:xfrm>
            <a:off x="640080" y="1463040"/>
            <a:ext cx="4892040" cy="297180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Seam one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No files have been modified yet.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Seam two: build, fail, edit, build, pass, then compacted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SESSION STATE (earlier turns were compacted away)</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What was asked: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Fix the build.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Commands already run: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{"command":"dotnet","arguments":["build"]}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Seam three</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callUpdate.ToString()    =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ToolActivityText(call)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[{"command":"dotnet","arguments":["test"]}]</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One word</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notice claims only what is true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 new section</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Commands already run</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Charged at last</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Tool calls were zero tokens</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3 Capstone — Autonomous Fixer</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Never asks permission</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15  </a:t>
            </a:r>
            <a:pPr indent="0" marL="0">
              <a:buNone/>
            </a:pPr>
            <a:r>
              <a:rPr lang="en-US" sz="1250" dirty="0">
                <a:solidFill>
                  <a:srgbClr val="FFFFFF"/>
                </a:solidFill>
                <a:latin typeface="Calibri" pitchFamily="34" charset="0"/>
                <a:ea typeface="Calibri" pitchFamily="34" charset="-122"/>
                <a:cs typeface="Calibri" pitchFamily="34" charset="-120"/>
              </a:rPr>
              <a:t>ApprovalInvoker asks a human before calls that change something</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Knows changes only from memory</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14  </a:t>
            </a:r>
            <a:pPr indent="0" marL="0">
              <a:buNone/>
            </a:pPr>
            <a:r>
              <a:rPr lang="en-US" sz="1250" dirty="0">
                <a:solidFill>
                  <a:srgbClr val="FFFFFF"/>
                </a:solidFill>
                <a:latin typeface="Calibri" pitchFamily="34" charset="0"/>
                <a:ea typeface="Calibri" pitchFamily="34" charset="-122"/>
                <a:cs typeface="Calibri" pitchFamily="34" charset="-120"/>
              </a:rPr>
              <a:t>git_status, git_diff and git_log show its own trail</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Invisible from the outside</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17  </a:t>
            </a:r>
            <a:pPr indent="0" marL="0">
              <a:buNone/>
            </a:pPr>
            <a:r>
              <a:rPr lang="en-US" sz="1250" dirty="0">
                <a:solidFill>
                  <a:srgbClr val="FFFFFF"/>
                </a:solidFill>
                <a:latin typeface="Calibri" pitchFamily="34" charset="0"/>
                <a:ea typeface="Calibri" pitchFamily="34" charset="-122"/>
                <a:cs typeface="Calibri" pitchFamily="34" charset="-120"/>
              </a:rPr>
              <a:t>[Agent], [Tool] and [Result] tracing on stderr</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Runs only via dotnet run</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18  </a:t>
            </a:r>
            <a:pPr indent="0" marL="0">
              <a:buNone/>
            </a:pPr>
            <a:r>
              <a:rPr lang="en-US" sz="1250" dirty="0">
                <a:solidFill>
                  <a:srgbClr val="FFFFFF"/>
                </a:solidFill>
                <a:latin typeface="Calibri" pitchFamily="34" charset="0"/>
                <a:ea typeface="Calibri" pitchFamily="34" charset="-122"/>
                <a:cs typeface="Calibri" pitchFamily="34" charset="-120"/>
              </a:rPr>
              <a:t>dotnet tool install -g MiniCode, with the version stamped on the package</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MiniCode v0.3 — Autonomous Fixer</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Phase 3 Capstone — Autonomous Fixer</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3 Capstone — Autonomous Fixer (v0.3)</dc:title>
  <dc:subject>PptxGenJS Presentation</dc:subject>
  <dc:creator>MiniCode Course</dc:creator>
  <cp:lastModifiedBy>MiniCode Course</cp:lastModifiedBy>
  <cp:revision>1</cp:revision>
  <dcterms:created xsi:type="dcterms:W3CDTF">2026-10-01T22:01:29Z</dcterms:created>
  <dcterms:modified xsi:type="dcterms:W3CDTF">2026-10-01T22:01:29Z</dcterms:modified>
</cp:coreProperties>
</file>