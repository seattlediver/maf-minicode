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Ships as part of Phase 1 Capstone — Repository Explorer (v0.1). Carried forward from Module 1: the reason → act → observe loop, and the idea that a coding agent is mostly harness rather than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stage the agent is conversational only: no filesystem access, no tools, no shell. The next Module splits these four jobs across real projects. Note ChatClientAgent accepts tools too — that parameter is how Module 5a gives the agent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655064"/>
            <a:ext cx="5852160" cy="274320"/>
          </a:xfrm>
          <a:prstGeom prst="rect">
            <a:avLst/>
          </a:prstGeom>
          <a:noFill/>
          <a:ln/>
        </p:spPr>
        <p:txBody>
          <a:bodyPr wrap="square" lIns="0" tIns="0" rIns="0" bIns="0" rtlCol="0" anchor="ctr"/>
          <a:lstStyle/>
          <a:p>
            <a:pPr indent="0" marL="0">
              <a:buNone/>
            </a:pPr>
            <a:r>
              <a:rPr lang="en-US" sz="1400" b="1" spc="300" kern="0" dirty="0">
                <a:solidFill>
                  <a:srgbClr val="3FBFB0"/>
                </a:solidFill>
                <a:latin typeface="Calibri" pitchFamily="34" charset="0"/>
                <a:ea typeface="Calibri" pitchFamily="34" charset="-122"/>
                <a:cs typeface="Calibri" pitchFamily="34" charset="-120"/>
              </a:rPr>
              <a:t>MODULE 2 · PHASE 1</a:t>
            </a:r>
            <a:endParaRPr lang="en-US" sz="1400" dirty="0"/>
          </a:p>
        </p:txBody>
      </p:sp>
      <p:sp>
        <p:nvSpPr>
          <p:cNvPr id="3" name="Text 1"/>
          <p:cNvSpPr txBox="1"/>
          <p:nvPr/>
        </p:nvSpPr>
        <p:spPr>
          <a:xfrm>
            <a:off x="548640" y="2039112"/>
            <a:ext cx="6309360" cy="1133856"/>
          </a:xfrm>
          <a:prstGeom prst="rect">
            <a:avLst/>
          </a:prstGeom>
          <a:noFill/>
          <a:ln/>
        </p:spPr>
        <p:txBody>
          <a:bodyPr wrap="square" lIns="0" tIns="0" rIns="0" bIns="0" rtlCol="0" anchor="t"/>
          <a:lstStyle/>
          <a:p>
            <a:pPr indent="0" marL="0">
              <a:lnSpc>
                <a:spcPct val="112000"/>
              </a:lnSpc>
              <a:buNone/>
            </a:pPr>
            <a:r>
              <a:rPr lang="en-US" sz="3600" b="1" dirty="0">
                <a:solidFill>
                  <a:srgbClr val="FFFFFF"/>
                </a:solidFill>
                <a:latin typeface="Cambria" pitchFamily="34" charset="0"/>
                <a:ea typeface="Cambria" pitchFamily="34" charset="-122"/>
                <a:cs typeface="Cambria" pitchFamily="34" charset="-120"/>
              </a:rPr>
              <a:t>Microsoft Agent</a:t>
            </a:r>
            <a:endParaRPr lang="en-US" sz="3600" dirty="0"/>
          </a:p>
          <a:p>
            <a:pPr indent="0" marL="0">
              <a:lnSpc>
                <a:spcPct val="112000"/>
              </a:lnSpc>
              <a:buNone/>
            </a:pPr>
            <a:r>
              <a:rPr lang="en-US" sz="3600" b="1" dirty="0">
                <a:solidFill>
                  <a:srgbClr val="FFFFFF"/>
                </a:solidFill>
                <a:latin typeface="Cambria" pitchFamily="34" charset="0"/>
                <a:ea typeface="Cambria" pitchFamily="34" charset="-122"/>
                <a:cs typeface="Cambria" pitchFamily="34" charset="-120"/>
              </a:rPr>
              <a:t>Framework Fundamentals</a:t>
            </a:r>
            <a:endParaRPr lang="en-US" sz="3600" dirty="0"/>
          </a:p>
        </p:txBody>
      </p:sp>
      <p:sp>
        <p:nvSpPr>
          <p:cNvPr id="4" name="Text 2"/>
          <p:cNvSpPr txBox="1"/>
          <p:nvPr/>
        </p:nvSpPr>
        <p:spPr>
          <a:xfrm>
            <a:off x="548640" y="3675888"/>
            <a:ext cx="6309360" cy="1097280"/>
          </a:xfrm>
          <a:prstGeom prst="rect">
            <a:avLst/>
          </a:prstGeom>
          <a:noFill/>
          <a:ln/>
        </p:spPr>
        <p:txBody>
          <a:bodyPr wrap="square" lIns="0" tIns="0" rIns="0" bIns="0" rtlCol="0" anchor="t"/>
          <a:lstStyle/>
          <a:p>
            <a:pPr indent="0" marL="0">
              <a:lnSpc>
                <a:spcPct val="125000"/>
              </a:lnSpc>
              <a:buNone/>
            </a:pPr>
            <a:r>
              <a:rPr lang="en-US" sz="1600" dirty="0">
                <a:solidFill>
                  <a:srgbClr val="CADCFC"/>
                </a:solidFill>
                <a:latin typeface="Calibri" pitchFamily="34" charset="0"/>
                <a:ea typeface="Calibri" pitchFamily="34" charset="-122"/>
                <a:cs typeface="Calibri" pitchFamily="34" charset="-120"/>
              </a:rPr>
              <a:t>The first running piece of MiniCode: a console app that connects to OpenAI through MAF and streams replies as they arrive. No tools, no filesystem — the point is a real agent talking, and the four objects every later Module builds on.</a:t>
            </a:r>
            <a:endParaRPr lang="en-US" sz="1600" dirty="0"/>
          </a:p>
        </p:txBody>
      </p:sp>
      <p:sp>
        <p:nvSpPr>
          <p:cNvPr id="5" name="Text 3"/>
          <p:cNvSpPr txBox="1"/>
          <p:nvPr/>
        </p:nvSpPr>
        <p:spPr>
          <a:xfrm>
            <a:off x="548640" y="5029200"/>
            <a:ext cx="6309360" cy="1051560"/>
          </a:xfrm>
          <a:prstGeom prst="rect">
            <a:avLst/>
          </a:prstGeom>
          <a:noFill/>
          <a:ln/>
        </p:spPr>
        <p:txBody>
          <a:bodyPr wrap="square" lIns="0" tIns="0" rIns="0" bIns="0" rtlCol="0" anchor="t"/>
          <a:lstStyle/>
          <a:p>
            <a:pPr indent="0" marL="0">
              <a:lnSpc>
                <a:spcPts val="1300"/>
              </a:lnSpc>
              <a:buNone/>
            </a:pPr>
            <a:r>
              <a:rPr lang="en-US" sz="950" b="1" spc="100" kern="0" dirty="0">
                <a:solidFill>
                  <a:srgbClr val="3FBFB0"/>
                </a:solidFill>
                <a:latin typeface="Courier New" pitchFamily="34" charset="0"/>
                <a:ea typeface="Courier New" pitchFamily="34" charset="-122"/>
                <a:cs typeface="Courier New" pitchFamily="34" charset="-120"/>
              </a:rPr>
              <a:t>START  </a:t>
            </a:r>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An empty folder. This is the first code Module, so nothing is carried forward but Module 1’s mental model.</a:t>
            </a:r>
            <a:endParaRPr lang="en-US" sz="950" dirty="0"/>
          </a:p>
          <a:p>
            <a:pPr indent="0" marL="0">
              <a:lnSpc>
                <a:spcPts val="1300"/>
              </a:lnSpc>
              <a:buNone/>
            </a:pPr>
            <a:r>
              <a:rPr lang="en-US" sz="950" b="1" spc="100" kern="0" dirty="0">
                <a:solidFill>
                  <a:srgbClr val="3FBFB0"/>
                </a:solidFill>
                <a:latin typeface="Courier New" pitchFamily="34" charset="0"/>
                <a:ea typeface="Courier New" pitchFamily="34" charset="-122"/>
                <a:cs typeface="Courier New" pitchFamily="34" charset="-120"/>
              </a:rPr>
              <a:t>SETUP  </a:t>
            </a:r>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.NET 10 SDK, Visual Studio 2026 or the dotnet CLI, an OpenAI API key.</a:t>
            </a:r>
            <a:endParaRPr lang="en-US" sz="950" dirty="0"/>
          </a:p>
        </p:txBody>
      </p:sp>
      <p:sp>
        <p:nvSpPr>
          <p:cNvPr id="6" name="Text 4"/>
          <p:cNvSpPr txBox="1"/>
          <p:nvPr/>
        </p:nvSpPr>
        <p:spPr>
          <a:xfrm>
            <a:off x="548640" y="6263640"/>
            <a:ext cx="54864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MiniCode Course · Phase 1</a:t>
            </a:r>
            <a:endParaRPr lang="en-US" sz="1100" dirty="0"/>
          </a:p>
        </p:txBody>
      </p:sp>
      <p:sp>
        <p:nvSpPr>
          <p:cNvPr id="7" name="Shape 5"/>
          <p:cNvSpPr/>
          <p:nvPr/>
        </p:nvSpPr>
        <p:spPr>
          <a:xfrm>
            <a:off x="7086600" y="1143000"/>
            <a:ext cx="4526280" cy="4389120"/>
          </a:xfrm>
          <a:prstGeom prst="roundRect">
            <a:avLst>
              <a:gd name="adj" fmla="val 2500"/>
            </a:avLst>
          </a:prstGeom>
          <a:solidFill>
            <a:srgbClr val="141B49"/>
          </a:solidFill>
          <a:ln w="12700">
            <a:solidFill>
              <a:srgbClr val="3FBFB0"/>
            </a:solidFill>
            <a:prstDash val="solid"/>
          </a:ln>
        </p:spPr>
      </p:sp>
      <p:sp>
        <p:nvSpPr>
          <p:cNvPr id="8" name="Text 6"/>
          <p:cNvSpPr txBox="1"/>
          <p:nvPr/>
        </p:nvSpPr>
        <p:spPr>
          <a:xfrm>
            <a:off x="7342632" y="1344168"/>
            <a:ext cx="4069080" cy="274320"/>
          </a:xfrm>
          <a:prstGeom prst="rect">
            <a:avLst/>
          </a:prstGeom>
          <a:noFill/>
          <a:ln/>
        </p:spPr>
        <p:txBody>
          <a:bodyPr wrap="square" lIns="0" tIns="0" rIns="0" bIns="0" rtlCol="0" anchor="ctr"/>
          <a:lstStyle/>
          <a:p>
            <a:pPr indent="0" marL="0">
              <a:buNone/>
            </a:pPr>
            <a:r>
              <a:rPr lang="en-US" sz="1200" b="1" dirty="0">
                <a:solidFill>
                  <a:srgbClr val="3FBFB0"/>
                </a:solidFill>
                <a:latin typeface="Courier New" pitchFamily="34" charset="0"/>
                <a:ea typeface="Courier New" pitchFamily="34" charset="-122"/>
                <a:cs typeface="Courier New" pitchFamily="34" charset="-120"/>
              </a:rPr>
              <a:t>four objects, one job each</a:t>
            </a:r>
            <a:endParaRPr lang="en-US" sz="1200" dirty="0"/>
          </a:p>
        </p:txBody>
      </p:sp>
      <p:sp>
        <p:nvSpPr>
          <p:cNvPr id="9" name="Text 7"/>
          <p:cNvSpPr txBox="1"/>
          <p:nvPr/>
        </p:nvSpPr>
        <p:spPr>
          <a:xfrm>
            <a:off x="7360920" y="1783080"/>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IChatClient    the model</a:t>
            </a:r>
            <a:endParaRPr lang="en-US" sz="1050" dirty="0"/>
          </a:p>
        </p:txBody>
      </p:sp>
      <p:sp>
        <p:nvSpPr>
          <p:cNvPr id="10" name="Text 8"/>
          <p:cNvSpPr txBox="1"/>
          <p:nvPr/>
        </p:nvSpPr>
        <p:spPr>
          <a:xfrm>
            <a:off x="7360920" y="2039112"/>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ChatClientAgent  + a role</a:t>
            </a:r>
            <a:endParaRPr lang="en-US" sz="1050" dirty="0"/>
          </a:p>
        </p:txBody>
      </p:sp>
      <p:sp>
        <p:nvSpPr>
          <p:cNvPr id="11" name="Text 9"/>
          <p:cNvSpPr txBox="1"/>
          <p:nvPr/>
        </p:nvSpPr>
        <p:spPr>
          <a:xfrm>
            <a:off x="7360920" y="2295144"/>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AgentSession   the memory</a:t>
            </a:r>
            <a:endParaRPr lang="en-US" sz="1050" dirty="0"/>
          </a:p>
        </p:txBody>
      </p:sp>
      <p:sp>
        <p:nvSpPr>
          <p:cNvPr id="12" name="Text 10"/>
          <p:cNvSpPr txBox="1"/>
          <p:nvPr/>
        </p:nvSpPr>
        <p:spPr>
          <a:xfrm>
            <a:off x="7360920" y="2551176"/>
            <a:ext cx="3977640" cy="237744"/>
          </a:xfrm>
          <a:prstGeom prst="rect">
            <a:avLst/>
          </a:prstGeom>
          <a:noFill/>
          <a:ln/>
        </p:spPr>
        <p:txBody>
          <a:bodyPr wrap="square" lIns="0" tIns="0" rIns="0" bIns="0" rtlCol="0" anchor="ctr"/>
          <a:lstStyle/>
          <a:p>
            <a:pPr indent="0" marL="0">
              <a:buNone/>
            </a:pPr>
            <a:r>
              <a:rPr lang="en-US" sz="1050" dirty="0">
                <a:solidFill>
                  <a:srgbClr val="CADCFC"/>
                </a:solidFill>
                <a:latin typeface="Courier New" pitchFamily="34" charset="0"/>
                <a:ea typeface="Courier New" pitchFamily="34" charset="-122"/>
                <a:cs typeface="Courier New" pitchFamily="34" charset="-120"/>
              </a:rPr>
              <a:t>RunStreamingAsync  the feel</a:t>
            </a:r>
            <a:endParaRPr lang="en-US" sz="1050" dirty="0"/>
          </a:p>
        </p:txBody>
      </p:sp>
      <p:sp>
        <p:nvSpPr>
          <p:cNvPr id="13" name="Shape 11"/>
          <p:cNvSpPr/>
          <p:nvPr/>
        </p:nvSpPr>
        <p:spPr>
          <a:xfrm>
            <a:off x="7342632" y="3008376"/>
            <a:ext cx="4014216" cy="0"/>
          </a:xfrm>
          <a:prstGeom prst="line">
            <a:avLst/>
          </a:prstGeom>
          <a:noFill/>
          <a:ln w="9525">
            <a:solidFill>
              <a:srgbClr val="6B7280"/>
            </a:solidFill>
            <a:prstDash val="sysDot"/>
          </a:ln>
        </p:spPr>
      </p:sp>
      <p:sp>
        <p:nvSpPr>
          <p:cNvPr id="14" name="Text 12"/>
          <p:cNvSpPr txBox="1"/>
          <p:nvPr/>
        </p:nvSpPr>
        <p:spPr>
          <a:xfrm>
            <a:off x="7342632" y="3172968"/>
            <a:ext cx="4014216" cy="310896"/>
          </a:xfrm>
          <a:prstGeom prst="rect">
            <a:avLst/>
          </a:prstGeom>
          <a:noFill/>
          <a:ln/>
        </p:spPr>
        <p:txBody>
          <a:bodyPr wrap="square" lIns="0" tIns="0" rIns="0" bIns="0" rtlCol="0" anchor="t"/>
          <a:lstStyle/>
          <a:p>
            <a:pPr indent="0" marL="0">
              <a:buNone/>
            </a:pPr>
            <a:r>
              <a:rPr lang="en-US" sz="1050" dirty="0">
                <a:solidFill>
                  <a:srgbClr val="CADCFC"/>
                </a:solidFill>
                <a:latin typeface="Courier New" pitchFamily="34" charset="0"/>
                <a:ea typeface="Courier New" pitchFamily="34" charset="-122"/>
                <a:cs typeface="Courier New" pitchFamily="34" charset="-120"/>
              </a:rPr>
              <a:t>$env:OPENAI_API_KEY = "sk-..."</a:t>
            </a:r>
            <a:endParaRPr lang="en-US" sz="1050" dirty="0"/>
          </a:p>
        </p:txBody>
      </p:sp>
      <p:sp>
        <p:nvSpPr>
          <p:cNvPr id="15" name="Text 13"/>
          <p:cNvSpPr txBox="1"/>
          <p:nvPr/>
        </p:nvSpPr>
        <p:spPr>
          <a:xfrm>
            <a:off x="7342632" y="3593592"/>
            <a:ext cx="4014216" cy="365760"/>
          </a:xfrm>
          <a:prstGeom prst="rect">
            <a:avLst/>
          </a:prstGeom>
          <a:noFill/>
          <a:ln/>
        </p:spPr>
        <p:txBody>
          <a:bodyPr wrap="square" lIns="0" tIns="0" rIns="0" bIns="0" rtlCol="0" anchor="ctr"/>
          <a:lstStyle/>
          <a:p>
            <a:pPr indent="0" marL="0">
              <a:buNone/>
            </a:pPr>
            <a:r>
              <a:rPr lang="en-US" sz="1050" b="1" i="1" dirty="0">
                <a:solidFill>
                  <a:srgbClr val="3FBFB0"/>
                </a:solidFill>
                <a:latin typeface="Calibri" pitchFamily="34" charset="0"/>
                <a:ea typeface="Calibri" pitchFamily="34" charset="-122"/>
                <a:cs typeface="Calibri" pitchFamily="34" charset="-120"/>
              </a:rPr>
              <a:t>This code becomes the CLI layer of Module 3’s solution.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SETUP</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Two Packages, Both in src/MiniCode.Cli</a:t>
            </a:r>
            <a:endParaRPr lang="en-US" sz="32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2 — MICROSOFT AGENT FRAMEWORK FUNDAMENTALS</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463040"/>
            <a:ext cx="11064240" cy="411480"/>
          </a:xfrm>
          <a:prstGeom prst="rect">
            <a:avLst/>
          </a:prstGeom>
          <a:solidFill>
            <a:srgbClr val="1E2761"/>
          </a:solidFill>
          <a:ln/>
        </p:spPr>
      </p:sp>
      <p:sp>
        <p:nvSpPr>
          <p:cNvPr id="7" name="Text 5"/>
          <p:cNvSpPr txBox="1"/>
          <p:nvPr/>
        </p:nvSpPr>
        <p:spPr>
          <a:xfrm>
            <a:off x="676656" y="1463040"/>
            <a:ext cx="3035808" cy="411480"/>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Package</a:t>
            </a:r>
            <a:endParaRPr lang="en-US" sz="1150" dirty="0"/>
          </a:p>
        </p:txBody>
      </p:sp>
      <p:sp>
        <p:nvSpPr>
          <p:cNvPr id="8" name="Text 6"/>
          <p:cNvSpPr txBox="1"/>
          <p:nvPr/>
        </p:nvSpPr>
        <p:spPr>
          <a:xfrm>
            <a:off x="3968496" y="1463040"/>
            <a:ext cx="932688" cy="411480"/>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Version</a:t>
            </a:r>
            <a:endParaRPr lang="en-US" sz="1150" dirty="0"/>
          </a:p>
        </p:txBody>
      </p:sp>
      <p:sp>
        <p:nvSpPr>
          <p:cNvPr id="9" name="Text 7"/>
          <p:cNvSpPr txBox="1"/>
          <p:nvPr/>
        </p:nvSpPr>
        <p:spPr>
          <a:xfrm>
            <a:off x="5157216" y="1463040"/>
            <a:ext cx="6327648" cy="411480"/>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Why</a:t>
            </a:r>
            <a:endParaRPr lang="en-US" sz="1150" dirty="0"/>
          </a:p>
        </p:txBody>
      </p:sp>
      <p:sp>
        <p:nvSpPr>
          <p:cNvPr id="10" name="Shape 8"/>
          <p:cNvSpPr/>
          <p:nvPr/>
        </p:nvSpPr>
        <p:spPr>
          <a:xfrm>
            <a:off x="548640" y="1874520"/>
            <a:ext cx="11064240" cy="548640"/>
          </a:xfrm>
          <a:prstGeom prst="rect">
            <a:avLst/>
          </a:prstGeom>
          <a:solidFill>
            <a:srgbClr val="F4F6FB"/>
          </a:solidFill>
          <a:ln/>
        </p:spPr>
      </p:sp>
      <p:sp>
        <p:nvSpPr>
          <p:cNvPr id="11" name="Text 9"/>
          <p:cNvSpPr txBox="1"/>
          <p:nvPr/>
        </p:nvSpPr>
        <p:spPr>
          <a:xfrm>
            <a:off x="676656" y="1874520"/>
            <a:ext cx="3035808" cy="548640"/>
          </a:xfrm>
          <a:prstGeom prst="rect">
            <a:avLst/>
          </a:prstGeom>
          <a:noFill/>
          <a:ln/>
        </p:spPr>
        <p:txBody>
          <a:bodyPr wrap="square" lIns="0" tIns="0" rIns="0" bIns="0" rtlCol="0" anchor="ctr"/>
          <a:lstStyle/>
          <a:p>
            <a:pPr indent="0" marL="0">
              <a:buNone/>
            </a:pPr>
            <a:r>
              <a:rPr lang="en-US" sz="950" dirty="0">
                <a:solidFill>
                  <a:srgbClr val="3FBFB0"/>
                </a:solidFill>
                <a:latin typeface="Courier New" pitchFamily="34" charset="0"/>
                <a:ea typeface="Courier New" pitchFamily="34" charset="-122"/>
                <a:cs typeface="Courier New" pitchFamily="34" charset="-120"/>
              </a:rPr>
              <a:t>Microsoft.Agents.AI</a:t>
            </a:r>
            <a:endParaRPr lang="en-US" sz="950" dirty="0"/>
          </a:p>
        </p:txBody>
      </p:sp>
      <p:sp>
        <p:nvSpPr>
          <p:cNvPr id="12" name="Text 10"/>
          <p:cNvSpPr txBox="1"/>
          <p:nvPr/>
        </p:nvSpPr>
        <p:spPr>
          <a:xfrm>
            <a:off x="3968496" y="1874520"/>
            <a:ext cx="932688" cy="548640"/>
          </a:xfrm>
          <a:prstGeom prst="rect">
            <a:avLst/>
          </a:prstGeom>
          <a:noFill/>
          <a:ln/>
        </p:spPr>
        <p:txBody>
          <a:bodyPr wrap="square" lIns="0" tIns="0" rIns="0" bIns="0" rtlCol="0" anchor="ctr"/>
          <a:lstStyle/>
          <a:p>
            <a:pPr indent="0" marL="0">
              <a:buNone/>
            </a:pPr>
            <a:r>
              <a:rPr lang="en-US" sz="950" dirty="0">
                <a:solidFill>
                  <a:srgbClr val="3FBFB0"/>
                </a:solidFill>
                <a:latin typeface="Courier New" pitchFamily="34" charset="0"/>
                <a:ea typeface="Courier New" pitchFamily="34" charset="-122"/>
                <a:cs typeface="Courier New" pitchFamily="34" charset="-120"/>
              </a:rPr>
              <a:t>1.22.0</a:t>
            </a:r>
            <a:endParaRPr lang="en-US" sz="950" dirty="0"/>
          </a:p>
        </p:txBody>
      </p:sp>
      <p:sp>
        <p:nvSpPr>
          <p:cNvPr id="13" name="Text 11"/>
          <p:cNvSpPr txBox="1"/>
          <p:nvPr/>
        </p:nvSpPr>
        <p:spPr>
          <a:xfrm>
            <a:off x="5157216" y="1874520"/>
            <a:ext cx="6327648" cy="548640"/>
          </a:xfrm>
          <a:prstGeom prst="rect">
            <a:avLst/>
          </a:prstGeom>
          <a:noFill/>
          <a:ln/>
        </p:spPr>
        <p:txBody>
          <a:bodyPr wrap="square" lIns="0" tIns="0" rIns="0" bIns="0" rtlCol="0" anchor="ctr"/>
          <a:lstStyle/>
          <a:p>
            <a:pPr indent="0" marL="0">
              <a:buNone/>
            </a:pPr>
            <a:r>
              <a:rPr lang="en-US" sz="1100" dirty="0">
                <a:solidFill>
                  <a:srgbClr val="2A2F45"/>
                </a:solidFill>
                <a:latin typeface="Calibri" pitchFamily="34" charset="0"/>
                <a:ea typeface="Calibri" pitchFamily="34" charset="-122"/>
                <a:cs typeface="Calibri" pitchFamily="34" charset="-120"/>
              </a:rPr>
              <a:t>AIAgent, ChatClientAgent, AgentSession</a:t>
            </a:r>
            <a:endParaRPr lang="en-US" sz="1100" dirty="0"/>
          </a:p>
        </p:txBody>
      </p:sp>
      <p:sp>
        <p:nvSpPr>
          <p:cNvPr id="14" name="Shape 12"/>
          <p:cNvSpPr/>
          <p:nvPr/>
        </p:nvSpPr>
        <p:spPr>
          <a:xfrm>
            <a:off x="548640" y="2423160"/>
            <a:ext cx="11064240" cy="548640"/>
          </a:xfrm>
          <a:prstGeom prst="rect">
            <a:avLst/>
          </a:prstGeom>
          <a:solidFill>
            <a:srgbClr val="FFFFFF"/>
          </a:solidFill>
          <a:ln/>
        </p:spPr>
      </p:sp>
      <p:sp>
        <p:nvSpPr>
          <p:cNvPr id="15" name="Text 13"/>
          <p:cNvSpPr txBox="1"/>
          <p:nvPr/>
        </p:nvSpPr>
        <p:spPr>
          <a:xfrm>
            <a:off x="676656" y="2423160"/>
            <a:ext cx="3035808" cy="548640"/>
          </a:xfrm>
          <a:prstGeom prst="rect">
            <a:avLst/>
          </a:prstGeom>
          <a:noFill/>
          <a:ln/>
        </p:spPr>
        <p:txBody>
          <a:bodyPr wrap="square" lIns="0" tIns="0" rIns="0" bIns="0" rtlCol="0" anchor="ctr"/>
          <a:lstStyle/>
          <a:p>
            <a:pPr indent="0" marL="0">
              <a:buNone/>
            </a:pPr>
            <a:r>
              <a:rPr lang="en-US" sz="950" dirty="0">
                <a:solidFill>
                  <a:srgbClr val="3FBFB0"/>
                </a:solidFill>
                <a:latin typeface="Courier New" pitchFamily="34" charset="0"/>
                <a:ea typeface="Courier New" pitchFamily="34" charset="-122"/>
                <a:cs typeface="Courier New" pitchFamily="34" charset="-120"/>
              </a:rPr>
              <a:t>Microsoft.Extensions.AI.OpenAI</a:t>
            </a:r>
            <a:endParaRPr lang="en-US" sz="950" dirty="0"/>
          </a:p>
        </p:txBody>
      </p:sp>
      <p:sp>
        <p:nvSpPr>
          <p:cNvPr id="16" name="Text 14"/>
          <p:cNvSpPr txBox="1"/>
          <p:nvPr/>
        </p:nvSpPr>
        <p:spPr>
          <a:xfrm>
            <a:off x="3968496" y="2423160"/>
            <a:ext cx="932688" cy="548640"/>
          </a:xfrm>
          <a:prstGeom prst="rect">
            <a:avLst/>
          </a:prstGeom>
          <a:noFill/>
          <a:ln/>
        </p:spPr>
        <p:txBody>
          <a:bodyPr wrap="square" lIns="0" tIns="0" rIns="0" bIns="0" rtlCol="0" anchor="ctr"/>
          <a:lstStyle/>
          <a:p>
            <a:pPr indent="0" marL="0">
              <a:buNone/>
            </a:pPr>
            <a:r>
              <a:rPr lang="en-US" sz="950" dirty="0">
                <a:solidFill>
                  <a:srgbClr val="3FBFB0"/>
                </a:solidFill>
                <a:latin typeface="Courier New" pitchFamily="34" charset="0"/>
                <a:ea typeface="Courier New" pitchFamily="34" charset="-122"/>
                <a:cs typeface="Courier New" pitchFamily="34" charset="-120"/>
              </a:rPr>
              <a:t>10.10.0</a:t>
            </a:r>
            <a:endParaRPr lang="en-US" sz="950" dirty="0"/>
          </a:p>
        </p:txBody>
      </p:sp>
      <p:sp>
        <p:nvSpPr>
          <p:cNvPr id="17" name="Text 15"/>
          <p:cNvSpPr txBox="1"/>
          <p:nvPr/>
        </p:nvSpPr>
        <p:spPr>
          <a:xfrm>
            <a:off x="5157216" y="2423160"/>
            <a:ext cx="6327648" cy="548640"/>
          </a:xfrm>
          <a:prstGeom prst="rect">
            <a:avLst/>
          </a:prstGeom>
          <a:noFill/>
          <a:ln/>
        </p:spPr>
        <p:txBody>
          <a:bodyPr wrap="square" lIns="0" tIns="0" rIns="0" bIns="0" rtlCol="0" anchor="ctr"/>
          <a:lstStyle/>
          <a:p>
            <a:pPr indent="0" marL="0">
              <a:buNone/>
            </a:pPr>
            <a:r>
              <a:rPr lang="en-US" sz="1100" dirty="0">
                <a:solidFill>
                  <a:srgbClr val="2A2F45"/>
                </a:solidFill>
                <a:latin typeface="Calibri" pitchFamily="34" charset="0"/>
                <a:ea typeface="Calibri" pitchFamily="34" charset="-122"/>
                <a:cs typeface="Calibri" pitchFamily="34" charset="-120"/>
              </a:rPr>
              <a:t>AsIChatClient() — adapts the OpenAI SDK to IChatClient</a:t>
            </a:r>
            <a:endParaRPr lang="en-US" sz="1100" dirty="0"/>
          </a:p>
        </p:txBody>
      </p:sp>
      <p:sp>
        <p:nvSpPr>
          <p:cNvPr id="18" name="Shape 16"/>
          <p:cNvSpPr/>
          <p:nvPr/>
        </p:nvSpPr>
        <p:spPr>
          <a:xfrm>
            <a:off x="548640" y="3200400"/>
            <a:ext cx="11064240" cy="1737360"/>
          </a:xfrm>
          <a:prstGeom prst="roundRect">
            <a:avLst>
              <a:gd name="adj" fmla="val 5263"/>
            </a:avLst>
          </a:prstGeom>
          <a:solidFill>
            <a:srgbClr val="1E2761"/>
          </a:solidFill>
          <a:ln w="15875">
            <a:solidFill>
              <a:srgbClr val="F87171"/>
            </a:solidFill>
            <a:prstDash val="solid"/>
          </a:ln>
        </p:spPr>
      </p:sp>
      <p:sp>
        <p:nvSpPr>
          <p:cNvPr id="19" name="Shape 17"/>
          <p:cNvSpPr/>
          <p:nvPr/>
        </p:nvSpPr>
        <p:spPr>
          <a:xfrm>
            <a:off x="841248" y="3493008"/>
            <a:ext cx="566928" cy="566928"/>
          </a:xfrm>
          <a:prstGeom prst="ellipse">
            <a:avLst/>
          </a:prstGeom>
          <a:solidFill>
            <a:srgbClr val="F87171"/>
          </a:solidFill>
          <a:ln/>
        </p:spPr>
      </p:sp>
      <p:pic>
        <p:nvPicPr>
          <p:cNvPr id="20" name="Image 0" descr="preencoded.png">    </p:cNvPr>
          <p:cNvPicPr>
            <a:picLocks noChangeAspect="1"/>
          </p:cNvPicPr>
          <p:nvPr/>
        </p:nvPicPr>
        <p:blipFill>
          <a:blip r:embed="rId1"/>
          <a:stretch>
            <a:fillRect/>
          </a:stretch>
        </p:blipFill>
        <p:spPr>
          <a:xfrm>
            <a:off x="987552" y="3639312"/>
            <a:ext cx="274320" cy="274320"/>
          </a:xfrm>
          <a:prstGeom prst="rect">
            <a:avLst/>
          </a:prstGeom>
        </p:spPr>
      </p:pic>
      <p:sp>
        <p:nvSpPr>
          <p:cNvPr id="21" name="Text 18"/>
          <p:cNvSpPr txBox="1"/>
          <p:nvPr/>
        </p:nvSpPr>
        <p:spPr>
          <a:xfrm>
            <a:off x="1554480" y="3401568"/>
            <a:ext cx="9784080" cy="384048"/>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Currency note: MAF names have moved</a:t>
            </a:r>
            <a:endParaRPr lang="en-US" sz="1450" dirty="0"/>
          </a:p>
        </p:txBody>
      </p:sp>
      <p:sp>
        <p:nvSpPr>
          <p:cNvPr id="22" name="Text 19"/>
          <p:cNvSpPr txBox="1"/>
          <p:nvPr/>
        </p:nvSpPr>
        <p:spPr>
          <a:xfrm>
            <a:off x="1554480" y="3840480"/>
            <a:ext cx="9784080" cy="91440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AgentSession comes from agent.CreateSessionAsync(); the older AgentThread / GetNewThread() pairing is superseded. Non-streaming runs return AgentResponse — preview builds called it AgentRunResponse and that name is gone. Streaming still yields AgentResponseUpdate. If you follow an older sample and hit a missing type, this is usually why.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Model, and the Model Plus a Role</a:t>
            </a:r>
            <a:endParaRPr lang="en-US" sz="32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2 — MICROSOFT AGENT FRAMEWORK FUNDAMENTALS</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417320"/>
            <a:ext cx="5349240" cy="4297680"/>
          </a:xfrm>
          <a:prstGeom prst="roundRect">
            <a:avLst>
              <a:gd name="adj" fmla="val 2128"/>
            </a:avLst>
          </a:prstGeom>
          <a:solidFill>
            <a:srgbClr val="1E2761"/>
          </a:solidFill>
          <a:ln w="12700">
            <a:solidFill>
              <a:srgbClr val="3FBFB0"/>
            </a:solidFill>
            <a:prstDash val="solid"/>
          </a:ln>
        </p:spPr>
      </p:sp>
      <p:sp>
        <p:nvSpPr>
          <p:cNvPr id="7" name="Shape 5"/>
          <p:cNvSpPr/>
          <p:nvPr/>
        </p:nvSpPr>
        <p:spPr>
          <a:xfrm>
            <a:off x="868680" y="1737360"/>
            <a:ext cx="640080" cy="640080"/>
          </a:xfrm>
          <a:prstGeom prst="ellipse">
            <a:avLst/>
          </a:prstGeom>
          <a:solidFill>
            <a:srgbClr val="3FBFB0"/>
          </a:solidFill>
          <a:ln/>
        </p:spPr>
      </p:sp>
      <p:pic>
        <p:nvPicPr>
          <p:cNvPr id="8" name="Image 0" descr="preencoded.png">    </p:cNvPr>
          <p:cNvPicPr>
            <a:picLocks noChangeAspect="1"/>
          </p:cNvPicPr>
          <p:nvPr/>
        </p:nvPicPr>
        <p:blipFill>
          <a:blip r:embed="rId1"/>
          <a:stretch>
            <a:fillRect/>
          </a:stretch>
        </p:blipFill>
        <p:spPr>
          <a:xfrm>
            <a:off x="1033272" y="1901952"/>
            <a:ext cx="310896" cy="310896"/>
          </a:xfrm>
          <a:prstGeom prst="rect">
            <a:avLst/>
          </a:prstGeom>
        </p:spPr>
      </p:pic>
      <p:sp>
        <p:nvSpPr>
          <p:cNvPr id="9" name="Text 6"/>
          <p:cNvSpPr txBox="1"/>
          <p:nvPr/>
        </p:nvSpPr>
        <p:spPr>
          <a:xfrm>
            <a:off x="1645920" y="1737360"/>
            <a:ext cx="3931920" cy="64008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IChatClient — the model behind an abstraction</a:t>
            </a:r>
            <a:endParaRPr lang="en-US" sz="1550" dirty="0"/>
          </a:p>
        </p:txBody>
      </p:sp>
      <p:sp>
        <p:nvSpPr>
          <p:cNvPr id="10" name="Text 7"/>
          <p:cNvSpPr txBox="1"/>
          <p:nvPr/>
        </p:nvSpPr>
        <p:spPr>
          <a:xfrm>
            <a:off x="868680" y="2606040"/>
            <a:ext cx="4709160" cy="2194560"/>
          </a:xfrm>
          <a:prstGeom prst="rect">
            <a:avLst/>
          </a:prstGeom>
          <a:noFill/>
          <a:ln/>
        </p:spPr>
        <p:txBody>
          <a:bodyPr wrap="square" lIns="0" tIns="0" rIns="0" bIns="0" rtlCol="0" anchor="t"/>
          <a:lstStyle/>
          <a:p>
            <a:pPr indent="0" marL="0">
              <a:lnSpc>
                <a:spcPct val="125000"/>
              </a:lnSpc>
              <a:buNone/>
            </a:pPr>
            <a:r>
              <a:rPr lang="en-US" sz="1350" dirty="0">
                <a:solidFill>
                  <a:srgbClr val="CADCFC"/>
                </a:solidFill>
                <a:latin typeface="Calibri" pitchFamily="34" charset="0"/>
                <a:ea typeface="Calibri" pitchFamily="34" charset="-122"/>
                <a:cs typeface="Calibri" pitchFamily="34" charset="-120"/>
              </a:rPr>
              <a:t>This is the provider boundary. It comes from Microsoft.Extensions.AI, not from MAF, and it knows nothing about agents. Ours wraps the OpenAI SDK, and that is the only place in the whole course OpenAI is named.</a:t>
            </a:r>
            <a:endParaRPr lang="en-US" sz="1350" dirty="0"/>
          </a:p>
        </p:txBody>
      </p:sp>
      <p:sp>
        <p:nvSpPr>
          <p:cNvPr id="11" name="Text 8"/>
          <p:cNvSpPr txBox="1"/>
          <p:nvPr/>
        </p:nvSpPr>
        <p:spPr>
          <a:xfrm>
            <a:off x="868680" y="4892040"/>
            <a:ext cx="4709160" cy="594360"/>
          </a:xfrm>
          <a:prstGeom prst="rect">
            <a:avLst/>
          </a:prstGeom>
          <a:noFill/>
          <a:ln/>
        </p:spPr>
        <p:txBody>
          <a:bodyPr wrap="square" lIns="0" tIns="0" rIns="0" bIns="0" rtlCol="0" anchor="t"/>
          <a:lstStyle/>
          <a:p>
            <a:pPr indent="0" marL="0">
              <a:buNone/>
            </a:pPr>
            <a:r>
              <a:rPr lang="en-US" sz="1250" b="1" i="1" dirty="0">
                <a:solidFill>
                  <a:srgbClr val="3FBFB0"/>
                </a:solidFill>
                <a:latin typeface="Calibri" pitchFamily="34" charset="0"/>
                <a:ea typeface="Calibri" pitchFamily="34" charset="-122"/>
                <a:cs typeface="Calibri" pitchFamily="34" charset="-120"/>
              </a:rPr>
              <a:t>Swapping providers later is a one-line change here.</a:t>
            </a:r>
            <a:endParaRPr lang="en-US" sz="1250" dirty="0"/>
          </a:p>
        </p:txBody>
      </p:sp>
      <p:sp>
        <p:nvSpPr>
          <p:cNvPr id="12" name="Shape 9"/>
          <p:cNvSpPr/>
          <p:nvPr/>
        </p:nvSpPr>
        <p:spPr>
          <a:xfrm>
            <a:off x="6309360" y="1417320"/>
            <a:ext cx="5349240" cy="4297680"/>
          </a:xfrm>
          <a:prstGeom prst="roundRect">
            <a:avLst>
              <a:gd name="adj" fmla="val 2128"/>
            </a:avLst>
          </a:prstGeom>
          <a:solidFill>
            <a:srgbClr val="3FBFB0"/>
          </a:solidFill>
          <a:ln/>
        </p:spPr>
      </p:sp>
      <p:sp>
        <p:nvSpPr>
          <p:cNvPr id="13" name="Shape 10"/>
          <p:cNvSpPr/>
          <p:nvPr/>
        </p:nvSpPr>
        <p:spPr>
          <a:xfrm>
            <a:off x="6629400" y="1737360"/>
            <a:ext cx="640080" cy="640080"/>
          </a:xfrm>
          <a:prstGeom prst="ellipse">
            <a:avLst/>
          </a:prstGeom>
          <a:solidFill>
            <a:srgbClr val="1E2761"/>
          </a:solidFill>
          <a:ln/>
        </p:spPr>
      </p:sp>
      <p:pic>
        <p:nvPicPr>
          <p:cNvPr id="14" name="Image 1" descr="preencoded.png">    </p:cNvPr>
          <p:cNvPicPr>
            <a:picLocks noChangeAspect="1"/>
          </p:cNvPicPr>
          <p:nvPr/>
        </p:nvPicPr>
        <p:blipFill>
          <a:blip r:embed="rId2"/>
          <a:stretch>
            <a:fillRect/>
          </a:stretch>
        </p:blipFill>
        <p:spPr>
          <a:xfrm>
            <a:off x="6793992" y="1901952"/>
            <a:ext cx="310896" cy="310896"/>
          </a:xfrm>
          <a:prstGeom prst="rect">
            <a:avLst/>
          </a:prstGeom>
        </p:spPr>
      </p:pic>
      <p:sp>
        <p:nvSpPr>
          <p:cNvPr id="15" name="Text 11"/>
          <p:cNvSpPr txBox="1"/>
          <p:nvPr/>
        </p:nvSpPr>
        <p:spPr>
          <a:xfrm>
            <a:off x="7406640" y="1737360"/>
            <a:ext cx="3931920" cy="64008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ChatClientAgent — the model plus a role</a:t>
            </a:r>
            <a:endParaRPr lang="en-US" sz="1550" dirty="0"/>
          </a:p>
        </p:txBody>
      </p:sp>
      <p:sp>
        <p:nvSpPr>
          <p:cNvPr id="16" name="Text 12"/>
          <p:cNvSpPr txBox="1"/>
          <p:nvPr/>
        </p:nvSpPr>
        <p:spPr>
          <a:xfrm>
            <a:off x="6629400" y="2606040"/>
            <a:ext cx="4709160" cy="2743200"/>
          </a:xfrm>
          <a:prstGeom prst="rect">
            <a:avLst/>
          </a:prstGeom>
          <a:noFill/>
          <a:ln/>
        </p:spPr>
        <p:txBody>
          <a:bodyPr wrap="square" lIns="0" tIns="0" rIns="0" bIns="0" rtlCol="0" anchor="t"/>
          <a:lstStyle/>
          <a:p>
            <a:pPr indent="0" marL="0">
              <a:lnSpc>
                <a:spcPct val="125000"/>
              </a:lnSpc>
              <a:buNone/>
            </a:pPr>
            <a:r>
              <a:rPr lang="en-US" sz="1350" dirty="0">
                <a:solidFill>
                  <a:srgbClr val="FFFFFF"/>
                </a:solidFill>
                <a:latin typeface="Calibri" pitchFamily="34" charset="0"/>
                <a:ea typeface="Calibri" pitchFamily="34" charset="-122"/>
                <a:cs typeface="Calibri" pitchFamily="34" charset="-120"/>
              </a:rPr>
              <a:t>An IChatClient answers a list of messages. An agent has an identity, standing instructions, and the ability to hold tools. ChatClientAgent is the adapter that turns the former into the latter, and it is the AIAgent MiniCode uses for the rest of the series. There is only ever one agent in this course.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CORE CONCEPT</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Memory, Immediacy, and Where the Key Comes From</a:t>
            </a:r>
            <a:endParaRPr lang="en-US" sz="32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2 — MICROSOFT AGENT FRAMEWORK FUNDAMENTALS</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417320"/>
            <a:ext cx="5349240" cy="3291840"/>
          </a:xfrm>
          <a:prstGeom prst="roundRect">
            <a:avLst>
              <a:gd name="adj" fmla="val 2778"/>
            </a:avLst>
          </a:prstGeom>
          <a:solidFill>
            <a:srgbClr val="1E2761"/>
          </a:solidFill>
          <a:ln/>
        </p:spPr>
      </p:sp>
      <p:sp>
        <p:nvSpPr>
          <p:cNvPr id="7" name="Shape 5"/>
          <p:cNvSpPr/>
          <p:nvPr/>
        </p:nvSpPr>
        <p:spPr>
          <a:xfrm>
            <a:off x="868680" y="1737360"/>
            <a:ext cx="640080" cy="640080"/>
          </a:xfrm>
          <a:prstGeom prst="ellipse">
            <a:avLst/>
          </a:prstGeom>
          <a:solidFill>
            <a:srgbClr val="3FBFB0"/>
          </a:solidFill>
          <a:ln/>
        </p:spPr>
      </p:sp>
      <p:pic>
        <p:nvPicPr>
          <p:cNvPr id="8" name="Image 0" descr="preencoded.png">    </p:cNvPr>
          <p:cNvPicPr>
            <a:picLocks noChangeAspect="1"/>
          </p:cNvPicPr>
          <p:nvPr/>
        </p:nvPicPr>
        <p:blipFill>
          <a:blip r:embed="rId1"/>
          <a:stretch>
            <a:fillRect/>
          </a:stretch>
        </p:blipFill>
        <p:spPr>
          <a:xfrm>
            <a:off x="1033272" y="1901952"/>
            <a:ext cx="310896" cy="310896"/>
          </a:xfrm>
          <a:prstGeom prst="rect">
            <a:avLst/>
          </a:prstGeom>
        </p:spPr>
      </p:pic>
      <p:sp>
        <p:nvSpPr>
          <p:cNvPr id="9" name="Text 6"/>
          <p:cNvSpPr txBox="1"/>
          <p:nvPr/>
        </p:nvSpPr>
        <p:spPr>
          <a:xfrm>
            <a:off x="1645920" y="1737360"/>
            <a:ext cx="3931920" cy="640080"/>
          </a:xfrm>
          <a:prstGeom prst="rect">
            <a:avLst/>
          </a:prstGeom>
          <a:noFill/>
          <a:ln/>
        </p:spPr>
        <p:txBody>
          <a:bodyPr wrap="square" lIns="0" tIns="0" rIns="0" bIns="0" rtlCol="0" anchor="ctr"/>
          <a:lstStyle/>
          <a:p>
            <a:pPr indent="0" marL="0">
              <a:buNone/>
            </a:pPr>
            <a:r>
              <a:rPr lang="en-US" sz="1550" b="1" dirty="0">
                <a:solidFill>
                  <a:srgbClr val="FFFFFF"/>
                </a:solidFill>
                <a:latin typeface="Cambria" pitchFamily="34" charset="0"/>
                <a:ea typeface="Cambria" pitchFamily="34" charset="-122"/>
                <a:cs typeface="Cambria" pitchFamily="34" charset="-120"/>
              </a:rPr>
              <a:t>AgentSession — the conversation’s memory</a:t>
            </a:r>
            <a:endParaRPr lang="en-US" sz="1550" dirty="0"/>
          </a:p>
        </p:txBody>
      </p:sp>
      <p:sp>
        <p:nvSpPr>
          <p:cNvPr id="10" name="Text 7"/>
          <p:cNvSpPr txBox="1"/>
          <p:nvPr/>
        </p:nvSpPr>
        <p:spPr>
          <a:xfrm>
            <a:off x="868680" y="2606040"/>
            <a:ext cx="4709160" cy="1737360"/>
          </a:xfrm>
          <a:prstGeom prst="rect">
            <a:avLst/>
          </a:prstGeom>
          <a:noFill/>
          <a:ln/>
        </p:spPr>
        <p:txBody>
          <a:bodyPr wrap="square" lIns="0" tIns="0" rIns="0" bIns="0" rtlCol="0" anchor="t"/>
          <a:lstStyle/>
          <a:p>
            <a:pPr indent="0" marL="0">
              <a:lnSpc>
                <a:spcPct val="125000"/>
              </a:lnSpc>
              <a:buNone/>
            </a:pPr>
            <a:r>
              <a:rPr lang="en-US" sz="1350" dirty="0">
                <a:solidFill>
                  <a:srgbClr val="CADCFC"/>
                </a:solidFill>
                <a:latin typeface="Calibri" pitchFamily="34" charset="0"/>
                <a:ea typeface="Calibri" pitchFamily="34" charset="-122"/>
                <a:cs typeface="Calibri" pitchFamily="34" charset="-120"/>
              </a:rPr>
              <a:t>Without it every turn starts from nothing and the agent cannot answer "what did I just say?". It matters more than it looks: Module 8 rewrites this history to keep long sessions inside the context window, and it can only do that because the session is a thing we hold rather than something buried inside the framework.</a:t>
            </a:r>
            <a:endParaRPr lang="en-US" sz="1350" dirty="0"/>
          </a:p>
        </p:txBody>
      </p:sp>
      <p:sp>
        <p:nvSpPr>
          <p:cNvPr id="11" name="Shape 8"/>
          <p:cNvSpPr/>
          <p:nvPr/>
        </p:nvSpPr>
        <p:spPr>
          <a:xfrm>
            <a:off x="6309360" y="1417320"/>
            <a:ext cx="5349240" cy="3291840"/>
          </a:xfrm>
          <a:prstGeom prst="roundRect">
            <a:avLst>
              <a:gd name="adj" fmla="val 2778"/>
            </a:avLst>
          </a:prstGeom>
          <a:solidFill>
            <a:srgbClr val="F4F6FB"/>
          </a:solidFill>
          <a:ln/>
        </p:spPr>
      </p:sp>
      <p:sp>
        <p:nvSpPr>
          <p:cNvPr id="12" name="Shape 9"/>
          <p:cNvSpPr/>
          <p:nvPr/>
        </p:nvSpPr>
        <p:spPr>
          <a:xfrm>
            <a:off x="6629400" y="1737360"/>
            <a:ext cx="640080" cy="640080"/>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6793992" y="1901952"/>
            <a:ext cx="310896" cy="310896"/>
          </a:xfrm>
          <a:prstGeom prst="rect">
            <a:avLst/>
          </a:prstGeom>
        </p:spPr>
      </p:pic>
      <p:sp>
        <p:nvSpPr>
          <p:cNvPr id="14" name="Text 10"/>
          <p:cNvSpPr txBox="1"/>
          <p:nvPr/>
        </p:nvSpPr>
        <p:spPr>
          <a:xfrm>
            <a:off x="7406640" y="1737360"/>
            <a:ext cx="3931920" cy="640080"/>
          </a:xfrm>
          <a:prstGeom prst="rect">
            <a:avLst/>
          </a:prstGeom>
          <a:noFill/>
          <a:ln/>
        </p:spPr>
        <p:txBody>
          <a:bodyPr wrap="square" lIns="0" tIns="0" rIns="0" bIns="0" rtlCol="0" anchor="ctr"/>
          <a:lstStyle/>
          <a:p>
            <a:pPr indent="0" marL="0">
              <a:buNone/>
            </a:pPr>
            <a:r>
              <a:rPr lang="en-US" sz="1550" b="1" dirty="0">
                <a:solidFill>
                  <a:srgbClr val="2A2F45"/>
                </a:solidFill>
                <a:latin typeface="Cambria" pitchFamily="34" charset="0"/>
                <a:ea typeface="Cambria" pitchFamily="34" charset="-122"/>
                <a:cs typeface="Cambria" pitchFamily="34" charset="-120"/>
              </a:rPr>
              <a:t>Streaming — because waiting feels broken</a:t>
            </a:r>
            <a:endParaRPr lang="en-US" sz="1550" dirty="0"/>
          </a:p>
        </p:txBody>
      </p:sp>
      <p:sp>
        <p:nvSpPr>
          <p:cNvPr id="15" name="Text 11"/>
          <p:cNvSpPr txBox="1"/>
          <p:nvPr/>
        </p:nvSpPr>
        <p:spPr>
          <a:xfrm>
            <a:off x="6629400" y="2606040"/>
            <a:ext cx="4709160" cy="1737360"/>
          </a:xfrm>
          <a:prstGeom prst="rect">
            <a:avLst/>
          </a:prstGeom>
          <a:noFill/>
          <a:ln/>
        </p:spPr>
        <p:txBody>
          <a:bodyPr wrap="square" lIns="0" tIns="0" rIns="0" bIns="0" rtlCol="0" anchor="t"/>
          <a:lstStyle/>
          <a:p>
            <a:pPr indent="0" marL="0">
              <a:lnSpc>
                <a:spcPct val="125000"/>
              </a:lnSpc>
              <a:buNone/>
            </a:pPr>
            <a:r>
              <a:rPr lang="en-US" sz="1350" dirty="0">
                <a:solidFill>
                  <a:srgbClr val="2A2F45"/>
                </a:solidFill>
                <a:latin typeface="Calibri" pitchFamily="34" charset="0"/>
                <a:ea typeface="Calibri" pitchFamily="34" charset="-122"/>
                <a:cs typeface="Calibri" pitchFamily="34" charset="-120"/>
              </a:rPr>
              <a:t>A coding agent may think for many seconds. RunStreamingAsync yields text as the model produces it, so the user sees progress immediately. The non-streaming RunAsync exists and returns everything at once; for an interactive tool, streaming is the right default and we use it from the start.</a:t>
            </a:r>
            <a:endParaRPr lang="en-US" sz="1350" dirty="0"/>
          </a:p>
        </p:txBody>
      </p:sp>
      <p:sp>
        <p:nvSpPr>
          <p:cNvPr id="16" name="Shape 12"/>
          <p:cNvSpPr/>
          <p:nvPr/>
        </p:nvSpPr>
        <p:spPr>
          <a:xfrm>
            <a:off x="548640" y="4937760"/>
            <a:ext cx="11064240" cy="1417320"/>
          </a:xfrm>
          <a:prstGeom prst="roundRect">
            <a:avLst>
              <a:gd name="adj" fmla="val 6452"/>
            </a:avLst>
          </a:prstGeom>
          <a:solidFill>
            <a:srgbClr val="141B49"/>
          </a:solidFill>
          <a:ln w="12700">
            <a:solidFill>
              <a:srgbClr val="3FBFB0"/>
            </a:solidFill>
            <a:prstDash val="solid"/>
          </a:ln>
        </p:spPr>
      </p:sp>
      <p:sp>
        <p:nvSpPr>
          <p:cNvPr id="17" name="Text 13"/>
          <p:cNvSpPr txBox="1"/>
          <p:nvPr/>
        </p:nvSpPr>
        <p:spPr>
          <a:xfrm>
            <a:off x="877824" y="5193792"/>
            <a:ext cx="10405872" cy="428752"/>
          </a:xfrm>
          <a:prstGeom prst="rect">
            <a:avLst/>
          </a:prstGeom>
          <a:noFill/>
          <a:ln/>
        </p:spPr>
        <p:txBody>
          <a:bodyPr wrap="square" lIns="0" tIns="0" rIns="0" bIns="0" rtlCol="0" anchor="t"/>
          <a:lstStyle/>
          <a:p>
            <a:pPr indent="0" marL="0">
              <a:lnSpc>
                <a:spcPts val="1400"/>
              </a:lnSpc>
              <a:buNone/>
            </a:pPr>
            <a:r>
              <a:rPr lang="en-US" sz="950" i="1" dirty="0">
                <a:solidFill>
                  <a:srgbClr val="6B7280"/>
                </a:solidFill>
                <a:latin typeface="Courier New" pitchFamily="34" charset="0"/>
                <a:ea typeface="Courier New" pitchFamily="34" charset="-122"/>
                <a:cs typeface="Courier New" pitchFamily="34" charset="-120"/>
              </a:rPr>
              <a:t>// Where the key comes from: the environment, never hardcoded and never committed.</a:t>
            </a:r>
            <a:endParaRPr lang="en-US" sz="950" dirty="0"/>
          </a:p>
          <a:p>
            <a:pPr indent="0" marL="0">
              <a:lnSpc>
                <a:spcPts val="1400"/>
              </a:lnSpc>
              <a:buNone/>
            </a:pPr>
            <a:r>
              <a:rPr lang="en-US" sz="950" i="1" dirty="0">
                <a:solidFill>
                  <a:srgbClr val="6B7280"/>
                </a:solidFill>
                <a:latin typeface="Courier New" pitchFamily="34" charset="0"/>
                <a:ea typeface="Courier New" pitchFamily="34" charset="-122"/>
                <a:cs typeface="Courier New" pitchFamily="34" charset="-120"/>
              </a:rPr>
              <a:t>// Right now that read happens inline in Program.cs.</a:t>
            </a:r>
            <a:endParaRPr lang="en-US" sz="950" dirty="0"/>
          </a:p>
        </p:txBody>
      </p:sp>
      <p:sp>
        <p:nvSpPr>
          <p:cNvPr id="18" name="Text 14"/>
          <p:cNvSpPr txBox="1"/>
          <p:nvPr/>
        </p:nvSpPr>
        <p:spPr>
          <a:xfrm>
            <a:off x="877824" y="5732272"/>
            <a:ext cx="10405872" cy="428752"/>
          </a:xfrm>
          <a:prstGeom prst="rect">
            <a:avLst/>
          </a:prstGeom>
          <a:noFill/>
          <a:ln/>
        </p:spPr>
        <p:txBody>
          <a:bodyPr wrap="square" lIns="0" tIns="0" rIns="0" bIns="0" rtlCol="0" anchor="t"/>
          <a:lstStyle/>
          <a:p>
            <a:pPr indent="0" marL="0">
              <a:lnSpc>
                <a:spcPts val="1400"/>
              </a:lnSpc>
              <a:buNone/>
            </a:pPr>
            <a:r>
              <a:rPr lang="en-US" sz="1050" dirty="0">
                <a:solidFill>
                  <a:srgbClr val="3FBFB0"/>
                </a:solidFill>
                <a:latin typeface="Courier New" pitchFamily="34" charset="0"/>
                <a:ea typeface="Courier New" pitchFamily="34" charset="-122"/>
                <a:cs typeface="Courier New" pitchFamily="34" charset="-120"/>
              </a:rPr>
              <a:t>Module 3 moves it behind one configuration type, so exactly one place touches a</a:t>
            </a:r>
            <a:endParaRPr lang="en-US" sz="1050" dirty="0"/>
          </a:p>
          <a:p>
            <a:pPr indent="0" marL="0">
              <a:lnSpc>
                <a:spcPts val="1400"/>
              </a:lnSpc>
              <a:buNone/>
            </a:pPr>
            <a:r>
              <a:rPr lang="en-US" sz="1050" dirty="0">
                <a:solidFill>
                  <a:srgbClr val="3FBFB0"/>
                </a:solidFill>
                <a:latin typeface="Courier New" pitchFamily="34" charset="0"/>
                <a:ea typeface="Courier New" pitchFamily="34" charset="-122"/>
                <a:cs typeface="Courier New" pitchFamily="34" charset="-120"/>
              </a:rPr>
              <a:t>credential — but the rule starts here.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THE CODE</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A Single File, on Purpose</a:t>
            </a:r>
            <a:endParaRPr lang="en-US" sz="32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2 — MICROSOFT AGENT FRAMEWORK FUNDAMENTALS</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417320"/>
            <a:ext cx="5349240" cy="4754880"/>
          </a:xfrm>
          <a:prstGeom prst="roundRect">
            <a:avLst>
              <a:gd name="adj" fmla="val 1923"/>
            </a:avLst>
          </a:prstGeom>
          <a:solidFill>
            <a:srgbClr val="141B49"/>
          </a:solidFill>
          <a:ln w="12700">
            <a:solidFill>
              <a:srgbClr val="3FBFB0"/>
            </a:solidFill>
            <a:prstDash val="solid"/>
          </a:ln>
        </p:spPr>
      </p:sp>
      <p:sp>
        <p:nvSpPr>
          <p:cNvPr id="7" name="Text 5"/>
          <p:cNvSpPr txBox="1"/>
          <p:nvPr/>
        </p:nvSpPr>
        <p:spPr>
          <a:xfrm>
            <a:off x="877824" y="1673352"/>
            <a:ext cx="4690872" cy="238252"/>
          </a:xfrm>
          <a:prstGeom prst="rect">
            <a:avLst/>
          </a:prstGeom>
          <a:noFill/>
          <a:ln/>
        </p:spPr>
        <p:txBody>
          <a:bodyPr wrap="square" lIns="0" tIns="0" rIns="0" bIns="0" rtlCol="0" anchor="t"/>
          <a:lstStyle/>
          <a:p>
            <a:pPr indent="0" marL="0">
              <a:lnSpc>
                <a:spcPts val="1300"/>
              </a:lnSpc>
              <a:buNone/>
            </a:pPr>
            <a:r>
              <a:rPr lang="en-US" sz="950" i="1" dirty="0">
                <a:solidFill>
                  <a:srgbClr val="6B7280"/>
                </a:solidFill>
                <a:latin typeface="Courier New" pitchFamily="34" charset="0"/>
                <a:ea typeface="Courier New" pitchFamily="34" charset="-122"/>
                <a:cs typeface="Courier New" pitchFamily="34" charset="-120"/>
              </a:rPr>
              <a:t>&lt;!-- MiniCode.slnx --&gt;</a:t>
            </a:r>
            <a:endParaRPr lang="en-US" sz="950" dirty="0"/>
          </a:p>
        </p:txBody>
      </p:sp>
      <p:sp>
        <p:nvSpPr>
          <p:cNvPr id="8" name="Text 6"/>
          <p:cNvSpPr txBox="1"/>
          <p:nvPr/>
        </p:nvSpPr>
        <p:spPr>
          <a:xfrm>
            <a:off x="877824" y="2021332"/>
            <a:ext cx="4690872" cy="1063752"/>
          </a:xfrm>
          <a:prstGeom prst="rect">
            <a:avLst/>
          </a:prstGeom>
          <a:noFill/>
          <a:ln/>
        </p:spPr>
        <p:txBody>
          <a:bodyPr wrap="square" lIns="0" tIns="0" rIns="0" bIns="0" rtlCol="0" anchor="t"/>
          <a:lstStyle/>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&lt;Solution&gt;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&lt;Folder Name="/src/"&gt;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&lt;Project Path="src/MiniCode.Cli/</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MiniCode.Cli.csproj" /&gt;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&lt;/Folder&gt;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&lt;/Solution&gt;</a:t>
            </a:r>
            <a:endParaRPr lang="en-US" sz="950" dirty="0"/>
          </a:p>
        </p:txBody>
      </p:sp>
      <p:sp>
        <p:nvSpPr>
          <p:cNvPr id="9" name="Text 7"/>
          <p:cNvSpPr txBox="1"/>
          <p:nvPr/>
        </p:nvSpPr>
        <p:spPr>
          <a:xfrm>
            <a:off x="877824" y="3011932"/>
            <a:ext cx="4690872" cy="238252"/>
          </a:xfrm>
          <a:prstGeom prst="rect">
            <a:avLst/>
          </a:prstGeom>
          <a:noFill/>
          <a:ln/>
        </p:spPr>
        <p:txBody>
          <a:bodyPr wrap="square" lIns="0" tIns="0" rIns="0" bIns="0" rtlCol="0" anchor="t"/>
          <a:lstStyle/>
          <a:p>
            <a:pPr indent="0" marL="0">
              <a:lnSpc>
                <a:spcPts val="1300"/>
              </a:lnSpc>
              <a:buNone/>
            </a:pPr>
            <a:r>
              <a:rPr lang="en-US" sz="950" i="1" dirty="0">
                <a:solidFill>
                  <a:srgbClr val="6B7280"/>
                </a:solidFill>
                <a:latin typeface="Courier New" pitchFamily="34" charset="0"/>
                <a:ea typeface="Courier New" pitchFamily="34" charset="-122"/>
                <a:cs typeface="Courier New" pitchFamily="34" charset="-120"/>
              </a:rPr>
              <a:t>&lt;!-- src/MiniCode.Cli/MiniCode.Cli.csproj --&gt;</a:t>
            </a:r>
            <a:endParaRPr lang="en-US" sz="950" dirty="0"/>
          </a:p>
        </p:txBody>
      </p:sp>
      <p:sp>
        <p:nvSpPr>
          <p:cNvPr id="10" name="Text 8"/>
          <p:cNvSpPr txBox="1"/>
          <p:nvPr/>
        </p:nvSpPr>
        <p:spPr>
          <a:xfrm>
            <a:off x="877824" y="3359912"/>
            <a:ext cx="4690872" cy="1559052"/>
          </a:xfrm>
          <a:prstGeom prst="rect">
            <a:avLst/>
          </a:prstGeom>
          <a:noFill/>
          <a:ln/>
        </p:spPr>
        <p:txBody>
          <a:bodyPr wrap="square" lIns="0" tIns="0" rIns="0" bIns="0" rtlCol="0" anchor="t"/>
          <a:lstStyle/>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&lt;PropertyGroup&gt;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&lt;OutputType&gt;Exe&lt;/OutputType&gt;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&lt;TargetFramework&gt;net10.0&lt;/TargetFramework&gt;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&lt;ImplicitUsings&gt;enable&lt;/ImplicitUsings&gt;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&lt;Nullable&gt;enable&lt;/Nullable&gt;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&lt;RootNamespace&gt;MiniCode.Cli&lt;/RootNamespace&gt;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&lt;AssemblyName&gt;MiniCode.Cli&lt;/AssemblyName&gt;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&lt;/PropertyGroup&gt;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&lt;ItemGroup&gt;</a:t>
            </a:r>
            <a:endParaRPr lang="en-US" sz="950" dirty="0"/>
          </a:p>
        </p:txBody>
      </p:sp>
      <p:sp>
        <p:nvSpPr>
          <p:cNvPr id="11" name="Text 9"/>
          <p:cNvSpPr txBox="1"/>
          <p:nvPr/>
        </p:nvSpPr>
        <p:spPr>
          <a:xfrm>
            <a:off x="877824" y="4845812"/>
            <a:ext cx="4690872" cy="898652"/>
          </a:xfrm>
          <a:prstGeom prst="rect">
            <a:avLst/>
          </a:prstGeom>
          <a:noFill/>
          <a:ln/>
        </p:spPr>
        <p:txBody>
          <a:bodyPr wrap="square" lIns="0" tIns="0" rIns="0" bIns="0" rtlCol="0" anchor="t"/>
          <a:lstStyle/>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  &lt;PackageReference Include="Microsoft.Agents.AI"</a:t>
            </a:r>
            <a:endParaRPr lang="en-US" sz="950" dirty="0"/>
          </a:p>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                    Version="1.22.0" /&gt;</a:t>
            </a:r>
            <a:endParaRPr lang="en-US" sz="950" dirty="0"/>
          </a:p>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  &lt;PackageReference</a:t>
            </a:r>
            <a:endParaRPr lang="en-US" sz="950" dirty="0"/>
          </a:p>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      Include="Microsoft.Extensions.AI.OpenAI"</a:t>
            </a:r>
            <a:endParaRPr lang="en-US" sz="950" dirty="0"/>
          </a:p>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      Version="10.10.0" /&gt;</a:t>
            </a:r>
            <a:endParaRPr lang="en-US" sz="950" dirty="0"/>
          </a:p>
        </p:txBody>
      </p:sp>
      <p:sp>
        <p:nvSpPr>
          <p:cNvPr id="12" name="Text 10"/>
          <p:cNvSpPr txBox="1"/>
          <p:nvPr/>
        </p:nvSpPr>
        <p:spPr>
          <a:xfrm>
            <a:off x="877824" y="5671312"/>
            <a:ext cx="4690872" cy="238252"/>
          </a:xfrm>
          <a:prstGeom prst="rect">
            <a:avLst/>
          </a:prstGeom>
          <a:noFill/>
          <a:ln/>
        </p:spPr>
        <p:txBody>
          <a:bodyPr wrap="square" lIns="0" tIns="0" rIns="0" bIns="0" rtlCol="0" anchor="t"/>
          <a:lstStyle/>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&lt;/ItemGroup&gt;</a:t>
            </a:r>
            <a:endParaRPr lang="en-US" sz="950" dirty="0"/>
          </a:p>
        </p:txBody>
      </p:sp>
      <p:sp>
        <p:nvSpPr>
          <p:cNvPr id="13" name="Shape 11"/>
          <p:cNvSpPr/>
          <p:nvPr/>
        </p:nvSpPr>
        <p:spPr>
          <a:xfrm>
            <a:off x="6309360" y="1417320"/>
            <a:ext cx="5349240" cy="4754880"/>
          </a:xfrm>
          <a:prstGeom prst="roundRect">
            <a:avLst>
              <a:gd name="adj" fmla="val 1923"/>
            </a:avLst>
          </a:prstGeom>
          <a:solidFill>
            <a:srgbClr val="141B49"/>
          </a:solidFill>
          <a:ln w="12700">
            <a:solidFill>
              <a:srgbClr val="3FBFB0"/>
            </a:solidFill>
            <a:prstDash val="solid"/>
          </a:ln>
        </p:spPr>
      </p:sp>
      <p:sp>
        <p:nvSpPr>
          <p:cNvPr id="14" name="Text 12"/>
          <p:cNvSpPr txBox="1"/>
          <p:nvPr/>
        </p:nvSpPr>
        <p:spPr>
          <a:xfrm>
            <a:off x="6638544" y="1673352"/>
            <a:ext cx="4690872" cy="238252"/>
          </a:xfrm>
          <a:prstGeom prst="rect">
            <a:avLst/>
          </a:prstGeom>
          <a:noFill/>
          <a:ln/>
        </p:spPr>
        <p:txBody>
          <a:bodyPr wrap="square" lIns="0" tIns="0" rIns="0" bIns="0" rtlCol="0" anchor="t"/>
          <a:lstStyle/>
          <a:p>
            <a:pPr indent="0" marL="0">
              <a:lnSpc>
                <a:spcPts val="1300"/>
              </a:lnSpc>
              <a:buNone/>
            </a:pPr>
            <a:r>
              <a:rPr lang="en-US" sz="950" i="1" dirty="0">
                <a:solidFill>
                  <a:srgbClr val="6B7280"/>
                </a:solidFill>
                <a:latin typeface="Courier New" pitchFamily="34" charset="0"/>
                <a:ea typeface="Courier New" pitchFamily="34" charset="-122"/>
                <a:cs typeface="Courier New" pitchFamily="34" charset="-120"/>
              </a:rPr>
              <a:t>// src/MiniCode.Cli/Program.cs</a:t>
            </a:r>
            <a:endParaRPr lang="en-US" sz="950" dirty="0"/>
          </a:p>
        </p:txBody>
      </p:sp>
      <p:sp>
        <p:nvSpPr>
          <p:cNvPr id="15" name="Text 13"/>
          <p:cNvSpPr txBox="1"/>
          <p:nvPr/>
        </p:nvSpPr>
        <p:spPr>
          <a:xfrm>
            <a:off x="6638544" y="2021332"/>
            <a:ext cx="4690872" cy="898652"/>
          </a:xfrm>
          <a:prstGeom prst="rect">
            <a:avLst/>
          </a:prstGeom>
          <a:noFill/>
          <a:ln/>
        </p:spPr>
        <p:txBody>
          <a:bodyPr wrap="square" lIns="0" tIns="0" rIns="0" bIns="0" rtlCol="0" anchor="t"/>
          <a:lstStyle/>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string apiKey = Environment.GetEnvironmentVariable(</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"OPENAI_API_KEY")</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 throw new InvalidOperationException(</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"OPENAI_API_KEY is not set. Set it "</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 "before running MiniCode.");</a:t>
            </a:r>
            <a:endParaRPr lang="en-US" sz="950" dirty="0"/>
          </a:p>
        </p:txBody>
      </p:sp>
      <p:sp>
        <p:nvSpPr>
          <p:cNvPr id="16" name="Text 14"/>
          <p:cNvSpPr txBox="1"/>
          <p:nvPr/>
        </p:nvSpPr>
        <p:spPr>
          <a:xfrm>
            <a:off x="6638544" y="2846832"/>
            <a:ext cx="4690872" cy="733552"/>
          </a:xfrm>
          <a:prstGeom prst="rect">
            <a:avLst/>
          </a:prstGeom>
          <a:noFill/>
          <a:ln/>
        </p:spPr>
        <p:txBody>
          <a:bodyPr wrap="square" lIns="0" tIns="0" rIns="0" bIns="0" rtlCol="0" anchor="t"/>
          <a:lstStyle/>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ChatClient openAiClient =</a:t>
            </a:r>
            <a:endParaRPr lang="en-US" sz="950" dirty="0"/>
          </a:p>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    new OpenAIClient(apiKey).GetChatClient(ModelId);</a:t>
            </a:r>
            <a:endParaRPr lang="en-US" sz="950" dirty="0"/>
          </a:p>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IChatClient chatClient =</a:t>
            </a:r>
            <a:endParaRPr lang="en-US" sz="950" dirty="0"/>
          </a:p>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    openAiClient.AsIChatClient();</a:t>
            </a:r>
            <a:endParaRPr lang="en-US" sz="950" dirty="0"/>
          </a:p>
        </p:txBody>
      </p:sp>
      <p:sp>
        <p:nvSpPr>
          <p:cNvPr id="17" name="Text 15"/>
          <p:cNvSpPr txBox="1"/>
          <p:nvPr/>
        </p:nvSpPr>
        <p:spPr>
          <a:xfrm>
            <a:off x="6638544" y="3507232"/>
            <a:ext cx="4690872" cy="898652"/>
          </a:xfrm>
          <a:prstGeom prst="rect">
            <a:avLst/>
          </a:prstGeom>
          <a:noFill/>
          <a:ln/>
        </p:spPr>
        <p:txBody>
          <a:bodyPr wrap="square" lIns="0" tIns="0" rIns="0" bIns="0" rtlCol="0" anchor="t"/>
          <a:lstStyle/>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AIAgent agent = new ChatClientAgent(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chatClient,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instructions: "You are MiniCode, a concise "</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 "assistant for software developers.",</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name: "MiniCode");</a:t>
            </a:r>
            <a:endParaRPr lang="en-US" sz="950" dirty="0"/>
          </a:p>
        </p:txBody>
      </p:sp>
      <p:sp>
        <p:nvSpPr>
          <p:cNvPr id="18" name="Text 16"/>
          <p:cNvSpPr txBox="1"/>
          <p:nvPr/>
        </p:nvSpPr>
        <p:spPr>
          <a:xfrm>
            <a:off x="6638544" y="4332732"/>
            <a:ext cx="4690872" cy="403352"/>
          </a:xfrm>
          <a:prstGeom prst="rect">
            <a:avLst/>
          </a:prstGeom>
          <a:noFill/>
          <a:ln/>
        </p:spPr>
        <p:txBody>
          <a:bodyPr wrap="square" lIns="0" tIns="0" rIns="0" bIns="0" rtlCol="0" anchor="t"/>
          <a:lstStyle/>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AgentSession session =</a:t>
            </a:r>
            <a:endParaRPr lang="en-US" sz="950" dirty="0"/>
          </a:p>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    await agent.CreateSessionAsync();</a:t>
            </a:r>
            <a:endParaRPr lang="en-US" sz="950" dirty="0"/>
          </a:p>
        </p:txBody>
      </p:sp>
      <p:sp>
        <p:nvSpPr>
          <p:cNvPr id="19" name="Text 17"/>
          <p:cNvSpPr txBox="1"/>
          <p:nvPr/>
        </p:nvSpPr>
        <p:spPr>
          <a:xfrm>
            <a:off x="6638544" y="4662932"/>
            <a:ext cx="4690872" cy="238252"/>
          </a:xfrm>
          <a:prstGeom prst="rect">
            <a:avLst/>
          </a:prstGeom>
          <a:noFill/>
          <a:ln/>
        </p:spPr>
        <p:txBody>
          <a:bodyPr wrap="square" lIns="0" tIns="0" rIns="0" bIns="0" rtlCol="0" anchor="t"/>
          <a:lstStyle/>
          <a:p>
            <a:pPr indent="0" marL="0">
              <a:lnSpc>
                <a:spcPts val="1300"/>
              </a:lnSpc>
              <a:buNone/>
            </a:pPr>
            <a:r>
              <a:rPr lang="en-US" sz="950" i="1" dirty="0">
                <a:solidFill>
                  <a:srgbClr val="6B7280"/>
                </a:solidFill>
                <a:latin typeface="Courier New" pitchFamily="34" charset="0"/>
                <a:ea typeface="Courier New" pitchFamily="34" charset="-122"/>
                <a:cs typeface="Courier New" pitchFamily="34" charset="-120"/>
              </a:rPr>
              <a:t>// ...then, inside the read-eval-print loop:</a:t>
            </a:r>
            <a:endParaRPr lang="en-US" sz="950" dirty="0"/>
          </a:p>
        </p:txBody>
      </p:sp>
      <p:sp>
        <p:nvSpPr>
          <p:cNvPr id="20" name="Text 18"/>
          <p:cNvSpPr txBox="1"/>
          <p:nvPr/>
        </p:nvSpPr>
        <p:spPr>
          <a:xfrm>
            <a:off x="6638544" y="5010912"/>
            <a:ext cx="4690872" cy="898652"/>
          </a:xfrm>
          <a:prstGeom prst="rect">
            <a:avLst/>
          </a:prstGeom>
          <a:noFill/>
          <a:ln/>
        </p:spPr>
        <p:txBody>
          <a:bodyPr wrap="square" lIns="0" tIns="0" rIns="0" bIns="0" rtlCol="0" anchor="t"/>
          <a:lstStyle/>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await foreach (AgentResponseUpdate update in</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agent.RunStreamingAsync(input, session))</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Console.Write(update);</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WALKTHROUGH</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Six Details in Thirty Lines</a:t>
            </a:r>
            <a:endParaRPr lang="en-US" sz="28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2 — MICROSOFT AGENT FRAMEWORK FUNDAMENTALS</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417320"/>
            <a:ext cx="5326380" cy="1572768"/>
          </a:xfrm>
          <a:prstGeom prst="roundRect">
            <a:avLst>
              <a:gd name="adj" fmla="val 5814"/>
            </a:avLst>
          </a:prstGeom>
          <a:solidFill>
            <a:srgbClr val="1E2761"/>
          </a:solidFill>
          <a:ln w="12700">
            <a:solidFill>
              <a:srgbClr val="3FBFB0"/>
            </a:solidFill>
            <a:prstDash val="solid"/>
          </a:ln>
        </p:spPr>
      </p:sp>
      <p:sp>
        <p:nvSpPr>
          <p:cNvPr id="7" name="Shape 5"/>
          <p:cNvSpPr/>
          <p:nvPr/>
        </p:nvSpPr>
        <p:spPr>
          <a:xfrm>
            <a:off x="822960" y="1645920"/>
            <a:ext cx="384048" cy="384048"/>
          </a:xfrm>
          <a:prstGeom prst="ellipse">
            <a:avLst/>
          </a:prstGeom>
          <a:solidFill>
            <a:srgbClr val="3FBFB0"/>
          </a:solidFill>
          <a:ln/>
        </p:spPr>
      </p:sp>
      <p:sp>
        <p:nvSpPr>
          <p:cNvPr id="8" name="Text 6"/>
          <p:cNvSpPr txBox="1"/>
          <p:nvPr/>
        </p:nvSpPr>
        <p:spPr>
          <a:xfrm>
            <a:off x="822960" y="1645920"/>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1</a:t>
            </a:r>
            <a:endParaRPr lang="en-US" sz="1100" dirty="0"/>
          </a:p>
        </p:txBody>
      </p:sp>
      <p:sp>
        <p:nvSpPr>
          <p:cNvPr id="9" name="Text 7"/>
          <p:cNvSpPr txBox="1"/>
          <p:nvPr/>
        </p:nvSpPr>
        <p:spPr>
          <a:xfrm>
            <a:off x="1371600" y="1618488"/>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The key first, and loudly</a:t>
            </a:r>
            <a:endParaRPr lang="en-US" sz="1250" dirty="0"/>
          </a:p>
        </p:txBody>
      </p:sp>
      <p:sp>
        <p:nvSpPr>
          <p:cNvPr id="10" name="Text 8"/>
          <p:cNvSpPr txBox="1"/>
          <p:nvPr/>
        </p:nvSpPr>
        <p:spPr>
          <a:xfrm>
            <a:off x="1371600" y="2130552"/>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A missing OPENAI_API_KEY throws immediately with a message aimed at a person. Failing at startup beats failing on the first request.</a:t>
            </a:r>
            <a:endParaRPr lang="en-US" sz="1050" dirty="0"/>
          </a:p>
        </p:txBody>
      </p:sp>
      <p:sp>
        <p:nvSpPr>
          <p:cNvPr id="11" name="Shape 9"/>
          <p:cNvSpPr/>
          <p:nvPr/>
        </p:nvSpPr>
        <p:spPr>
          <a:xfrm>
            <a:off x="6286500" y="1417320"/>
            <a:ext cx="5326380" cy="1572768"/>
          </a:xfrm>
          <a:prstGeom prst="roundRect">
            <a:avLst>
              <a:gd name="adj" fmla="val 5814"/>
            </a:avLst>
          </a:prstGeom>
          <a:solidFill>
            <a:srgbClr val="1E2761"/>
          </a:solidFill>
          <a:ln w="12700">
            <a:solidFill>
              <a:srgbClr val="3FBFB0"/>
            </a:solidFill>
            <a:prstDash val="solid"/>
          </a:ln>
        </p:spPr>
      </p:sp>
      <p:sp>
        <p:nvSpPr>
          <p:cNvPr id="12" name="Shape 10"/>
          <p:cNvSpPr/>
          <p:nvPr/>
        </p:nvSpPr>
        <p:spPr>
          <a:xfrm>
            <a:off x="6560820" y="1645920"/>
            <a:ext cx="384048" cy="384048"/>
          </a:xfrm>
          <a:prstGeom prst="ellipse">
            <a:avLst/>
          </a:prstGeom>
          <a:solidFill>
            <a:srgbClr val="3FBFB0"/>
          </a:solidFill>
          <a:ln/>
        </p:spPr>
      </p:sp>
      <p:sp>
        <p:nvSpPr>
          <p:cNvPr id="13" name="Text 11"/>
          <p:cNvSpPr txBox="1"/>
          <p:nvPr/>
        </p:nvSpPr>
        <p:spPr>
          <a:xfrm>
            <a:off x="6560820" y="1645920"/>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2</a:t>
            </a:r>
            <a:endParaRPr lang="en-US" sz="1100" dirty="0"/>
          </a:p>
        </p:txBody>
      </p:sp>
      <p:sp>
        <p:nvSpPr>
          <p:cNvPr id="14" name="Text 12"/>
          <p:cNvSpPr txBox="1"/>
          <p:nvPr/>
        </p:nvSpPr>
        <p:spPr>
          <a:xfrm>
            <a:off x="7109460" y="1618488"/>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Two lines to reach the model</a:t>
            </a:r>
            <a:endParaRPr lang="en-US" sz="1250" dirty="0"/>
          </a:p>
        </p:txBody>
      </p:sp>
      <p:sp>
        <p:nvSpPr>
          <p:cNvPr id="15" name="Text 13"/>
          <p:cNvSpPr txBox="1"/>
          <p:nvPr/>
        </p:nvSpPr>
        <p:spPr>
          <a:xfrm>
            <a:off x="7109460" y="2130552"/>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GetChatClient(ModelId) gives the OpenAI SDK client; AsIChatClient() adapts it. After that line nothing downstream knows the provider.</a:t>
            </a:r>
            <a:endParaRPr lang="en-US" sz="1050" dirty="0"/>
          </a:p>
        </p:txBody>
      </p:sp>
      <p:sp>
        <p:nvSpPr>
          <p:cNvPr id="16" name="Shape 14"/>
          <p:cNvSpPr/>
          <p:nvPr/>
        </p:nvSpPr>
        <p:spPr>
          <a:xfrm>
            <a:off x="548640" y="3118104"/>
            <a:ext cx="5326380" cy="1572768"/>
          </a:xfrm>
          <a:prstGeom prst="roundRect">
            <a:avLst>
              <a:gd name="adj" fmla="val 5814"/>
            </a:avLst>
          </a:prstGeom>
          <a:solidFill>
            <a:srgbClr val="1E2761"/>
          </a:solidFill>
          <a:ln w="12700">
            <a:solidFill>
              <a:srgbClr val="3FBFB0"/>
            </a:solidFill>
            <a:prstDash val="solid"/>
          </a:ln>
        </p:spPr>
      </p:sp>
      <p:sp>
        <p:nvSpPr>
          <p:cNvPr id="17" name="Shape 15"/>
          <p:cNvSpPr/>
          <p:nvPr/>
        </p:nvSpPr>
        <p:spPr>
          <a:xfrm>
            <a:off x="822960" y="3346704"/>
            <a:ext cx="384048" cy="384048"/>
          </a:xfrm>
          <a:prstGeom prst="ellipse">
            <a:avLst/>
          </a:prstGeom>
          <a:solidFill>
            <a:srgbClr val="3FBFB0"/>
          </a:solidFill>
          <a:ln/>
        </p:spPr>
      </p:sp>
      <p:sp>
        <p:nvSpPr>
          <p:cNvPr id="18" name="Text 16"/>
          <p:cNvSpPr txBox="1"/>
          <p:nvPr/>
        </p:nvSpPr>
        <p:spPr>
          <a:xfrm>
            <a:off x="822960" y="3346704"/>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3</a:t>
            </a:r>
            <a:endParaRPr lang="en-US" sz="1100" dirty="0"/>
          </a:p>
        </p:txBody>
      </p:sp>
      <p:sp>
        <p:nvSpPr>
          <p:cNvPr id="19" name="Text 17"/>
          <p:cNvSpPr txBox="1"/>
          <p:nvPr/>
        </p:nvSpPr>
        <p:spPr>
          <a:xfrm>
            <a:off x="1371600" y="3319272"/>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ChatClientAgent adds the role</a:t>
            </a:r>
            <a:endParaRPr lang="en-US" sz="1250" dirty="0"/>
          </a:p>
        </p:txBody>
      </p:sp>
      <p:sp>
        <p:nvSpPr>
          <p:cNvPr id="20" name="Text 18"/>
          <p:cNvSpPr txBox="1"/>
          <p:nvPr/>
        </p:nvSpPr>
        <p:spPr>
          <a:xfrm>
            <a:off x="1371600" y="3831336"/>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Instructions and a name are all it takes — and it accepts tools too, which is how Module 5a gives the agent hands.</a:t>
            </a:r>
            <a:endParaRPr lang="en-US" sz="1050" dirty="0"/>
          </a:p>
        </p:txBody>
      </p:sp>
      <p:sp>
        <p:nvSpPr>
          <p:cNvPr id="21" name="Shape 19"/>
          <p:cNvSpPr/>
          <p:nvPr/>
        </p:nvSpPr>
        <p:spPr>
          <a:xfrm>
            <a:off x="6286500" y="3118104"/>
            <a:ext cx="5326380" cy="1572768"/>
          </a:xfrm>
          <a:prstGeom prst="roundRect">
            <a:avLst>
              <a:gd name="adj" fmla="val 5814"/>
            </a:avLst>
          </a:prstGeom>
          <a:solidFill>
            <a:srgbClr val="1E2761"/>
          </a:solidFill>
          <a:ln w="12700">
            <a:solidFill>
              <a:srgbClr val="3FBFB0"/>
            </a:solidFill>
            <a:prstDash val="solid"/>
          </a:ln>
        </p:spPr>
      </p:sp>
      <p:sp>
        <p:nvSpPr>
          <p:cNvPr id="22" name="Shape 20"/>
          <p:cNvSpPr/>
          <p:nvPr/>
        </p:nvSpPr>
        <p:spPr>
          <a:xfrm>
            <a:off x="6560820" y="3346704"/>
            <a:ext cx="384048" cy="384048"/>
          </a:xfrm>
          <a:prstGeom prst="ellipse">
            <a:avLst/>
          </a:prstGeom>
          <a:solidFill>
            <a:srgbClr val="3FBFB0"/>
          </a:solidFill>
          <a:ln/>
        </p:spPr>
      </p:sp>
      <p:sp>
        <p:nvSpPr>
          <p:cNvPr id="23" name="Text 21"/>
          <p:cNvSpPr txBox="1"/>
          <p:nvPr/>
        </p:nvSpPr>
        <p:spPr>
          <a:xfrm>
            <a:off x="6560820" y="3346704"/>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4</a:t>
            </a:r>
            <a:endParaRPr lang="en-US" sz="1100" dirty="0"/>
          </a:p>
        </p:txBody>
      </p:sp>
      <p:sp>
        <p:nvSpPr>
          <p:cNvPr id="24" name="Text 22"/>
          <p:cNvSpPr txBox="1"/>
          <p:nvPr/>
        </p:nvSpPr>
        <p:spPr>
          <a:xfrm>
            <a:off x="7109460" y="3319272"/>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One session, created once, outside the loop</a:t>
            </a:r>
            <a:endParaRPr lang="en-US" sz="1250" dirty="0"/>
          </a:p>
        </p:txBody>
      </p:sp>
      <p:sp>
        <p:nvSpPr>
          <p:cNvPr id="25" name="Text 23"/>
          <p:cNvSpPr txBox="1"/>
          <p:nvPr/>
        </p:nvSpPr>
        <p:spPr>
          <a:xfrm>
            <a:off x="7109460" y="3831336"/>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Creating it per turn is the classic bug: an agent that forgets everything between questions.</a:t>
            </a:r>
            <a:endParaRPr lang="en-US" sz="1050" dirty="0"/>
          </a:p>
        </p:txBody>
      </p:sp>
      <p:sp>
        <p:nvSpPr>
          <p:cNvPr id="26" name="Shape 24"/>
          <p:cNvSpPr/>
          <p:nvPr/>
        </p:nvSpPr>
        <p:spPr>
          <a:xfrm>
            <a:off x="548640" y="4818888"/>
            <a:ext cx="5326380" cy="1572768"/>
          </a:xfrm>
          <a:prstGeom prst="roundRect">
            <a:avLst>
              <a:gd name="adj" fmla="val 5814"/>
            </a:avLst>
          </a:prstGeom>
          <a:solidFill>
            <a:srgbClr val="1E2761"/>
          </a:solidFill>
          <a:ln w="12700">
            <a:solidFill>
              <a:srgbClr val="3FBFB0"/>
            </a:solidFill>
            <a:prstDash val="solid"/>
          </a:ln>
        </p:spPr>
      </p:sp>
      <p:sp>
        <p:nvSpPr>
          <p:cNvPr id="27" name="Shape 25"/>
          <p:cNvSpPr/>
          <p:nvPr/>
        </p:nvSpPr>
        <p:spPr>
          <a:xfrm>
            <a:off x="822960" y="5047488"/>
            <a:ext cx="384048" cy="384048"/>
          </a:xfrm>
          <a:prstGeom prst="ellipse">
            <a:avLst/>
          </a:prstGeom>
          <a:solidFill>
            <a:srgbClr val="3FBFB0"/>
          </a:solidFill>
          <a:ln/>
        </p:spPr>
      </p:sp>
      <p:sp>
        <p:nvSpPr>
          <p:cNvPr id="28" name="Text 26"/>
          <p:cNvSpPr txBox="1"/>
          <p:nvPr/>
        </p:nvSpPr>
        <p:spPr>
          <a:xfrm>
            <a:off x="822960" y="5047488"/>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5</a:t>
            </a:r>
            <a:endParaRPr lang="en-US" sz="1100" dirty="0"/>
          </a:p>
        </p:txBody>
      </p:sp>
      <p:sp>
        <p:nvSpPr>
          <p:cNvPr id="29" name="Text 27"/>
          <p:cNvSpPr txBox="1"/>
          <p:nvPr/>
        </p:nvSpPr>
        <p:spPr>
          <a:xfrm>
            <a:off x="1371600" y="5020056"/>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await foreach over RunStreamingAsync</a:t>
            </a:r>
            <a:endParaRPr lang="en-US" sz="1250" dirty="0"/>
          </a:p>
        </p:txBody>
      </p:sp>
      <p:sp>
        <p:nvSpPr>
          <p:cNvPr id="30" name="Text 28"/>
          <p:cNvSpPr txBox="1"/>
          <p:nvPr/>
        </p:nvSpPr>
        <p:spPr>
          <a:xfrm>
            <a:off x="1371600" y="5532120"/>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Each AgentResponseUpdate is a fragment, printed via ToString(). Passing session is what threads this turn onto the conversation.</a:t>
            </a:r>
            <a:endParaRPr lang="en-US" sz="1050" dirty="0"/>
          </a:p>
        </p:txBody>
      </p:sp>
      <p:sp>
        <p:nvSpPr>
          <p:cNvPr id="31" name="Shape 29"/>
          <p:cNvSpPr/>
          <p:nvPr/>
        </p:nvSpPr>
        <p:spPr>
          <a:xfrm>
            <a:off x="6286500" y="4818888"/>
            <a:ext cx="5326380" cy="1572768"/>
          </a:xfrm>
          <a:prstGeom prst="roundRect">
            <a:avLst>
              <a:gd name="adj" fmla="val 5814"/>
            </a:avLst>
          </a:prstGeom>
          <a:solidFill>
            <a:srgbClr val="1E2761"/>
          </a:solidFill>
          <a:ln w="12700">
            <a:solidFill>
              <a:srgbClr val="3FBFB0"/>
            </a:solidFill>
            <a:prstDash val="solid"/>
          </a:ln>
        </p:spPr>
      </p:sp>
      <p:sp>
        <p:nvSpPr>
          <p:cNvPr id="32" name="Shape 30"/>
          <p:cNvSpPr/>
          <p:nvPr/>
        </p:nvSpPr>
        <p:spPr>
          <a:xfrm>
            <a:off x="6560820" y="5047488"/>
            <a:ext cx="384048" cy="384048"/>
          </a:xfrm>
          <a:prstGeom prst="ellipse">
            <a:avLst/>
          </a:prstGeom>
          <a:solidFill>
            <a:srgbClr val="3FBFB0"/>
          </a:solidFill>
          <a:ln/>
        </p:spPr>
      </p:sp>
      <p:sp>
        <p:nvSpPr>
          <p:cNvPr id="33" name="Text 31"/>
          <p:cNvSpPr txBox="1"/>
          <p:nvPr/>
        </p:nvSpPr>
        <p:spPr>
          <a:xfrm>
            <a:off x="6560820" y="5047488"/>
            <a:ext cx="384048" cy="384048"/>
          </a:xfrm>
          <a:prstGeom prst="rect">
            <a:avLst/>
          </a:prstGeom>
          <a:noFill/>
          <a:ln/>
        </p:spPr>
        <p:txBody>
          <a:bodyPr wrap="square" lIns="0" tIns="0" rIns="0" bIns="0" rtlCol="0" anchor="ctr"/>
          <a:lstStyle/>
          <a:p>
            <a:pPr algn="ctr" indent="0" marL="0">
              <a:buNone/>
            </a:pPr>
            <a:r>
              <a:rPr lang="en-US" sz="1100" b="1" dirty="0">
                <a:solidFill>
                  <a:srgbClr val="141B49"/>
                </a:solidFill>
                <a:latin typeface="Cambria" pitchFamily="34" charset="0"/>
                <a:ea typeface="Cambria" pitchFamily="34" charset="-122"/>
                <a:cs typeface="Cambria" pitchFamily="34" charset="-120"/>
              </a:rPr>
              <a:t>6</a:t>
            </a:r>
            <a:endParaRPr lang="en-US" sz="1100" dirty="0"/>
          </a:p>
        </p:txBody>
      </p:sp>
      <p:sp>
        <p:nvSpPr>
          <p:cNvPr id="34" name="Text 32"/>
          <p:cNvSpPr txBox="1"/>
          <p:nvPr/>
        </p:nvSpPr>
        <p:spPr>
          <a:xfrm>
            <a:off x="7109460" y="5020056"/>
            <a:ext cx="4229100" cy="438912"/>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exit or an empty line ends the loop</a:t>
            </a:r>
            <a:endParaRPr lang="en-US" sz="1250" dirty="0"/>
          </a:p>
        </p:txBody>
      </p:sp>
      <p:sp>
        <p:nvSpPr>
          <p:cNvPr id="35" name="Text 33"/>
          <p:cNvSpPr txBox="1"/>
          <p:nvPr/>
        </p:nvSpPr>
        <p:spPr>
          <a:xfrm>
            <a:off x="7109460" y="5532120"/>
            <a:ext cx="4229100" cy="704088"/>
          </a:xfrm>
          <a:prstGeom prst="rect">
            <a:avLst/>
          </a:prstGeom>
          <a:noFill/>
          <a:ln/>
        </p:spPr>
        <p:txBody>
          <a:bodyPr wrap="square" lIns="0" tIns="0" rIns="0" bIns="0" rtlCol="0" anchor="t"/>
          <a:lstStyle/>
          <a:p>
            <a:pPr indent="0" marL="0">
              <a:lnSpc>
                <a:spcPct val="120000"/>
              </a:lnSpc>
              <a:buNone/>
            </a:pPr>
            <a:r>
              <a:rPr lang="en-US" sz="1050" dirty="0">
                <a:solidFill>
                  <a:srgbClr val="CADCFC"/>
                </a:solidFill>
                <a:latin typeface="Calibri" pitchFamily="34" charset="0"/>
                <a:ea typeface="Calibri" pitchFamily="34" charset="-122"/>
                <a:cs typeface="Calibri" pitchFamily="34" charset="-120"/>
              </a:rPr>
              <a:t>The banner stays fixed for the whole series — it never advertises capabilities, so it never has to be rewritten.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64592"/>
            <a:ext cx="9144000" cy="274320"/>
          </a:xfrm>
          <a:prstGeom prst="rect">
            <a:avLst/>
          </a:prstGeom>
          <a:noFill/>
          <a:ln/>
        </p:spPr>
        <p:txBody>
          <a:bodyPr wrap="square" lIns="0" tIns="0" rIns="0" bIns="0" rtlCol="0" anchor="ctr"/>
          <a:lstStyle/>
          <a:p>
            <a:pPr indent="0" marL="0">
              <a:buNone/>
            </a:pPr>
            <a:r>
              <a:rPr lang="en-US" sz="1200" b="1" spc="200" kern="0" dirty="0">
                <a:solidFill>
                  <a:srgbClr val="3FBFB0"/>
                </a:solidFill>
                <a:latin typeface="Calibri" pitchFamily="34" charset="0"/>
                <a:ea typeface="Calibri" pitchFamily="34" charset="-122"/>
                <a:cs typeface="Calibri" pitchFamily="34" charset="-120"/>
              </a:rPr>
              <a:t>EXERCISE &amp; EXPECTED OUTPUT</a:t>
            </a:r>
            <a:endParaRPr lang="en-US" sz="1200" dirty="0"/>
          </a:p>
        </p:txBody>
      </p:sp>
      <p:sp>
        <p:nvSpPr>
          <p:cNvPr id="3" name="Text 1"/>
          <p:cNvSpPr txBox="1"/>
          <p:nvPr/>
        </p:nvSpPr>
        <p:spPr>
          <a:xfrm>
            <a:off x="548640" y="411480"/>
            <a:ext cx="11064240" cy="731520"/>
          </a:xfrm>
          <a:prstGeom prst="rect">
            <a:avLst/>
          </a:prstGeom>
          <a:noFill/>
          <a:ln/>
        </p:spPr>
        <p:txBody>
          <a:bodyPr wrap="square" lIns="0" tIns="0" rIns="0" bIns="0" rtlCol="0" anchor="t"/>
          <a:lstStyle/>
          <a:p>
            <a:pPr indent="0" marL="0">
              <a:buNone/>
            </a:pPr>
            <a:r>
              <a:rPr lang="en-US" sz="3200" b="1" dirty="0">
                <a:solidFill>
                  <a:srgbClr val="1E2761"/>
                </a:solidFill>
                <a:latin typeface="Cambria" pitchFamily="34" charset="0"/>
                <a:ea typeface="Cambria" pitchFamily="34" charset="-122"/>
                <a:cs typeface="Cambria" pitchFamily="34" charset="-120"/>
              </a:rPr>
              <a:t>Add a Non-Streaming Mode</a:t>
            </a:r>
            <a:endParaRPr lang="en-US" sz="3200" dirty="0"/>
          </a:p>
        </p:txBody>
      </p:sp>
      <p:sp>
        <p:nvSpPr>
          <p:cNvPr id="4" name="Text 2"/>
          <p:cNvSpPr txBox="1"/>
          <p:nvPr/>
        </p:nvSpPr>
        <p:spPr>
          <a:xfrm>
            <a:off x="457200" y="6510528"/>
            <a:ext cx="86868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MODULE 2 — MICROSOFT AGENT FRAMEWORK FUNDAMENTALS</a:t>
            </a:r>
            <a:endParaRPr lang="en-US" sz="900" dirty="0"/>
          </a:p>
        </p:txBody>
      </p:sp>
      <p:sp>
        <p:nvSpPr>
          <p:cNvPr id="5" name="Text 3"/>
          <p:cNvSpPr txBox="1"/>
          <p:nvPr/>
        </p:nvSpPr>
        <p:spPr>
          <a:xfrm>
            <a:off x="11338560" y="6510528"/>
            <a:ext cx="36576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417320"/>
            <a:ext cx="5349240" cy="4754880"/>
          </a:xfrm>
          <a:prstGeom prst="roundRect">
            <a:avLst>
              <a:gd name="adj" fmla="val 1923"/>
            </a:avLst>
          </a:prstGeom>
          <a:solidFill>
            <a:srgbClr val="F4F6FB"/>
          </a:solidFill>
          <a:ln/>
        </p:spPr>
      </p:sp>
      <p:sp>
        <p:nvSpPr>
          <p:cNvPr id="7" name="Shape 5"/>
          <p:cNvSpPr/>
          <p:nvPr/>
        </p:nvSpPr>
        <p:spPr>
          <a:xfrm>
            <a:off x="868680" y="1737360"/>
            <a:ext cx="640080" cy="640080"/>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1033272" y="1901952"/>
            <a:ext cx="310896" cy="310896"/>
          </a:xfrm>
          <a:prstGeom prst="rect">
            <a:avLst/>
          </a:prstGeom>
        </p:spPr>
      </p:pic>
      <p:sp>
        <p:nvSpPr>
          <p:cNvPr id="9" name="Text 6"/>
          <p:cNvSpPr txBox="1"/>
          <p:nvPr/>
        </p:nvSpPr>
        <p:spPr>
          <a:xfrm>
            <a:off x="1645920" y="1737360"/>
            <a:ext cx="3931920" cy="640080"/>
          </a:xfrm>
          <a:prstGeom prst="rect">
            <a:avLst/>
          </a:prstGeom>
          <a:noFill/>
          <a:ln/>
        </p:spPr>
        <p:txBody>
          <a:bodyPr wrap="square" lIns="0" tIns="0" rIns="0" bIns="0" rtlCol="0" anchor="ctr"/>
          <a:lstStyle/>
          <a:p>
            <a:pPr indent="0" marL="0">
              <a:buNone/>
            </a:pPr>
            <a:r>
              <a:rPr lang="en-US" sz="1550" b="1" dirty="0">
                <a:solidFill>
                  <a:srgbClr val="2A2F45"/>
                </a:solidFill>
                <a:latin typeface="Cambria" pitchFamily="34" charset="0"/>
                <a:ea typeface="Cambria" pitchFamily="34" charset="-122"/>
                <a:cs typeface="Cambria" pitchFamily="34" charset="-120"/>
              </a:rPr>
              <a:t>Exercise: make the two APIs obvious</a:t>
            </a:r>
            <a:endParaRPr lang="en-US" sz="1550" dirty="0"/>
          </a:p>
        </p:txBody>
      </p:sp>
      <p:sp>
        <p:nvSpPr>
          <p:cNvPr id="10" name="Text 7"/>
          <p:cNvSpPr txBox="1"/>
          <p:nvPr/>
        </p:nvSpPr>
        <p:spPr>
          <a:xfrm>
            <a:off x="868680" y="2606040"/>
            <a:ext cx="4709160" cy="3200400"/>
          </a:xfrm>
          <a:prstGeom prst="rect">
            <a:avLst/>
          </a:prstGeom>
          <a:noFill/>
          <a:ln/>
        </p:spPr>
        <p:txBody>
          <a:bodyPr wrap="square" lIns="0" tIns="0" rIns="0" bIns="0" rtlCol="0" anchor="t"/>
          <a:lstStyle/>
          <a:p>
            <a:pPr indent="0" marL="0">
              <a:lnSpc>
                <a:spcPct val="125000"/>
              </a:lnSpc>
              <a:buNone/>
            </a:pPr>
            <a:r>
              <a:rPr lang="en-US" sz="1350" dirty="0">
                <a:solidFill>
                  <a:srgbClr val="2A2F45"/>
                </a:solidFill>
                <a:latin typeface="Calibri" pitchFamily="34" charset="0"/>
                <a:ea typeface="Calibri" pitchFamily="34" charset="-122"/>
                <a:cs typeface="Calibri" pitchFamily="34" charset="-120"/>
              </a:rPr>
              <a:t>Give the loop a second path that calls agent.RunAsync(input, session) instead of RunStreamingAsync, triggered by a command such as !once, and print the resulting AgentResponse in one go.</a:t>
            </a:r>
            <a:endParaRPr lang="en-US" sz="1350" dirty="0"/>
          </a:p>
        </p:txBody>
      </p:sp>
      <p:sp>
        <p:nvSpPr>
          <p:cNvPr id="11" name="Text 8"/>
          <p:cNvSpPr txBox="1"/>
          <p:nvPr/>
        </p:nvSpPr>
        <p:spPr>
          <a:xfrm>
            <a:off x="868680" y="3703320"/>
            <a:ext cx="4709160" cy="201168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E2761"/>
                </a:solidFill>
                <a:latin typeface="Calibri" pitchFamily="34" charset="0"/>
                <a:ea typeface="Calibri" pitchFamily="34" charset="-122"/>
                <a:cs typeface="Calibri" pitchFamily="34" charset="-120"/>
              </a:rPr>
              <a:t>!once followed by a question prints the whole answer at once, with no incremental output</a:t>
            </a:r>
            <a:endParaRPr lang="en-US" sz="1200" dirty="0"/>
          </a:p>
          <a:p>
            <a:pPr marL="342900" indent="-342900">
              <a:spcAft>
                <a:spcPts val="800"/>
              </a:spcAft>
              <a:buSzPct val="100000"/>
              <a:buChar char="•"/>
            </a:pPr>
            <a:r>
              <a:rPr lang="en-US" sz="1200" dirty="0">
                <a:solidFill>
                  <a:srgbClr val="1E2761"/>
                </a:solidFill>
                <a:latin typeface="Calibri" pitchFamily="34" charset="0"/>
                <a:ea typeface="Calibri" pitchFamily="34" charset="-122"/>
                <a:cs typeface="Calibri" pitchFamily="34" charset="-120"/>
              </a:rPr>
              <a:t>Normal input still streams</a:t>
            </a:r>
            <a:endParaRPr lang="en-US" sz="1200" dirty="0"/>
          </a:p>
          <a:p>
            <a:pPr marL="342900" indent="-342900">
              <a:spcAft>
                <a:spcPts val="800"/>
              </a:spcAft>
              <a:buSzPct val="100000"/>
              <a:buChar char="•"/>
            </a:pPr>
            <a:r>
              <a:rPr lang="en-US" sz="1200" dirty="0">
                <a:solidFill>
                  <a:srgbClr val="1E2761"/>
                </a:solidFill>
                <a:latin typeface="Calibri" pitchFamily="34" charset="0"/>
                <a:ea typeface="Calibri" pitchFamily="34" charset="-122"/>
                <a:cs typeface="Calibri" pitchFamily="34" charset="-120"/>
              </a:rPr>
              <a:t>Both paths share the same AgentSession — verify with a follow-up question that depends on the previous answer</a:t>
            </a:r>
            <a:endParaRPr lang="en-US" sz="1200" dirty="0"/>
          </a:p>
        </p:txBody>
      </p:sp>
      <p:sp>
        <p:nvSpPr>
          <p:cNvPr id="12" name="Shape 9"/>
          <p:cNvSpPr/>
          <p:nvPr/>
        </p:nvSpPr>
        <p:spPr>
          <a:xfrm>
            <a:off x="6309360" y="1417320"/>
            <a:ext cx="5349240" cy="4754880"/>
          </a:xfrm>
          <a:prstGeom prst="roundRect">
            <a:avLst>
              <a:gd name="adj" fmla="val 1923"/>
            </a:avLst>
          </a:prstGeom>
          <a:solidFill>
            <a:srgbClr val="141B49"/>
          </a:solidFill>
          <a:ln w="12700">
            <a:solidFill>
              <a:srgbClr val="3FBFB0"/>
            </a:solidFill>
            <a:prstDash val="solid"/>
          </a:ln>
        </p:spPr>
      </p:sp>
      <p:sp>
        <p:nvSpPr>
          <p:cNvPr id="13" name="Text 10"/>
          <p:cNvSpPr txBox="1"/>
          <p:nvPr/>
        </p:nvSpPr>
        <p:spPr>
          <a:xfrm>
            <a:off x="6638544" y="1673352"/>
            <a:ext cx="4690872" cy="403352"/>
          </a:xfrm>
          <a:prstGeom prst="rect">
            <a:avLst/>
          </a:prstGeom>
          <a:noFill/>
          <a:ln/>
        </p:spPr>
        <p:txBody>
          <a:bodyPr wrap="square" lIns="0" tIns="0" rIns="0" bIns="0" rtlCol="0" anchor="t"/>
          <a:lstStyle/>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&gt; dotnet run --project src/MiniCode.Cli</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MiniCode. Type 'exit' to quit.</a:t>
            </a:r>
            <a:endParaRPr lang="en-US" sz="950" dirty="0"/>
          </a:p>
        </p:txBody>
      </p:sp>
      <p:sp>
        <p:nvSpPr>
          <p:cNvPr id="14" name="Text 11"/>
          <p:cNvSpPr txBox="1"/>
          <p:nvPr/>
        </p:nvSpPr>
        <p:spPr>
          <a:xfrm>
            <a:off x="6638544" y="2003552"/>
            <a:ext cx="4690872" cy="238252"/>
          </a:xfrm>
          <a:prstGeom prst="rect">
            <a:avLst/>
          </a:prstGeom>
          <a:noFill/>
          <a:ln/>
        </p:spPr>
        <p:txBody>
          <a:bodyPr wrap="square" lIns="0" tIns="0" rIns="0" bIns="0" rtlCol="0" anchor="t"/>
          <a:lstStyle/>
          <a:p>
            <a:pPr indent="0" marL="0">
              <a:lnSpc>
                <a:spcPts val="1300"/>
              </a:lnSpc>
              <a:buNone/>
            </a:pPr>
            <a:r>
              <a:rPr lang="en-US" sz="950" i="1" dirty="0">
                <a:solidFill>
                  <a:srgbClr val="6B7280"/>
                </a:solidFill>
                <a:latin typeface="Courier New" pitchFamily="34" charset="0"/>
                <a:ea typeface="Courier New" pitchFamily="34" charset="-122"/>
                <a:cs typeface="Courier New" pitchFamily="34" charset="-120"/>
              </a:rPr>
              <a:t>=== a question ===</a:t>
            </a:r>
            <a:endParaRPr lang="en-US" sz="950" dirty="0"/>
          </a:p>
        </p:txBody>
      </p:sp>
      <p:sp>
        <p:nvSpPr>
          <p:cNvPr id="15" name="Text 12"/>
          <p:cNvSpPr txBox="1"/>
          <p:nvPr/>
        </p:nvSpPr>
        <p:spPr>
          <a:xfrm>
            <a:off x="6638544" y="2351532"/>
            <a:ext cx="4690872" cy="403352"/>
          </a:xfrm>
          <a:prstGeom prst="rect">
            <a:avLst/>
          </a:prstGeom>
          <a:noFill/>
          <a:ln/>
        </p:spPr>
        <p:txBody>
          <a:bodyPr wrap="square" lIns="0" tIns="0" rIns="0" bIns="0" rtlCol="0" anchor="t"/>
          <a:lstStyle/>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&gt; Explain dependency injection in ASP.NET</a:t>
            </a:r>
            <a:endParaRPr lang="en-US" sz="950" dirty="0"/>
          </a:p>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  Core in two sentences.</a:t>
            </a:r>
            <a:endParaRPr lang="en-US" sz="950" dirty="0"/>
          </a:p>
        </p:txBody>
      </p:sp>
      <p:sp>
        <p:nvSpPr>
          <p:cNvPr id="16" name="Text 13"/>
          <p:cNvSpPr txBox="1"/>
          <p:nvPr/>
        </p:nvSpPr>
        <p:spPr>
          <a:xfrm>
            <a:off x="6638544" y="2681732"/>
            <a:ext cx="4690872" cy="733552"/>
          </a:xfrm>
          <a:prstGeom prst="rect">
            <a:avLst/>
          </a:prstGeom>
          <a:noFill/>
          <a:ln/>
        </p:spPr>
        <p:txBody>
          <a:bodyPr wrap="square" lIns="0" tIns="0" rIns="0" bIns="0" rtlCol="0" anchor="t"/>
          <a:lstStyle/>
          <a:p>
            <a:pPr indent="0" marL="0">
              <a:lnSpc>
                <a:spcPts val="1300"/>
              </a:lnSpc>
              <a:buNone/>
            </a:pPr>
            <a:r>
              <a:rPr lang="en-US" sz="950" dirty="0">
                <a:solidFill>
                  <a:srgbClr val="4ADE80"/>
                </a:solidFill>
                <a:latin typeface="Courier New" pitchFamily="34" charset="0"/>
                <a:ea typeface="Courier New" pitchFamily="34" charset="-122"/>
                <a:cs typeface="Courier New" pitchFamily="34" charset="-120"/>
              </a:rPr>
              <a:t>Dependency injection in ASP.NET Core is a</a:t>
            </a:r>
            <a:endParaRPr lang="en-US" sz="950" dirty="0"/>
          </a:p>
          <a:p>
            <a:pPr indent="0" marL="0">
              <a:lnSpc>
                <a:spcPts val="1300"/>
              </a:lnSpc>
              <a:buNone/>
            </a:pPr>
            <a:r>
              <a:rPr lang="en-US" sz="950" dirty="0">
                <a:solidFill>
                  <a:srgbClr val="4ADE80"/>
                </a:solidFill>
                <a:latin typeface="Courier New" pitchFamily="34" charset="0"/>
                <a:ea typeface="Courier New" pitchFamily="34" charset="-122"/>
                <a:cs typeface="Courier New" pitchFamily="34" charset="-120"/>
              </a:rPr>
              <a:t>built-in pattern where a service container</a:t>
            </a:r>
            <a:endParaRPr lang="en-US" sz="950" dirty="0"/>
          </a:p>
          <a:p>
            <a:pPr indent="0" marL="0">
              <a:lnSpc>
                <a:spcPts val="1300"/>
              </a:lnSpc>
              <a:buNone/>
            </a:pPr>
            <a:r>
              <a:rPr lang="en-US" sz="950" dirty="0">
                <a:solidFill>
                  <a:srgbClr val="4ADE80"/>
                </a:solidFill>
                <a:latin typeface="Courier New" pitchFamily="34" charset="0"/>
                <a:ea typeface="Courier New" pitchFamily="34" charset="-122"/>
                <a:cs typeface="Courier New" pitchFamily="34" charset="-120"/>
              </a:rPr>
              <a:t>creates and supplies the objects a class</a:t>
            </a:r>
            <a:endParaRPr lang="en-US" sz="950" dirty="0"/>
          </a:p>
          <a:p>
            <a:pPr indent="0" marL="0">
              <a:lnSpc>
                <a:spcPts val="1300"/>
              </a:lnSpc>
              <a:buNone/>
            </a:pPr>
            <a:r>
              <a:rPr lang="en-US" sz="950" dirty="0">
                <a:solidFill>
                  <a:srgbClr val="4ADE80"/>
                </a:solidFill>
                <a:latin typeface="Courier New" pitchFamily="34" charset="0"/>
                <a:ea typeface="Courier New" pitchFamily="34" charset="-122"/>
                <a:cs typeface="Courier New" pitchFamily="34" charset="-120"/>
              </a:rPr>
              <a:t>needs, instead of constructing them itself.</a:t>
            </a:r>
            <a:endParaRPr lang="en-US" sz="950" dirty="0"/>
          </a:p>
        </p:txBody>
      </p:sp>
      <p:sp>
        <p:nvSpPr>
          <p:cNvPr id="17" name="Text 14"/>
          <p:cNvSpPr txBox="1"/>
          <p:nvPr/>
        </p:nvSpPr>
        <p:spPr>
          <a:xfrm>
            <a:off x="6638544" y="3342132"/>
            <a:ext cx="4690872" cy="238252"/>
          </a:xfrm>
          <a:prstGeom prst="rect">
            <a:avLst/>
          </a:prstGeom>
          <a:noFill/>
          <a:ln/>
        </p:spPr>
        <p:txBody>
          <a:bodyPr wrap="square" lIns="0" tIns="0" rIns="0" bIns="0" rtlCol="0" anchor="t"/>
          <a:lstStyle/>
          <a:p>
            <a:pPr indent="0" marL="0">
              <a:lnSpc>
                <a:spcPts val="1300"/>
              </a:lnSpc>
              <a:buNone/>
            </a:pPr>
            <a:r>
              <a:rPr lang="en-US" sz="950" i="1" dirty="0">
                <a:solidFill>
                  <a:srgbClr val="6B7280"/>
                </a:solidFill>
                <a:latin typeface="Courier New" pitchFamily="34" charset="0"/>
                <a:ea typeface="Courier New" pitchFamily="34" charset="-122"/>
                <a:cs typeface="Courier New" pitchFamily="34" charset="-120"/>
              </a:rPr>
              <a:t>=== and the one that matters ===</a:t>
            </a:r>
            <a:endParaRPr lang="en-US" sz="950" dirty="0"/>
          </a:p>
        </p:txBody>
      </p:sp>
      <p:sp>
        <p:nvSpPr>
          <p:cNvPr id="18" name="Text 15"/>
          <p:cNvSpPr txBox="1"/>
          <p:nvPr/>
        </p:nvSpPr>
        <p:spPr>
          <a:xfrm>
            <a:off x="6638544" y="3690112"/>
            <a:ext cx="4690872" cy="238252"/>
          </a:xfrm>
          <a:prstGeom prst="rect">
            <a:avLst/>
          </a:prstGeom>
          <a:noFill/>
          <a:ln/>
        </p:spPr>
        <p:txBody>
          <a:bodyPr wrap="square" lIns="0" tIns="0" rIns="0" bIns="0" rtlCol="0" anchor="t"/>
          <a:lstStyle/>
          <a:p>
            <a:pPr indent="0" marL="0">
              <a:lnSpc>
                <a:spcPts val="1300"/>
              </a:lnSpc>
              <a:buNone/>
            </a:pPr>
            <a:r>
              <a:rPr lang="en-US" sz="950" dirty="0">
                <a:solidFill>
                  <a:srgbClr val="CADCFC"/>
                </a:solidFill>
                <a:latin typeface="Courier New" pitchFamily="34" charset="0"/>
                <a:ea typeface="Courier New" pitchFamily="34" charset="-122"/>
                <a:cs typeface="Courier New" pitchFamily="34" charset="-120"/>
              </a:rPr>
              <a:t>&gt; What did I just ask you about?</a:t>
            </a:r>
            <a:endParaRPr lang="en-US" sz="950" dirty="0"/>
          </a:p>
        </p:txBody>
      </p:sp>
      <p:sp>
        <p:nvSpPr>
          <p:cNvPr id="19" name="Text 16"/>
          <p:cNvSpPr txBox="1"/>
          <p:nvPr/>
        </p:nvSpPr>
        <p:spPr>
          <a:xfrm>
            <a:off x="6638544" y="3855212"/>
            <a:ext cx="4690872" cy="403352"/>
          </a:xfrm>
          <a:prstGeom prst="rect">
            <a:avLst/>
          </a:prstGeom>
          <a:noFill/>
          <a:ln/>
        </p:spPr>
        <p:txBody>
          <a:bodyPr wrap="square" lIns="0" tIns="0" rIns="0" bIns="0" rtlCol="0" anchor="t"/>
          <a:lstStyle/>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You asked for a two-sentence explanation of</a:t>
            </a:r>
            <a:endParaRPr lang="en-US" sz="950" dirty="0"/>
          </a:p>
          <a:p>
            <a:pPr indent="0" marL="0">
              <a:lnSpc>
                <a:spcPts val="1300"/>
              </a:lnSpc>
              <a:buNone/>
            </a:pPr>
            <a:r>
              <a:rPr lang="en-US" sz="950" dirty="0">
                <a:solidFill>
                  <a:srgbClr val="3FBFB0"/>
                </a:solidFill>
                <a:latin typeface="Courier New" pitchFamily="34" charset="0"/>
                <a:ea typeface="Courier New" pitchFamily="34" charset="-122"/>
                <a:cs typeface="Courier New" pitchFamily="34" charset="-120"/>
              </a:rPr>
              <a:t>dependency injection in ASP.NET Core.</a:t>
            </a:r>
            <a:endParaRPr lang="en-US" sz="950" dirty="0"/>
          </a:p>
        </p:txBody>
      </p:sp>
      <p:sp>
        <p:nvSpPr>
          <p:cNvPr id="20" name="Text 17"/>
          <p:cNvSpPr txBox="1"/>
          <p:nvPr/>
        </p:nvSpPr>
        <p:spPr>
          <a:xfrm>
            <a:off x="6638544" y="5458968"/>
            <a:ext cx="4690872" cy="548640"/>
          </a:xfrm>
          <a:prstGeom prst="rect">
            <a:avLst/>
          </a:prstGeom>
          <a:noFill/>
          <a:ln/>
        </p:spPr>
        <p:txBody>
          <a:bodyPr wrap="square" lIns="0" tIns="0" rIns="0" bIns="0" rtlCol="0" anchor="t"/>
          <a:lstStyle/>
          <a:p>
            <a:pPr indent="0" marL="0">
              <a:buNone/>
            </a:pPr>
            <a:r>
              <a:rPr lang="en-US" sz="1050" i="1" dirty="0">
                <a:solidFill>
                  <a:srgbClr val="CADCFC"/>
                </a:solidFill>
                <a:latin typeface="Calibri" pitchFamily="34" charset="0"/>
                <a:ea typeface="Calibri" pitchFamily="34" charset="-122"/>
                <a:cs typeface="Calibri" pitchFamily="34" charset="-120"/>
              </a:rPr>
              <a:t>The second answer proves the AgentSession is carrying history. Remove session from the call and it becomes "I don’t have any previous context."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MiniCode Course</dc:creator>
  <cp:lastModifiedBy>MiniCode Course</cp:lastModifiedBy>
  <cp:revision>1</cp:revision>
  <dcterms:created xsi:type="dcterms:W3CDTF">2026-09-10T19:46:29Z</dcterms:created>
  <dcterms:modified xsi:type="dcterms:W3CDTF">2026-09-10T19:46:29Z</dcterms:modified>
</cp:coreProperties>
</file>