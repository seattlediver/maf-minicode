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notesMasterIdLst>
    <p:notesMasterId r:id="rId10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notesMaster" Target="notesMasters/notesMaster1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image" Target="../media/image-6-3.png"/><Relationship Id="rId4" Type="http://schemas.openxmlformats.org/officeDocument/2006/relationships/image" Target="../media/image-6-2.png"/><Relationship Id="rId5" Type="http://schemas.openxmlformats.org/officeDocument/2006/relationships/image" Target="../media/image-6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1051560"/>
            <a:ext cx="5486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rgbClr val="3FBF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 10 · PHASE 3 BEGINS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777240" y="1417320"/>
            <a:ext cx="758952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Safe File Editing</a:t>
            </a:r>
            <a:endParaRPr lang="en-US" sz="4200" dirty="0"/>
          </a:p>
        </p:txBody>
      </p:sp>
      <p:sp>
        <p:nvSpPr>
          <p:cNvPr id="4" name="Text 2"/>
          <p:cNvSpPr/>
          <p:nvPr/>
        </p:nvSpPr>
        <p:spPr>
          <a:xfrm>
            <a:off x="822960" y="2468880"/>
            <a:ext cx="68580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2200"/>
              </a:lnSpc>
              <a:buNone/>
            </a:pPr>
            <a:r>
              <a:rPr lang="en-US" sz="16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MiniCode gets hands. Every design decision here is about making writes refuse rather than guess.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8138160" y="1280160"/>
            <a:ext cx="3383280" cy="4434840"/>
          </a:xfrm>
          <a:prstGeom prst="roundRect">
            <a:avLst>
              <a:gd name="adj" fmla="val 3243"/>
            </a:avLst>
          </a:prstGeom>
          <a:solidFill>
            <a:srgbClr val="141B49"/>
          </a:solidFill>
          <a:ln w="12700">
            <a:solidFill>
              <a:srgbClr val="3FBFB0"/>
            </a:solidFill>
            <a:prstDash val="solid"/>
          </a:ln>
        </p:spPr>
      </p:sp>
      <p:pic>
        <p:nvPicPr>
          <p:cNvPr id="6" name="Image 0" descr="/home/claude/deck13/icons/fingerprin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366760" y="1508760"/>
            <a:ext cx="365760" cy="36576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8823960" y="1536192"/>
            <a:ext cx="24688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FBF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edit_file</a:t>
            </a:r>
            <a:endParaRPr lang="en-US" sz="1400" dirty="0"/>
          </a:p>
        </p:txBody>
      </p:sp>
      <p:sp>
        <p:nvSpPr>
          <p:cNvPr id="8" name="Text 5"/>
          <p:cNvSpPr/>
          <p:nvPr/>
        </p:nvSpPr>
        <p:spPr>
          <a:xfrm>
            <a:off x="8366760" y="2057400"/>
            <a:ext cx="30175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00" dirty="0">
                <a:solidFill>
                  <a:srgbClr val="4ADE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Edited src/Customer.cs at line 7.</a:t>
            </a:r>
            <a:endParaRPr lang="en-US" sz="1000" dirty="0"/>
          </a:p>
          <a:p>
            <a:pPr indent="0" marL="0">
              <a:lnSpc>
                <a:spcPts val="1400"/>
              </a:lnSpc>
              <a:buNone/>
            </a:pPr>
            <a:r>
              <a:rPr lang="en-US" sz="1000" dirty="0">
                <a:solidFill>
                  <a:srgbClr val="4ADE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Fingerprint 265f548e7c18.</a:t>
            </a:r>
            <a:endParaRPr lang="en-US" sz="1000" dirty="0"/>
          </a:p>
        </p:txBody>
      </p:sp>
      <p:sp>
        <p:nvSpPr>
          <p:cNvPr id="9" name="Shape 6"/>
          <p:cNvSpPr/>
          <p:nvPr/>
        </p:nvSpPr>
        <p:spPr>
          <a:xfrm>
            <a:off x="8366760" y="2880360"/>
            <a:ext cx="2926080" cy="0"/>
          </a:xfrm>
          <a:prstGeom prst="line">
            <a:avLst/>
          </a:prstGeom>
          <a:noFill/>
          <a:ln w="6350">
            <a:solidFill>
              <a:srgbClr val="6B7280"/>
            </a:solidFill>
            <a:prstDash val="dash"/>
          </a:ln>
        </p:spPr>
      </p:sp>
      <p:sp>
        <p:nvSpPr>
          <p:cNvPr id="10" name="Text 7"/>
          <p:cNvSpPr/>
          <p:nvPr/>
        </p:nvSpPr>
        <p:spPr>
          <a:xfrm>
            <a:off x="8366760" y="3063240"/>
            <a:ext cx="30175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F8717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× has changed since you read it</a:t>
            </a:r>
            <a:endParaRPr lang="en-US" sz="950" dirty="0"/>
          </a:p>
        </p:txBody>
      </p:sp>
      <p:sp>
        <p:nvSpPr>
          <p:cNvPr id="11" name="Text 8"/>
          <p:cNvSpPr/>
          <p:nvPr/>
        </p:nvSpPr>
        <p:spPr>
          <a:xfrm>
            <a:off x="8366760" y="3447288"/>
            <a:ext cx="30175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F8717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× appears more than once</a:t>
            </a:r>
            <a:endParaRPr lang="en-US" sz="950" dirty="0"/>
          </a:p>
        </p:txBody>
      </p:sp>
      <p:sp>
        <p:nvSpPr>
          <p:cNvPr id="12" name="Text 9"/>
          <p:cNvSpPr/>
          <p:nvPr/>
        </p:nvSpPr>
        <p:spPr>
          <a:xfrm>
            <a:off x="8366760" y="3831336"/>
            <a:ext cx="30175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F8717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× already exists</a:t>
            </a:r>
            <a:endParaRPr lang="en-US" sz="950" dirty="0"/>
          </a:p>
        </p:txBody>
      </p:sp>
      <p:sp>
        <p:nvSpPr>
          <p:cNvPr id="13" name="Text 10"/>
          <p:cNvSpPr/>
          <p:nvPr/>
        </p:nvSpPr>
        <p:spPr>
          <a:xfrm>
            <a:off x="8366760" y="4352544"/>
            <a:ext cx="30175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b="1" i="1" dirty="0">
                <a:solidFill>
                  <a:srgbClr val="3FBF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Three ways to refuse.</a:t>
            </a:r>
            <a:endParaRPr lang="en-US" sz="1100" dirty="0"/>
          </a:p>
          <a:p>
            <a:pPr indent="0" marL="0">
              <a:lnSpc>
                <a:spcPts val="1500"/>
              </a:lnSpc>
              <a:buNone/>
            </a:pPr>
            <a:r>
              <a:rPr lang="en-US" sz="1100" b="1" i="1" dirty="0">
                <a:solidFill>
                  <a:srgbClr val="3FBF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Zero ways to guess.</a:t>
            </a:r>
            <a:endParaRPr lang="en-US" sz="1100" dirty="0"/>
          </a:p>
        </p:txBody>
      </p:sp>
      <p:sp>
        <p:nvSpPr>
          <p:cNvPr id="14" name="Text 11"/>
          <p:cNvSpPr/>
          <p:nvPr/>
        </p:nvSpPr>
        <p:spPr>
          <a:xfrm>
            <a:off x="822960" y="626364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MiniCode Course · Phase 3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164592"/>
            <a:ext cx="9144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3FBF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CORE CONCEPT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411480"/>
            <a:ext cx="110642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Targeted Edit Over Rewriting the File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548640" y="1417320"/>
            <a:ext cx="11109960" cy="1371600"/>
          </a:xfrm>
          <a:prstGeom prst="roundRect">
            <a:avLst>
              <a:gd name="adj" fmla="val 5333"/>
            </a:avLst>
          </a:prstGeom>
          <a:solidFill>
            <a:srgbClr val="F4F6FB"/>
          </a:solidFill>
          <a:ln/>
        </p:spPr>
      </p:sp>
      <p:sp>
        <p:nvSpPr>
          <p:cNvPr id="5" name="Text 3"/>
          <p:cNvSpPr/>
          <p:nvPr/>
        </p:nvSpPr>
        <p:spPr>
          <a:xfrm>
            <a:off x="822960" y="1554480"/>
            <a:ext cx="106070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2100"/>
              </a:lnSpc>
              <a:buNone/>
            </a:pPr>
            <a:r>
              <a:rPr lang="en-US" sz="1500" dirty="0">
                <a:solidFill>
                  <a:srgbClr val="2A2F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Handing a model a whole file and taking back a whole file invites it to reformat, drop a using it did not understand, or silently lose the part it was not thinking about. </a:t>
            </a:r>
            <a:pPr indent="0" marL="0">
              <a:lnSpc>
                <a:spcPts val="2100"/>
              </a:lnSpc>
              <a:buNone/>
            </a:pPr>
            <a:r>
              <a:rPr lang="en-US" sz="15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Replacing one anchored fragment cannot do any of those.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539496" y="3063240"/>
            <a:ext cx="5349240" cy="2103120"/>
          </a:xfrm>
          <a:prstGeom prst="roundRect">
            <a:avLst>
              <a:gd name="adj" fmla="val 4348"/>
            </a:avLst>
          </a:prstGeom>
          <a:solidFill>
            <a:srgbClr val="141B49"/>
          </a:solidFill>
          <a:ln w="12700">
            <a:solidFill>
              <a:srgbClr val="F87171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95528" y="3319272"/>
            <a:ext cx="548640" cy="548640"/>
          </a:xfrm>
          <a:prstGeom prst="ellipse">
            <a:avLst/>
          </a:prstGeom>
          <a:solidFill>
            <a:srgbClr val="F87171"/>
          </a:solidFill>
          <a:ln/>
        </p:spPr>
      </p:sp>
      <p:pic>
        <p:nvPicPr>
          <p:cNvPr id="8" name="Image 0" descr="/home/claude/deck13/icons/fil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32688" y="3456432"/>
            <a:ext cx="274320" cy="274320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1453896" y="3337560"/>
            <a:ext cx="42519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Hand back the whole file</a:t>
            </a:r>
            <a:endParaRPr lang="en-US" sz="1550" dirty="0"/>
          </a:p>
        </p:txBody>
      </p:sp>
      <p:sp>
        <p:nvSpPr>
          <p:cNvPr id="10" name="Text 7"/>
          <p:cNvSpPr/>
          <p:nvPr/>
        </p:nvSpPr>
        <p:spPr>
          <a:xfrm>
            <a:off x="813816" y="3977640"/>
            <a:ext cx="48006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3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Reformatting, dropped usings, silently lost sections — all invited by giving the model the whole canvas.</a:t>
            </a:r>
            <a:endParaRPr lang="en-US" sz="1300" dirty="0"/>
          </a:p>
        </p:txBody>
      </p:sp>
      <p:sp>
        <p:nvSpPr>
          <p:cNvPr id="11" name="Shape 8"/>
          <p:cNvSpPr/>
          <p:nvPr/>
        </p:nvSpPr>
        <p:spPr>
          <a:xfrm>
            <a:off x="6300216" y="3063240"/>
            <a:ext cx="5349240" cy="2103120"/>
          </a:xfrm>
          <a:prstGeom prst="roundRect">
            <a:avLst>
              <a:gd name="adj" fmla="val 4348"/>
            </a:avLst>
          </a:prstGeom>
          <a:solidFill>
            <a:srgbClr val="3FBFB0"/>
          </a:solidFill>
          <a:ln/>
        </p:spPr>
      </p:sp>
      <p:sp>
        <p:nvSpPr>
          <p:cNvPr id="12" name="Shape 9"/>
          <p:cNvSpPr/>
          <p:nvPr/>
        </p:nvSpPr>
        <p:spPr>
          <a:xfrm>
            <a:off x="6556248" y="3319272"/>
            <a:ext cx="548640" cy="548640"/>
          </a:xfrm>
          <a:prstGeom prst="ellipse">
            <a:avLst/>
          </a:prstGeom>
          <a:solidFill>
            <a:srgbClr val="1E2761"/>
          </a:solidFill>
          <a:ln/>
        </p:spPr>
      </p:sp>
      <p:pic>
        <p:nvPicPr>
          <p:cNvPr id="13" name="Image 1" descr="/home/claude/deck13/icons/bullsey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93408" y="3456432"/>
            <a:ext cx="274320" cy="274320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7214616" y="3337560"/>
            <a:ext cx="42519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141B4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Replace one anchored fragment</a:t>
            </a:r>
            <a:endParaRPr lang="en-US" sz="1550" dirty="0"/>
          </a:p>
        </p:txBody>
      </p:sp>
      <p:sp>
        <p:nvSpPr>
          <p:cNvPr id="15" name="Text 11"/>
          <p:cNvSpPr/>
          <p:nvPr/>
        </p:nvSpPr>
        <p:spPr>
          <a:xfrm>
            <a:off x="6574536" y="3977640"/>
            <a:ext cx="48006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300" b="1" dirty="0">
                <a:solidFill>
                  <a:srgbClr val="141B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Everything outside the anchor is untouched, because it was never in the model’s hands to begin with.</a:t>
            </a:r>
            <a:endParaRPr lang="en-US" sz="1300" dirty="0"/>
          </a:p>
        </p:txBody>
      </p:sp>
      <p:sp>
        <p:nvSpPr>
          <p:cNvPr id="16" name="Shape 12"/>
          <p:cNvSpPr/>
          <p:nvPr/>
        </p:nvSpPr>
        <p:spPr>
          <a:xfrm>
            <a:off x="548640" y="5349240"/>
            <a:ext cx="11109960" cy="777240"/>
          </a:xfrm>
          <a:prstGeom prst="roundRect">
            <a:avLst>
              <a:gd name="adj" fmla="val 7059"/>
            </a:avLst>
          </a:prstGeom>
          <a:ln w="12700">
            <a:solidFill>
              <a:srgbClr val="3FBFB0"/>
            </a:solidFill>
            <a:prstDash val="dash"/>
          </a:ln>
        </p:spPr>
      </p:sp>
      <p:sp>
        <p:nvSpPr>
          <p:cNvPr id="17" name="Text 13"/>
          <p:cNvSpPr/>
          <p:nvPr/>
        </p:nvSpPr>
        <p:spPr>
          <a:xfrm>
            <a:off x="822960" y="5349240"/>
            <a:ext cx="106070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i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agent that edits confidently on stale information is worse than one that cannot edit at all.</a:t>
            </a:r>
            <a:endParaRPr lang="en-US" sz="1400" dirty="0"/>
          </a:p>
        </p:txBody>
      </p:sp>
      <p:sp>
        <p:nvSpPr>
          <p:cNvPr id="18" name="Text 14"/>
          <p:cNvSpPr/>
          <p:nvPr/>
        </p:nvSpPr>
        <p:spPr>
          <a:xfrm>
            <a:off x="457200" y="6510528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 10 — SAFE FILE EDITING</a:t>
            </a:r>
            <a:endParaRPr lang="en-US" sz="900" dirty="0"/>
          </a:p>
        </p:txBody>
      </p:sp>
      <p:sp>
        <p:nvSpPr>
          <p:cNvPr id="19" name="Text 15"/>
          <p:cNvSpPr/>
          <p:nvPr/>
        </p:nvSpPr>
        <p:spPr>
          <a:xfrm>
            <a:off x="11338560" y="6510528"/>
            <a:ext cx="365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164592"/>
            <a:ext cx="9144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3FBF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CORE CONCEPT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411480"/>
            <a:ext cx="110642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Exactly Once, or Not at All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548640" y="1097280"/>
            <a:ext cx="107899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400" i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edit_file finds the anchor text. Two outcomes are failures; only one is success.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539496" y="1920240"/>
            <a:ext cx="3520440" cy="2468880"/>
          </a:xfrm>
          <a:prstGeom prst="roundRect">
            <a:avLst>
              <a:gd name="adj" fmla="val 3704"/>
            </a:avLst>
          </a:prstGeom>
          <a:solidFill>
            <a:srgbClr val="141B49"/>
          </a:solidFill>
          <a:ln w="12700">
            <a:solidFill>
              <a:srgbClr val="F87171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2007108" y="2194560"/>
            <a:ext cx="585216" cy="585216"/>
          </a:xfrm>
          <a:prstGeom prst="ellipse">
            <a:avLst/>
          </a:prstGeom>
          <a:solidFill>
            <a:srgbClr val="3FBFB0"/>
          </a:solidFill>
          <a:ln/>
        </p:spPr>
      </p:sp>
      <p:pic>
        <p:nvPicPr>
          <p:cNvPr id="7" name="Image 0" descr="/home/claude/deck13/icons/ba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144268" y="2331720"/>
            <a:ext cx="310896" cy="310896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722376" y="2971800"/>
            <a:ext cx="3154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5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Zero matches</a:t>
            </a:r>
            <a:endParaRPr lang="en-US" sz="1550" dirty="0"/>
          </a:p>
        </p:txBody>
      </p:sp>
      <p:sp>
        <p:nvSpPr>
          <p:cNvPr id="9" name="Text 6"/>
          <p:cNvSpPr/>
          <p:nvPr/>
        </p:nvSpPr>
        <p:spPr>
          <a:xfrm>
            <a:off x="768096" y="3474720"/>
            <a:ext cx="30632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ts val="1600"/>
              </a:lnSpc>
              <a:buNone/>
            </a:pPr>
            <a:r>
              <a:rPr lang="en-US" sz="1200" i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failure. The anchor isn’t there.</a:t>
            </a:r>
            <a:endParaRPr lang="en-US" sz="1200" dirty="0"/>
          </a:p>
        </p:txBody>
      </p:sp>
      <p:sp>
        <p:nvSpPr>
          <p:cNvPr id="10" name="Shape 7"/>
          <p:cNvSpPr/>
          <p:nvPr/>
        </p:nvSpPr>
        <p:spPr>
          <a:xfrm>
            <a:off x="4334256" y="1920240"/>
            <a:ext cx="3520440" cy="2468880"/>
          </a:xfrm>
          <a:prstGeom prst="roundRect">
            <a:avLst>
              <a:gd name="adj" fmla="val 3704"/>
            </a:avLst>
          </a:prstGeom>
          <a:solidFill>
            <a:srgbClr val="3FBFB0"/>
          </a:solidFill>
          <a:ln/>
        </p:spPr>
      </p:sp>
      <p:sp>
        <p:nvSpPr>
          <p:cNvPr id="11" name="Shape 8"/>
          <p:cNvSpPr/>
          <p:nvPr/>
        </p:nvSpPr>
        <p:spPr>
          <a:xfrm>
            <a:off x="5801868" y="2194560"/>
            <a:ext cx="585216" cy="585216"/>
          </a:xfrm>
          <a:prstGeom prst="ellipse">
            <a:avLst/>
          </a:prstGeom>
          <a:solidFill>
            <a:srgbClr val="1E2761"/>
          </a:solidFill>
          <a:ln/>
        </p:spPr>
      </p:sp>
      <p:pic>
        <p:nvPicPr>
          <p:cNvPr id="12" name="Image 1" descr="/home/claude/deck13/icons/check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39028" y="2331720"/>
            <a:ext cx="310896" cy="310896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4517136" y="2971800"/>
            <a:ext cx="3154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50" b="1" dirty="0">
                <a:solidFill>
                  <a:srgbClr val="141B4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Exactly one match</a:t>
            </a:r>
            <a:endParaRPr lang="en-US" sz="1550" dirty="0"/>
          </a:p>
        </p:txBody>
      </p:sp>
      <p:sp>
        <p:nvSpPr>
          <p:cNvPr id="14" name="Text 10"/>
          <p:cNvSpPr/>
          <p:nvPr/>
        </p:nvSpPr>
        <p:spPr>
          <a:xfrm>
            <a:off x="4562856" y="3474720"/>
            <a:ext cx="30632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ts val="1600"/>
              </a:lnSpc>
              <a:buNone/>
            </a:pPr>
            <a:r>
              <a:rPr lang="en-US" sz="1200" i="1" dirty="0">
                <a:solidFill>
                  <a:srgbClr val="141B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Success. The only unambiguous case.</a:t>
            </a:r>
            <a:endParaRPr lang="en-US" sz="1200" dirty="0"/>
          </a:p>
        </p:txBody>
      </p:sp>
      <p:sp>
        <p:nvSpPr>
          <p:cNvPr id="15" name="Shape 11"/>
          <p:cNvSpPr/>
          <p:nvPr/>
        </p:nvSpPr>
        <p:spPr>
          <a:xfrm>
            <a:off x="8129016" y="1920240"/>
            <a:ext cx="3520440" cy="2468880"/>
          </a:xfrm>
          <a:prstGeom prst="roundRect">
            <a:avLst>
              <a:gd name="adj" fmla="val 3704"/>
            </a:avLst>
          </a:prstGeom>
          <a:solidFill>
            <a:srgbClr val="141B49"/>
          </a:solidFill>
          <a:ln w="12700">
            <a:solidFill>
              <a:srgbClr val="F87171"/>
            </a:solidFill>
            <a:prstDash val="solid"/>
          </a:ln>
        </p:spPr>
      </p:sp>
      <p:sp>
        <p:nvSpPr>
          <p:cNvPr id="16" name="Shape 12"/>
          <p:cNvSpPr/>
          <p:nvPr/>
        </p:nvSpPr>
        <p:spPr>
          <a:xfrm>
            <a:off x="9596628" y="2194560"/>
            <a:ext cx="585216" cy="585216"/>
          </a:xfrm>
          <a:prstGeom prst="ellipse">
            <a:avLst/>
          </a:prstGeom>
          <a:solidFill>
            <a:srgbClr val="3FBFB0"/>
          </a:solidFill>
          <a:ln/>
        </p:spPr>
      </p:sp>
      <p:pic>
        <p:nvPicPr>
          <p:cNvPr id="17" name="Image 2" descr="/home/claude/deck13/icons/copy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733788" y="2331720"/>
            <a:ext cx="310896" cy="310896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8311896" y="2971800"/>
            <a:ext cx="3154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5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Two matches</a:t>
            </a:r>
            <a:endParaRPr lang="en-US" sz="1550" dirty="0"/>
          </a:p>
        </p:txBody>
      </p:sp>
      <p:sp>
        <p:nvSpPr>
          <p:cNvPr id="19" name="Text 14"/>
          <p:cNvSpPr/>
          <p:nvPr/>
        </p:nvSpPr>
        <p:spPr>
          <a:xfrm>
            <a:off x="8357616" y="3474720"/>
            <a:ext cx="30632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ts val="1600"/>
              </a:lnSpc>
              <a:buNone/>
            </a:pPr>
            <a:r>
              <a:rPr lang="en-US" sz="1200" i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Also a failure. Picking the first would be a guess.</a:t>
            </a:r>
            <a:endParaRPr lang="en-US" sz="1200" dirty="0"/>
          </a:p>
        </p:txBody>
      </p:sp>
      <p:sp>
        <p:nvSpPr>
          <p:cNvPr id="20" name="Shape 15"/>
          <p:cNvSpPr/>
          <p:nvPr/>
        </p:nvSpPr>
        <p:spPr>
          <a:xfrm>
            <a:off x="822960" y="4709160"/>
            <a:ext cx="10515600" cy="1280160"/>
          </a:xfrm>
          <a:prstGeom prst="roundRect">
            <a:avLst>
              <a:gd name="adj" fmla="val 7143"/>
            </a:avLst>
          </a:prstGeom>
          <a:solidFill>
            <a:srgbClr val="141B49"/>
          </a:solidFill>
          <a:ln w="12700">
            <a:solidFill>
              <a:srgbClr val="3FBFB0"/>
            </a:solidFill>
            <a:prstDash val="solid"/>
          </a:ln>
        </p:spPr>
      </p:sp>
      <p:sp>
        <p:nvSpPr>
          <p:cNvPr id="21" name="Text 16"/>
          <p:cNvSpPr/>
          <p:nvPr/>
        </p:nvSpPr>
        <p:spPr>
          <a:xfrm>
            <a:off x="1097280" y="4846320"/>
            <a:ext cx="99669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i="1" dirty="0">
                <a:solidFill>
                  <a:srgbClr val="3FBF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"That text appears more than once. Include enough context to make it unique."</a:t>
            </a:r>
            <a:endParaRPr lang="en-US" sz="1350" dirty="0"/>
          </a:p>
        </p:txBody>
      </p:sp>
      <p:sp>
        <p:nvSpPr>
          <p:cNvPr id="22" name="Text 17"/>
          <p:cNvSpPr/>
          <p:nvPr/>
        </p:nvSpPr>
        <p:spPr>
          <a:xfrm>
            <a:off x="1097280" y="5440680"/>
            <a:ext cx="99669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model is told to include more context and try again — a thing it is good at.</a:t>
            </a:r>
            <a:endParaRPr lang="en-US" sz="1200" dirty="0"/>
          </a:p>
        </p:txBody>
      </p:sp>
      <p:sp>
        <p:nvSpPr>
          <p:cNvPr id="23" name="Text 18"/>
          <p:cNvSpPr/>
          <p:nvPr/>
        </p:nvSpPr>
        <p:spPr>
          <a:xfrm>
            <a:off x="457200" y="6510528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 10 — SAFE FILE EDITING</a:t>
            </a:r>
            <a:endParaRPr lang="en-US" sz="900" dirty="0"/>
          </a:p>
        </p:txBody>
      </p:sp>
      <p:sp>
        <p:nvSpPr>
          <p:cNvPr id="24" name="Text 19"/>
          <p:cNvSpPr/>
          <p:nvPr/>
        </p:nvSpPr>
        <p:spPr>
          <a:xfrm>
            <a:off x="11338560" y="6510528"/>
            <a:ext cx="365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164592"/>
            <a:ext cx="9144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3FBF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CORE CONCEPT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411480"/>
            <a:ext cx="110642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Stale Source Is the Failure That Looks Like Success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548640" y="1417320"/>
            <a:ext cx="11109960" cy="1463040"/>
          </a:xfrm>
          <a:prstGeom prst="roundRect">
            <a:avLst>
              <a:gd name="adj" fmla="val 5000"/>
            </a:avLst>
          </a:prstGeom>
          <a:solidFill>
            <a:srgbClr val="F4F6FB"/>
          </a:solidFill>
          <a:ln/>
        </p:spPr>
      </p:sp>
      <p:sp>
        <p:nvSpPr>
          <p:cNvPr id="5" name="Shape 3"/>
          <p:cNvSpPr/>
          <p:nvPr/>
        </p:nvSpPr>
        <p:spPr>
          <a:xfrm>
            <a:off x="822960" y="1691640"/>
            <a:ext cx="502920" cy="502920"/>
          </a:xfrm>
          <a:prstGeom prst="ellipse">
            <a:avLst/>
          </a:prstGeom>
          <a:solidFill>
            <a:srgbClr val="1E2761"/>
          </a:solidFill>
          <a:ln/>
        </p:spPr>
      </p:sp>
      <p:pic>
        <p:nvPicPr>
          <p:cNvPr id="6" name="Image 0" descr="/home/claude/deck13/icons/cloc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41832" y="1810512"/>
            <a:ext cx="265176" cy="265176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508760" y="1417320"/>
            <a:ext cx="996696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400" dirty="0">
                <a:solidFill>
                  <a:srgbClr val="2A2F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model reads a file, thinks for four turns, then edits based on what it saw. Meanwhile the file changed. </a:t>
            </a:r>
            <a:pPr indent="0" marL="0">
              <a:lnSpc>
                <a:spcPts val="1900"/>
              </a:lnSpc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edit still "works": the anchor is found, the write succeeds, and the result is wrong in a way nobody notices.</a:t>
            </a:r>
            <a:endParaRPr lang="en-US" sz="1400" dirty="0"/>
          </a:p>
        </p:txBody>
      </p:sp>
      <p:sp>
        <p:nvSpPr>
          <p:cNvPr id="8" name="Shape 5"/>
          <p:cNvSpPr/>
          <p:nvPr/>
        </p:nvSpPr>
        <p:spPr>
          <a:xfrm>
            <a:off x="548640" y="3108960"/>
            <a:ext cx="11109960" cy="1828800"/>
          </a:xfrm>
          <a:prstGeom prst="roundRect">
            <a:avLst>
              <a:gd name="adj" fmla="val 5000"/>
            </a:avLst>
          </a:prstGeom>
          <a:solidFill>
            <a:srgbClr val="1E2761"/>
          </a:solidFill>
          <a:ln/>
        </p:spPr>
      </p:sp>
      <p:sp>
        <p:nvSpPr>
          <p:cNvPr id="9" name="Shape 6"/>
          <p:cNvSpPr/>
          <p:nvPr/>
        </p:nvSpPr>
        <p:spPr>
          <a:xfrm>
            <a:off x="868680" y="3383280"/>
            <a:ext cx="640080" cy="640080"/>
          </a:xfrm>
          <a:prstGeom prst="ellipse">
            <a:avLst/>
          </a:prstGeom>
          <a:solidFill>
            <a:srgbClr val="3FBFB0"/>
          </a:solidFill>
          <a:ln/>
        </p:spPr>
      </p:sp>
      <p:pic>
        <p:nvPicPr>
          <p:cNvPr id="10" name="Image 1" descr="/home/claude/deck13/icons/fingerprint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4128" y="3538728"/>
            <a:ext cx="329184" cy="329184"/>
          </a:xfrm>
          <a:prstGeom prst="rect">
            <a:avLst/>
          </a:prstGeom>
        </p:spPr>
      </p:pic>
      <p:sp>
        <p:nvSpPr>
          <p:cNvPr id="11" name="Text 7"/>
          <p:cNvSpPr/>
          <p:nvPr/>
        </p:nvSpPr>
        <p:spPr>
          <a:xfrm>
            <a:off x="1645920" y="338328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Reads hand out a fingerprint; edits can demand it</a:t>
            </a:r>
            <a:endParaRPr lang="en-US" sz="1700" dirty="0"/>
          </a:p>
        </p:txBody>
      </p:sp>
      <p:sp>
        <p:nvSpPr>
          <p:cNvPr id="12" name="Text 8"/>
          <p:cNvSpPr/>
          <p:nvPr/>
        </p:nvSpPr>
        <p:spPr>
          <a:xfrm>
            <a:off x="1645920" y="3886200"/>
            <a:ext cx="96012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3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Twelve hex characters of a SHA-256 over the file’s bytes. Pass it to edit_file and a file that has moved on is refused, with the new fingerprint in the message so the model knows to read again.</a:t>
            </a:r>
            <a:endParaRPr lang="en-US" sz="1350" dirty="0"/>
          </a:p>
        </p:txBody>
      </p:sp>
      <p:sp>
        <p:nvSpPr>
          <p:cNvPr id="13" name="Shape 9"/>
          <p:cNvSpPr/>
          <p:nvPr/>
        </p:nvSpPr>
        <p:spPr>
          <a:xfrm>
            <a:off x="548640" y="5166360"/>
            <a:ext cx="11109960" cy="960120"/>
          </a:xfrm>
          <a:prstGeom prst="roundRect">
            <a:avLst>
              <a:gd name="adj" fmla="val 5714"/>
            </a:avLst>
          </a:prstGeom>
          <a:ln w="12700">
            <a:solidFill>
              <a:srgbClr val="3FBFB0"/>
            </a:solidFill>
            <a:prstDash val="dash"/>
          </a:ln>
        </p:spPr>
      </p:sp>
      <p:sp>
        <p:nvSpPr>
          <p:cNvPr id="14" name="Text 10"/>
          <p:cNvSpPr/>
          <p:nvPr/>
        </p:nvSpPr>
        <p:spPr>
          <a:xfrm>
            <a:off x="822960" y="5166360"/>
            <a:ext cx="1060704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50" b="1" i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Bytes, not a timestamp — timestamps have one-second granularity and change when nothing did.</a:t>
            </a:r>
            <a:endParaRPr lang="en-US" sz="1450" dirty="0"/>
          </a:p>
        </p:txBody>
      </p:sp>
      <p:sp>
        <p:nvSpPr>
          <p:cNvPr id="15" name="Text 11"/>
          <p:cNvSpPr/>
          <p:nvPr/>
        </p:nvSpPr>
        <p:spPr>
          <a:xfrm>
            <a:off x="457200" y="6510528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 10 — SAFE FILE EDITING</a:t>
            </a:r>
            <a:endParaRPr lang="en-US" sz="900" dirty="0"/>
          </a:p>
        </p:txBody>
      </p:sp>
      <p:sp>
        <p:nvSpPr>
          <p:cNvPr id="16" name="Text 12"/>
          <p:cNvSpPr/>
          <p:nvPr/>
        </p:nvSpPr>
        <p:spPr>
          <a:xfrm>
            <a:off x="11338560" y="6510528"/>
            <a:ext cx="365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164592"/>
            <a:ext cx="9144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3FBF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CORE CONCEPT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411480"/>
            <a:ext cx="110642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Different Intentions, Different Defaults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548640" y="1417320"/>
            <a:ext cx="5349240" cy="4754880"/>
          </a:xfrm>
          <a:prstGeom prst="roundRect">
            <a:avLst>
              <a:gd name="adj" fmla="val 1923"/>
            </a:avLst>
          </a:prstGeom>
          <a:solidFill>
            <a:srgbClr val="1E2761"/>
          </a:solidFill>
          <a:ln/>
        </p:spPr>
      </p:sp>
      <p:sp>
        <p:nvSpPr>
          <p:cNvPr id="5" name="Shape 3"/>
          <p:cNvSpPr/>
          <p:nvPr/>
        </p:nvSpPr>
        <p:spPr>
          <a:xfrm>
            <a:off x="868680" y="1737360"/>
            <a:ext cx="640080" cy="640080"/>
          </a:xfrm>
          <a:prstGeom prst="ellipse">
            <a:avLst/>
          </a:prstGeom>
          <a:solidFill>
            <a:srgbClr val="3FBFB0"/>
          </a:solidFill>
          <a:ln/>
        </p:spPr>
      </p:sp>
      <p:pic>
        <p:nvPicPr>
          <p:cNvPr id="6" name="Image 0" descr="/home/claude/deck13/icons/filemedica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24128" y="1892808"/>
            <a:ext cx="329184" cy="329184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645920" y="1737360"/>
            <a:ext cx="41148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Creating vs. Replacing</a:t>
            </a:r>
            <a:endParaRPr lang="en-US" sz="1650" dirty="0"/>
          </a:p>
        </p:txBody>
      </p:sp>
      <p:sp>
        <p:nvSpPr>
          <p:cNvPr id="8" name="Text 5"/>
          <p:cNvSpPr/>
          <p:nvPr/>
        </p:nvSpPr>
        <p:spPr>
          <a:xfrm>
            <a:off x="868680" y="2606040"/>
            <a:ext cx="475488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3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write_file refuses an existing path unless overwrite: true is passed explicitly. The common case — write a new file — is safe by default; destroying an existing one requires saying so.</a:t>
            </a:r>
            <a:endParaRPr lang="en-US" sz="1350" dirty="0"/>
          </a:p>
        </p:txBody>
      </p:sp>
      <p:sp>
        <p:nvSpPr>
          <p:cNvPr id="9" name="Shape 6"/>
          <p:cNvSpPr/>
          <p:nvPr/>
        </p:nvSpPr>
        <p:spPr>
          <a:xfrm>
            <a:off x="868680" y="4206240"/>
            <a:ext cx="4709160" cy="777240"/>
          </a:xfrm>
          <a:prstGeom prst="roundRect">
            <a:avLst>
              <a:gd name="adj" fmla="val 7059"/>
            </a:avLst>
          </a:prstGeom>
          <a:solidFill>
            <a:srgbClr val="141B49"/>
          </a:solidFill>
          <a:ln w="9525">
            <a:solidFill>
              <a:srgbClr val="F87171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1051560" y="4206240"/>
            <a:ext cx="438912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F8717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'Customer.cs' already exists.</a:t>
            </a:r>
            <a:endParaRPr lang="en-US" sz="1050" dirty="0"/>
          </a:p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F8717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Read it first, or pass overwrite: true.</a:t>
            </a:r>
            <a:endParaRPr lang="en-US" sz="1050" dirty="0"/>
          </a:p>
        </p:txBody>
      </p:sp>
      <p:sp>
        <p:nvSpPr>
          <p:cNvPr id="11" name="Shape 8"/>
          <p:cNvSpPr/>
          <p:nvPr/>
        </p:nvSpPr>
        <p:spPr>
          <a:xfrm>
            <a:off x="6309360" y="1417320"/>
            <a:ext cx="5349240" cy="4754880"/>
          </a:xfrm>
          <a:prstGeom prst="roundRect">
            <a:avLst>
              <a:gd name="adj" fmla="val 1923"/>
            </a:avLst>
          </a:prstGeom>
          <a:solidFill>
            <a:srgbClr val="F4F6FB"/>
          </a:solidFill>
          <a:ln/>
        </p:spPr>
      </p:sp>
      <p:sp>
        <p:nvSpPr>
          <p:cNvPr id="12" name="Shape 9"/>
          <p:cNvSpPr/>
          <p:nvPr/>
        </p:nvSpPr>
        <p:spPr>
          <a:xfrm>
            <a:off x="6629400" y="1737360"/>
            <a:ext cx="640080" cy="640080"/>
          </a:xfrm>
          <a:prstGeom prst="ellipse">
            <a:avLst/>
          </a:prstGeom>
          <a:solidFill>
            <a:srgbClr val="1E2761"/>
          </a:solidFill>
          <a:ln/>
        </p:spPr>
      </p:sp>
      <p:pic>
        <p:nvPicPr>
          <p:cNvPr id="13" name="Image 1" descr="/home/claude/deck13/icons/bug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84848" y="1892808"/>
            <a:ext cx="329184" cy="329184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7406640" y="1737360"/>
            <a:ext cx="41148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2A2F4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Refusal Must Be Actionable</a:t>
            </a:r>
            <a:endParaRPr lang="en-US" sz="1650" dirty="0"/>
          </a:p>
        </p:txBody>
      </p:sp>
      <p:sp>
        <p:nvSpPr>
          <p:cNvPr id="15" name="Text 11"/>
          <p:cNvSpPr/>
          <p:nvPr/>
        </p:nvSpPr>
        <p:spPr>
          <a:xfrm>
            <a:off x="6629400" y="2606040"/>
            <a:ext cx="475488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350" dirty="0">
                <a:solidFill>
                  <a:srgbClr val="2A2F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None of these methods contain a try — they throw, and Module 5a’s DirectToolInvoker turns the throw into text, exactly as it has since the read tools.</a:t>
            </a:r>
            <a:endParaRPr lang="en-US" sz="1350" dirty="0"/>
          </a:p>
        </p:txBody>
      </p:sp>
      <p:sp>
        <p:nvSpPr>
          <p:cNvPr id="16" name="Shape 12"/>
          <p:cNvSpPr/>
          <p:nvPr/>
        </p:nvSpPr>
        <p:spPr>
          <a:xfrm>
            <a:off x="6629400" y="3794760"/>
            <a:ext cx="4709160" cy="594360"/>
          </a:xfrm>
          <a:prstGeom prst="roundRect">
            <a:avLst>
              <a:gd name="adj" fmla="val 9231"/>
            </a:avLst>
          </a:prstGeom>
          <a:solidFill>
            <a:srgbClr val="F87171"/>
          </a:solidFill>
          <a:ln/>
        </p:spPr>
      </p:sp>
      <p:sp>
        <p:nvSpPr>
          <p:cNvPr id="17" name="Text 13"/>
          <p:cNvSpPr/>
          <p:nvPr/>
        </p:nvSpPr>
        <p:spPr>
          <a:xfrm>
            <a:off x="6629400" y="3794760"/>
            <a:ext cx="470916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ArgumentException</a:t>
            </a:r>
            <a:endParaRPr lang="en-US" sz="1300" dirty="0"/>
          </a:p>
        </p:txBody>
      </p:sp>
      <p:sp>
        <p:nvSpPr>
          <p:cNvPr id="18" name="Text 14"/>
          <p:cNvSpPr/>
          <p:nvPr/>
        </p:nvSpPr>
        <p:spPr>
          <a:xfrm>
            <a:off x="6629400" y="4434840"/>
            <a:ext cx="4709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 not.</a:t>
            </a:r>
            <a:endParaRPr lang="en-US" sz="1100" dirty="0"/>
          </a:p>
        </p:txBody>
      </p:sp>
      <p:sp>
        <p:nvSpPr>
          <p:cNvPr id="19" name="Shape 15"/>
          <p:cNvSpPr/>
          <p:nvPr/>
        </p:nvSpPr>
        <p:spPr>
          <a:xfrm>
            <a:off x="6629400" y="4846320"/>
            <a:ext cx="4709160" cy="822960"/>
          </a:xfrm>
          <a:prstGeom prst="roundRect">
            <a:avLst>
              <a:gd name="adj" fmla="val 6667"/>
            </a:avLst>
          </a:prstGeom>
          <a:solidFill>
            <a:srgbClr val="4ADE80"/>
          </a:solidFill>
          <a:ln/>
        </p:spPr>
      </p:sp>
      <p:sp>
        <p:nvSpPr>
          <p:cNvPr id="20" name="Text 16"/>
          <p:cNvSpPr/>
          <p:nvPr/>
        </p:nvSpPr>
        <p:spPr>
          <a:xfrm>
            <a:off x="6766560" y="4846320"/>
            <a:ext cx="44348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i="1" dirty="0">
                <a:solidFill>
                  <a:srgbClr val="141B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"Include more context to make it unique."</a:t>
            </a:r>
            <a:endParaRPr lang="en-US" sz="1200" dirty="0"/>
          </a:p>
        </p:txBody>
      </p:sp>
      <p:sp>
        <p:nvSpPr>
          <p:cNvPr id="21" name="Text 17"/>
          <p:cNvSpPr/>
          <p:nvPr/>
        </p:nvSpPr>
        <p:spPr>
          <a:xfrm>
            <a:off x="457200" y="6510528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 10 — SAFE FILE EDITING</a:t>
            </a:r>
            <a:endParaRPr lang="en-US" sz="900" dirty="0"/>
          </a:p>
        </p:txBody>
      </p:sp>
      <p:sp>
        <p:nvSpPr>
          <p:cNvPr id="22" name="Text 18"/>
          <p:cNvSpPr/>
          <p:nvPr/>
        </p:nvSpPr>
        <p:spPr>
          <a:xfrm>
            <a:off x="11338560" y="6510528"/>
            <a:ext cx="365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164592"/>
            <a:ext cx="9144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3FBF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ARCHITECTURE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411480"/>
            <a:ext cx="110642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EditFile: Three Gates Before a Write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2971800" y="1417320"/>
            <a:ext cx="6217920" cy="749808"/>
          </a:xfrm>
          <a:prstGeom prst="roundRect">
            <a:avLst>
              <a:gd name="adj" fmla="val 9756"/>
            </a:avLst>
          </a:prstGeom>
          <a:solidFill>
            <a:srgbClr val="1E2761"/>
          </a:solidFill>
          <a:ln/>
        </p:spPr>
      </p:sp>
      <p:sp>
        <p:nvSpPr>
          <p:cNvPr id="5" name="Shape 3"/>
          <p:cNvSpPr/>
          <p:nvPr/>
        </p:nvSpPr>
        <p:spPr>
          <a:xfrm>
            <a:off x="3200400" y="1563624"/>
            <a:ext cx="457200" cy="457200"/>
          </a:xfrm>
          <a:prstGeom prst="ellipse">
            <a:avLst/>
          </a:prstGeom>
          <a:solidFill>
            <a:srgbClr val="3FBFB0"/>
          </a:solidFill>
          <a:ln/>
        </p:spPr>
      </p:sp>
      <p:pic>
        <p:nvPicPr>
          <p:cNvPr id="6" name="Image 0" descr="/home/claude/deck13/icons/loc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319272" y="1682496"/>
            <a:ext cx="219456" cy="219456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3794760" y="1490472"/>
            <a:ext cx="54864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ResolvePath(path)</a:t>
            </a:r>
            <a:endParaRPr lang="en-US" sz="1400" dirty="0"/>
          </a:p>
        </p:txBody>
      </p:sp>
      <p:sp>
        <p:nvSpPr>
          <p:cNvPr id="8" name="Text 5"/>
          <p:cNvSpPr/>
          <p:nvPr/>
        </p:nvSpPr>
        <p:spPr>
          <a:xfrm>
            <a:off x="3794760" y="1837944"/>
            <a:ext cx="54864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same sandbox, refusing the same way since Module 4</a:t>
            </a:r>
            <a:endParaRPr lang="en-US" sz="1000" dirty="0"/>
          </a:p>
        </p:txBody>
      </p:sp>
      <p:pic>
        <p:nvPicPr>
          <p:cNvPr id="9" name="Image 1" descr="/home/claude/deck13/icons/arrowdown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80176" y="2221992"/>
            <a:ext cx="201168" cy="201168"/>
          </a:xfrm>
          <a:prstGeom prst="rect">
            <a:avLst/>
          </a:prstGeom>
        </p:spPr>
      </p:pic>
      <p:sp>
        <p:nvSpPr>
          <p:cNvPr id="10" name="Shape 6"/>
          <p:cNvSpPr/>
          <p:nvPr/>
        </p:nvSpPr>
        <p:spPr>
          <a:xfrm>
            <a:off x="2971800" y="2459736"/>
            <a:ext cx="6217920" cy="749808"/>
          </a:xfrm>
          <a:prstGeom prst="roundRect">
            <a:avLst>
              <a:gd name="adj" fmla="val 9756"/>
            </a:avLst>
          </a:prstGeom>
          <a:solidFill>
            <a:srgbClr val="1E2761"/>
          </a:solidFill>
          <a:ln/>
        </p:spPr>
      </p:sp>
      <p:sp>
        <p:nvSpPr>
          <p:cNvPr id="11" name="Shape 7"/>
          <p:cNvSpPr/>
          <p:nvPr/>
        </p:nvSpPr>
        <p:spPr>
          <a:xfrm>
            <a:off x="3200400" y="2606040"/>
            <a:ext cx="457200" cy="457200"/>
          </a:xfrm>
          <a:prstGeom prst="ellipse">
            <a:avLst/>
          </a:prstGeom>
          <a:solidFill>
            <a:srgbClr val="3FBFB0"/>
          </a:solidFill>
          <a:ln/>
        </p:spPr>
      </p:sp>
      <p:pic>
        <p:nvPicPr>
          <p:cNvPr id="12" name="Image 2" descr="/home/claude/deck13/icons/fingerprint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319272" y="2724912"/>
            <a:ext cx="219456" cy="219456"/>
          </a:xfrm>
          <a:prstGeom prst="rect">
            <a:avLst/>
          </a:prstGeom>
        </p:spPr>
      </p:pic>
      <p:sp>
        <p:nvSpPr>
          <p:cNvPr id="13" name="Text 8"/>
          <p:cNvSpPr/>
          <p:nvPr/>
        </p:nvSpPr>
        <p:spPr>
          <a:xfrm>
            <a:off x="3794760" y="2532888"/>
            <a:ext cx="54864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Fingerprint check</a:t>
            </a:r>
            <a:endParaRPr lang="en-US" sz="1400" dirty="0"/>
          </a:p>
        </p:txBody>
      </p:sp>
      <p:sp>
        <p:nvSpPr>
          <p:cNvPr id="14" name="Text 9"/>
          <p:cNvSpPr/>
          <p:nvPr/>
        </p:nvSpPr>
        <p:spPr>
          <a:xfrm>
            <a:off x="3794760" y="2880360"/>
            <a:ext cx="54864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stale file → refused, with the new fingerprint to read again</a:t>
            </a:r>
            <a:endParaRPr lang="en-US" sz="1000" dirty="0"/>
          </a:p>
        </p:txBody>
      </p:sp>
      <p:pic>
        <p:nvPicPr>
          <p:cNvPr id="15" name="Image 3" descr="/home/claude/deck13/icons/arrowdown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980176" y="3264408"/>
            <a:ext cx="201168" cy="201168"/>
          </a:xfrm>
          <a:prstGeom prst="rect">
            <a:avLst/>
          </a:prstGeom>
        </p:spPr>
      </p:pic>
      <p:sp>
        <p:nvSpPr>
          <p:cNvPr id="16" name="Shape 10"/>
          <p:cNvSpPr/>
          <p:nvPr/>
        </p:nvSpPr>
        <p:spPr>
          <a:xfrm>
            <a:off x="2971800" y="3502152"/>
            <a:ext cx="6217920" cy="749808"/>
          </a:xfrm>
          <a:prstGeom prst="roundRect">
            <a:avLst>
              <a:gd name="adj" fmla="val 9756"/>
            </a:avLst>
          </a:prstGeom>
          <a:solidFill>
            <a:srgbClr val="1E2761"/>
          </a:solidFill>
          <a:ln/>
        </p:spPr>
      </p:sp>
      <p:sp>
        <p:nvSpPr>
          <p:cNvPr id="17" name="Shape 11"/>
          <p:cNvSpPr/>
          <p:nvPr/>
        </p:nvSpPr>
        <p:spPr>
          <a:xfrm>
            <a:off x="3200400" y="3648456"/>
            <a:ext cx="457200" cy="457200"/>
          </a:xfrm>
          <a:prstGeom prst="ellipse">
            <a:avLst/>
          </a:prstGeom>
          <a:solidFill>
            <a:srgbClr val="3FBFB0"/>
          </a:solidFill>
          <a:ln/>
        </p:spPr>
      </p:sp>
      <p:pic>
        <p:nvPicPr>
          <p:cNvPr id="18" name="Image 4" descr="/home/claude/deck13/icons/bullseye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319272" y="3767328"/>
            <a:ext cx="219456" cy="219456"/>
          </a:xfrm>
          <a:prstGeom prst="rect">
            <a:avLst/>
          </a:prstGeom>
        </p:spPr>
      </p:pic>
      <p:sp>
        <p:nvSpPr>
          <p:cNvPr id="19" name="Text 12"/>
          <p:cNvSpPr/>
          <p:nvPr/>
        </p:nvSpPr>
        <p:spPr>
          <a:xfrm>
            <a:off x="3794760" y="3575304"/>
            <a:ext cx="54864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Anchor found exactly once?</a:t>
            </a:r>
            <a:endParaRPr lang="en-US" sz="1400" dirty="0"/>
          </a:p>
        </p:txBody>
      </p:sp>
      <p:sp>
        <p:nvSpPr>
          <p:cNvPr id="20" name="Text 13"/>
          <p:cNvSpPr/>
          <p:nvPr/>
        </p:nvSpPr>
        <p:spPr>
          <a:xfrm>
            <a:off x="3794760" y="3922776"/>
            <a:ext cx="54864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zero or two matches → refused</a:t>
            </a:r>
            <a:endParaRPr lang="en-US" sz="1000" dirty="0"/>
          </a:p>
        </p:txBody>
      </p:sp>
      <p:sp>
        <p:nvSpPr>
          <p:cNvPr id="21" name="Shape 14"/>
          <p:cNvSpPr/>
          <p:nvPr/>
        </p:nvSpPr>
        <p:spPr>
          <a:xfrm>
            <a:off x="2971800" y="4480560"/>
            <a:ext cx="6217920" cy="777240"/>
          </a:xfrm>
          <a:prstGeom prst="roundRect">
            <a:avLst>
              <a:gd name="adj" fmla="val 9412"/>
            </a:avLst>
          </a:prstGeom>
          <a:solidFill>
            <a:srgbClr val="3FBFB0"/>
          </a:solidFill>
          <a:ln/>
        </p:spPr>
      </p:sp>
      <p:sp>
        <p:nvSpPr>
          <p:cNvPr id="22" name="Text 15"/>
          <p:cNvSpPr/>
          <p:nvPr/>
        </p:nvSpPr>
        <p:spPr>
          <a:xfrm>
            <a:off x="2971800" y="4553712"/>
            <a:ext cx="62179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41B4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string.Concat on three slices → write</a:t>
            </a:r>
            <a:endParaRPr lang="en-US" sz="1400" dirty="0"/>
          </a:p>
        </p:txBody>
      </p:sp>
      <p:sp>
        <p:nvSpPr>
          <p:cNvPr id="23" name="Text 16"/>
          <p:cNvSpPr/>
          <p:nvPr/>
        </p:nvSpPr>
        <p:spPr>
          <a:xfrm>
            <a:off x="2971800" y="4919472"/>
            <a:ext cx="62179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141B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regex, no line splitting — surrounding line endings untouched</a:t>
            </a:r>
            <a:endParaRPr lang="en-US" sz="1000" dirty="0"/>
          </a:p>
        </p:txBody>
      </p:sp>
      <p:sp>
        <p:nvSpPr>
          <p:cNvPr id="24" name="Shape 17"/>
          <p:cNvSpPr/>
          <p:nvPr/>
        </p:nvSpPr>
        <p:spPr>
          <a:xfrm>
            <a:off x="548640" y="5532120"/>
            <a:ext cx="11109960" cy="685800"/>
          </a:xfrm>
          <a:prstGeom prst="roundRect">
            <a:avLst>
              <a:gd name="adj" fmla="val 10667"/>
            </a:avLst>
          </a:prstGeom>
          <a:solidFill>
            <a:srgbClr val="F4F6FB"/>
          </a:solidFill>
          <a:ln/>
        </p:spPr>
      </p:sp>
      <p:sp>
        <p:nvSpPr>
          <p:cNvPr id="25" name="Text 18"/>
          <p:cNvSpPr/>
          <p:nvPr/>
        </p:nvSpPr>
        <p:spPr>
          <a:xfrm>
            <a:off x="822960" y="5532120"/>
            <a:ext cx="1060704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i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gate that fails throws a sentence the model can act on — never a silent guess.</a:t>
            </a:r>
            <a:endParaRPr lang="en-US" sz="1300" dirty="0"/>
          </a:p>
        </p:txBody>
      </p:sp>
      <p:sp>
        <p:nvSpPr>
          <p:cNvPr id="26" name="Text 19"/>
          <p:cNvSpPr/>
          <p:nvPr/>
        </p:nvSpPr>
        <p:spPr>
          <a:xfrm>
            <a:off x="457200" y="6510528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 10 — SAFE FILE EDITING</a:t>
            </a:r>
            <a:endParaRPr lang="en-US" sz="900" dirty="0"/>
          </a:p>
        </p:txBody>
      </p:sp>
      <p:sp>
        <p:nvSpPr>
          <p:cNvPr id="27" name="Text 20"/>
          <p:cNvSpPr/>
          <p:nvPr/>
        </p:nvSpPr>
        <p:spPr>
          <a:xfrm>
            <a:off x="11338560" y="6510528"/>
            <a:ext cx="365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164592"/>
            <a:ext cx="9144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3FBF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CODE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411480"/>
            <a:ext cx="110642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Seven Moves to a Trustworthy Edit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417320"/>
            <a:ext cx="5440680" cy="1243584"/>
          </a:xfrm>
          <a:prstGeom prst="roundRect">
            <a:avLst>
              <a:gd name="adj" fmla="val 5882"/>
            </a:avLst>
          </a:prstGeom>
          <a:solidFill>
            <a:srgbClr val="141B49"/>
          </a:solidFill>
          <a:ln w="9525">
            <a:solidFill>
              <a:srgbClr val="3FBFB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31520" y="1581912"/>
            <a:ext cx="402336" cy="402336"/>
          </a:xfrm>
          <a:prstGeom prst="ellipse">
            <a:avLst/>
          </a:prstGeom>
          <a:solidFill>
            <a:srgbClr val="3FBFB0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1581912"/>
            <a:ext cx="402336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41B4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261872" y="1490472"/>
            <a:ext cx="45720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ResolvePath is the first line of both methods</a:t>
            </a:r>
            <a:endParaRPr lang="en-US" sz="1150" dirty="0"/>
          </a:p>
        </p:txBody>
      </p:sp>
      <p:sp>
        <p:nvSpPr>
          <p:cNvPr id="8" name="Text 6"/>
          <p:cNvSpPr/>
          <p:nvPr/>
        </p:nvSpPr>
        <p:spPr>
          <a:xfrm>
            <a:off x="1261872" y="1901952"/>
            <a:ext cx="4572000" cy="7132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10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Writing outside the workspace is the same sandbox, refusing the same way.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6217920" y="1417320"/>
            <a:ext cx="5440680" cy="1243584"/>
          </a:xfrm>
          <a:prstGeom prst="roundRect">
            <a:avLst>
              <a:gd name="adj" fmla="val 5882"/>
            </a:avLst>
          </a:prstGeom>
          <a:solidFill>
            <a:srgbClr val="141B49"/>
          </a:solidFill>
          <a:ln w="9525">
            <a:solidFill>
              <a:srgbClr val="3FBFB0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6400800" y="1581912"/>
            <a:ext cx="402336" cy="402336"/>
          </a:xfrm>
          <a:prstGeom prst="ellipse">
            <a:avLst/>
          </a:prstGeom>
          <a:solidFill>
            <a:srgbClr val="3FBFB0"/>
          </a:solidFill>
          <a:ln/>
        </p:spPr>
      </p:sp>
      <p:sp>
        <p:nvSpPr>
          <p:cNvPr id="11" name="Text 9"/>
          <p:cNvSpPr/>
          <p:nvPr/>
        </p:nvSpPr>
        <p:spPr>
          <a:xfrm>
            <a:off x="6400800" y="1581912"/>
            <a:ext cx="402336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41B4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6931152" y="1490472"/>
            <a:ext cx="45720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fingerprint check runs before the file is read</a:t>
            </a:r>
            <a:endParaRPr lang="en-US" sz="1150" dirty="0"/>
          </a:p>
        </p:txBody>
      </p:sp>
      <p:sp>
        <p:nvSpPr>
          <p:cNvPr id="13" name="Text 11"/>
          <p:cNvSpPr/>
          <p:nvPr/>
        </p:nvSpPr>
        <p:spPr>
          <a:xfrm>
            <a:off x="6931152" y="1901952"/>
            <a:ext cx="4572000" cy="7132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10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stale edit costs nothing beyond hashing.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548640" y="2770632"/>
            <a:ext cx="5440680" cy="1243584"/>
          </a:xfrm>
          <a:prstGeom prst="roundRect">
            <a:avLst>
              <a:gd name="adj" fmla="val 5882"/>
            </a:avLst>
          </a:prstGeom>
          <a:solidFill>
            <a:srgbClr val="141B49"/>
          </a:solidFill>
          <a:ln w="9525">
            <a:solidFill>
              <a:srgbClr val="3FBFB0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731520" y="2935224"/>
            <a:ext cx="402336" cy="402336"/>
          </a:xfrm>
          <a:prstGeom prst="ellipse">
            <a:avLst/>
          </a:prstGeom>
          <a:solidFill>
            <a:srgbClr val="3FBFB0"/>
          </a:solidFill>
          <a:ln/>
        </p:spPr>
      </p:sp>
      <p:sp>
        <p:nvSpPr>
          <p:cNvPr id="16" name="Text 14"/>
          <p:cNvSpPr/>
          <p:nvPr/>
        </p:nvSpPr>
        <p:spPr>
          <a:xfrm>
            <a:off x="731520" y="2935224"/>
            <a:ext cx="402336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41B4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1261872" y="2843784"/>
            <a:ext cx="45720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expectedFingerprint defaults to null</a:t>
            </a:r>
            <a:endParaRPr lang="en-US" sz="1150" dirty="0"/>
          </a:p>
        </p:txBody>
      </p:sp>
      <p:sp>
        <p:nvSpPr>
          <p:cNvPr id="18" name="Text 16"/>
          <p:cNvSpPr/>
          <p:nvPr/>
        </p:nvSpPr>
        <p:spPr>
          <a:xfrm>
            <a:off x="1261872" y="3255264"/>
            <a:ext cx="4572000" cy="7132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10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guard the model opts into — mandatory would break write-then-edit.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6217920" y="2770632"/>
            <a:ext cx="5440680" cy="1243584"/>
          </a:xfrm>
          <a:prstGeom prst="roundRect">
            <a:avLst>
              <a:gd name="adj" fmla="val 5882"/>
            </a:avLst>
          </a:prstGeom>
          <a:solidFill>
            <a:srgbClr val="141B49"/>
          </a:solidFill>
          <a:ln w="9525">
            <a:solidFill>
              <a:srgbClr val="3FBFB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6400800" y="2935224"/>
            <a:ext cx="402336" cy="402336"/>
          </a:xfrm>
          <a:prstGeom prst="ellipse">
            <a:avLst/>
          </a:prstGeom>
          <a:solidFill>
            <a:srgbClr val="3FBFB0"/>
          </a:solidFill>
          <a:ln/>
        </p:spPr>
      </p:sp>
      <p:sp>
        <p:nvSpPr>
          <p:cNvPr id="21" name="Text 19"/>
          <p:cNvSpPr/>
          <p:nvPr/>
        </p:nvSpPr>
        <p:spPr>
          <a:xfrm>
            <a:off x="6400800" y="2935224"/>
            <a:ext cx="402336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41B4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6931152" y="2843784"/>
            <a:ext cx="45720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Twelve hex characters, not sixty-four</a:t>
            </a:r>
            <a:endParaRPr lang="en-US" sz="1150" dirty="0"/>
          </a:p>
        </p:txBody>
      </p:sp>
      <p:sp>
        <p:nvSpPr>
          <p:cNvPr id="23" name="Text 21"/>
          <p:cNvSpPr/>
          <p:nvPr/>
        </p:nvSpPr>
        <p:spPr>
          <a:xfrm>
            <a:off x="6931152" y="3255264"/>
            <a:ext cx="4572000" cy="7132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10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model copies this string; every character costs context.</a:t>
            </a:r>
            <a:endParaRPr lang="en-US" sz="1050" dirty="0"/>
          </a:p>
        </p:txBody>
      </p:sp>
      <p:sp>
        <p:nvSpPr>
          <p:cNvPr id="24" name="Shape 22"/>
          <p:cNvSpPr/>
          <p:nvPr/>
        </p:nvSpPr>
        <p:spPr>
          <a:xfrm>
            <a:off x="548640" y="4123944"/>
            <a:ext cx="5440680" cy="1243584"/>
          </a:xfrm>
          <a:prstGeom prst="roundRect">
            <a:avLst>
              <a:gd name="adj" fmla="val 5882"/>
            </a:avLst>
          </a:prstGeom>
          <a:solidFill>
            <a:srgbClr val="141B49"/>
          </a:solidFill>
          <a:ln w="9525">
            <a:solidFill>
              <a:srgbClr val="3FBFB0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731520" y="4288536"/>
            <a:ext cx="402336" cy="402336"/>
          </a:xfrm>
          <a:prstGeom prst="ellipse">
            <a:avLst/>
          </a:prstGeom>
          <a:solidFill>
            <a:srgbClr val="3FBFB0"/>
          </a:solidFill>
          <a:ln/>
        </p:spPr>
      </p:sp>
      <p:sp>
        <p:nvSpPr>
          <p:cNvPr id="26" name="Text 24"/>
          <p:cNvSpPr/>
          <p:nvPr/>
        </p:nvSpPr>
        <p:spPr>
          <a:xfrm>
            <a:off x="731520" y="4288536"/>
            <a:ext cx="402336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41B4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1261872" y="4197096"/>
            <a:ext cx="45720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Uniqueness check uses IndexOf from first + 1</a:t>
            </a:r>
            <a:endParaRPr lang="en-US" sz="1150" dirty="0"/>
          </a:p>
        </p:txBody>
      </p:sp>
      <p:sp>
        <p:nvSpPr>
          <p:cNvPr id="28" name="Text 26"/>
          <p:cNvSpPr/>
          <p:nvPr/>
        </p:nvSpPr>
        <p:spPr>
          <a:xfrm>
            <a:off x="1261872" y="4608576"/>
            <a:ext cx="4572000" cy="7132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10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 only matters whether there is a second one, not how many.</a:t>
            </a:r>
            <a:endParaRPr lang="en-US" sz="1050" dirty="0"/>
          </a:p>
        </p:txBody>
      </p:sp>
      <p:sp>
        <p:nvSpPr>
          <p:cNvPr id="29" name="Shape 27"/>
          <p:cNvSpPr/>
          <p:nvPr/>
        </p:nvSpPr>
        <p:spPr>
          <a:xfrm>
            <a:off x="6217920" y="4123944"/>
            <a:ext cx="5440680" cy="1243584"/>
          </a:xfrm>
          <a:prstGeom prst="roundRect">
            <a:avLst>
              <a:gd name="adj" fmla="val 5882"/>
            </a:avLst>
          </a:prstGeom>
          <a:solidFill>
            <a:srgbClr val="141B49"/>
          </a:solidFill>
          <a:ln w="9525">
            <a:solidFill>
              <a:srgbClr val="3FBFB0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6400800" y="4288536"/>
            <a:ext cx="402336" cy="402336"/>
          </a:xfrm>
          <a:prstGeom prst="ellipse">
            <a:avLst/>
          </a:prstGeom>
          <a:solidFill>
            <a:srgbClr val="3FBFB0"/>
          </a:solidFill>
          <a:ln/>
        </p:spPr>
      </p:sp>
      <p:sp>
        <p:nvSpPr>
          <p:cNvPr id="31" name="Text 29"/>
          <p:cNvSpPr/>
          <p:nvPr/>
        </p:nvSpPr>
        <p:spPr>
          <a:xfrm>
            <a:off x="6400800" y="4288536"/>
            <a:ext cx="402336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41B4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</a:t>
            </a:r>
            <a:endParaRPr lang="en-US" sz="1400" dirty="0"/>
          </a:p>
        </p:txBody>
      </p:sp>
      <p:sp>
        <p:nvSpPr>
          <p:cNvPr id="32" name="Text 30"/>
          <p:cNvSpPr/>
          <p:nvPr/>
        </p:nvSpPr>
        <p:spPr>
          <a:xfrm>
            <a:off x="6931152" y="4197096"/>
            <a:ext cx="45720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replacement is string.Concat on three slices</a:t>
            </a:r>
            <a:endParaRPr lang="en-US" sz="1150" dirty="0"/>
          </a:p>
        </p:txBody>
      </p:sp>
      <p:sp>
        <p:nvSpPr>
          <p:cNvPr id="33" name="Text 31"/>
          <p:cNvSpPr/>
          <p:nvPr/>
        </p:nvSpPr>
        <p:spPr>
          <a:xfrm>
            <a:off x="6931152" y="4608576"/>
            <a:ext cx="4572000" cy="7132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10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regex, no line splitting — line endings around the anchor untouched.</a:t>
            </a:r>
            <a:endParaRPr lang="en-US" sz="1050" dirty="0"/>
          </a:p>
        </p:txBody>
      </p:sp>
      <p:sp>
        <p:nvSpPr>
          <p:cNvPr id="34" name="Shape 32"/>
          <p:cNvSpPr/>
          <p:nvPr/>
        </p:nvSpPr>
        <p:spPr>
          <a:xfrm>
            <a:off x="548640" y="5477256"/>
            <a:ext cx="5440680" cy="1243584"/>
          </a:xfrm>
          <a:prstGeom prst="roundRect">
            <a:avLst>
              <a:gd name="adj" fmla="val 5882"/>
            </a:avLst>
          </a:prstGeom>
          <a:solidFill>
            <a:srgbClr val="141B49"/>
          </a:solidFill>
          <a:ln w="9525">
            <a:solidFill>
              <a:srgbClr val="3FBFB0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731520" y="5641848"/>
            <a:ext cx="402336" cy="402336"/>
          </a:xfrm>
          <a:prstGeom prst="ellipse">
            <a:avLst/>
          </a:prstGeom>
          <a:solidFill>
            <a:srgbClr val="3FBFB0"/>
          </a:solidFill>
          <a:ln/>
        </p:spPr>
      </p:sp>
      <p:sp>
        <p:nvSpPr>
          <p:cNvPr id="36" name="Text 34"/>
          <p:cNvSpPr/>
          <p:nvPr/>
        </p:nvSpPr>
        <p:spPr>
          <a:xfrm>
            <a:off x="731520" y="5641848"/>
            <a:ext cx="402336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41B4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</a:t>
            </a:r>
            <a:endParaRPr lang="en-US" sz="1400" dirty="0"/>
          </a:p>
        </p:txBody>
      </p:sp>
      <p:sp>
        <p:nvSpPr>
          <p:cNvPr id="37" name="Text 35"/>
          <p:cNvSpPr/>
          <p:nvPr/>
        </p:nvSpPr>
        <p:spPr>
          <a:xfrm>
            <a:off x="1261872" y="5550408"/>
            <a:ext cx="45720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Directory.CreateDirectory before writing</a:t>
            </a:r>
            <a:endParaRPr lang="en-US" sz="1150" dirty="0"/>
          </a:p>
        </p:txBody>
      </p:sp>
      <p:sp>
        <p:nvSpPr>
          <p:cNvPr id="38" name="Text 36"/>
          <p:cNvSpPr/>
          <p:nvPr/>
        </p:nvSpPr>
        <p:spPr>
          <a:xfrm>
            <a:off x="1261872" y="5961888"/>
            <a:ext cx="4572000" cy="7132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10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write_file can create src/Models/Customer.cs when Models doesn’t exist yet.</a:t>
            </a:r>
            <a:endParaRPr lang="en-US" sz="10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164592"/>
            <a:ext cx="9144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3FBF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EXERCISES &amp; EXPECTED OUTPUT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411480"/>
            <a:ext cx="110642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One Property Added, Nothing Else Touched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548640" y="1371600"/>
            <a:ext cx="5852160" cy="2240280"/>
          </a:xfrm>
          <a:prstGeom prst="roundRect">
            <a:avLst>
              <a:gd name="adj" fmla="val 4082"/>
            </a:avLst>
          </a:prstGeom>
          <a:solidFill>
            <a:srgbClr val="F4F6FB"/>
          </a:solidFill>
          <a:ln/>
        </p:spPr>
      </p:sp>
      <p:sp>
        <p:nvSpPr>
          <p:cNvPr id="5" name="Shape 3"/>
          <p:cNvSpPr/>
          <p:nvPr/>
        </p:nvSpPr>
        <p:spPr>
          <a:xfrm>
            <a:off x="822960" y="1600200"/>
            <a:ext cx="502920" cy="502920"/>
          </a:xfrm>
          <a:prstGeom prst="ellipse">
            <a:avLst/>
          </a:prstGeom>
          <a:solidFill>
            <a:srgbClr val="1E2761"/>
          </a:solidFill>
          <a:ln/>
        </p:spPr>
      </p:sp>
      <p:pic>
        <p:nvPicPr>
          <p:cNvPr id="6" name="Image 0" descr="/home/claude/deck13/icons/cloc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41832" y="1719072"/>
            <a:ext cx="265176" cy="265176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463040" y="1627632"/>
            <a:ext cx="4572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2A2F4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1. Preserve encoding &amp; line endings</a:t>
            </a:r>
            <a:endParaRPr lang="en-US" sz="1350" dirty="0"/>
          </a:p>
        </p:txBody>
      </p:sp>
      <p:sp>
        <p:nvSpPr>
          <p:cNvPr id="8" name="Text 5"/>
          <p:cNvSpPr/>
          <p:nvPr/>
        </p:nvSpPr>
        <p:spPr>
          <a:xfrm>
            <a:off x="822960" y="2148840"/>
            <a:ext cx="5349240" cy="1417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2A2F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Detect the existing file’s encoding (incl. BOM) and dominant line ending before writing, and re-apply both. Overwriting CRLF with \n content should not touch every line.</a:t>
            </a:r>
            <a:endParaRPr lang="en-US" sz="1150" dirty="0"/>
          </a:p>
        </p:txBody>
      </p:sp>
      <p:sp>
        <p:nvSpPr>
          <p:cNvPr id="9" name="Shape 6"/>
          <p:cNvSpPr/>
          <p:nvPr/>
        </p:nvSpPr>
        <p:spPr>
          <a:xfrm>
            <a:off x="548640" y="3749040"/>
            <a:ext cx="5852160" cy="2423160"/>
          </a:xfrm>
          <a:prstGeom prst="roundRect">
            <a:avLst>
              <a:gd name="adj" fmla="val 3774"/>
            </a:avLst>
          </a:prstGeom>
          <a:solidFill>
            <a:srgbClr val="1E2761"/>
          </a:solidFill>
          <a:ln/>
        </p:spPr>
      </p:sp>
      <p:sp>
        <p:nvSpPr>
          <p:cNvPr id="10" name="Shape 7"/>
          <p:cNvSpPr/>
          <p:nvPr/>
        </p:nvSpPr>
        <p:spPr>
          <a:xfrm>
            <a:off x="822960" y="3977640"/>
            <a:ext cx="502920" cy="502920"/>
          </a:xfrm>
          <a:prstGeom prst="ellipse">
            <a:avLst/>
          </a:prstGeom>
          <a:solidFill>
            <a:srgbClr val="3FBFB0"/>
          </a:solidFill>
          <a:ln/>
        </p:spPr>
      </p:sp>
      <p:pic>
        <p:nvPicPr>
          <p:cNvPr id="11" name="Image 1" descr="/home/claude/deck13/icons/copy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41832" y="4096512"/>
            <a:ext cx="265176" cy="265176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1463040" y="4005072"/>
            <a:ext cx="4572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2. Show the modification as a diff</a:t>
            </a:r>
            <a:endParaRPr lang="en-US" sz="1350" dirty="0"/>
          </a:p>
        </p:txBody>
      </p:sp>
      <p:sp>
        <p:nvSpPr>
          <p:cNvPr id="13" name="Text 9"/>
          <p:cNvSpPr/>
          <p:nvPr/>
        </p:nvSpPr>
        <p:spPr>
          <a:xfrm>
            <a:off x="822960" y="4526280"/>
            <a:ext cx="534924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few lines of before/after context, - and + prefixed, over the BCL — no diff package. An edit at line 1 must not fail trying to show context above it.</a:t>
            </a:r>
            <a:endParaRPr lang="en-US" sz="1150" dirty="0"/>
          </a:p>
        </p:txBody>
      </p:sp>
      <p:sp>
        <p:nvSpPr>
          <p:cNvPr id="14" name="Shape 10"/>
          <p:cNvSpPr/>
          <p:nvPr/>
        </p:nvSpPr>
        <p:spPr>
          <a:xfrm>
            <a:off x="6675120" y="1371600"/>
            <a:ext cx="4983480" cy="4800600"/>
          </a:xfrm>
          <a:prstGeom prst="roundRect">
            <a:avLst>
              <a:gd name="adj" fmla="val 1905"/>
            </a:avLst>
          </a:prstGeom>
          <a:solidFill>
            <a:srgbClr val="141B49"/>
          </a:solidFill>
          <a:ln w="12700">
            <a:solidFill>
              <a:srgbClr val="3FBFB0"/>
            </a:solidFill>
            <a:prstDash val="solid"/>
          </a:ln>
        </p:spPr>
      </p:sp>
      <p:sp>
        <p:nvSpPr>
          <p:cNvPr id="15" name="Text 11"/>
          <p:cNvSpPr/>
          <p:nvPr/>
        </p:nvSpPr>
        <p:spPr>
          <a:xfrm>
            <a:off x="6903720" y="1554480"/>
            <a:ext cx="45720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b="1" dirty="0">
                <a:solidFill>
                  <a:srgbClr val="4ADE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Edited src/Customer.cs at line 7.</a:t>
            </a:r>
            <a:endParaRPr lang="en-US" sz="1100" dirty="0"/>
          </a:p>
          <a:p>
            <a:pPr indent="0" marL="0">
              <a:lnSpc>
                <a:spcPts val="1500"/>
              </a:lnSpc>
              <a:buNone/>
            </a:pPr>
            <a:r>
              <a:rPr lang="en-US" sz="1100" b="1" dirty="0">
                <a:solidFill>
                  <a:srgbClr val="4ADE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Fingerprint 265f548e7c18.</a:t>
            </a:r>
            <a:endParaRPr lang="en-US" sz="1100" dirty="0"/>
          </a:p>
        </p:txBody>
      </p:sp>
      <p:sp>
        <p:nvSpPr>
          <p:cNvPr id="16" name="Text 12"/>
          <p:cNvSpPr/>
          <p:nvPr/>
        </p:nvSpPr>
        <p:spPr>
          <a:xfrm>
            <a:off x="6903720" y="2286000"/>
            <a:ext cx="4572000" cy="1737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950" dirty="0">
                <a:solidFill>
                  <a:srgbClr val="F8717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edit_file failed: has changed since</a:t>
            </a:r>
            <a:endParaRPr lang="en-US" sz="950" dirty="0"/>
          </a:p>
          <a:p>
            <a:pPr indent="0" marL="0">
              <a:lnSpc>
                <a:spcPts val="1300"/>
              </a:lnSpc>
              <a:buNone/>
            </a:pPr>
            <a:r>
              <a:rPr lang="en-US" sz="950" dirty="0">
                <a:solidFill>
                  <a:srgbClr val="F8717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you read it. Read it again.</a:t>
            </a:r>
            <a:endParaRPr lang="en-US" sz="950" dirty="0"/>
          </a:p>
          <a:p>
            <a:pPr indent="0" marL="0">
              <a:lnSpc>
                <a:spcPts val="1300"/>
              </a:lnSpc>
              <a:buNone/>
            </a:pPr>
            <a:endParaRPr lang="en-US" sz="950" dirty="0"/>
          </a:p>
          <a:p>
            <a:pPr indent="0" marL="0">
              <a:lnSpc>
                <a:spcPts val="1300"/>
              </a:lnSpc>
              <a:buNone/>
            </a:pPr>
            <a:r>
              <a:rPr lang="en-US" sz="950" dirty="0">
                <a:solidFill>
                  <a:srgbClr val="F8717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edit_file failed: appears more than</a:t>
            </a:r>
            <a:endParaRPr lang="en-US" sz="950" dirty="0"/>
          </a:p>
          <a:p>
            <a:pPr indent="0" marL="0">
              <a:lnSpc>
                <a:spcPts val="1300"/>
              </a:lnSpc>
              <a:buNone/>
            </a:pPr>
            <a:r>
              <a:rPr lang="en-US" sz="950" dirty="0">
                <a:solidFill>
                  <a:srgbClr val="F8717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once. Include enough context.</a:t>
            </a:r>
            <a:endParaRPr lang="en-US" sz="950" dirty="0"/>
          </a:p>
          <a:p>
            <a:pPr indent="0" marL="0">
              <a:lnSpc>
                <a:spcPts val="1300"/>
              </a:lnSpc>
              <a:buNone/>
            </a:pPr>
            <a:endParaRPr lang="en-US" sz="950" dirty="0"/>
          </a:p>
          <a:p>
            <a:pPr indent="0" marL="0">
              <a:lnSpc>
                <a:spcPts val="1300"/>
              </a:lnSpc>
              <a:buNone/>
            </a:pPr>
            <a:r>
              <a:rPr lang="en-US" sz="950" dirty="0">
                <a:solidFill>
                  <a:srgbClr val="F8717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write_file failed: already exists.</a:t>
            </a:r>
            <a:endParaRPr lang="en-US" sz="950" dirty="0"/>
          </a:p>
          <a:p>
            <a:pPr indent="0" marL="0">
              <a:lnSpc>
                <a:spcPts val="1300"/>
              </a:lnSpc>
              <a:buNone/>
            </a:pPr>
            <a:r>
              <a:rPr lang="en-US" sz="950" dirty="0">
                <a:solidFill>
                  <a:srgbClr val="F8717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Pass overwrite: true.</a:t>
            </a:r>
            <a:endParaRPr lang="en-US" sz="950" dirty="0"/>
          </a:p>
        </p:txBody>
      </p:sp>
      <p:sp>
        <p:nvSpPr>
          <p:cNvPr id="17" name="Shape 13"/>
          <p:cNvSpPr/>
          <p:nvPr/>
        </p:nvSpPr>
        <p:spPr>
          <a:xfrm>
            <a:off x="6903720" y="4160520"/>
            <a:ext cx="4480560" cy="1828800"/>
          </a:xfrm>
          <a:prstGeom prst="roundRect">
            <a:avLst>
              <a:gd name="adj" fmla="val 3000"/>
            </a:avLst>
          </a:prstGeom>
          <a:solidFill>
            <a:srgbClr val="1E2761"/>
          </a:solidFill>
          <a:ln/>
        </p:spPr>
      </p:sp>
      <p:sp>
        <p:nvSpPr>
          <p:cNvPr id="18" name="Text 14"/>
          <p:cNvSpPr/>
          <p:nvPr/>
        </p:nvSpPr>
        <p:spPr>
          <a:xfrm>
            <a:off x="7086600" y="4160520"/>
            <a:ext cx="411480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95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public string Name { get; set; }</a:t>
            </a:r>
            <a:endParaRPr lang="en-US" sz="950" dirty="0"/>
          </a:p>
          <a:p>
            <a:pPr indent="0" marL="0">
              <a:lnSpc>
                <a:spcPts val="1300"/>
              </a:lnSpc>
              <a:buNone/>
            </a:pPr>
            <a:r>
              <a:rPr lang="en-US" sz="95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= string.Empty;</a:t>
            </a:r>
            <a:endParaRPr lang="en-US" sz="950" dirty="0"/>
          </a:p>
          <a:p>
            <a:pPr indent="0" marL="0">
              <a:lnSpc>
                <a:spcPts val="1300"/>
              </a:lnSpc>
              <a:buNone/>
            </a:pPr>
            <a:endParaRPr lang="en-US" sz="950" dirty="0"/>
          </a:p>
          <a:p>
            <a:pPr indent="0" marL="0">
              <a:lnSpc>
                <a:spcPts val="1300"/>
              </a:lnSpc>
              <a:buNone/>
            </a:pPr>
            <a:r>
              <a:rPr lang="en-US" sz="95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+ public string EmailAddress</a:t>
            </a:r>
            <a:endParaRPr lang="en-US" sz="950" dirty="0"/>
          </a:p>
          <a:p>
            <a:pPr indent="0" marL="0">
              <a:lnSpc>
                <a:spcPts val="1300"/>
              </a:lnSpc>
              <a:buNone/>
            </a:pPr>
            <a:r>
              <a:rPr lang="en-US" sz="95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{ get; set; }</a:t>
            </a:r>
            <a:endParaRPr lang="en-US" sz="950" dirty="0"/>
          </a:p>
          <a:p>
            <a:pPr indent="0" marL="0">
              <a:lnSpc>
                <a:spcPts val="1300"/>
              </a:lnSpc>
              <a:buNone/>
            </a:pPr>
            <a:r>
              <a:rPr lang="en-US" sz="95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= string.Empty;</a:t>
            </a:r>
            <a:endParaRPr lang="en-US" sz="950" dirty="0"/>
          </a:p>
        </p:txBody>
      </p:sp>
      <p:sp>
        <p:nvSpPr>
          <p:cNvPr id="19" name="Text 15"/>
          <p:cNvSpPr/>
          <p:nvPr/>
        </p:nvSpPr>
        <p:spPr>
          <a:xfrm>
            <a:off x="457200" y="6510528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 10 — SAFE FILE EDITING</a:t>
            </a:r>
            <a:endParaRPr lang="en-US" sz="900" dirty="0"/>
          </a:p>
        </p:txBody>
      </p:sp>
      <p:sp>
        <p:nvSpPr>
          <p:cNvPr id="20" name="Text 16"/>
          <p:cNvSpPr/>
          <p:nvPr/>
        </p:nvSpPr>
        <p:spPr>
          <a:xfrm>
            <a:off x="11338560" y="6510528"/>
            <a:ext cx="365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8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2026-09-09T00:42:49Z</dcterms:created>
  <dcterms:modified xsi:type="dcterms:W3CDTF">2026-09-09T00:42:49Z</dcterms:modified>
</cp:coreProperties>
</file>