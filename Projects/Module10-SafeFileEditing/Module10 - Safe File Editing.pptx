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Module of Phase 3. Ships as part of Phase 3 Capstone — Autonomous Fixer (v0.3). Module 5b’s IFileSystemService gains its write side here, and Module 5a’s interception point is what will let Module 15 put a human in front of these two tools without touching either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Showing the modification: both tools report what happened and hand back the new fingerprint — Edited src/Customer.cs at line 7. Fingerprint 265f548e7c18. The line number lets the model cite the change, and the fingerprint means the next edit can be guarded without reading the file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property added, blank lines and indentation intact, nothing else in the file touched. That is what a targeted edit buys you over handing the model the whole file and hoping.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10 · PHASE 3</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Safe File Editing</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Phase 3 begins, and MiniCode gets hands. It can now create a file and change one — and every design decision here is about making those two operations refuse rather than guess. An agent that edits confidently on stale information is worse than one that cannot edit at all.</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Phase2-Capstone-PlanningAgent/ — every write goes through ResolvePath exactly as every read does.</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Nothing new to install. System.Security.Cryptography is in the shared framework, so MiniCode.Workspace still has zero package references.</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3</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refuse, do not guess</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zero matches   -&gt; refuse</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two matches    -&gt; refuse</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stale finger-  -&gt; refuse</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print</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exists, no      -&gt; refuse</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overwrite</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Edited src/Customer.cs at</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line 7. Fingerprint 265f548e7c18.</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Exactly once, or not at all.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 Targeted Edit, and Exactly One Match</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Prefer a Targeted Edit Over Rewriting a File</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Handing a model a whole file and taking back a whole file invites it to reformat, drop a using it did not understand, or silently lose the part it was not thinking about.</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Replacing one anchored fragment cannot do any of those.</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Deterministic Means Exactly Once, or Not at All</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edit_file finds the anchor text. Zero matches is a failure. Two matches is also a failure — because picking the first would be a guess, and a guess that edits source is the worst kind.</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The model is told to include more context and try again, which is a thing it is good at.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Stale Source Is the Failure That Looks Like Success</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The Edit Still "Works"</a:t>
            </a:r>
            <a:endParaRPr lang="en-US" sz="1550" dirty="0"/>
          </a:p>
        </p:txBody>
      </p:sp>
      <p:sp>
        <p:nvSpPr>
          <p:cNvPr id="10" name="Text 7"/>
          <p:cNvSpPr txBox="1"/>
          <p:nvPr/>
        </p:nvSpPr>
        <p:spPr>
          <a:xfrm>
            <a:off x="86868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The model reads a file, thinks for four turns, then edits based on what it saw. Meanwhile the file changed — you edited it, a build regenerated it, another tool touched it. The anchor is found, the write succeeds, and the result is wrong in a way nobody notices.</a:t>
            </a:r>
            <a:endParaRPr lang="en-US" sz="1350" dirty="0"/>
          </a:p>
        </p:txBody>
      </p:sp>
      <p:sp>
        <p:nvSpPr>
          <p:cNvPr id="11" name="Shape 8"/>
          <p:cNvSpPr/>
          <p:nvPr/>
        </p:nvSpPr>
        <p:spPr>
          <a:xfrm>
            <a:off x="6309360" y="1417320"/>
            <a:ext cx="5349240" cy="3291840"/>
          </a:xfrm>
          <a:prstGeom prst="roundRect">
            <a:avLst>
              <a:gd name="adj" fmla="val 2778"/>
            </a:avLst>
          </a:prstGeom>
          <a:solidFill>
            <a:srgbClr val="3FBFB0"/>
          </a:solidFill>
          <a:ln/>
        </p:spPr>
      </p:sp>
      <p:sp>
        <p:nvSpPr>
          <p:cNvPr id="12" name="Shape 9"/>
          <p:cNvSpPr/>
          <p:nvPr/>
        </p:nvSpPr>
        <p:spPr>
          <a:xfrm>
            <a:off x="6629400" y="1737360"/>
            <a:ext cx="640080" cy="64008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So Reads Hand Out a Fingerprint and Edits Can Demand It</a:t>
            </a:r>
            <a:endParaRPr lang="en-US" sz="1550" dirty="0"/>
          </a:p>
        </p:txBody>
      </p:sp>
      <p:sp>
        <p:nvSpPr>
          <p:cNvPr id="15" name="Text 11"/>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read_file now ends with twelve hex characters of a SHA-256 over the file's bytes. Pass it to edit_file and a file that has moved on is refused, with the new fingerprint in the message so the model knows to read again.</a:t>
            </a:r>
            <a:endParaRPr lang="en-US" sz="1350" dirty="0"/>
          </a:p>
        </p:txBody>
      </p:sp>
      <p:sp>
        <p:nvSpPr>
          <p:cNvPr id="16" name="Shape 12"/>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7" name="Text 13"/>
          <p:cNvSpPr txBox="1"/>
          <p:nvPr/>
        </p:nvSpPr>
        <p:spPr>
          <a:xfrm>
            <a:off x="877824" y="5193792"/>
            <a:ext cx="10405872" cy="2509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Bytes, not a timestamp — timestamps have one-second granularity and change when nothing did.</a:t>
            </a:r>
            <a:endParaRPr lang="en-US" sz="950" dirty="0"/>
          </a:p>
        </p:txBody>
      </p:sp>
      <p:sp>
        <p:nvSpPr>
          <p:cNvPr id="18" name="Text 14"/>
          <p:cNvSpPr txBox="1"/>
          <p:nvPr/>
        </p:nvSpPr>
        <p:spPr>
          <a:xfrm>
            <a:off x="877824" y="5554472"/>
            <a:ext cx="10405872" cy="2509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Fingerprint f260c10b23b8 - pass this as expectedFingerprint when editing.</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1E2761"/>
                </a:solidFill>
                <a:latin typeface="Cambria" pitchFamily="34" charset="0"/>
                <a:ea typeface="Cambria" pitchFamily="34" charset="-122"/>
                <a:cs typeface="Cambria" pitchFamily="34" charset="-120"/>
              </a:rPr>
              <a:t>Two Intentions, One Sentence Back, and What Is Missing</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2011680"/>
            <a:ext cx="3474720" cy="3200400"/>
          </a:xfrm>
          <a:prstGeom prst="roundRect">
            <a:avLst>
              <a:gd name="adj" fmla="val 2857"/>
            </a:avLst>
          </a:prstGeom>
          <a:solidFill>
            <a:srgbClr val="1E2761"/>
          </a:solidFill>
          <a:ln w="12700">
            <a:solidFill>
              <a:srgbClr val="3FBFB0"/>
            </a:solidFill>
            <a:prstDash val="solid"/>
          </a:ln>
        </p:spPr>
      </p:sp>
      <p:sp>
        <p:nvSpPr>
          <p:cNvPr id="7" name="Shape 5"/>
          <p:cNvSpPr/>
          <p:nvPr/>
        </p:nvSpPr>
        <p:spPr>
          <a:xfrm>
            <a:off x="822960" y="2240280"/>
            <a:ext cx="384048" cy="384048"/>
          </a:xfrm>
          <a:prstGeom prst="ellipse">
            <a:avLst/>
          </a:prstGeom>
          <a:solidFill>
            <a:srgbClr val="3FBFB0"/>
          </a:solidFill>
          <a:ln/>
        </p:spPr>
      </p:sp>
      <p:sp>
        <p:nvSpPr>
          <p:cNvPr id="8" name="Text 6"/>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Creating a file and replacing one are different intentions</a:t>
            </a:r>
            <a:endParaRPr lang="en-US" sz="1200" dirty="0"/>
          </a:p>
        </p:txBody>
      </p:sp>
      <p:sp>
        <p:nvSpPr>
          <p:cNvPr id="10" name="Text 8"/>
          <p:cNvSpPr txBox="1"/>
          <p:nvPr/>
        </p:nvSpPr>
        <p:spPr>
          <a:xfrm>
            <a:off x="137160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write_file refuses an existing path unless overwrite: true is passed explicitly. The common case — write a new file — is safe by default, and destroying an existing one requires saying so.</a:t>
            </a:r>
            <a:endParaRPr lang="en-US" sz="950" dirty="0"/>
          </a:p>
        </p:txBody>
      </p:sp>
      <p:sp>
        <p:nvSpPr>
          <p:cNvPr id="11" name="Shape 9"/>
          <p:cNvSpPr/>
          <p:nvPr/>
        </p:nvSpPr>
        <p:spPr>
          <a:xfrm>
            <a:off x="4343400" y="2011680"/>
            <a:ext cx="3474720" cy="3200400"/>
          </a:xfrm>
          <a:prstGeom prst="roundRect">
            <a:avLst>
              <a:gd name="adj" fmla="val 2857"/>
            </a:avLst>
          </a:prstGeom>
          <a:solidFill>
            <a:srgbClr val="1E2761"/>
          </a:solidFill>
          <a:ln w="12700">
            <a:solidFill>
              <a:srgbClr val="3FBFB0"/>
            </a:solidFill>
            <a:prstDash val="solid"/>
          </a:ln>
        </p:spPr>
      </p:sp>
      <p:sp>
        <p:nvSpPr>
          <p:cNvPr id="12" name="Shape 10"/>
          <p:cNvSpPr/>
          <p:nvPr/>
        </p:nvSpPr>
        <p:spPr>
          <a:xfrm>
            <a:off x="4617720" y="2240280"/>
            <a:ext cx="384048" cy="384048"/>
          </a:xfrm>
          <a:prstGeom prst="ellipse">
            <a:avLst/>
          </a:prstGeom>
          <a:solidFill>
            <a:srgbClr val="3FBFB0"/>
          </a:solidFill>
          <a:ln/>
        </p:spPr>
      </p:sp>
      <p:sp>
        <p:nvSpPr>
          <p:cNvPr id="13" name="Text 11"/>
          <p:cNvSpPr txBox="1"/>
          <p:nvPr/>
        </p:nvSpPr>
        <p:spPr>
          <a:xfrm>
            <a:off x="461772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516636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A refusal must be a sentence the model can act on</a:t>
            </a:r>
            <a:endParaRPr lang="en-US" sz="1200" dirty="0"/>
          </a:p>
        </p:txBody>
      </p:sp>
      <p:sp>
        <p:nvSpPr>
          <p:cNvPr id="15" name="Text 13"/>
          <p:cNvSpPr txBox="1"/>
          <p:nvPr/>
        </p:nvSpPr>
        <p:spPr>
          <a:xfrm>
            <a:off x="516636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"That text appears more than once. Include enough context to make it unique." is a usable instruction. ArgumentException is not. None of these methods contain a try — Module 5a’s DirectToolInvoker turns the throw into text.</a:t>
            </a:r>
            <a:endParaRPr lang="en-US" sz="950" dirty="0"/>
          </a:p>
        </p:txBody>
      </p:sp>
      <p:sp>
        <p:nvSpPr>
          <p:cNvPr id="16" name="Shape 14"/>
          <p:cNvSpPr/>
          <p:nvPr/>
        </p:nvSpPr>
        <p:spPr>
          <a:xfrm>
            <a:off x="8138160" y="2011680"/>
            <a:ext cx="3474720" cy="3200400"/>
          </a:xfrm>
          <a:prstGeom prst="roundRect">
            <a:avLst>
              <a:gd name="adj" fmla="val 2857"/>
            </a:avLst>
          </a:prstGeom>
          <a:solidFill>
            <a:srgbClr val="1E2761"/>
          </a:solidFill>
          <a:ln w="12700">
            <a:solidFill>
              <a:srgbClr val="3FBFB0"/>
            </a:solidFill>
            <a:prstDash val="solid"/>
          </a:ln>
        </p:spPr>
      </p:sp>
      <p:sp>
        <p:nvSpPr>
          <p:cNvPr id="17" name="Shape 15"/>
          <p:cNvSpPr/>
          <p:nvPr/>
        </p:nvSpPr>
        <p:spPr>
          <a:xfrm>
            <a:off x="8412480" y="2240280"/>
            <a:ext cx="384048" cy="384048"/>
          </a:xfrm>
          <a:prstGeom prst="ellipse">
            <a:avLst/>
          </a:prstGeom>
          <a:solidFill>
            <a:srgbClr val="3FBFB0"/>
          </a:solidFill>
          <a:ln/>
        </p:spPr>
      </p:sp>
      <p:sp>
        <p:nvSpPr>
          <p:cNvPr id="18" name="Text 16"/>
          <p:cNvSpPr txBox="1"/>
          <p:nvPr/>
        </p:nvSpPr>
        <p:spPr>
          <a:xfrm>
            <a:off x="8412480" y="22402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8961120" y="2212848"/>
            <a:ext cx="2377440" cy="438912"/>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What this Module deliberately does not do</a:t>
            </a:r>
            <a:endParaRPr lang="en-US" sz="1200" dirty="0"/>
          </a:p>
        </p:txBody>
      </p:sp>
      <p:sp>
        <p:nvSpPr>
          <p:cNvPr id="20" name="Text 18"/>
          <p:cNvSpPr txBox="1"/>
          <p:nvPr/>
        </p:nvSpPr>
        <p:spPr>
          <a:xfrm>
            <a:off x="8961120" y="2724912"/>
            <a:ext cx="2377440" cy="2331720"/>
          </a:xfrm>
          <a:prstGeom prst="rect">
            <a:avLst/>
          </a:prstGeom>
          <a:noFill/>
          <a:ln/>
        </p:spPr>
        <p:txBody>
          <a:bodyPr wrap="square" lIns="0" tIns="0" rIns="0" bIns="0" rtlCol="0" anchor="t"/>
          <a:lstStyle/>
          <a:p>
            <a:pPr indent="0" marL="0">
              <a:lnSpc>
                <a:spcPct val="120000"/>
              </a:lnSpc>
              <a:buNone/>
            </a:pPr>
            <a:r>
              <a:rPr lang="en-US" sz="950" dirty="0">
                <a:solidFill>
                  <a:srgbClr val="CADCFC"/>
                </a:solidFill>
                <a:latin typeface="Calibri" pitchFamily="34" charset="0"/>
                <a:ea typeface="Calibri" pitchFamily="34" charset="-122"/>
                <a:cs typeface="Calibri" pitchFamily="34" charset="-120"/>
              </a:rPr>
              <a:t>Nobody is asked for permission. MiniCode can now change your files because a language model decided to, and Module 15 is where a human finally gets a say. Encoding and line endings are the Exercise.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Three Refusals Are Most of the Method</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src/MiniCode.Workspace/FileSystemService.cs</a:t>
            </a:r>
            <a:endParaRPr lang="en-US" sz="950" dirty="0"/>
          </a:p>
        </p:txBody>
      </p:sp>
      <p:sp>
        <p:nvSpPr>
          <p:cNvPr id="8" name="Text 6"/>
          <p:cNvSpPr txBox="1"/>
          <p:nvPr/>
        </p:nvSpPr>
        <p:spPr>
          <a:xfrm>
            <a:off x="877824" y="19959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int WriteFile(string? path, string? content,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bool overwrite = false)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9" name="Text 7"/>
          <p:cNvSpPr txBox="1"/>
          <p:nvPr/>
        </p:nvSpPr>
        <p:spPr>
          <a:xfrm>
            <a:off x="877824" y="2415032"/>
            <a:ext cx="4690872" cy="10510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string file = workspace.ResolvePath(path);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if (File.Exists(file) &amp;&amp; !overwrite)</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throw new InvalidOperationException(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$"'{path}' already exists. Read it first,"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 " or pass overwrite: true to replace it.");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t>
            </a:r>
            <a:endParaRPr lang="en-US" sz="950" dirty="0"/>
          </a:p>
        </p:txBody>
      </p:sp>
      <p:sp>
        <p:nvSpPr>
          <p:cNvPr id="10" name="Text 8"/>
          <p:cNvSpPr txBox="1"/>
          <p:nvPr/>
        </p:nvSpPr>
        <p:spPr>
          <a:xfrm>
            <a:off x="877824" y="3392932"/>
            <a:ext cx="4690872" cy="9113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 text = content ?? string.Empty;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Directory.CreateDirectory(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Path.GetDirectoryName(file)!);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File.WriteAllText(file, text);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return text.Split('\n').Length;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
        <p:nvSpPr>
          <p:cNvPr id="11" name="Text 9"/>
          <p:cNvSpPr txBox="1"/>
          <p:nvPr/>
        </p:nvSpPr>
        <p:spPr>
          <a:xfrm>
            <a:off x="877824" y="42311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twelve hex characters over the file's bytes</a:t>
            </a:r>
            <a:endParaRPr lang="en-US" sz="950" dirty="0"/>
          </a:p>
        </p:txBody>
      </p:sp>
      <p:sp>
        <p:nvSpPr>
          <p:cNvPr id="12" name="Text 10"/>
          <p:cNvSpPr txBox="1"/>
          <p:nvPr/>
        </p:nvSpPr>
        <p:spPr>
          <a:xfrm>
            <a:off x="877824" y="455371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public string Fingerprint(string? path) =&gt;</a:t>
            </a:r>
            <a:endParaRPr lang="en-US" sz="950" dirty="0"/>
          </a:p>
        </p:txBody>
      </p:sp>
      <p:sp>
        <p:nvSpPr>
          <p:cNvPr id="13" name="Text 11"/>
          <p:cNvSpPr txBox="1"/>
          <p:nvPr/>
        </p:nvSpPr>
        <p:spPr>
          <a:xfrm>
            <a:off x="877824" y="469341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Convert.ToHexString(SHA256.HashData(</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File.ReadAllBytes(workspace.ResolvePath(path))))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[..12].ToLowerInvariant();</a:t>
            </a:r>
            <a:endParaRPr lang="en-US" sz="950" dirty="0"/>
          </a:p>
        </p:txBody>
      </p:sp>
      <p:sp>
        <p:nvSpPr>
          <p:cNvPr id="14" name="Shape 12"/>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5" name="Text 13"/>
          <p:cNvSpPr txBox="1"/>
          <p:nvPr/>
        </p:nvSpPr>
        <p:spPr>
          <a:xfrm>
            <a:off x="6638544" y="16733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EditFile — the three refusals</a:t>
            </a:r>
            <a:endParaRPr lang="en-US" sz="950" dirty="0"/>
          </a:p>
        </p:txBody>
      </p:sp>
      <p:sp>
        <p:nvSpPr>
          <p:cNvPr id="16" name="Text 14"/>
          <p:cNvSpPr txBox="1"/>
          <p:nvPr/>
        </p:nvSpPr>
        <p:spPr>
          <a:xfrm>
            <a:off x="6638544" y="19959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string file = workspace.ResolvePath(path);</a:t>
            </a:r>
            <a:endParaRPr lang="en-US" sz="950" dirty="0"/>
          </a:p>
        </p:txBody>
      </p:sp>
      <p:sp>
        <p:nvSpPr>
          <p:cNvPr id="17" name="Text 15"/>
          <p:cNvSpPr txBox="1"/>
          <p:nvPr/>
        </p:nvSpPr>
        <p:spPr>
          <a:xfrm>
            <a:off x="6638544" y="2135632"/>
            <a:ext cx="4690872" cy="7716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if (expectedFingerprint is not null</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&amp;&amp; Fingerprint(path) != expectedFingerprint)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throw new InvalidOperationException(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$"'{path}' has changed since you read it"</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 $" (now {Fingerprint(path)}). Read it again.");</a:t>
            </a:r>
            <a:endParaRPr lang="en-US" sz="950" dirty="0"/>
          </a:p>
        </p:txBody>
      </p:sp>
      <p:sp>
        <p:nvSpPr>
          <p:cNvPr id="18" name="Text 16"/>
          <p:cNvSpPr txBox="1"/>
          <p:nvPr/>
        </p:nvSpPr>
        <p:spPr>
          <a:xfrm>
            <a:off x="6638544" y="2834132"/>
            <a:ext cx="4690872" cy="6319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string anchor = find ?? string.Empty;</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string text = File.ReadAllText(file);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int first = text.IndexOf(anchor,</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StringComparison.Ordinal);</a:t>
            </a:r>
            <a:endParaRPr lang="en-US" sz="950" dirty="0"/>
          </a:p>
        </p:txBody>
      </p:sp>
      <p:sp>
        <p:nvSpPr>
          <p:cNvPr id="19" name="Text 17"/>
          <p:cNvSpPr txBox="1"/>
          <p:nvPr/>
        </p:nvSpPr>
        <p:spPr>
          <a:xfrm>
            <a:off x="6638544" y="3392932"/>
            <a:ext cx="4690872" cy="11907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if (anchor.Length == 0 || first &lt; 0)</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throw new InvalidOperationException(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$"That text does not appear in '{path}'.");</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if (text.IndexOf(anchor, first + 1,</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StringComparison.Ordinal) &gt;= 0)</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throw new InvalidOperationException(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$"That text appears more than once in"</a:t>
            </a:r>
            <a:endParaRPr lang="en-US" sz="950" dirty="0"/>
          </a:p>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        + $" '{path}'. Include enough context ...");</a:t>
            </a:r>
            <a:endParaRPr lang="en-US" sz="950" dirty="0"/>
          </a:p>
        </p:txBody>
      </p:sp>
      <p:sp>
        <p:nvSpPr>
          <p:cNvPr id="20" name="Text 18"/>
          <p:cNvSpPr txBox="1"/>
          <p:nvPr/>
        </p:nvSpPr>
        <p:spPr>
          <a:xfrm>
            <a:off x="6638544" y="4510532"/>
            <a:ext cx="4690872" cy="4922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File.WriteAllText(file, string.Concat(text[..first],</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replace, text[(first + anchor.Length)..]));</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return text[..first].Count(c =&gt; c == '\n') + 1;</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Eight Details That Keep an Edit Honest</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188720"/>
          </a:xfrm>
          <a:prstGeom prst="roundRect">
            <a:avLst>
              <a:gd name="adj" fmla="val 7692"/>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ResolvePath is the first line of both methods</a:t>
            </a:r>
            <a:endParaRPr lang="en-US" sz="1150" dirty="0"/>
          </a:p>
        </p:txBody>
      </p:sp>
      <p:sp>
        <p:nvSpPr>
          <p:cNvPr id="10" name="Text 8"/>
          <p:cNvSpPr txBox="1"/>
          <p:nvPr/>
        </p:nvSpPr>
        <p:spPr>
          <a:xfrm>
            <a:off x="1371600" y="213055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Writing outside the workspace is not a special case — it is the same sandbox, refusing the same way since Module 4.</a:t>
            </a:r>
            <a:endParaRPr lang="en-US" sz="900" dirty="0"/>
          </a:p>
        </p:txBody>
      </p:sp>
      <p:sp>
        <p:nvSpPr>
          <p:cNvPr id="11" name="Shape 9"/>
          <p:cNvSpPr/>
          <p:nvPr/>
        </p:nvSpPr>
        <p:spPr>
          <a:xfrm>
            <a:off x="6286500" y="1417320"/>
            <a:ext cx="5326380" cy="1188720"/>
          </a:xfrm>
          <a:prstGeom prst="roundRect">
            <a:avLst>
              <a:gd name="adj" fmla="val 7692"/>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The fingerprint check runs before the file is read</a:t>
            </a:r>
            <a:endParaRPr lang="en-US" sz="1150" dirty="0"/>
          </a:p>
        </p:txBody>
      </p:sp>
      <p:sp>
        <p:nvSpPr>
          <p:cNvPr id="15" name="Text 13"/>
          <p:cNvSpPr txBox="1"/>
          <p:nvPr/>
        </p:nvSpPr>
        <p:spPr>
          <a:xfrm>
            <a:off x="7109460" y="213055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So a stale edit costs nothing beyond hashing.</a:t>
            </a:r>
            <a:endParaRPr lang="en-US" sz="900" dirty="0"/>
          </a:p>
        </p:txBody>
      </p:sp>
      <p:sp>
        <p:nvSpPr>
          <p:cNvPr id="16" name="Shape 14"/>
          <p:cNvSpPr/>
          <p:nvPr/>
        </p:nvSpPr>
        <p:spPr>
          <a:xfrm>
            <a:off x="548640" y="2697480"/>
            <a:ext cx="5326380" cy="1188720"/>
          </a:xfrm>
          <a:prstGeom prst="roundRect">
            <a:avLst>
              <a:gd name="adj" fmla="val 7692"/>
            </a:avLst>
          </a:prstGeom>
          <a:solidFill>
            <a:srgbClr val="1E2761"/>
          </a:solidFill>
          <a:ln w="12700">
            <a:solidFill>
              <a:srgbClr val="3FBFB0"/>
            </a:solidFill>
            <a:prstDash val="solid"/>
          </a:ln>
        </p:spPr>
      </p:sp>
      <p:sp>
        <p:nvSpPr>
          <p:cNvPr id="17" name="Shape 15"/>
          <p:cNvSpPr/>
          <p:nvPr/>
        </p:nvSpPr>
        <p:spPr>
          <a:xfrm>
            <a:off x="822960" y="2926080"/>
            <a:ext cx="384048" cy="384048"/>
          </a:xfrm>
          <a:prstGeom prst="ellipse">
            <a:avLst/>
          </a:prstGeom>
          <a:solidFill>
            <a:srgbClr val="3FBFB0"/>
          </a:solidFill>
          <a:ln/>
        </p:spPr>
      </p:sp>
      <p:sp>
        <p:nvSpPr>
          <p:cNvPr id="18" name="Text 16"/>
          <p:cNvSpPr txBox="1"/>
          <p:nvPr/>
        </p:nvSpPr>
        <p:spPr>
          <a:xfrm>
            <a:off x="822960" y="29260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289864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expectedFingerprint is optional, defaulting to null</a:t>
            </a:r>
            <a:endParaRPr lang="en-US" sz="1150" dirty="0"/>
          </a:p>
        </p:txBody>
      </p:sp>
      <p:sp>
        <p:nvSpPr>
          <p:cNvPr id="20" name="Text 18"/>
          <p:cNvSpPr txBox="1"/>
          <p:nvPr/>
        </p:nvSpPr>
        <p:spPr>
          <a:xfrm>
            <a:off x="1371600" y="341071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A guard the model opts into, and read_file tells it to. Mandatory would break write-then-edit.</a:t>
            </a:r>
            <a:endParaRPr lang="en-US" sz="900" dirty="0"/>
          </a:p>
        </p:txBody>
      </p:sp>
      <p:sp>
        <p:nvSpPr>
          <p:cNvPr id="21" name="Shape 19"/>
          <p:cNvSpPr/>
          <p:nvPr/>
        </p:nvSpPr>
        <p:spPr>
          <a:xfrm>
            <a:off x="6286500" y="2697480"/>
            <a:ext cx="5326380" cy="1188720"/>
          </a:xfrm>
          <a:prstGeom prst="roundRect">
            <a:avLst>
              <a:gd name="adj" fmla="val 7692"/>
            </a:avLst>
          </a:prstGeom>
          <a:solidFill>
            <a:srgbClr val="1E2761"/>
          </a:solidFill>
          <a:ln w="12700">
            <a:solidFill>
              <a:srgbClr val="3FBFB0"/>
            </a:solidFill>
            <a:prstDash val="solid"/>
          </a:ln>
        </p:spPr>
      </p:sp>
      <p:sp>
        <p:nvSpPr>
          <p:cNvPr id="22" name="Shape 20"/>
          <p:cNvSpPr/>
          <p:nvPr/>
        </p:nvSpPr>
        <p:spPr>
          <a:xfrm>
            <a:off x="6560820" y="2926080"/>
            <a:ext cx="384048" cy="384048"/>
          </a:xfrm>
          <a:prstGeom prst="ellipse">
            <a:avLst/>
          </a:prstGeom>
          <a:solidFill>
            <a:srgbClr val="3FBFB0"/>
          </a:solidFill>
          <a:ln/>
        </p:spPr>
      </p:sp>
      <p:sp>
        <p:nvSpPr>
          <p:cNvPr id="23" name="Text 21"/>
          <p:cNvSpPr txBox="1"/>
          <p:nvPr/>
        </p:nvSpPr>
        <p:spPr>
          <a:xfrm>
            <a:off x="6560820" y="292608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289864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Twelve hex characters, not sixty-four</a:t>
            </a:r>
            <a:endParaRPr lang="en-US" sz="1150" dirty="0"/>
          </a:p>
        </p:txBody>
      </p:sp>
      <p:sp>
        <p:nvSpPr>
          <p:cNvPr id="25" name="Text 23"/>
          <p:cNvSpPr txBox="1"/>
          <p:nvPr/>
        </p:nvSpPr>
        <p:spPr>
          <a:xfrm>
            <a:off x="7109460" y="341071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The model copies this string and every character costs context. A staleness check, not a security boundary.</a:t>
            </a:r>
            <a:endParaRPr lang="en-US" sz="900" dirty="0"/>
          </a:p>
        </p:txBody>
      </p:sp>
      <p:sp>
        <p:nvSpPr>
          <p:cNvPr id="26" name="Shape 24"/>
          <p:cNvSpPr/>
          <p:nvPr/>
        </p:nvSpPr>
        <p:spPr>
          <a:xfrm>
            <a:off x="548640" y="3977640"/>
            <a:ext cx="5326380" cy="1188720"/>
          </a:xfrm>
          <a:prstGeom prst="roundRect">
            <a:avLst>
              <a:gd name="adj" fmla="val 7692"/>
            </a:avLst>
          </a:prstGeom>
          <a:solidFill>
            <a:srgbClr val="1E2761"/>
          </a:solidFill>
          <a:ln w="12700">
            <a:solidFill>
              <a:srgbClr val="3FBFB0"/>
            </a:solidFill>
            <a:prstDash val="solid"/>
          </a:ln>
        </p:spPr>
      </p:sp>
      <p:sp>
        <p:nvSpPr>
          <p:cNvPr id="27" name="Shape 25"/>
          <p:cNvSpPr/>
          <p:nvPr/>
        </p:nvSpPr>
        <p:spPr>
          <a:xfrm>
            <a:off x="822960" y="4206240"/>
            <a:ext cx="384048" cy="384048"/>
          </a:xfrm>
          <a:prstGeom prst="ellipse">
            <a:avLst/>
          </a:prstGeom>
          <a:solidFill>
            <a:srgbClr val="3FBFB0"/>
          </a:solidFill>
          <a:ln/>
        </p:spPr>
      </p:sp>
      <p:sp>
        <p:nvSpPr>
          <p:cNvPr id="28" name="Text 26"/>
          <p:cNvSpPr txBox="1"/>
          <p:nvPr/>
        </p:nvSpPr>
        <p:spPr>
          <a:xfrm>
            <a:off x="822960" y="420624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417880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Uniqueness uses IndexOf from first + 1</a:t>
            </a:r>
            <a:endParaRPr lang="en-US" sz="1150" dirty="0"/>
          </a:p>
        </p:txBody>
      </p:sp>
      <p:sp>
        <p:nvSpPr>
          <p:cNvPr id="30" name="Text 28"/>
          <p:cNvSpPr txBox="1"/>
          <p:nvPr/>
        </p:nvSpPr>
        <p:spPr>
          <a:xfrm>
            <a:off x="1371600" y="469087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Rather than counting every occurrence. It only matters whether there is a second one.</a:t>
            </a:r>
            <a:endParaRPr lang="en-US" sz="900" dirty="0"/>
          </a:p>
        </p:txBody>
      </p:sp>
      <p:sp>
        <p:nvSpPr>
          <p:cNvPr id="31" name="Shape 29"/>
          <p:cNvSpPr/>
          <p:nvPr/>
        </p:nvSpPr>
        <p:spPr>
          <a:xfrm>
            <a:off x="6286500" y="3977640"/>
            <a:ext cx="5326380" cy="1188720"/>
          </a:xfrm>
          <a:prstGeom prst="roundRect">
            <a:avLst>
              <a:gd name="adj" fmla="val 7692"/>
            </a:avLst>
          </a:prstGeom>
          <a:solidFill>
            <a:srgbClr val="1E2761"/>
          </a:solidFill>
          <a:ln w="12700">
            <a:solidFill>
              <a:srgbClr val="3FBFB0"/>
            </a:solidFill>
            <a:prstDash val="solid"/>
          </a:ln>
        </p:spPr>
      </p:sp>
      <p:sp>
        <p:nvSpPr>
          <p:cNvPr id="32" name="Shape 30"/>
          <p:cNvSpPr/>
          <p:nvPr/>
        </p:nvSpPr>
        <p:spPr>
          <a:xfrm>
            <a:off x="6560820" y="4206240"/>
            <a:ext cx="384048" cy="384048"/>
          </a:xfrm>
          <a:prstGeom prst="ellipse">
            <a:avLst/>
          </a:prstGeom>
          <a:solidFill>
            <a:srgbClr val="3FBFB0"/>
          </a:solidFill>
          <a:ln/>
        </p:spPr>
      </p:sp>
      <p:sp>
        <p:nvSpPr>
          <p:cNvPr id="33" name="Text 31"/>
          <p:cNvSpPr txBox="1"/>
          <p:nvPr/>
        </p:nvSpPr>
        <p:spPr>
          <a:xfrm>
            <a:off x="6560820" y="420624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417880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The replacement is string.Concat on three slices</a:t>
            </a:r>
            <a:endParaRPr lang="en-US" sz="1150" dirty="0"/>
          </a:p>
        </p:txBody>
      </p:sp>
      <p:sp>
        <p:nvSpPr>
          <p:cNvPr id="35" name="Text 33"/>
          <p:cNvSpPr txBox="1"/>
          <p:nvPr/>
        </p:nvSpPr>
        <p:spPr>
          <a:xfrm>
            <a:off x="7109460" y="469087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No regex, no line splitting — so line endings around the anchor survive, because they were never parsed.</a:t>
            </a:r>
            <a:endParaRPr lang="en-US" sz="900" dirty="0"/>
          </a:p>
        </p:txBody>
      </p:sp>
      <p:sp>
        <p:nvSpPr>
          <p:cNvPr id="36" name="Shape 34"/>
          <p:cNvSpPr/>
          <p:nvPr/>
        </p:nvSpPr>
        <p:spPr>
          <a:xfrm>
            <a:off x="548640" y="5257800"/>
            <a:ext cx="5326380" cy="1188720"/>
          </a:xfrm>
          <a:prstGeom prst="roundRect">
            <a:avLst>
              <a:gd name="adj" fmla="val 7692"/>
            </a:avLst>
          </a:prstGeom>
          <a:solidFill>
            <a:srgbClr val="1E2761"/>
          </a:solidFill>
          <a:ln w="12700">
            <a:solidFill>
              <a:srgbClr val="3FBFB0"/>
            </a:solidFill>
            <a:prstDash val="solid"/>
          </a:ln>
        </p:spPr>
      </p:sp>
      <p:sp>
        <p:nvSpPr>
          <p:cNvPr id="37" name="Shape 35"/>
          <p:cNvSpPr/>
          <p:nvPr/>
        </p:nvSpPr>
        <p:spPr>
          <a:xfrm>
            <a:off x="822960" y="5486400"/>
            <a:ext cx="384048" cy="384048"/>
          </a:xfrm>
          <a:prstGeom prst="ellipse">
            <a:avLst/>
          </a:prstGeom>
          <a:solidFill>
            <a:srgbClr val="3FBFB0"/>
          </a:solidFill>
          <a:ln/>
        </p:spPr>
      </p:sp>
      <p:sp>
        <p:nvSpPr>
          <p:cNvPr id="38" name="Text 36"/>
          <p:cNvSpPr txBox="1"/>
          <p:nvPr/>
        </p:nvSpPr>
        <p:spPr>
          <a:xfrm>
            <a:off x="822960" y="548640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7</a:t>
            </a:r>
            <a:endParaRPr lang="en-US" sz="1100" dirty="0"/>
          </a:p>
        </p:txBody>
      </p:sp>
      <p:sp>
        <p:nvSpPr>
          <p:cNvPr id="39" name="Text 37"/>
          <p:cNvSpPr txBox="1"/>
          <p:nvPr/>
        </p:nvSpPr>
        <p:spPr>
          <a:xfrm>
            <a:off x="1371600" y="545896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Directory.CreateDirectory before writing</a:t>
            </a:r>
            <a:endParaRPr lang="en-US" sz="1150" dirty="0"/>
          </a:p>
        </p:txBody>
      </p:sp>
      <p:sp>
        <p:nvSpPr>
          <p:cNvPr id="40" name="Text 38"/>
          <p:cNvSpPr txBox="1"/>
          <p:nvPr/>
        </p:nvSpPr>
        <p:spPr>
          <a:xfrm>
            <a:off x="1371600" y="597103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So write_file can create src/Models/Customer.cs when Models does not exist yet.</a:t>
            </a:r>
            <a:endParaRPr lang="en-US" sz="900" dirty="0"/>
          </a:p>
        </p:txBody>
      </p:sp>
      <p:sp>
        <p:nvSpPr>
          <p:cNvPr id="41" name="Shape 39"/>
          <p:cNvSpPr/>
          <p:nvPr/>
        </p:nvSpPr>
        <p:spPr>
          <a:xfrm>
            <a:off x="6286500" y="5257800"/>
            <a:ext cx="5326380" cy="1188720"/>
          </a:xfrm>
          <a:prstGeom prst="roundRect">
            <a:avLst>
              <a:gd name="adj" fmla="val 7692"/>
            </a:avLst>
          </a:prstGeom>
          <a:solidFill>
            <a:srgbClr val="1E2761"/>
          </a:solidFill>
          <a:ln w="12700">
            <a:solidFill>
              <a:srgbClr val="3FBFB0"/>
            </a:solidFill>
            <a:prstDash val="solid"/>
          </a:ln>
        </p:spPr>
      </p:sp>
      <p:sp>
        <p:nvSpPr>
          <p:cNvPr id="42" name="Shape 40"/>
          <p:cNvSpPr/>
          <p:nvPr/>
        </p:nvSpPr>
        <p:spPr>
          <a:xfrm>
            <a:off x="6560820" y="5486400"/>
            <a:ext cx="384048" cy="384048"/>
          </a:xfrm>
          <a:prstGeom prst="ellipse">
            <a:avLst/>
          </a:prstGeom>
          <a:solidFill>
            <a:srgbClr val="3FBFB0"/>
          </a:solidFill>
          <a:ln/>
        </p:spPr>
      </p:sp>
      <p:sp>
        <p:nvSpPr>
          <p:cNvPr id="43" name="Text 41"/>
          <p:cNvSpPr txBox="1"/>
          <p:nvPr/>
        </p:nvSpPr>
        <p:spPr>
          <a:xfrm>
            <a:off x="6560820" y="548640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8</a:t>
            </a:r>
            <a:endParaRPr lang="en-US" sz="1100" dirty="0"/>
          </a:p>
        </p:txBody>
      </p:sp>
      <p:sp>
        <p:nvSpPr>
          <p:cNvPr id="44" name="Text 42"/>
          <p:cNvSpPr txBox="1"/>
          <p:nvPr/>
        </p:nvSpPr>
        <p:spPr>
          <a:xfrm>
            <a:off x="7109460" y="5458968"/>
            <a:ext cx="4229100" cy="43891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Module 8b’s working state now knows the difference</a:t>
            </a:r>
            <a:endParaRPr lang="en-US" sz="1150" dirty="0"/>
          </a:p>
        </p:txBody>
      </p:sp>
      <p:sp>
        <p:nvSpPr>
          <p:cNvPr id="45" name="Text 43"/>
          <p:cNvSpPr txBox="1"/>
          <p:nvPr/>
        </p:nvSpPr>
        <p:spPr>
          <a:xfrm>
            <a:off x="7109460" y="5971032"/>
            <a:ext cx="4229100" cy="320040"/>
          </a:xfrm>
          <a:prstGeom prst="rect">
            <a:avLst/>
          </a:prstGeom>
          <a:noFill/>
          <a:ln/>
        </p:spPr>
        <p:txBody>
          <a:bodyPr wrap="square" lIns="0" tIns="0" rIns="0" bIns="0" rtlCol="0" anchor="t"/>
          <a:lstStyle/>
          <a:p>
            <a:pPr indent="0" marL="0">
              <a:lnSpc>
                <a:spcPct val="120000"/>
              </a:lnSpc>
              <a:buNone/>
            </a:pPr>
            <a:r>
              <a:rPr lang="en-US" sz="900" dirty="0">
                <a:solidFill>
                  <a:srgbClr val="CADCFC"/>
                </a:solidFill>
                <a:latin typeface="Calibri" pitchFamily="34" charset="0"/>
                <a:ea typeface="Calibri" pitchFamily="34" charset="-122"/>
                <a:cs typeface="Calibri" pitchFamily="34" charset="-120"/>
              </a:rPr>
              <a:t>A write records src/Customer.cs (modified), and that supersedes the read note — otherwise the agent redoes 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Two, Neither With a Reference Implementation</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49240" cy="4297680"/>
          </a:xfrm>
          <a:prstGeom prst="roundRect">
            <a:avLst>
              <a:gd name="adj" fmla="val 2128"/>
            </a:avLst>
          </a:prstGeom>
          <a:solidFill>
            <a:srgbClr val="F4F6FB"/>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One: preserve encoding and line endings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File.WriteAllText writes UTF-8 without a BOM and whatever line endings were in the string. Overwrite a CRLF file with content the model composed using \n and you get a diff touching every line — a catastrophe that looks like a formatting change.</a:t>
            </a:r>
            <a:endParaRPr lang="en-US" sz="1350" dirty="0"/>
          </a:p>
        </p:txBody>
      </p:sp>
      <p:sp>
        <p:nvSpPr>
          <p:cNvPr id="11" name="Shape 8"/>
          <p:cNvSpPr/>
          <p:nvPr/>
        </p:nvSpPr>
        <p:spPr>
          <a:xfrm>
            <a:off x="731520" y="4892040"/>
            <a:ext cx="4983480" cy="594360"/>
          </a:xfrm>
          <a:prstGeom prst="roundRect">
            <a:avLst>
              <a:gd name="adj" fmla="val 9231"/>
            </a:avLst>
          </a:prstGeom>
          <a:solidFill>
            <a:srgbClr val="141B49"/>
          </a:solidFill>
          <a:ln/>
        </p:spPr>
      </p:sp>
      <p:sp>
        <p:nvSpPr>
          <p:cNvPr id="12" name="Text 9"/>
          <p:cNvSpPr txBox="1"/>
          <p:nvPr/>
        </p:nvSpPr>
        <p:spPr>
          <a:xfrm>
            <a:off x="86868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Overwriting a CRLF file with LF content leaves it CRLF; a BOM survives; a new file gets UTF-8 without a BOM and the platform ending.</a:t>
            </a:r>
            <a:endParaRPr lang="en-US" sz="1200" dirty="0"/>
          </a:p>
        </p:txBody>
      </p:sp>
      <p:sp>
        <p:nvSpPr>
          <p:cNvPr id="13" name="Shape 10"/>
          <p:cNvSpPr/>
          <p:nvPr/>
        </p:nvSpPr>
        <p:spPr>
          <a:xfrm>
            <a:off x="6309360" y="1417320"/>
            <a:ext cx="5349240" cy="4297680"/>
          </a:xfrm>
          <a:prstGeom prst="roundRect">
            <a:avLst>
              <a:gd name="adj" fmla="val 2128"/>
            </a:avLst>
          </a:prstGeom>
          <a:solidFill>
            <a:srgbClr val="1E2761"/>
          </a:solidFill>
          <a:ln/>
        </p:spPr>
      </p:sp>
      <p:sp>
        <p:nvSpPr>
          <p:cNvPr id="14" name="Shape 11"/>
          <p:cNvSpPr/>
          <p:nvPr/>
        </p:nvSpPr>
        <p:spPr>
          <a:xfrm>
            <a:off x="6629400" y="1737360"/>
            <a:ext cx="640080" cy="640080"/>
          </a:xfrm>
          <a:prstGeom prst="ellipse">
            <a:avLst/>
          </a:prstGeom>
          <a:solidFill>
            <a:srgbClr val="3FBFB0"/>
          </a:solidFill>
          <a:ln/>
        </p:spPr>
      </p:sp>
      <p:pic>
        <p:nvPicPr>
          <p:cNvPr id="15"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6" name="Text 12"/>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Two: show the modification as a diff</a:t>
            </a:r>
            <a:endParaRPr lang="en-US" sz="1550" dirty="0"/>
          </a:p>
        </p:txBody>
      </p:sp>
      <p:sp>
        <p:nvSpPr>
          <p:cNvPr id="17" name="Text 13"/>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Both tools currently report a line number. Return the changed region with two lines either side, - and + prefixed, so the operator can see what changed without opening the file. Write it over the BCL; do not add a diff package.</a:t>
            </a:r>
            <a:endParaRPr lang="en-US" sz="1350" dirty="0"/>
          </a:p>
        </p:txBody>
      </p:sp>
      <p:sp>
        <p:nvSpPr>
          <p:cNvPr id="18" name="Text 14"/>
          <p:cNvSpPr txBox="1"/>
          <p:nvPr/>
        </p:nvSpPr>
        <p:spPr>
          <a:xfrm>
            <a:off x="662940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An edit in a large file shows only the changed region; an edit at line 1 does not fail trying to show context above it.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One Property Added, Nothing Else Touched</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CADCFC"/>
                </a:solidFill>
                <a:latin typeface="Calibri" pitchFamily="34" charset="0"/>
                <a:ea typeface="Calibri" pitchFamily="34" charset="-122"/>
                <a:cs typeface="Calibri" pitchFamily="34" charset="-120"/>
              </a:rPr>
              <a:t>Real output from this Module’s code, against a temporary repository containing one Customer.cs.</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10 — SAFE FILE EDITING</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548640" y="1874520"/>
            <a:ext cx="5349240" cy="4297680"/>
          </a:xfrm>
          <a:prstGeom prst="roundRect">
            <a:avLst>
              <a:gd name="adj" fmla="val 2128"/>
            </a:avLst>
          </a:prstGeom>
          <a:solidFill>
            <a:srgbClr val="141B49"/>
          </a:solidFill>
          <a:ln w="12700">
            <a:solidFill>
              <a:srgbClr val="3FBFB0"/>
            </a:solidFill>
            <a:prstDash val="solid"/>
          </a:ln>
        </p:spPr>
      </p:sp>
      <p:sp>
        <p:nvSpPr>
          <p:cNvPr id="8" name="Text 6"/>
          <p:cNvSpPr txBox="1"/>
          <p:nvPr/>
        </p:nvSpPr>
        <p:spPr>
          <a:xfrm>
            <a:off x="877824" y="2130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 read now ends with a fingerprint ===</a:t>
            </a:r>
            <a:endParaRPr lang="en-US" sz="950" dirty="0"/>
          </a:p>
        </p:txBody>
      </p:sp>
      <p:sp>
        <p:nvSpPr>
          <p:cNvPr id="9" name="Text 7"/>
          <p:cNvSpPr txBox="1"/>
          <p:nvPr/>
        </p:nvSpPr>
        <p:spPr>
          <a:xfrm>
            <a:off x="877824" y="2478532"/>
            <a:ext cx="4690872" cy="7335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1  namespace Shop;</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3  public sealed class Customer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5      public int Id { get; set;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7      public string Name { get; set; }</a:t>
            </a:r>
            <a:endParaRPr lang="en-US" sz="950" dirty="0"/>
          </a:p>
        </p:txBody>
      </p:sp>
      <p:sp>
        <p:nvSpPr>
          <p:cNvPr id="10" name="Text 8"/>
          <p:cNvSpPr txBox="1"/>
          <p:nvPr/>
        </p:nvSpPr>
        <p:spPr>
          <a:xfrm>
            <a:off x="877824" y="31389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Fingerprint f260c10b23b8 - pass this as</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expectedFingerprint when editing.</a:t>
            </a:r>
            <a:endParaRPr lang="en-US" sz="950" dirty="0"/>
          </a:p>
        </p:txBody>
      </p:sp>
      <p:sp>
        <p:nvSpPr>
          <p:cNvPr id="11" name="Text 9"/>
          <p:cNvSpPr txBox="1"/>
          <p:nvPr/>
        </p:nvSpPr>
        <p:spPr>
          <a:xfrm>
            <a:off x="877824" y="34691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edit, anchored on Name ===</a:t>
            </a:r>
            <a:endParaRPr lang="en-US" sz="950" dirty="0"/>
          </a:p>
        </p:txBody>
      </p:sp>
      <p:sp>
        <p:nvSpPr>
          <p:cNvPr id="12" name="Text 10"/>
          <p:cNvSpPr txBox="1"/>
          <p:nvPr/>
        </p:nvSpPr>
        <p:spPr>
          <a:xfrm>
            <a:off x="877824" y="381711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Edited src/Customer.cs at line 7.</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Fingerprint 265f548e7c18.</a:t>
            </a:r>
            <a:endParaRPr lang="en-US" sz="950" dirty="0"/>
          </a:p>
        </p:txBody>
      </p:sp>
      <p:sp>
        <p:nvSpPr>
          <p:cNvPr id="13" name="Text 11"/>
          <p:cNvSpPr txBox="1"/>
          <p:nvPr/>
        </p:nvSpPr>
        <p:spPr>
          <a:xfrm>
            <a:off x="877824" y="414731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and creating a file is unremarkable ===</a:t>
            </a:r>
            <a:endParaRPr lang="en-US" sz="950" dirty="0"/>
          </a:p>
        </p:txBody>
      </p:sp>
      <p:sp>
        <p:nvSpPr>
          <p:cNvPr id="14" name="Text 12"/>
          <p:cNvSpPr txBox="1"/>
          <p:nvPr/>
        </p:nvSpPr>
        <p:spPr>
          <a:xfrm>
            <a:off x="877824" y="449529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Wrote src/Order.cs (4 lines).</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Fingerprint e4d10c4aa332.</a:t>
            </a:r>
            <a:endParaRPr lang="en-US" sz="950" dirty="0"/>
          </a:p>
        </p:txBody>
      </p:sp>
      <p:sp>
        <p:nvSpPr>
          <p:cNvPr id="15" name="Shape 13"/>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6" name="Text 14"/>
          <p:cNvSpPr txBox="1"/>
          <p:nvPr/>
        </p:nvSpPr>
        <p:spPr>
          <a:xfrm>
            <a:off x="6638544" y="2130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three refusals ===</a:t>
            </a:r>
            <a:endParaRPr lang="en-US" sz="950" dirty="0"/>
          </a:p>
        </p:txBody>
      </p:sp>
      <p:sp>
        <p:nvSpPr>
          <p:cNvPr id="17" name="Text 15"/>
          <p:cNvSpPr txBox="1"/>
          <p:nvPr/>
        </p:nvSpPr>
        <p:spPr>
          <a:xfrm>
            <a:off x="6638544" y="2478532"/>
            <a:ext cx="4690872" cy="1559052"/>
          </a:xfrm>
          <a:prstGeom prst="rect">
            <a:avLst/>
          </a:prstGeom>
          <a:noFill/>
          <a:ln/>
        </p:spPr>
        <p:txBody>
          <a:bodyPr wrap="square" lIns="0" tIns="0" rIns="0" bIns="0" rtlCol="0" anchor="t"/>
          <a:lstStyle/>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edit_file failed: 'src/Customer.cs' has</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changed since you read it (now</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265f548e7c18). Read it again.</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edit_file failed: That text appears more</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than once in 'src/Customer.cs'. Include</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enough context to make it unique.</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write_file failed: 'src/Customer.cs'</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already exists. Read it first, or pass</a:t>
            </a:r>
            <a:endParaRPr lang="en-US" sz="900" dirty="0"/>
          </a:p>
          <a:p>
            <a:pPr indent="0" marL="0">
              <a:lnSpc>
                <a:spcPts val="1300"/>
              </a:lnSpc>
              <a:buNone/>
            </a:pPr>
            <a:r>
              <a:rPr lang="en-US" sz="900" dirty="0">
                <a:solidFill>
                  <a:srgbClr val="F87171"/>
                </a:solidFill>
                <a:latin typeface="Courier New" pitchFamily="34" charset="0"/>
                <a:ea typeface="Courier New" pitchFamily="34" charset="-122"/>
                <a:cs typeface="Courier New" pitchFamily="34" charset="-120"/>
              </a:rPr>
              <a:t>overwrite: true to replace it.</a:t>
            </a:r>
            <a:endParaRPr lang="en-US" sz="900" dirty="0"/>
          </a:p>
        </p:txBody>
      </p:sp>
      <p:sp>
        <p:nvSpPr>
          <p:cNvPr id="18" name="Text 16"/>
          <p:cNvSpPr txBox="1"/>
          <p:nvPr/>
        </p:nvSpPr>
        <p:spPr>
          <a:xfrm>
            <a:off x="6638544" y="39644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 file afterwards ===</a:t>
            </a:r>
            <a:endParaRPr lang="en-US" sz="950" dirty="0"/>
          </a:p>
        </p:txBody>
      </p:sp>
      <p:sp>
        <p:nvSpPr>
          <p:cNvPr id="19" name="Text 17"/>
          <p:cNvSpPr txBox="1"/>
          <p:nvPr/>
        </p:nvSpPr>
        <p:spPr>
          <a:xfrm>
            <a:off x="6638544" y="431241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public string Name { get; set; }</a:t>
            </a:r>
            <a:endParaRPr lang="en-US" sz="950" dirty="0"/>
          </a:p>
          <a:p>
            <a:pPr indent="0" marL="0">
              <a:lnSpc>
                <a:spcPts val="1300"/>
              </a:lnSpc>
              <a:buNone/>
            </a:pPr>
            <a:endParaRPr lang="en-US" sz="950" dirty="0"/>
          </a:p>
        </p:txBody>
      </p:sp>
      <p:sp>
        <p:nvSpPr>
          <p:cNvPr id="20" name="Text 18"/>
          <p:cNvSpPr txBox="1"/>
          <p:nvPr/>
        </p:nvSpPr>
        <p:spPr>
          <a:xfrm>
            <a:off x="6638544" y="46426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    public string EmailAddress { get; set; }</a:t>
            </a:r>
            <a:endParaRPr lang="en-US" sz="950" dirty="0"/>
          </a:p>
        </p:txBody>
      </p:sp>
      <p:sp>
        <p:nvSpPr>
          <p:cNvPr id="21" name="Text 19"/>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first refusal is the important one: that fingerprint was valid a moment earlier, and the edit that used it changed the file.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2026-09-10T20:09:21Z</dcterms:created>
  <dcterms:modified xsi:type="dcterms:W3CDTF">2026-09-10T20:09:21Z</dcterms:modified>
</cp:coreProperties>
</file>