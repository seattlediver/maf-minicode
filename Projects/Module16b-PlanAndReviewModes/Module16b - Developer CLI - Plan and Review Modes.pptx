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16a gave MiniCode a dispatcher and wired the mechanical commands straight to existing tools. This Module adds the two commands that need real new logic: /plan, which shows a plan without ever starting the loop that follows one, and /review, a second no-tools model call, built exactly like Module 9's Planner, that reads a Git diff for the five things the syllabus names. We start from the Module 16a folder, and build on Module 9's Planner and TaskPlan, Module 14's git_diff, and Module 16a's dispatcher and SlashCommand parsing. /plan and /review are two more case arms, not a second mechanism. Nothing to install, and no new package. This is the fourth Module of Phase 4, and it ships as part of the Phase 4 Capstone, Developer CLI, version 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reuses PlanAsync for what it already was: a read-only preview. Every chat turn has planned before acting since Module 9; /plan is the same call, invoked on its own, with nothing after it. No loop runs, so there is nothing to warn about. /plan's output has no 'no files modified' notice, because that notice exists to describe a run that, here, never happens. plan.Render() is Module 9's method, unchanged; /plan's only new behaviour is calling PlanAsync without also calling RunStreamingAsync afterward. /plan's handler is the only case that validates its argument first. Every other command either needs none or tolerates a missing one, as /commit falls back to a default message; a plan with no request to plan for is simply an error, so it prints 'Usage: /plan &lt;request&gt;' and returns without calling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is Planner's shape, aimed at a different question. Reviewer makes one model call with Tools = null and ToolMode None. It cannot read a file, run a command or edit anything, structurally: the same guarantee Planner has had since Module 9. Where Planner turns a request into steps, Reviewer turns a diff into a report. CodingAgent's constructor gains a Reviewer, stored alongside the planner, and CodingAgentFactory builds it as new Reviewer(chatClient): the same chatClient Planner already uses, with no second connection. Reviewer takes only an IChatClient, not conventions like Planner does. A repository's own style rules shape what a plan should do; they have no obvious bearing on whether a diff is correct, which is why this Module does not thread AGENTS.md through review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Reviewer's prompt tells the model it is reviewing a Git diff, not a whole repository. It reads only the diff, and reports briefly on the five things the syllabus names: correctness problems, regressions, security issues, changes that look unnecessary, and tests that appear to be missing. If the diff raises none of these, it says so plainly instead of inventing a concern.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Review's input is fetched, not typed. The syllabus's own example is bare, '&gt; /review' with no argument, because there is only one diff to review: whatever git_diff currently returns. CodingAgent.ReviewAsync calls InvokeToolAsync internally, the same method /diff calls from the dispatcher, so there is exactly one path to git_diff's result; /review does not re-implement fetching a diff. Then it hands the result to Reviewer. An empty diff never reaches the model. Reviewer.ReviewAsync checks for one before building a single ChatMessage, and answers 'Nothing to review — there are no unstaged changes.' The guard is an if, not a special case inside the prompt. Asking the model to say 'nothing to review' when handed nothing would still cost a call; checking first costs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modes now charge the budget honestly. ReviewAsync estimates the diff and the report with TokenEstimator, the same way PlanAsync already estimates the request and the rendered plan, and adds both to the session's used tokens. A second no-tools call is still a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only ever reviews git_diff, the unstaged changes. Add a second form, /review staged, that reviews git diff --cached instead. This needs a new method on IGitClient, in src/MiniCode.Infrastructure/IGitClient.cs and GitClient.cs, alongside the existing DiffAsync; a matching git_diff_staged tool in GitTools and ToolCatalog; and a check on command.Argument in the review case. Acceptance criteria: /review with no argument behaves exactly as it does today; /review staged reviews staged changes instead; an argument that is neither empty nor 'staged' is reported as a usage error rather than silently falling back to one or the other. No reference implementation ships in a later Module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real, deterministic output from the Module's own code. /review against a clean repository: the empty-diff guard fires, proven by handing Reviewer a client that throws if it is ever called. /plan add caching to CustomerService: the exact rendering /plan prints, with no notice after it. That plan was built directly rather than through a live model, since TaskPlan.Render is plain code with nothing to approximate. A /review against a repository with real changes needs a live OPENAI_API_KEY, since the report itself is the model's judgment, not this lesson's code. What reaches the model is exactly ReviewAsync: git_diff's real output, captured for real against a temporary repository in Module 14's own lesson, becomes the one user message Reviewer sends, answered against the five concerns in its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this goes. /plan and /review are genuine model calls that bypass RunStreamingAsync, and Module 17 only instrumented the streaming loop. The Phase 4 Capstone gives them their own [Agent] trace lines, so a /review reads end to end in the trace. /review reads git_diff, and in Module 19 the capstone task's step 14 inspects git diff; /diff, /review and /commit all go through GitClient, so they need a real Git repository. And /plan only previews a plan: nothing in the solution drives it step by step. The Phase 4 Capstone makes that Exercise Two rather than a promise, and Module 19 still lists driving the plan as the most valuable thing left in the solution. This ships in the Phase 4 Capstone, Developer CLI, version 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MODULE 16B  ·  PHASE 4</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Plan and Review Modes</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Developer CLI</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900" dirty="0">
                <a:solidFill>
                  <a:srgbClr val="FFFFFF"/>
                </a:solidFill>
                <a:latin typeface="Courier New" pitchFamily="34" charset="0"/>
                <a:ea typeface="Courier New" pitchFamily="34" charset="-122"/>
                <a:cs typeface="Courier New" pitchFamily="34" charset="-120"/>
              </a:rPr>
              <a:t>Module16a-DispatchAndInformationalCommands/</a:t>
            </a:r>
            <a:endParaRPr lang="en-US" sz="9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Module16b-PlanAndReviewModes/</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/plan: Module 9's plan, shown on its own with nothing after it</a:t>
            </a:r>
            <a:endParaRPr lang="en-US" sz="1300" dirty="0"/>
          </a:p>
        </p:txBody>
      </p:sp>
      <p:sp>
        <p:nvSpPr>
          <p:cNvPr id="14" name="Shape 11"/>
          <p:cNvSpPr/>
          <p:nvPr/>
        </p:nvSpPr>
        <p:spPr>
          <a:xfrm>
            <a:off x="5257800" y="205282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2133661"/>
            <a:ext cx="149230" cy="149230"/>
          </a:xfrm>
          <a:prstGeom prst="rect">
            <a:avLst/>
          </a:prstGeom>
        </p:spPr>
      </p:pic>
      <p:sp>
        <p:nvSpPr>
          <p:cNvPr id="16" name="Text 12"/>
          <p:cNvSpPr txBox="1"/>
          <p:nvPr/>
        </p:nvSpPr>
        <p:spPr>
          <a:xfrm>
            <a:off x="5715000" y="20345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/review: a second no-tools model call, built like Planner</a:t>
            </a:r>
            <a:endParaRPr lang="en-US" sz="1300" dirty="0"/>
          </a:p>
        </p:txBody>
      </p:sp>
      <p:sp>
        <p:nvSpPr>
          <p:cNvPr id="17" name="Shape 13"/>
          <p:cNvSpPr/>
          <p:nvPr/>
        </p:nvSpPr>
        <p:spPr>
          <a:xfrm>
            <a:off x="5257800" y="285292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933761"/>
            <a:ext cx="149230" cy="149230"/>
          </a:xfrm>
          <a:prstGeom prst="rect">
            <a:avLst/>
          </a:prstGeom>
        </p:spPr>
      </p:pic>
      <p:sp>
        <p:nvSpPr>
          <p:cNvPr id="19" name="Text 14"/>
          <p:cNvSpPr txBox="1"/>
          <p:nvPr/>
        </p:nvSpPr>
        <p:spPr>
          <a:xfrm>
            <a:off x="5715000" y="28346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Fetching the review's input instead of typing it</a:t>
            </a:r>
            <a:endParaRPr lang="en-US" sz="1300" dirty="0"/>
          </a:p>
        </p:txBody>
      </p:sp>
      <p:sp>
        <p:nvSpPr>
          <p:cNvPr id="20" name="Shape 15"/>
          <p:cNvSpPr/>
          <p:nvPr/>
        </p:nvSpPr>
        <p:spPr>
          <a:xfrm>
            <a:off x="5257800" y="365302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733861"/>
            <a:ext cx="149230" cy="149230"/>
          </a:xfrm>
          <a:prstGeom prst="rect">
            <a:avLst/>
          </a:prstGeom>
        </p:spPr>
      </p:pic>
      <p:sp>
        <p:nvSpPr>
          <p:cNvPr id="22" name="Text 16"/>
          <p:cNvSpPr txBox="1"/>
          <p:nvPr/>
        </p:nvSpPr>
        <p:spPr>
          <a:xfrm>
            <a:off x="5715000" y="3634740"/>
            <a:ext cx="2743200" cy="7543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Answering an empty diff in code, not with a model call</a:t>
            </a:r>
            <a:endParaRPr lang="en-US" sz="1300" dirty="0"/>
          </a:p>
        </p:txBody>
      </p:sp>
      <p:sp>
        <p:nvSpPr>
          <p:cNvPr id="23" name="Text 1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16b — Plan and Review Modes</a:t>
            </a:r>
            <a:endParaRPr lang="en-US" sz="900" dirty="0"/>
          </a:p>
        </p:txBody>
      </p:sp>
      <p:sp>
        <p:nvSpPr>
          <p:cNvPr id="24" name="Text 1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50" b="1" dirty="0">
                <a:solidFill>
                  <a:srgbClr val="1F2937"/>
                </a:solidFill>
                <a:latin typeface="Cambria" pitchFamily="34" charset="0"/>
                <a:ea typeface="Cambria" pitchFamily="34" charset="-122"/>
                <a:cs typeface="Cambria" pitchFamily="34" charset="-120"/>
              </a:rPr>
              <a:t>/plan is the same call, with nothing after it</a:t>
            </a:r>
            <a:endParaRPr lang="en-US" sz="2750" dirty="0"/>
          </a:p>
        </p:txBody>
      </p:sp>
      <p:sp>
        <p:nvSpPr>
          <p:cNvPr id="4" name="Shape 2"/>
          <p:cNvSpPr/>
          <p:nvPr/>
        </p:nvSpPr>
        <p:spPr>
          <a:xfrm>
            <a:off x="457200" y="1371600"/>
            <a:ext cx="3931920" cy="1828800"/>
          </a:xfrm>
          <a:prstGeom prst="roundRect">
            <a:avLst>
              <a:gd name="adj" fmla="val 400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 chat turn, since Module 9</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PlanAsync builds the plan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Then the loop runs and acts on it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So the plan carries a notice</a:t>
            </a:r>
            <a:endParaRPr lang="en-US" sz="1300" dirty="0"/>
          </a:p>
        </p:txBody>
      </p:sp>
      <p:sp>
        <p:nvSpPr>
          <p:cNvPr id="9" name="Shape 6"/>
          <p:cNvSpPr/>
          <p:nvPr/>
        </p:nvSpPr>
        <p:spPr>
          <a:xfrm>
            <a:off x="4754880" y="1371600"/>
            <a:ext cx="3931920" cy="1828800"/>
          </a:xfrm>
          <a:prstGeom prst="roundRect">
            <a:avLst>
              <a:gd name="adj" fmla="val 400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/plan &lt;request&gt;</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PlanAsync, and nothing after it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Module 9's Render, unchanged</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 run follows, so no notice</a:t>
            </a:r>
            <a:endParaRPr lang="en-US" sz="1300" dirty="0"/>
          </a:p>
        </p:txBody>
      </p:sp>
      <p:sp>
        <p:nvSpPr>
          <p:cNvPr id="14" name="Text 10"/>
          <p:cNvSpPr txBox="1"/>
          <p:nvPr/>
        </p:nvSpPr>
        <p:spPr>
          <a:xfrm>
            <a:off x="457200" y="34747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only command that validates its argument: no request, no plan.</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16b — Plan and Review Modes</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150" b="1" dirty="0">
                <a:solidFill>
                  <a:srgbClr val="1F2937"/>
                </a:solidFill>
                <a:latin typeface="Cambria" pitchFamily="34" charset="0"/>
                <a:ea typeface="Cambria" pitchFamily="34" charset="-122"/>
                <a:cs typeface="Cambria" pitchFamily="34" charset="-120"/>
              </a:rPr>
              <a:t>/review is Planner's shape, aimed at a different question</a:t>
            </a:r>
            <a:endParaRPr lang="en-US" sz="215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Reviewer</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One model call with Tools = null. It cannot read a file, run a command or edit anything.</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Planner</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Module 9: a request becomes steps</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Reviewer</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 diff becomes a report</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One client</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The same chatClient, no second connection</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Review takes no conventions: style rules say nothing about whether a diff is correct.</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16b — Plan and Review Modes</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five things a review reports</a:t>
            </a:r>
            <a:endParaRPr lang="en-US" sz="2800" dirty="0"/>
          </a:p>
        </p:txBody>
      </p:sp>
      <p:sp>
        <p:nvSpPr>
          <p:cNvPr id="4" name="Shape 2"/>
          <p:cNvSpPr/>
          <p:nvPr/>
        </p:nvSpPr>
        <p:spPr>
          <a:xfrm>
            <a:off x="457200" y="1371600"/>
            <a:ext cx="256032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Correctness</a:t>
            </a:r>
            <a:endParaRPr lang="en-US" sz="1500" dirty="0"/>
          </a:p>
        </p:txBody>
      </p:sp>
      <p:sp>
        <p:nvSpPr>
          <p:cNvPr id="8" name="Text 5"/>
          <p:cNvSpPr txBox="1"/>
          <p:nvPr/>
        </p:nvSpPr>
        <p:spPr>
          <a:xfrm>
            <a:off x="640080" y="205740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Problems in what the diff changes</a:t>
            </a:r>
            <a:endParaRPr lang="en-US" sz="1200" dirty="0"/>
          </a:p>
        </p:txBody>
      </p:sp>
      <p:sp>
        <p:nvSpPr>
          <p:cNvPr id="9" name="Shape 6"/>
          <p:cNvSpPr/>
          <p:nvPr/>
        </p:nvSpPr>
        <p:spPr>
          <a:xfrm>
            <a:off x="3291840" y="1371600"/>
            <a:ext cx="256032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Regressions</a:t>
            </a:r>
            <a:endParaRPr lang="en-US" sz="1500" dirty="0"/>
          </a:p>
        </p:txBody>
      </p:sp>
      <p:sp>
        <p:nvSpPr>
          <p:cNvPr id="13" name="Text 9"/>
          <p:cNvSpPr txBox="1"/>
          <p:nvPr/>
        </p:nvSpPr>
        <p:spPr>
          <a:xfrm>
            <a:off x="3474720" y="205740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What the change may have broken</a:t>
            </a:r>
            <a:endParaRPr lang="en-US" sz="1200" dirty="0"/>
          </a:p>
        </p:txBody>
      </p:sp>
      <p:sp>
        <p:nvSpPr>
          <p:cNvPr id="14" name="Shape 10"/>
          <p:cNvSpPr/>
          <p:nvPr/>
        </p:nvSpPr>
        <p:spPr>
          <a:xfrm>
            <a:off x="6126480" y="1371600"/>
            <a:ext cx="256032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30936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Security</a:t>
            </a:r>
            <a:endParaRPr lang="en-US" sz="1500" dirty="0"/>
          </a:p>
        </p:txBody>
      </p:sp>
      <p:sp>
        <p:nvSpPr>
          <p:cNvPr id="18" name="Text 13"/>
          <p:cNvSpPr txBox="1"/>
          <p:nvPr/>
        </p:nvSpPr>
        <p:spPr>
          <a:xfrm>
            <a:off x="6309360" y="205740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Issues the change introduces</a:t>
            </a:r>
            <a:endParaRPr lang="en-US" sz="1200" dirty="0"/>
          </a:p>
        </p:txBody>
      </p:sp>
      <p:sp>
        <p:nvSpPr>
          <p:cNvPr id="19" name="Shape 14"/>
          <p:cNvSpPr/>
          <p:nvPr/>
        </p:nvSpPr>
        <p:spPr>
          <a:xfrm>
            <a:off x="457200" y="2994660"/>
            <a:ext cx="256032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64008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739932" y="3277392"/>
            <a:ext cx="184343" cy="184343"/>
          </a:xfrm>
          <a:prstGeom prst="rect">
            <a:avLst/>
          </a:prstGeom>
        </p:spPr>
      </p:pic>
      <p:sp>
        <p:nvSpPr>
          <p:cNvPr id="22" name="Text 16"/>
          <p:cNvSpPr txBox="1"/>
          <p:nvPr/>
        </p:nvSpPr>
        <p:spPr>
          <a:xfrm>
            <a:off x="1143000" y="317754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Unnecessary</a:t>
            </a:r>
            <a:endParaRPr lang="en-US" sz="1500" dirty="0"/>
          </a:p>
        </p:txBody>
      </p:sp>
      <p:sp>
        <p:nvSpPr>
          <p:cNvPr id="23" name="Text 17"/>
          <p:cNvSpPr txBox="1"/>
          <p:nvPr/>
        </p:nvSpPr>
        <p:spPr>
          <a:xfrm>
            <a:off x="640080" y="368046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Changes that look unneeded</a:t>
            </a:r>
            <a:endParaRPr lang="en-US" sz="1200" dirty="0"/>
          </a:p>
        </p:txBody>
      </p:sp>
      <p:sp>
        <p:nvSpPr>
          <p:cNvPr id="24" name="Shape 18"/>
          <p:cNvSpPr/>
          <p:nvPr/>
        </p:nvSpPr>
        <p:spPr>
          <a:xfrm>
            <a:off x="3291840" y="2994660"/>
            <a:ext cx="2560320" cy="1394460"/>
          </a:xfrm>
          <a:prstGeom prst="roundRect">
            <a:avLst>
              <a:gd name="adj" fmla="val 5246"/>
            </a:avLst>
          </a:prstGeom>
          <a:solidFill>
            <a:srgbClr val="EFEBFC"/>
          </a:solidFill>
          <a:ln w="12700">
            <a:solidFill>
              <a:srgbClr val="EFEBFC"/>
            </a:solidFill>
            <a:prstDash val="solid"/>
          </a:ln>
        </p:spPr>
      </p:sp>
      <p:sp>
        <p:nvSpPr>
          <p:cNvPr id="25" name="Shape 19"/>
          <p:cNvSpPr/>
          <p:nvPr/>
        </p:nvSpPr>
        <p:spPr>
          <a:xfrm>
            <a:off x="3474720" y="3177540"/>
            <a:ext cx="384048" cy="384048"/>
          </a:xfrm>
          <a:prstGeom prst="ellipse">
            <a:avLst/>
          </a:prstGeom>
          <a:solidFill>
            <a:srgbClr val="512BD4"/>
          </a:solidFill>
          <a:ln w="12700">
            <a:solidFill>
              <a:srgbClr val="512BD4"/>
            </a:solidFill>
            <a:prstDash val="solid"/>
          </a:ln>
        </p:spPr>
      </p:sp>
      <p:pic>
        <p:nvPicPr>
          <p:cNvPr id="26" name="Image 4" descr="preencoded.png">    </p:cNvPr>
          <p:cNvPicPr>
            <a:picLocks noChangeAspect="1"/>
          </p:cNvPicPr>
          <p:nvPr/>
        </p:nvPicPr>
        <p:blipFill>
          <a:blip r:embed="rId5"/>
          <a:stretch>
            <a:fillRect/>
          </a:stretch>
        </p:blipFill>
        <p:spPr>
          <a:xfrm>
            <a:off x="3574572" y="3277392"/>
            <a:ext cx="184343" cy="184343"/>
          </a:xfrm>
          <a:prstGeom prst="rect">
            <a:avLst/>
          </a:prstGeom>
        </p:spPr>
      </p:pic>
      <p:sp>
        <p:nvSpPr>
          <p:cNvPr id="27" name="Text 20"/>
          <p:cNvSpPr txBox="1"/>
          <p:nvPr/>
        </p:nvSpPr>
        <p:spPr>
          <a:xfrm>
            <a:off x="3977640" y="3177540"/>
            <a:ext cx="173736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Missing tests</a:t>
            </a:r>
            <a:endParaRPr lang="en-US" sz="1500" dirty="0"/>
          </a:p>
        </p:txBody>
      </p:sp>
      <p:sp>
        <p:nvSpPr>
          <p:cNvPr id="28" name="Text 21"/>
          <p:cNvSpPr txBox="1"/>
          <p:nvPr/>
        </p:nvSpPr>
        <p:spPr>
          <a:xfrm>
            <a:off x="3474720" y="3680460"/>
            <a:ext cx="219456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Tests that appear to be absent</a:t>
            </a:r>
            <a:endParaRPr lang="en-US" sz="1200" dirty="0"/>
          </a:p>
        </p:txBody>
      </p:sp>
      <p:sp>
        <p:nvSpPr>
          <p:cNvPr id="29" name="Shape 22"/>
          <p:cNvSpPr/>
          <p:nvPr/>
        </p:nvSpPr>
        <p:spPr>
          <a:xfrm>
            <a:off x="6126480" y="2994660"/>
            <a:ext cx="2560320" cy="1394460"/>
          </a:xfrm>
          <a:prstGeom prst="roundRect">
            <a:avLst>
              <a:gd name="adj" fmla="val 5246"/>
            </a:avLst>
          </a:prstGeom>
          <a:solidFill>
            <a:srgbClr val="512BD4"/>
          </a:solidFill>
          <a:ln w="12700">
            <a:solidFill>
              <a:srgbClr val="512BD4"/>
            </a:solidFill>
            <a:prstDash val="solid"/>
          </a:ln>
        </p:spPr>
      </p:sp>
      <p:sp>
        <p:nvSpPr>
          <p:cNvPr id="30" name="Shape 23"/>
          <p:cNvSpPr/>
          <p:nvPr/>
        </p:nvSpPr>
        <p:spPr>
          <a:xfrm>
            <a:off x="6309360" y="3177540"/>
            <a:ext cx="384048" cy="384048"/>
          </a:xfrm>
          <a:prstGeom prst="ellipse">
            <a:avLst/>
          </a:prstGeom>
          <a:solidFill>
            <a:srgbClr val="FFFFFF"/>
          </a:solidFill>
          <a:ln w="12700">
            <a:solidFill>
              <a:srgbClr val="FFFFFF"/>
            </a:solidFill>
            <a:prstDash val="solid"/>
          </a:ln>
        </p:spPr>
      </p:sp>
      <p:pic>
        <p:nvPicPr>
          <p:cNvPr id="31" name="Image 5" descr="preencoded.png">    </p:cNvPr>
          <p:cNvPicPr>
            <a:picLocks noChangeAspect="1"/>
          </p:cNvPicPr>
          <p:nvPr/>
        </p:nvPicPr>
        <p:blipFill>
          <a:blip r:embed="rId6"/>
          <a:stretch>
            <a:fillRect/>
          </a:stretch>
        </p:blipFill>
        <p:spPr>
          <a:xfrm>
            <a:off x="6409212" y="3277392"/>
            <a:ext cx="184343" cy="184343"/>
          </a:xfrm>
          <a:prstGeom prst="rect">
            <a:avLst/>
          </a:prstGeom>
        </p:spPr>
      </p:pic>
      <p:sp>
        <p:nvSpPr>
          <p:cNvPr id="32" name="Text 24"/>
          <p:cNvSpPr txBox="1"/>
          <p:nvPr/>
        </p:nvSpPr>
        <p:spPr>
          <a:xfrm>
            <a:off x="6812280" y="3177540"/>
            <a:ext cx="1737360" cy="38404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Calibri" pitchFamily="34" charset="0"/>
                <a:ea typeface="Calibri" pitchFamily="34" charset="-122"/>
                <a:cs typeface="Calibri" pitchFamily="34" charset="-120"/>
              </a:rPr>
              <a:t>None of these</a:t>
            </a:r>
            <a:endParaRPr lang="en-US" sz="1500" dirty="0"/>
          </a:p>
        </p:txBody>
      </p:sp>
      <p:sp>
        <p:nvSpPr>
          <p:cNvPr id="33" name="Text 25"/>
          <p:cNvSpPr txBox="1"/>
          <p:nvPr/>
        </p:nvSpPr>
        <p:spPr>
          <a:xfrm>
            <a:off x="6309360" y="3680460"/>
            <a:ext cx="2194560" cy="6172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Say so plainly. Never invent a concern.</a:t>
            </a:r>
            <a:endParaRPr lang="en-US" sz="1200" dirty="0"/>
          </a:p>
        </p:txBody>
      </p:sp>
      <p:sp>
        <p:nvSpPr>
          <p:cNvPr id="34" name="Text 26"/>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16b — Plan and Review Modes</a:t>
            </a:r>
            <a:endParaRPr lang="en-US" sz="900" dirty="0"/>
          </a:p>
        </p:txBody>
      </p:sp>
      <p:sp>
        <p:nvSpPr>
          <p:cNvPr id="35" name="Text 27"/>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Review's input is fetched, not typed</a:t>
            </a:r>
            <a:endParaRPr lang="en-US" sz="2800" dirty="0"/>
          </a:p>
        </p:txBody>
      </p:sp>
      <p:sp>
        <p:nvSpPr>
          <p:cNvPr id="4" name="Shape 2"/>
          <p:cNvSpPr/>
          <p:nvPr/>
        </p:nvSpPr>
        <p:spPr>
          <a:xfrm>
            <a:off x="457200" y="1417320"/>
            <a:ext cx="1796796" cy="19933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/review</a:t>
            </a:r>
            <a:endParaRPr lang="en-US" sz="1500" dirty="0"/>
          </a:p>
        </p:txBody>
      </p:sp>
      <p:sp>
        <p:nvSpPr>
          <p:cNvPr id="8" name="Text 5"/>
          <p:cNvSpPr txBox="1"/>
          <p:nvPr/>
        </p:nvSpPr>
        <p:spPr>
          <a:xfrm>
            <a:off x="640080"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No argument. There is only one diff to review.</a:t>
            </a:r>
            <a:endParaRPr lang="en-US" sz="1200" dirty="0"/>
          </a:p>
        </p:txBody>
      </p:sp>
      <p:sp>
        <p:nvSpPr>
          <p:cNvPr id="9" name="Shape 6"/>
          <p:cNvSpPr/>
          <p:nvPr/>
        </p:nvSpPr>
        <p:spPr>
          <a:xfrm>
            <a:off x="2318004"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19933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InvokeToolAsync</a:t>
            </a:r>
            <a:endParaRPr lang="en-US" sz="1300" dirty="0"/>
          </a:p>
        </p:txBody>
      </p:sp>
      <p:sp>
        <p:nvSpPr>
          <p:cNvPr id="14" name="Text 10"/>
          <p:cNvSpPr txBox="1"/>
          <p:nvPr/>
        </p:nvSpPr>
        <p:spPr>
          <a:xfrm>
            <a:off x="2784348"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git_diff, the same path /diff takes</a:t>
            </a:r>
            <a:endParaRPr lang="en-US" sz="1200" dirty="0"/>
          </a:p>
        </p:txBody>
      </p:sp>
      <p:sp>
        <p:nvSpPr>
          <p:cNvPr id="15" name="Shape 11"/>
          <p:cNvSpPr/>
          <p:nvPr/>
        </p:nvSpPr>
        <p:spPr>
          <a:xfrm>
            <a:off x="4462272"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1993392"/>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Empty diff?</a:t>
            </a:r>
            <a:endParaRPr lang="en-US" sz="1500" dirty="0"/>
          </a:p>
        </p:txBody>
      </p:sp>
      <p:sp>
        <p:nvSpPr>
          <p:cNvPr id="20" name="Text 15"/>
          <p:cNvSpPr txBox="1"/>
          <p:nvPr/>
        </p:nvSpPr>
        <p:spPr>
          <a:xfrm>
            <a:off x="4928616"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Answered in code. No model call.</a:t>
            </a:r>
            <a:endParaRPr lang="en-US" sz="1200" dirty="0"/>
          </a:p>
        </p:txBody>
      </p:sp>
      <p:sp>
        <p:nvSpPr>
          <p:cNvPr id="21" name="Shape 16"/>
          <p:cNvSpPr/>
          <p:nvPr/>
        </p:nvSpPr>
        <p:spPr>
          <a:xfrm>
            <a:off x="6606540" y="23042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1993392"/>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Reviewer</a:t>
            </a:r>
            <a:endParaRPr lang="en-US" sz="1500" dirty="0"/>
          </a:p>
        </p:txBody>
      </p:sp>
      <p:sp>
        <p:nvSpPr>
          <p:cNvPr id="26" name="Text 20"/>
          <p:cNvSpPr txBox="1"/>
          <p:nvPr/>
        </p:nvSpPr>
        <p:spPr>
          <a:xfrm>
            <a:off x="7072884" y="26060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One no-tools call, one report</a:t>
            </a:r>
            <a:endParaRPr lang="en-US" sz="1200" dirty="0"/>
          </a:p>
        </p:txBody>
      </p:sp>
      <p:sp>
        <p:nvSpPr>
          <p:cNvPr id="27" name="Text 21"/>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Asking the model to say "nothing to review" would still cost a call. Checking first costs nothing.</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16b — Plan and Review Modes</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Both modes charge the budget honestly</a:t>
            </a:r>
            <a:endParaRPr lang="en-US" sz="2800" dirty="0"/>
          </a:p>
        </p:txBody>
      </p:sp>
      <p:sp>
        <p:nvSpPr>
          <p:cNvPr id="4" name="Shape 2"/>
          <p:cNvSpPr/>
          <p:nvPr/>
        </p:nvSpPr>
        <p:spPr>
          <a:xfrm>
            <a:off x="457200" y="1371600"/>
            <a:ext cx="3931920" cy="1828800"/>
          </a:xfrm>
          <a:prstGeom prst="roundRect">
            <a:avLst>
              <a:gd name="adj" fmla="val 400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PlanAsync</a:t>
            </a:r>
            <a:endParaRPr lang="en-US" sz="1700" dirty="0"/>
          </a:p>
        </p:txBody>
      </p:sp>
      <p:sp>
        <p:nvSpPr>
          <p:cNvPr id="8" name="Text 5"/>
          <p:cNvSpPr txBox="1"/>
          <p:nvPr/>
        </p:nvSpPr>
        <p:spPr>
          <a:xfrm>
            <a:off x="68580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Estimates the request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And the rendered plan</a:t>
            </a:r>
            <a:endParaRPr lang="en-US" sz="1300" dirty="0"/>
          </a:p>
        </p:txBody>
      </p:sp>
      <p:sp>
        <p:nvSpPr>
          <p:cNvPr id="9" name="Shape 6"/>
          <p:cNvSpPr/>
          <p:nvPr/>
        </p:nvSpPr>
        <p:spPr>
          <a:xfrm>
            <a:off x="4754880" y="1371600"/>
            <a:ext cx="3931920" cy="1828800"/>
          </a:xfrm>
          <a:prstGeom prst="roundRect">
            <a:avLst>
              <a:gd name="adj" fmla="val 400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ReviewAsync</a:t>
            </a:r>
            <a:endParaRPr lang="en-US" sz="1700" dirty="0"/>
          </a:p>
        </p:txBody>
      </p:sp>
      <p:sp>
        <p:nvSpPr>
          <p:cNvPr id="13" name="Text 9"/>
          <p:cNvSpPr txBox="1"/>
          <p:nvPr/>
        </p:nvSpPr>
        <p:spPr>
          <a:xfrm>
            <a:off x="498348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Estimates the diff</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And the report, the same way</a:t>
            </a:r>
            <a:endParaRPr lang="en-US" sz="1300" dirty="0"/>
          </a:p>
        </p:txBody>
      </p:sp>
      <p:sp>
        <p:nvSpPr>
          <p:cNvPr id="14" name="Text 10"/>
          <p:cNvSpPr txBox="1"/>
          <p:nvPr/>
        </p:nvSpPr>
        <p:spPr>
          <a:xfrm>
            <a:off x="457200" y="34747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 second no-tools call is still a call, so it is charged like one.</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16b — Plan and Review Modes</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Review staged changes too</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Add /review staged, which reviews git diff --cached instead of the unstaged changes, through a new git_diff_staged tool.</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IGitClient, GitClient, GitTools, ToolCatalog, InteractiveCommandLoop</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8077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/review with no argument behaves exactly as it does today</a:t>
            </a:r>
            <a:endParaRPr lang="en-US" sz="1300" dirty="0"/>
          </a:p>
        </p:txBody>
      </p:sp>
      <p:sp>
        <p:nvSpPr>
          <p:cNvPr id="13" name="Shape 9"/>
          <p:cNvSpPr/>
          <p:nvPr/>
        </p:nvSpPr>
        <p:spPr>
          <a:xfrm>
            <a:off x="3931920" y="265480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730886"/>
            <a:ext cx="140452" cy="140452"/>
          </a:xfrm>
          <a:prstGeom prst="rect">
            <a:avLst/>
          </a:prstGeom>
        </p:spPr>
      </p:pic>
      <p:sp>
        <p:nvSpPr>
          <p:cNvPr id="15" name="Text 10"/>
          <p:cNvSpPr txBox="1"/>
          <p:nvPr/>
        </p:nvSpPr>
        <p:spPr>
          <a:xfrm>
            <a:off x="4361688" y="2636520"/>
            <a:ext cx="4325112" cy="8077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/review staged reviews the staged changes instead</a:t>
            </a:r>
            <a:endParaRPr lang="en-US" sz="1300" dirty="0"/>
          </a:p>
        </p:txBody>
      </p:sp>
      <p:sp>
        <p:nvSpPr>
          <p:cNvPr id="16" name="Shape 11"/>
          <p:cNvSpPr/>
          <p:nvPr/>
        </p:nvSpPr>
        <p:spPr>
          <a:xfrm>
            <a:off x="3931920" y="350824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584326"/>
            <a:ext cx="140452" cy="140452"/>
          </a:xfrm>
          <a:prstGeom prst="rect">
            <a:avLst/>
          </a:prstGeom>
        </p:spPr>
      </p:pic>
      <p:sp>
        <p:nvSpPr>
          <p:cNvPr id="18" name="Text 12"/>
          <p:cNvSpPr txBox="1"/>
          <p:nvPr/>
        </p:nvSpPr>
        <p:spPr>
          <a:xfrm>
            <a:off x="4361688" y="3489960"/>
            <a:ext cx="4325112" cy="8077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Any other argument is a usage error, never a silent fallback to either</a:t>
            </a:r>
            <a:endParaRPr lang="en-US" sz="1300" dirty="0"/>
          </a:p>
        </p:txBody>
      </p:sp>
      <p:sp>
        <p:nvSpPr>
          <p:cNvPr id="19"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16b — Plan and Review Modes</a:t>
            </a:r>
            <a:endParaRPr lang="en-US" sz="900" dirty="0"/>
          </a:p>
        </p:txBody>
      </p:sp>
      <p:sp>
        <p:nvSpPr>
          <p:cNvPr id="20"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150" b="1" dirty="0">
                <a:solidFill>
                  <a:srgbClr val="1F2937"/>
                </a:solidFill>
                <a:latin typeface="Cambria" pitchFamily="34" charset="0"/>
                <a:ea typeface="Cambria" pitchFamily="34" charset="-122"/>
                <a:cs typeface="Cambria" pitchFamily="34" charset="-120"/>
              </a:rPr>
              <a:t>A review that costs nothing, and a plan that does nothing</a:t>
            </a:r>
            <a:endParaRPr lang="en-US" sz="2150" dirty="0"/>
          </a:p>
        </p:txBody>
      </p:sp>
      <p:sp>
        <p:nvSpPr>
          <p:cNvPr id="4" name="Shape 2"/>
          <p:cNvSpPr/>
          <p:nvPr/>
        </p:nvSpPr>
        <p:spPr>
          <a:xfrm>
            <a:off x="457200" y="1325880"/>
            <a:ext cx="5257800" cy="2377440"/>
          </a:xfrm>
          <a:prstGeom prst="roundRect">
            <a:avLst>
              <a:gd name="adj" fmla="val 3077"/>
            </a:avLst>
          </a:prstGeom>
          <a:solidFill>
            <a:srgbClr val="0F1420"/>
          </a:solidFill>
          <a:ln w="12700">
            <a:solidFill>
              <a:srgbClr val="0F1420"/>
            </a:solidFill>
            <a:prstDash val="solid"/>
          </a:ln>
        </p:spPr>
      </p:sp>
      <p:sp>
        <p:nvSpPr>
          <p:cNvPr id="5" name="Text 3"/>
          <p:cNvSpPr txBox="1"/>
          <p:nvPr/>
        </p:nvSpPr>
        <p:spPr>
          <a:xfrm>
            <a:off x="640080" y="1463040"/>
            <a:ext cx="4892040" cy="210312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 /review against a clean repository</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Nothing to review — there are no unstaged changes.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/plan add caching to CustomerService</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1. [ ] Inspect CustomerService and its current dependencies</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2. [ ] Add IMemoryCache to the DI container</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3. [ ] Cache the read path in CustomerService</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4. [ ] Add tests for the cached path</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No model call</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empty-diff guard answered first</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No notice</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Nothing runs after /plan</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A real review</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Needs a live key: it is the model's judgment</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16b — Plan and Review Modes</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93776"/>
          </a:xfrm>
          <a:prstGeom prst="roundRect">
            <a:avLst>
              <a:gd name="adj" fmla="val 14815"/>
            </a:avLst>
          </a:prstGeom>
          <a:solidFill>
            <a:srgbClr val="1F2943"/>
          </a:solidFill>
          <a:ln w="12700">
            <a:solidFill>
              <a:srgbClr val="1F2943"/>
            </a:solidFill>
            <a:prstDash val="solid"/>
          </a:ln>
        </p:spPr>
      </p:sp>
      <p:sp>
        <p:nvSpPr>
          <p:cNvPr id="5" name="Text 3"/>
          <p:cNvSpPr txBox="1"/>
          <p:nvPr/>
        </p:nvSpPr>
        <p:spPr>
          <a:xfrm>
            <a:off x="621792" y="1234440"/>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/plan and /review skip the stream</a:t>
            </a:r>
            <a:endParaRPr lang="en-US" sz="1300" dirty="0"/>
          </a:p>
        </p:txBody>
      </p:sp>
      <p:sp>
        <p:nvSpPr>
          <p:cNvPr id="6" name="Shape 4"/>
          <p:cNvSpPr/>
          <p:nvPr/>
        </p:nvSpPr>
        <p:spPr>
          <a:xfrm>
            <a:off x="3493008" y="138988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Phase 4 Capstone  </a:t>
            </a:r>
            <a:pPr indent="0" marL="0">
              <a:buNone/>
            </a:pPr>
            <a:r>
              <a:rPr lang="en-US" sz="1250" dirty="0">
                <a:solidFill>
                  <a:srgbClr val="FFFFFF"/>
                </a:solidFill>
                <a:latin typeface="Calibri" pitchFamily="34" charset="0"/>
                <a:ea typeface="Calibri" pitchFamily="34" charset="-122"/>
                <a:cs typeface="Calibri" pitchFamily="34" charset="-120"/>
              </a:rPr>
              <a:t>Both gain [Agent] trace lines; Module 17 only traced RunStreamingAsync</a:t>
            </a:r>
            <a:endParaRPr lang="en-US" sz="1250" dirty="0"/>
          </a:p>
        </p:txBody>
      </p:sp>
      <p:sp>
        <p:nvSpPr>
          <p:cNvPr id="8" name="Shape 6"/>
          <p:cNvSpPr/>
          <p:nvPr/>
        </p:nvSpPr>
        <p:spPr>
          <a:xfrm>
            <a:off x="457200" y="1837944"/>
            <a:ext cx="2926080" cy="493776"/>
          </a:xfrm>
          <a:prstGeom prst="roundRect">
            <a:avLst>
              <a:gd name="adj" fmla="val 14815"/>
            </a:avLst>
          </a:prstGeom>
          <a:solidFill>
            <a:srgbClr val="1F2943"/>
          </a:solidFill>
          <a:ln w="12700">
            <a:solidFill>
              <a:srgbClr val="1F2943"/>
            </a:solidFill>
            <a:prstDash val="solid"/>
          </a:ln>
        </p:spPr>
      </p:sp>
      <p:sp>
        <p:nvSpPr>
          <p:cNvPr id="9" name="Text 7"/>
          <p:cNvSpPr txBox="1"/>
          <p:nvPr/>
        </p:nvSpPr>
        <p:spPr>
          <a:xfrm>
            <a:off x="621792" y="1837944"/>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/review reads git_diff</a:t>
            </a:r>
            <a:endParaRPr lang="en-US" sz="1300" dirty="0"/>
          </a:p>
        </p:txBody>
      </p:sp>
      <p:sp>
        <p:nvSpPr>
          <p:cNvPr id="10" name="Shape 8"/>
          <p:cNvSpPr/>
          <p:nvPr/>
        </p:nvSpPr>
        <p:spPr>
          <a:xfrm>
            <a:off x="3493008" y="199339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837944"/>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19  </a:t>
            </a:r>
            <a:pPr indent="0" marL="0">
              <a:buNone/>
            </a:pPr>
            <a:r>
              <a:rPr lang="en-US" sz="1250" dirty="0">
                <a:solidFill>
                  <a:srgbClr val="FFFFFF"/>
                </a:solidFill>
                <a:latin typeface="Calibri" pitchFamily="34" charset="0"/>
                <a:ea typeface="Calibri" pitchFamily="34" charset="-122"/>
                <a:cs typeface="Calibri" pitchFamily="34" charset="-120"/>
              </a:rPr>
              <a:t>Step 14 inspects the diff; /diff, /review and /commit need a Git repository</a:t>
            </a:r>
            <a:endParaRPr lang="en-US" sz="1250" dirty="0"/>
          </a:p>
        </p:txBody>
      </p:sp>
      <p:sp>
        <p:nvSpPr>
          <p:cNvPr id="12" name="Shape 10"/>
          <p:cNvSpPr/>
          <p:nvPr/>
        </p:nvSpPr>
        <p:spPr>
          <a:xfrm>
            <a:off x="457200" y="2441448"/>
            <a:ext cx="2926080" cy="493776"/>
          </a:xfrm>
          <a:prstGeom prst="roundRect">
            <a:avLst>
              <a:gd name="adj" fmla="val 14815"/>
            </a:avLst>
          </a:prstGeom>
          <a:solidFill>
            <a:srgbClr val="1F2943"/>
          </a:solidFill>
          <a:ln w="12700">
            <a:solidFill>
              <a:srgbClr val="1F2943"/>
            </a:solidFill>
            <a:prstDash val="solid"/>
          </a:ln>
        </p:spPr>
      </p:sp>
      <p:sp>
        <p:nvSpPr>
          <p:cNvPr id="13" name="Text 11"/>
          <p:cNvSpPr txBox="1"/>
          <p:nvPr/>
        </p:nvSpPr>
        <p:spPr>
          <a:xfrm>
            <a:off x="621792" y="2441448"/>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/plan previews and never drives</a:t>
            </a:r>
            <a:endParaRPr lang="en-US" sz="1300" dirty="0"/>
          </a:p>
        </p:txBody>
      </p:sp>
      <p:sp>
        <p:nvSpPr>
          <p:cNvPr id="14" name="Shape 12"/>
          <p:cNvSpPr/>
          <p:nvPr/>
        </p:nvSpPr>
        <p:spPr>
          <a:xfrm>
            <a:off x="3493008" y="25968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441448"/>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19  </a:t>
            </a:r>
            <a:pPr indent="0" marL="0">
              <a:buNone/>
            </a:pPr>
            <a:r>
              <a:rPr lang="en-US" sz="1250" dirty="0">
                <a:solidFill>
                  <a:srgbClr val="FFFFFF"/>
                </a:solidFill>
                <a:latin typeface="Calibri" pitchFamily="34" charset="0"/>
                <a:ea typeface="Calibri" pitchFamily="34" charset="-122"/>
                <a:cs typeface="Calibri" pitchFamily="34" charset="-120"/>
              </a:rPr>
              <a:t>Driving the plan stays the most valuable open exercise</a:t>
            </a:r>
            <a:endParaRPr lang="en-US" sz="1250" dirty="0"/>
          </a:p>
        </p:txBody>
      </p:sp>
      <p:sp>
        <p:nvSpPr>
          <p:cNvPr id="16" name="Text 14"/>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Phase 4 Capstone — Developer CLI (v0.4)</a:t>
            </a:r>
            <a:endParaRPr lang="en-US" sz="1300" dirty="0"/>
          </a:p>
        </p:txBody>
      </p:sp>
      <p:sp>
        <p:nvSpPr>
          <p:cNvPr id="17"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16b — Plan and Review Modes</a:t>
            </a:r>
            <a:endParaRPr lang="en-US" sz="900" dirty="0"/>
          </a:p>
        </p:txBody>
      </p:sp>
      <p:sp>
        <p:nvSpPr>
          <p:cNvPr id="18"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16b — Developer CLI: Plan and Review Modes</dc:title>
  <dc:subject>PptxGenJS Presentation</dc:subject>
  <dc:creator>MiniCode Course</dc:creator>
  <cp:lastModifiedBy>MiniCode Course</cp:lastModifiedBy>
  <cp:revision>1</cp:revision>
  <dcterms:created xsi:type="dcterms:W3CDTF">2026-10-01T23:15:13Z</dcterms:created>
  <dcterms:modified xsi:type="dcterms:W3CDTF">2026-10-01T23:15:13Z</dcterms:modified>
</cp:coreProperties>
</file>