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Since Phase 3, MiniCode has edited files and run commands with nobody watching, and this Module is the answer to that gap. ApprovalInvoker pauses in front of the tool calls that change something, asks a human, and only proceeds on a yes. We start from the Module 14 folder; this is the second Module of Phase 4. It builds on Module 5a's IToolInvoker seam, whose own doc comment has named this Module as the reason it exists, and on Module 12's LoopGuardInvoker, which ApprovalInvoker now sits inside. Setup: nothing to install, no new package.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syllabus's safe and unsafe split, mapped onto MiniCode's actual tools. Safe: every read-only tool, meaning read_file, list_files, search_files, describe_repository, workspace_root, git_status, git_diff and git_log, plus run_command when it is exactly dotnet build or dotnet test. Everything else requires a yes: write_file, edit_file, and any other shape of run_command. That last one is where git commit, git push, a package install, or an unrecognized shell command all actually arrive, since MiniCode has no dedicated tool for any of them. In code, RequiresApproval is a two-line switch. Everything not named write_file, edit_file, or an unrecognized run_command falls through to false, so new safe tools, Module 14's three Git tools included, need no entry at all. IsBuildOrTest reads the arguments through JsonElement rather than casting to string[], because ApprovalInvoker sees a call before AIFunctionFactory has bound it to typed parameters, so an argument can already be a JsonElement.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Approval is one more decorator around the same seam. ApprovalInvoker implements IToolInvoker exactly as LoopGuardInvoker already does: wrap, don't touch. No tool's code changes. Where it sits in the chain matters. LoopGuardInvoker wraps ApprovalInvoker, which wraps DirectToolInvoker. A call the loop guard would refuse for repeating never reaches a human, so nobody is asked the same question twice for a call MiniCode was about to be told not to repeat anyway. A call still waiting on an answer still counts toward the loop's 20-call cap. In CodingAgentFactory, a new line builds new ApprovalInvoker(new DirectToolInvoker(), prompter), and the line after it, previously new LoopGuardInvoker(new DirectToolInvoker()), now wraps that invoker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interface lives where it's needed; the terminal lives where terminals live. IApprovalPrompter is declared in MiniCode.Agent, next to the invoker that calls it. ConsoleApprovalPrompter, the only class in the solution that reads a real answer from a person, lives in MiniCode.Cli. It is internal, like InteractiveCommandLoop before it, because nothing outside MiniCode.Cli is meant to construct one directly. CodingAgentFactory receives it as a parameter instead of constructing it. That is the first time this course has had the composition root take a collaborator from its caller rather than building every piece itself. CodingAgentFactory.CreateAsync gains an IApprovalPrompter prompter parameter, and Program.cs passes new ConsoleApprovalPrompter() at the one call site that builds the agent.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refusal is a string, not an exception. Denying a call returns: name was not approved and did not run. The model reads it and reacts exactly the way it already reacts to Module 11b's allow-list refusal, because both paths return the same idea: not this, try something else. Denial short-circuits before inner.InvokeAsync is ever awaited, so the tool genuinely does not run; the string returned is the only trace of the attempt. Always is one flag for the session, not a memory of what was asked. The syllabus's example offers Always allow for this session, and the simplest thing that satisfies it is a single bool that, once set, skips every future check for as long as this ApprovalInvoker instance lives, which is exactly one session. It is instance state, not a static: CodingAgentFactory builds one ApprovalInvoker per call to CreateAsync, and CreateAsync runs once per MiniCode process. Describe reuses Module 12's serialization, JsonSerializer.Serialize of the arguments, so the human is shown the real arguments, never an array's type name. The prompt on this slide is from the lesson's captured output, without its scripted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_alwaysApprove is one flag for every kind of call, so answering always to a write_file prompt also silences the very next git push. Change ApprovalInvoker to remember always per tool name instead of globally, in src/MiniCode.Agent/ApprovalInvoker.cs. Acceptance criteria: answering always to a write_file prompt means later write_file calls are never asked again, but a later run_command that needs approval still is; a fresh ApprovalInvoker starts with nothing remembered; denying a call does not count as always for anything. No reference implementation ships in a later Module folder, because the course itself never exercises this distinction.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of this is real output from this Module's own ApprovalInvoker, driven directly against a scripted IApprovalPrompter. No model call is involved, since the routing logic is deterministic. A safe read tool never prompts. Neither does a recognized build or test run, even though it is run_command. write_file, denied: the tool never runs. git push, reaching run_command in a shape that is not a build or test, answered always, after which a later write_file needs no second prompt. On the slide, the lines starting with # label each scenario, and the prompt text shown on the previous slide is cut from the denied and always cases. The Lab's own scenario, MiniCode asking permission before dotnet add package Microsoft.EntityFrameworkCore.SqlServer, needs a live OPENAI_API_KEY and a real terminal, since it is ConsoleApprovalPrompter reading an actual keystroke. What reaches it is exactly the git push case with a different run_command: the model calls it, ApprovalInvoker sees a shell command that is not dotnet build or dotnet test, and the operator sees the same three-choice prompt before anything is installed.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where this goes. In Module 16a, slash commands bypass the model but not its policies: /commit calls run_command through the same intercepted function, so the whole chain runs, loop guard then approval, and approval fires first because git commit is not dotnet build or dotnet test. In Module 17, TracingInvoker is placed inside ApprovalInvoker, so a pending Y, N or A prompt is never counted as part of a tool's own time. And in Module 19, the course's closing argument: intelligence is centralised, capability is not. The model chooses what; deterministic C#, including this approval prompt, decides whether. All of this ships in the Phase 4 Capstone, Developer CLI, version 0.4.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B2D"/>
        </a:solidFill>
      </p:bgPr>
    </p:bg>
    <p:spTree>
      <p:nvGrpSpPr>
        <p:cNvPr id="1" name=""/>
        <p:cNvGrpSpPr/>
        <p:nvPr/>
      </p:nvGrpSpPr>
      <p:grpSpPr>
        <a:xfrm>
          <a:off x="0" y="0"/>
          <a:ext cx="0" cy="0"/>
          <a:chOff x="0" y="0"/>
          <a:chExt cx="0" cy="0"/>
        </a:xfrm>
      </p:grpSpPr>
      <p:sp>
        <p:nvSpPr>
          <p:cNvPr id="2" name="Text 0"/>
          <p:cNvSpPr txBox="1"/>
          <p:nvPr/>
        </p:nvSpPr>
        <p:spPr>
          <a:xfrm>
            <a:off x="457200" y="502920"/>
            <a:ext cx="4206240" cy="457200"/>
          </a:xfrm>
          <a:prstGeom prst="rect">
            <a:avLst/>
          </a:prstGeom>
          <a:noFill/>
          <a:ln/>
        </p:spPr>
        <p:txBody>
          <a:bodyPr wrap="square" lIns="0" tIns="0" rIns="0" bIns="0" rtlCol="0" anchor="t"/>
          <a:lstStyle/>
          <a:p>
            <a:pPr indent="0" marL="0">
              <a:buNone/>
            </a:pPr>
            <a:r>
              <a:rPr lang="en-US" sz="1100" b="1" spc="200" kern="0" dirty="0">
                <a:solidFill>
                  <a:srgbClr val="F5A623"/>
                </a:solidFill>
                <a:latin typeface="Calibri" pitchFamily="34" charset="0"/>
                <a:ea typeface="Calibri" pitchFamily="34" charset="-122"/>
                <a:cs typeface="Calibri" pitchFamily="34" charset="-120"/>
              </a:rPr>
              <a:t>MODULE 15  ·  PHASE 4</a:t>
            </a:r>
            <a:endParaRPr lang="en-US" sz="1100" dirty="0"/>
          </a:p>
        </p:txBody>
      </p:sp>
      <p:sp>
        <p:nvSpPr>
          <p:cNvPr id="3" name="Text 1"/>
          <p:cNvSpPr txBox="1"/>
          <p:nvPr/>
        </p:nvSpPr>
        <p:spPr>
          <a:xfrm>
            <a:off x="457200" y="1005840"/>
            <a:ext cx="4206240" cy="1371600"/>
          </a:xfrm>
          <a:prstGeom prst="rect">
            <a:avLst/>
          </a:prstGeom>
          <a:noFill/>
          <a:ln/>
        </p:spPr>
        <p:txBody>
          <a:bodyPr wrap="square" lIns="0" tIns="0" rIns="0" bIns="0" rtlCol="0" anchor="b"/>
          <a:lstStyle/>
          <a:p>
            <a:pPr indent="0" marL="0">
              <a:buNone/>
            </a:pPr>
            <a:r>
              <a:rPr lang="en-US" sz="4000" b="1" dirty="0">
                <a:solidFill>
                  <a:srgbClr val="FFFFFF"/>
                </a:solidFill>
                <a:latin typeface="Cambria" pitchFamily="34" charset="0"/>
                <a:ea typeface="Cambria" pitchFamily="34" charset="-122"/>
                <a:cs typeface="Cambria" pitchFamily="34" charset="-120"/>
              </a:rPr>
              <a:t>Human Approval and Safety</a:t>
            </a:r>
            <a:endParaRPr lang="en-US" sz="4000" dirty="0"/>
          </a:p>
        </p:txBody>
      </p:sp>
      <p:sp>
        <p:nvSpPr>
          <p:cNvPr id="4" name="Text 2"/>
          <p:cNvSpPr txBox="1"/>
          <p:nvPr/>
        </p:nvSpPr>
        <p:spPr>
          <a:xfrm>
            <a:off x="457200" y="2468880"/>
            <a:ext cx="4206240" cy="640080"/>
          </a:xfrm>
          <a:prstGeom prst="rect">
            <a:avLst/>
          </a:prstGeom>
          <a:noFill/>
          <a:ln/>
        </p:spPr>
        <p:txBody>
          <a:bodyPr wrap="square" lIns="0" tIns="0" rIns="0" bIns="0" rtlCol="0" anchor="t"/>
          <a:lstStyle/>
          <a:p>
            <a:pPr indent="0" marL="0">
              <a:buNone/>
            </a:pPr>
            <a:r>
              <a:rPr lang="en-US" sz="1600" dirty="0">
                <a:solidFill>
                  <a:srgbClr val="B8B2E6"/>
                </a:solidFill>
                <a:latin typeface="Calibri" pitchFamily="34" charset="0"/>
                <a:ea typeface="Calibri" pitchFamily="34" charset="-122"/>
                <a:cs typeface="Calibri" pitchFamily="34" charset="-120"/>
              </a:rPr>
              <a:t>A human in front of the calls that change something</a:t>
            </a:r>
            <a:endParaRPr lang="en-US" sz="1600" dirty="0"/>
          </a:p>
        </p:txBody>
      </p:sp>
      <p:sp>
        <p:nvSpPr>
          <p:cNvPr id="5" name="Text 3"/>
          <p:cNvSpPr txBox="1"/>
          <p:nvPr/>
        </p:nvSpPr>
        <p:spPr>
          <a:xfrm>
            <a:off x="457200" y="3346704"/>
            <a:ext cx="1097280" cy="274320"/>
          </a:xfrm>
          <a:prstGeom prst="rect">
            <a:avLst/>
          </a:prstGeom>
          <a:noFill/>
          <a:ln/>
        </p:spPr>
        <p:txBody>
          <a:bodyPr wrap="square" lIns="0" tIns="0" rIns="0" bIns="0" rtlCol="0" anchor="t"/>
          <a:lstStyle/>
          <a:p>
            <a:pPr indent="0" marL="0">
              <a:buNone/>
            </a:pPr>
            <a:r>
              <a:rPr lang="en-US" sz="900" b="1" spc="100" kern="0" dirty="0">
                <a:solidFill>
                  <a:srgbClr val="B8B2E6"/>
                </a:solidFill>
                <a:latin typeface="Calibri" pitchFamily="34" charset="0"/>
                <a:ea typeface="Calibri" pitchFamily="34" charset="-122"/>
                <a:cs typeface="Calibri" pitchFamily="34" charset="-120"/>
              </a:rPr>
              <a:t>STARTS FROM</a:t>
            </a:r>
            <a:endParaRPr lang="en-US" sz="900" dirty="0"/>
          </a:p>
        </p:txBody>
      </p:sp>
      <p:sp>
        <p:nvSpPr>
          <p:cNvPr id="6" name="Text 4"/>
          <p:cNvSpPr txBox="1"/>
          <p:nvPr/>
        </p:nvSpPr>
        <p:spPr>
          <a:xfrm>
            <a:off x="1554480" y="3291840"/>
            <a:ext cx="3291840" cy="365760"/>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Module14-GitIntegration/</a:t>
            </a:r>
            <a:endParaRPr lang="en-US" sz="1100" dirty="0"/>
          </a:p>
        </p:txBody>
      </p:sp>
      <p:sp>
        <p:nvSpPr>
          <p:cNvPr id="7" name="Text 5"/>
          <p:cNvSpPr txBox="1"/>
          <p:nvPr/>
        </p:nvSpPr>
        <p:spPr>
          <a:xfrm>
            <a:off x="457200" y="3803904"/>
            <a:ext cx="1097280" cy="274320"/>
          </a:xfrm>
          <a:prstGeom prst="rect">
            <a:avLst/>
          </a:prstGeom>
          <a:noFill/>
          <a:ln/>
        </p:spPr>
        <p:txBody>
          <a:bodyPr wrap="square" lIns="0" tIns="0" rIns="0" bIns="0" rtlCol="0" anchor="t"/>
          <a:lstStyle/>
          <a:p>
            <a:pPr indent="0" marL="0">
              <a:buNone/>
            </a:pPr>
            <a:r>
              <a:rPr lang="en-US" sz="900" b="1" spc="100" kern="0" dirty="0">
                <a:solidFill>
                  <a:srgbClr val="B8B2E6"/>
                </a:solidFill>
                <a:latin typeface="Calibri" pitchFamily="34" charset="0"/>
                <a:ea typeface="Calibri" pitchFamily="34" charset="-122"/>
                <a:cs typeface="Calibri" pitchFamily="34" charset="-120"/>
              </a:rPr>
              <a:t>FINISHES AS</a:t>
            </a:r>
            <a:endParaRPr lang="en-US" sz="900" dirty="0"/>
          </a:p>
        </p:txBody>
      </p:sp>
      <p:sp>
        <p:nvSpPr>
          <p:cNvPr id="8" name="Text 6"/>
          <p:cNvSpPr txBox="1"/>
          <p:nvPr/>
        </p:nvSpPr>
        <p:spPr>
          <a:xfrm>
            <a:off x="1554480" y="3749040"/>
            <a:ext cx="3291840" cy="365760"/>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Module15-HumanApprovalAndSafety/</a:t>
            </a:r>
            <a:endParaRPr lang="en-US" sz="1100" dirty="0"/>
          </a:p>
        </p:txBody>
      </p:sp>
      <p:sp>
        <p:nvSpPr>
          <p:cNvPr id="9" name="Shape 7"/>
          <p:cNvSpPr/>
          <p:nvPr/>
        </p:nvSpPr>
        <p:spPr>
          <a:xfrm>
            <a:off x="4983480" y="502920"/>
            <a:ext cx="3703320" cy="4069080"/>
          </a:xfrm>
          <a:prstGeom prst="roundRect">
            <a:avLst>
              <a:gd name="adj" fmla="val 1975"/>
            </a:avLst>
          </a:prstGeom>
          <a:solidFill>
            <a:srgbClr val="1F2943"/>
          </a:solidFill>
          <a:ln w="12700">
            <a:solidFill>
              <a:srgbClr val="1F2943"/>
            </a:solidFill>
            <a:prstDash val="solid"/>
          </a:ln>
        </p:spPr>
      </p:sp>
      <p:sp>
        <p:nvSpPr>
          <p:cNvPr id="10" name="Text 8"/>
          <p:cNvSpPr txBox="1"/>
          <p:nvPr/>
        </p:nvSpPr>
        <p:spPr>
          <a:xfrm>
            <a:off x="5257800" y="731520"/>
            <a:ext cx="3200400" cy="365760"/>
          </a:xfrm>
          <a:prstGeom prst="rect">
            <a:avLst/>
          </a:prstGeom>
          <a:noFill/>
          <a:ln/>
        </p:spPr>
        <p:txBody>
          <a:bodyPr wrap="square" lIns="0" tIns="0" rIns="0" bIns="0" rtlCol="0" anchor="t"/>
          <a:lstStyle/>
          <a:p>
            <a:pPr indent="0" marL="0">
              <a:buNone/>
            </a:pPr>
            <a:r>
              <a:rPr lang="en-US" sz="1600" b="1" dirty="0">
                <a:solidFill>
                  <a:srgbClr val="FFFFFF"/>
                </a:solidFill>
                <a:latin typeface="Cambria" pitchFamily="34" charset="0"/>
                <a:ea typeface="Cambria" pitchFamily="34" charset="-122"/>
                <a:cs typeface="Cambria" pitchFamily="34" charset="-120"/>
              </a:rPr>
              <a:t>In this lesson you'll learn</a:t>
            </a:r>
            <a:endParaRPr lang="en-US" sz="1600" dirty="0"/>
          </a:p>
        </p:txBody>
      </p:sp>
      <p:sp>
        <p:nvSpPr>
          <p:cNvPr id="11" name="Shape 9"/>
          <p:cNvSpPr/>
          <p:nvPr/>
        </p:nvSpPr>
        <p:spPr>
          <a:xfrm>
            <a:off x="5257800" y="1252728"/>
            <a:ext cx="310896" cy="310896"/>
          </a:xfrm>
          <a:prstGeom prst="ellipse">
            <a:avLst/>
          </a:prstGeom>
          <a:solidFill>
            <a:srgbClr val="512BD4"/>
          </a:solidFill>
          <a:ln w="12700">
            <a:solidFill>
              <a:srgbClr val="512BD4"/>
            </a:solidFill>
            <a:prstDash val="solid"/>
          </a:ln>
        </p:spPr>
      </p:sp>
      <p:pic>
        <p:nvPicPr>
          <p:cNvPr id="12" name="Image 0" descr="preencoded.png">    </p:cNvPr>
          <p:cNvPicPr>
            <a:picLocks noChangeAspect="1"/>
          </p:cNvPicPr>
          <p:nvPr/>
        </p:nvPicPr>
        <p:blipFill>
          <a:blip r:embed="rId1"/>
          <a:stretch>
            <a:fillRect/>
          </a:stretch>
        </p:blipFill>
        <p:spPr>
          <a:xfrm>
            <a:off x="5338633" y="1333561"/>
            <a:ext cx="149230" cy="149230"/>
          </a:xfrm>
          <a:prstGeom prst="rect">
            <a:avLst/>
          </a:prstGeom>
        </p:spPr>
      </p:pic>
      <p:sp>
        <p:nvSpPr>
          <p:cNvPr id="13" name="Text 10"/>
          <p:cNvSpPr txBox="1"/>
          <p:nvPr/>
        </p:nvSpPr>
        <p:spPr>
          <a:xfrm>
            <a:off x="5715000" y="123444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Which tool calls need a human, mapped onto MiniCode's real tools</a:t>
            </a:r>
            <a:endParaRPr lang="en-US" sz="1300" dirty="0"/>
          </a:p>
        </p:txBody>
      </p:sp>
      <p:sp>
        <p:nvSpPr>
          <p:cNvPr id="14" name="Shape 11"/>
          <p:cNvSpPr/>
          <p:nvPr/>
        </p:nvSpPr>
        <p:spPr>
          <a:xfrm>
            <a:off x="5257800" y="1892808"/>
            <a:ext cx="310896" cy="310896"/>
          </a:xfrm>
          <a:prstGeom prst="ellipse">
            <a:avLst/>
          </a:prstGeom>
          <a:solidFill>
            <a:srgbClr val="512BD4"/>
          </a:solidFill>
          <a:ln w="12700">
            <a:solidFill>
              <a:srgbClr val="512BD4"/>
            </a:solidFill>
            <a:prstDash val="solid"/>
          </a:ln>
        </p:spPr>
      </p:sp>
      <p:pic>
        <p:nvPicPr>
          <p:cNvPr id="15" name="Image 1" descr="preencoded.png">    </p:cNvPr>
          <p:cNvPicPr>
            <a:picLocks noChangeAspect="1"/>
          </p:cNvPicPr>
          <p:nvPr/>
        </p:nvPicPr>
        <p:blipFill>
          <a:blip r:embed="rId2"/>
          <a:stretch>
            <a:fillRect/>
          </a:stretch>
        </p:blipFill>
        <p:spPr>
          <a:xfrm>
            <a:off x="5338633" y="1973641"/>
            <a:ext cx="149230" cy="149230"/>
          </a:xfrm>
          <a:prstGeom prst="rect">
            <a:avLst/>
          </a:prstGeom>
        </p:spPr>
      </p:pic>
      <p:sp>
        <p:nvSpPr>
          <p:cNvPr id="16" name="Text 12"/>
          <p:cNvSpPr txBox="1"/>
          <p:nvPr/>
        </p:nvSpPr>
        <p:spPr>
          <a:xfrm>
            <a:off x="5715000" y="187452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Approval as one more decorator on Module 5a's seam</a:t>
            </a:r>
            <a:endParaRPr lang="en-US" sz="1300" dirty="0"/>
          </a:p>
        </p:txBody>
      </p:sp>
      <p:sp>
        <p:nvSpPr>
          <p:cNvPr id="17" name="Shape 13"/>
          <p:cNvSpPr/>
          <p:nvPr/>
        </p:nvSpPr>
        <p:spPr>
          <a:xfrm>
            <a:off x="5257800" y="2532888"/>
            <a:ext cx="310896" cy="310896"/>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5338633" y="2613721"/>
            <a:ext cx="149230" cy="149230"/>
          </a:xfrm>
          <a:prstGeom prst="rect">
            <a:avLst/>
          </a:prstGeom>
        </p:spPr>
      </p:pic>
      <p:sp>
        <p:nvSpPr>
          <p:cNvPr id="19" name="Text 14"/>
          <p:cNvSpPr txBox="1"/>
          <p:nvPr/>
        </p:nvSpPr>
        <p:spPr>
          <a:xfrm>
            <a:off x="5715000" y="251460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Why the order of the invoker chain matters</a:t>
            </a:r>
            <a:endParaRPr lang="en-US" sz="1300" dirty="0"/>
          </a:p>
        </p:txBody>
      </p:sp>
      <p:sp>
        <p:nvSpPr>
          <p:cNvPr id="20" name="Shape 15"/>
          <p:cNvSpPr/>
          <p:nvPr/>
        </p:nvSpPr>
        <p:spPr>
          <a:xfrm>
            <a:off x="5257800" y="3172968"/>
            <a:ext cx="310896" cy="310896"/>
          </a:xfrm>
          <a:prstGeom prst="ellipse">
            <a:avLst/>
          </a:prstGeom>
          <a:solidFill>
            <a:srgbClr val="512BD4"/>
          </a:solidFill>
          <a:ln w="12700">
            <a:solidFill>
              <a:srgbClr val="512BD4"/>
            </a:solidFill>
            <a:prstDash val="solid"/>
          </a:ln>
        </p:spPr>
      </p:sp>
      <p:pic>
        <p:nvPicPr>
          <p:cNvPr id="21" name="Image 3" descr="preencoded.png">    </p:cNvPr>
          <p:cNvPicPr>
            <a:picLocks noChangeAspect="1"/>
          </p:cNvPicPr>
          <p:nvPr/>
        </p:nvPicPr>
        <p:blipFill>
          <a:blip r:embed="rId4"/>
          <a:stretch>
            <a:fillRect/>
          </a:stretch>
        </p:blipFill>
        <p:spPr>
          <a:xfrm>
            <a:off x="5338633" y="3253801"/>
            <a:ext cx="149230" cy="149230"/>
          </a:xfrm>
          <a:prstGeom prst="rect">
            <a:avLst/>
          </a:prstGeom>
        </p:spPr>
      </p:pic>
      <p:sp>
        <p:nvSpPr>
          <p:cNvPr id="22" name="Text 16"/>
          <p:cNvSpPr txBox="1"/>
          <p:nvPr/>
        </p:nvSpPr>
        <p:spPr>
          <a:xfrm>
            <a:off x="5715000" y="315468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Interface in MiniCode.Agent, console in MiniCode.Cli</a:t>
            </a:r>
            <a:endParaRPr lang="en-US" sz="1300" dirty="0"/>
          </a:p>
        </p:txBody>
      </p:sp>
      <p:sp>
        <p:nvSpPr>
          <p:cNvPr id="23" name="Shape 17"/>
          <p:cNvSpPr/>
          <p:nvPr/>
        </p:nvSpPr>
        <p:spPr>
          <a:xfrm>
            <a:off x="5257800" y="3813048"/>
            <a:ext cx="310896" cy="310896"/>
          </a:xfrm>
          <a:prstGeom prst="ellipse">
            <a:avLst/>
          </a:prstGeom>
          <a:solidFill>
            <a:srgbClr val="512BD4"/>
          </a:solidFill>
          <a:ln w="12700">
            <a:solidFill>
              <a:srgbClr val="512BD4"/>
            </a:solidFill>
            <a:prstDash val="solid"/>
          </a:ln>
        </p:spPr>
      </p:sp>
      <p:pic>
        <p:nvPicPr>
          <p:cNvPr id="24" name="Image 4" descr="preencoded.png">    </p:cNvPr>
          <p:cNvPicPr>
            <a:picLocks noChangeAspect="1"/>
          </p:cNvPicPr>
          <p:nvPr/>
        </p:nvPicPr>
        <p:blipFill>
          <a:blip r:embed="rId5"/>
          <a:stretch>
            <a:fillRect/>
          </a:stretch>
        </p:blipFill>
        <p:spPr>
          <a:xfrm>
            <a:off x="5338633" y="3893881"/>
            <a:ext cx="149230" cy="149230"/>
          </a:xfrm>
          <a:prstGeom prst="rect">
            <a:avLst/>
          </a:prstGeom>
        </p:spPr>
      </p:pic>
      <p:sp>
        <p:nvSpPr>
          <p:cNvPr id="25" name="Text 18"/>
          <p:cNvSpPr txBox="1"/>
          <p:nvPr/>
        </p:nvSpPr>
        <p:spPr>
          <a:xfrm>
            <a:off x="5715000" y="379476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Denials as sentences, and "always" as one flag</a:t>
            </a:r>
            <a:endParaRPr lang="en-US" sz="1300" dirty="0"/>
          </a:p>
        </p:txBody>
      </p:sp>
      <p:sp>
        <p:nvSpPr>
          <p:cNvPr id="26" name="Text 19"/>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B8B2E6"/>
                </a:solidFill>
                <a:latin typeface="Calibri" pitchFamily="34" charset="0"/>
                <a:ea typeface="Calibri" pitchFamily="34" charset="-122"/>
                <a:cs typeface="Calibri" pitchFamily="34" charset="-120"/>
              </a:rPr>
              <a:t>MiniCode  ·  Module 15 — Human Approval and Safety</a:t>
            </a:r>
            <a:endParaRPr lang="en-US" sz="900" dirty="0"/>
          </a:p>
        </p:txBody>
      </p:sp>
      <p:sp>
        <p:nvSpPr>
          <p:cNvPr id="27" name="Text 20"/>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B8B2E6"/>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Safe on its own, or needs a yes</a:t>
            </a:r>
            <a:endParaRPr lang="en-US" sz="2800" dirty="0"/>
          </a:p>
        </p:txBody>
      </p:sp>
      <p:sp>
        <p:nvSpPr>
          <p:cNvPr id="4" name="Shape 2"/>
          <p:cNvSpPr/>
          <p:nvPr/>
        </p:nvSpPr>
        <p:spPr>
          <a:xfrm>
            <a:off x="457200" y="1371600"/>
            <a:ext cx="3931920" cy="2240280"/>
          </a:xfrm>
          <a:prstGeom prst="roundRect">
            <a:avLst>
              <a:gd name="adj" fmla="val 3265"/>
            </a:avLst>
          </a:prstGeom>
          <a:solidFill>
            <a:srgbClr val="F6F4FE"/>
          </a:solidFill>
          <a:ln w="12700">
            <a:solidFill>
              <a:srgbClr val="F6F4FE"/>
            </a:solidFill>
            <a:prstDash val="solid"/>
          </a:ln>
        </p:spPr>
      </p:sp>
      <p:sp>
        <p:nvSpPr>
          <p:cNvPr id="5" name="Shape 3"/>
          <p:cNvSpPr/>
          <p:nvPr/>
        </p:nvSpPr>
        <p:spPr>
          <a:xfrm>
            <a:off x="685800" y="1600200"/>
            <a:ext cx="438912" cy="438912"/>
          </a:xfrm>
          <a:prstGeom prst="ellipse">
            <a:avLst/>
          </a:prstGeom>
          <a:solidFill>
            <a:srgbClr val="16A34A"/>
          </a:solidFill>
          <a:ln w="12700">
            <a:solidFill>
              <a:srgbClr val="16A34A"/>
            </a:solidFill>
            <a:prstDash val="solid"/>
          </a:ln>
        </p:spPr>
      </p:sp>
      <p:pic>
        <p:nvPicPr>
          <p:cNvPr id="6" name="Image 0" descr="preencoded.png">    </p:cNvPr>
          <p:cNvPicPr>
            <a:picLocks noChangeAspect="1"/>
          </p:cNvPicPr>
          <p:nvPr/>
        </p:nvPicPr>
        <p:blipFill>
          <a:blip r:embed="rId1"/>
          <a:stretch>
            <a:fillRect/>
          </a:stretch>
        </p:blipFill>
        <p:spPr>
          <a:xfrm>
            <a:off x="799917" y="1714317"/>
            <a:ext cx="210678" cy="210678"/>
          </a:xfrm>
          <a:prstGeom prst="rect">
            <a:avLst/>
          </a:prstGeom>
        </p:spPr>
      </p:pic>
      <p:sp>
        <p:nvSpPr>
          <p:cNvPr id="7" name="Text 4"/>
          <p:cNvSpPr txBox="1"/>
          <p:nvPr/>
        </p:nvSpPr>
        <p:spPr>
          <a:xfrm>
            <a:off x="126187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Never asks</a:t>
            </a:r>
            <a:endParaRPr lang="en-US" sz="1700" dirty="0"/>
          </a:p>
        </p:txBody>
      </p:sp>
      <p:sp>
        <p:nvSpPr>
          <p:cNvPr id="8" name="Text 5"/>
          <p:cNvSpPr txBox="1"/>
          <p:nvPr/>
        </p:nvSpPr>
        <p:spPr>
          <a:xfrm>
            <a:off x="685800" y="2194560"/>
            <a:ext cx="3474720" cy="118872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read_file, list_files, search_files</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describe_repository, workspace_root</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git_status, git_diff, git_log</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run_command: dotnet build or test</a:t>
            </a:r>
            <a:endParaRPr lang="en-US" sz="1300" dirty="0"/>
          </a:p>
        </p:txBody>
      </p:sp>
      <p:sp>
        <p:nvSpPr>
          <p:cNvPr id="9" name="Shape 6"/>
          <p:cNvSpPr/>
          <p:nvPr/>
        </p:nvSpPr>
        <p:spPr>
          <a:xfrm>
            <a:off x="4754880" y="1371600"/>
            <a:ext cx="3931920" cy="2240280"/>
          </a:xfrm>
          <a:prstGeom prst="roundRect">
            <a:avLst>
              <a:gd name="adj" fmla="val 3265"/>
            </a:avLst>
          </a:prstGeom>
          <a:solidFill>
            <a:srgbClr val="EFEBFC"/>
          </a:solidFill>
          <a:ln w="12700">
            <a:solidFill>
              <a:srgbClr val="EFEBFC"/>
            </a:solidFill>
            <a:prstDash val="solid"/>
          </a:ln>
        </p:spPr>
      </p:sp>
      <p:sp>
        <p:nvSpPr>
          <p:cNvPr id="10" name="Shape 7"/>
          <p:cNvSpPr/>
          <p:nvPr/>
        </p:nvSpPr>
        <p:spPr>
          <a:xfrm>
            <a:off x="4983480" y="1600200"/>
            <a:ext cx="438912" cy="438912"/>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5097597" y="1714317"/>
            <a:ext cx="210678" cy="210678"/>
          </a:xfrm>
          <a:prstGeom prst="rect">
            <a:avLst/>
          </a:prstGeom>
        </p:spPr>
      </p:pic>
      <p:sp>
        <p:nvSpPr>
          <p:cNvPr id="12" name="Text 8"/>
          <p:cNvSpPr txBox="1"/>
          <p:nvPr/>
        </p:nvSpPr>
        <p:spPr>
          <a:xfrm>
            <a:off x="555955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Asks first</a:t>
            </a:r>
            <a:endParaRPr lang="en-US" sz="1700" dirty="0"/>
          </a:p>
        </p:txBody>
      </p:sp>
      <p:sp>
        <p:nvSpPr>
          <p:cNvPr id="13" name="Text 9"/>
          <p:cNvSpPr txBox="1"/>
          <p:nvPr/>
        </p:nvSpPr>
        <p:spPr>
          <a:xfrm>
            <a:off x="4983480" y="2194560"/>
            <a:ext cx="3474720" cy="118872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write_file and edit_file</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Any other run_command</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git commit, git push, package installs</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Unrecognized shell commands</a:t>
            </a:r>
            <a:endParaRPr lang="en-US" sz="1300" dirty="0"/>
          </a:p>
        </p:txBody>
      </p:sp>
      <p:sp>
        <p:nvSpPr>
          <p:cNvPr id="14" name="Text 10"/>
          <p:cNvSpPr txBox="1"/>
          <p:nvPr/>
        </p:nvSpPr>
        <p:spPr>
          <a:xfrm>
            <a:off x="457200" y="388620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MiniCode has no git commit tool: commits, pushes and installs all arrive as run_command.</a:t>
            </a:r>
            <a:endParaRPr lang="en-US" sz="1400" dirty="0"/>
          </a:p>
        </p:txBody>
      </p:sp>
      <p:sp>
        <p:nvSpPr>
          <p:cNvPr id="15" name="Text 11"/>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Module 15 — Human Approval and Safety</a:t>
            </a:r>
            <a:endParaRPr lang="en-US" sz="900" dirty="0"/>
          </a:p>
        </p:txBody>
      </p:sp>
      <p:sp>
        <p:nvSpPr>
          <p:cNvPr id="16" name="Text 12"/>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One more layer on the same seam</a:t>
            </a:r>
            <a:endParaRPr lang="en-US" sz="2800" dirty="0"/>
          </a:p>
        </p:txBody>
      </p:sp>
      <p:sp>
        <p:nvSpPr>
          <p:cNvPr id="4" name="Shape 2"/>
          <p:cNvSpPr/>
          <p:nvPr/>
        </p:nvSpPr>
        <p:spPr>
          <a:xfrm>
            <a:off x="457200" y="1417320"/>
            <a:ext cx="1796796" cy="2185416"/>
          </a:xfrm>
          <a:prstGeom prst="roundRect">
            <a:avLst>
              <a:gd name="adj" fmla="val 4071"/>
            </a:avLst>
          </a:prstGeom>
          <a:solidFill>
            <a:srgbClr val="EFEBFC"/>
          </a:solidFill>
          <a:ln w="12700">
            <a:solidFill>
              <a:srgbClr val="EFEBFC"/>
            </a:solidFill>
            <a:prstDash val="solid"/>
          </a:ln>
        </p:spPr>
      </p:sp>
      <p:sp>
        <p:nvSpPr>
          <p:cNvPr id="5" name="Shape 3"/>
          <p:cNvSpPr/>
          <p:nvPr/>
        </p:nvSpPr>
        <p:spPr>
          <a:xfrm>
            <a:off x="640080" y="1618488"/>
            <a:ext cx="457200" cy="457200"/>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58952" y="1737360"/>
            <a:ext cx="219456" cy="219456"/>
          </a:xfrm>
          <a:prstGeom prst="rect">
            <a:avLst/>
          </a:prstGeom>
        </p:spPr>
      </p:pic>
      <p:sp>
        <p:nvSpPr>
          <p:cNvPr id="7" name="Text 4"/>
          <p:cNvSpPr txBox="1"/>
          <p:nvPr/>
        </p:nvSpPr>
        <p:spPr>
          <a:xfrm>
            <a:off x="640080" y="2194560"/>
            <a:ext cx="1476756" cy="411480"/>
          </a:xfrm>
          <a:prstGeom prst="rect">
            <a:avLst/>
          </a:prstGeom>
          <a:noFill/>
          <a:ln/>
        </p:spPr>
        <p:txBody>
          <a:bodyPr wrap="square" lIns="0" tIns="0" rIns="0" bIns="0" rtlCol="0" anchor="t"/>
          <a:lstStyle/>
          <a:p>
            <a:pPr indent="0" marL="0">
              <a:buNone/>
            </a:pPr>
            <a:r>
              <a:rPr lang="en-US" sz="1300" b="1" dirty="0">
                <a:solidFill>
                  <a:srgbClr val="1F2937"/>
                </a:solidFill>
                <a:latin typeface="Calibri" pitchFamily="34" charset="0"/>
                <a:ea typeface="Calibri" pitchFamily="34" charset="-122"/>
                <a:cs typeface="Calibri" pitchFamily="34" charset="-120"/>
              </a:rPr>
              <a:t>LoopGuardInvoker</a:t>
            </a:r>
            <a:endParaRPr lang="en-US" sz="1300" dirty="0"/>
          </a:p>
        </p:txBody>
      </p:sp>
      <p:sp>
        <p:nvSpPr>
          <p:cNvPr id="8" name="Text 5"/>
          <p:cNvSpPr txBox="1"/>
          <p:nvPr/>
        </p:nvSpPr>
        <p:spPr>
          <a:xfrm>
            <a:off x="640080" y="2606040"/>
            <a:ext cx="1476756" cy="905256"/>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Module 12. Refuses repeats first, so nobody is asked twice.</a:t>
            </a:r>
            <a:endParaRPr lang="en-US" sz="1200" dirty="0"/>
          </a:p>
        </p:txBody>
      </p:sp>
      <p:sp>
        <p:nvSpPr>
          <p:cNvPr id="9" name="Shape 6"/>
          <p:cNvSpPr/>
          <p:nvPr/>
        </p:nvSpPr>
        <p:spPr>
          <a:xfrm>
            <a:off x="2318004" y="2400300"/>
            <a:ext cx="219456" cy="219456"/>
          </a:xfrm>
          <a:prstGeom prst="rightArrow">
            <a:avLst/>
          </a:prstGeom>
          <a:solidFill>
            <a:srgbClr val="F5A623"/>
          </a:solidFill>
          <a:ln w="12700">
            <a:solidFill>
              <a:srgbClr val="F5A623"/>
            </a:solidFill>
            <a:prstDash val="solid"/>
          </a:ln>
        </p:spPr>
      </p:sp>
      <p:sp>
        <p:nvSpPr>
          <p:cNvPr id="10" name="Shape 7"/>
          <p:cNvSpPr/>
          <p:nvPr/>
        </p:nvSpPr>
        <p:spPr>
          <a:xfrm>
            <a:off x="2601468" y="1417320"/>
            <a:ext cx="1796796" cy="2185416"/>
          </a:xfrm>
          <a:prstGeom prst="roundRect">
            <a:avLst>
              <a:gd name="adj" fmla="val 4071"/>
            </a:avLst>
          </a:prstGeom>
          <a:solidFill>
            <a:srgbClr val="512BD4"/>
          </a:solidFill>
          <a:ln w="12700">
            <a:solidFill>
              <a:srgbClr val="512BD4"/>
            </a:solidFill>
            <a:prstDash val="solid"/>
          </a:ln>
        </p:spPr>
      </p:sp>
      <p:sp>
        <p:nvSpPr>
          <p:cNvPr id="11" name="Shape 8"/>
          <p:cNvSpPr/>
          <p:nvPr/>
        </p:nvSpPr>
        <p:spPr>
          <a:xfrm>
            <a:off x="2784348" y="1618488"/>
            <a:ext cx="457200" cy="457200"/>
          </a:xfrm>
          <a:prstGeom prst="ellipse">
            <a:avLst/>
          </a:prstGeom>
          <a:solidFill>
            <a:srgbClr val="FFFFFF"/>
          </a:solidFill>
          <a:ln w="12700">
            <a:solidFill>
              <a:srgbClr val="FFFFFF"/>
            </a:solidFill>
            <a:prstDash val="solid"/>
          </a:ln>
        </p:spPr>
      </p:sp>
      <p:pic>
        <p:nvPicPr>
          <p:cNvPr id="12" name="Image 1" descr="preencoded.png">    </p:cNvPr>
          <p:cNvPicPr>
            <a:picLocks noChangeAspect="1"/>
          </p:cNvPicPr>
          <p:nvPr/>
        </p:nvPicPr>
        <p:blipFill>
          <a:blip r:embed="rId2"/>
          <a:stretch>
            <a:fillRect/>
          </a:stretch>
        </p:blipFill>
        <p:spPr>
          <a:xfrm>
            <a:off x="2903220" y="1737360"/>
            <a:ext cx="219456" cy="219456"/>
          </a:xfrm>
          <a:prstGeom prst="rect">
            <a:avLst/>
          </a:prstGeom>
        </p:spPr>
      </p:pic>
      <p:sp>
        <p:nvSpPr>
          <p:cNvPr id="13" name="Text 9"/>
          <p:cNvSpPr txBox="1"/>
          <p:nvPr/>
        </p:nvSpPr>
        <p:spPr>
          <a:xfrm>
            <a:off x="2784348" y="2194560"/>
            <a:ext cx="1476756" cy="41148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ApprovalInvoker</a:t>
            </a:r>
            <a:endParaRPr lang="en-US" sz="1400" dirty="0"/>
          </a:p>
        </p:txBody>
      </p:sp>
      <p:sp>
        <p:nvSpPr>
          <p:cNvPr id="14" name="Text 10"/>
          <p:cNvSpPr txBox="1"/>
          <p:nvPr/>
        </p:nvSpPr>
        <p:spPr>
          <a:xfrm>
            <a:off x="2784348" y="2606040"/>
            <a:ext cx="1476756" cy="905256"/>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Asks a human before a call that changes something</a:t>
            </a:r>
            <a:endParaRPr lang="en-US" sz="1200" dirty="0"/>
          </a:p>
        </p:txBody>
      </p:sp>
      <p:sp>
        <p:nvSpPr>
          <p:cNvPr id="15" name="Shape 11"/>
          <p:cNvSpPr/>
          <p:nvPr/>
        </p:nvSpPr>
        <p:spPr>
          <a:xfrm>
            <a:off x="4462272" y="2400300"/>
            <a:ext cx="219456" cy="219456"/>
          </a:xfrm>
          <a:prstGeom prst="rightArrow">
            <a:avLst/>
          </a:prstGeom>
          <a:solidFill>
            <a:srgbClr val="F5A623"/>
          </a:solidFill>
          <a:ln w="12700">
            <a:solidFill>
              <a:srgbClr val="F5A623"/>
            </a:solidFill>
            <a:prstDash val="solid"/>
          </a:ln>
        </p:spPr>
      </p:sp>
      <p:sp>
        <p:nvSpPr>
          <p:cNvPr id="16" name="Shape 12"/>
          <p:cNvSpPr/>
          <p:nvPr/>
        </p:nvSpPr>
        <p:spPr>
          <a:xfrm>
            <a:off x="4745736" y="1417320"/>
            <a:ext cx="1796796" cy="2185416"/>
          </a:xfrm>
          <a:prstGeom prst="roundRect">
            <a:avLst>
              <a:gd name="adj" fmla="val 4071"/>
            </a:avLst>
          </a:prstGeom>
          <a:solidFill>
            <a:srgbClr val="EFEBFC"/>
          </a:solidFill>
          <a:ln w="12700">
            <a:solidFill>
              <a:srgbClr val="EFEBFC"/>
            </a:solidFill>
            <a:prstDash val="solid"/>
          </a:ln>
        </p:spPr>
      </p:sp>
      <p:sp>
        <p:nvSpPr>
          <p:cNvPr id="17" name="Shape 13"/>
          <p:cNvSpPr/>
          <p:nvPr/>
        </p:nvSpPr>
        <p:spPr>
          <a:xfrm>
            <a:off x="4928616" y="1618488"/>
            <a:ext cx="457200" cy="457200"/>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5047488" y="1737360"/>
            <a:ext cx="219456" cy="219456"/>
          </a:xfrm>
          <a:prstGeom prst="rect">
            <a:avLst/>
          </a:prstGeom>
        </p:spPr>
      </p:pic>
      <p:sp>
        <p:nvSpPr>
          <p:cNvPr id="19" name="Text 14"/>
          <p:cNvSpPr txBox="1"/>
          <p:nvPr/>
        </p:nvSpPr>
        <p:spPr>
          <a:xfrm>
            <a:off x="4928616" y="2194560"/>
            <a:ext cx="1476756" cy="411480"/>
          </a:xfrm>
          <a:prstGeom prst="rect">
            <a:avLst/>
          </a:prstGeom>
          <a:noFill/>
          <a:ln/>
        </p:spPr>
        <p:txBody>
          <a:bodyPr wrap="square" lIns="0" tIns="0" rIns="0" bIns="0" rtlCol="0" anchor="t"/>
          <a:lstStyle/>
          <a:p>
            <a:pPr indent="0" marL="0">
              <a:buNone/>
            </a:pPr>
            <a:r>
              <a:rPr lang="en-US" sz="1300" b="1" dirty="0">
                <a:solidFill>
                  <a:srgbClr val="1F2937"/>
                </a:solidFill>
                <a:latin typeface="Calibri" pitchFamily="34" charset="0"/>
                <a:ea typeface="Calibri" pitchFamily="34" charset="-122"/>
                <a:cs typeface="Calibri" pitchFamily="34" charset="-120"/>
              </a:rPr>
              <a:t>DirectToolInvoker</a:t>
            </a:r>
            <a:endParaRPr lang="en-US" sz="1300" dirty="0"/>
          </a:p>
        </p:txBody>
      </p:sp>
      <p:sp>
        <p:nvSpPr>
          <p:cNvPr id="20" name="Text 15"/>
          <p:cNvSpPr txBox="1"/>
          <p:nvPr/>
        </p:nvSpPr>
        <p:spPr>
          <a:xfrm>
            <a:off x="4928616" y="2606040"/>
            <a:ext cx="1476756" cy="905256"/>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Module 5a. Runs the tool and never throws.</a:t>
            </a:r>
            <a:endParaRPr lang="en-US" sz="1200" dirty="0"/>
          </a:p>
        </p:txBody>
      </p:sp>
      <p:sp>
        <p:nvSpPr>
          <p:cNvPr id="21" name="Shape 16"/>
          <p:cNvSpPr/>
          <p:nvPr/>
        </p:nvSpPr>
        <p:spPr>
          <a:xfrm>
            <a:off x="6606540" y="2400300"/>
            <a:ext cx="219456" cy="219456"/>
          </a:xfrm>
          <a:prstGeom prst="rightArrow">
            <a:avLst/>
          </a:prstGeom>
          <a:solidFill>
            <a:srgbClr val="F5A623"/>
          </a:solidFill>
          <a:ln w="12700">
            <a:solidFill>
              <a:srgbClr val="F5A623"/>
            </a:solidFill>
            <a:prstDash val="solid"/>
          </a:ln>
        </p:spPr>
      </p:sp>
      <p:sp>
        <p:nvSpPr>
          <p:cNvPr id="22" name="Shape 17"/>
          <p:cNvSpPr/>
          <p:nvPr/>
        </p:nvSpPr>
        <p:spPr>
          <a:xfrm>
            <a:off x="6890004" y="1417320"/>
            <a:ext cx="1796796" cy="2185416"/>
          </a:xfrm>
          <a:prstGeom prst="roundRect">
            <a:avLst>
              <a:gd name="adj" fmla="val 4071"/>
            </a:avLst>
          </a:prstGeom>
          <a:solidFill>
            <a:srgbClr val="EFEBFC"/>
          </a:solidFill>
          <a:ln w="12700">
            <a:solidFill>
              <a:srgbClr val="EFEBFC"/>
            </a:solidFill>
            <a:prstDash val="solid"/>
          </a:ln>
        </p:spPr>
      </p:sp>
      <p:sp>
        <p:nvSpPr>
          <p:cNvPr id="23" name="Shape 18"/>
          <p:cNvSpPr/>
          <p:nvPr/>
        </p:nvSpPr>
        <p:spPr>
          <a:xfrm>
            <a:off x="7072884" y="1618488"/>
            <a:ext cx="457200" cy="457200"/>
          </a:xfrm>
          <a:prstGeom prst="ellipse">
            <a:avLst/>
          </a:prstGeom>
          <a:solidFill>
            <a:srgbClr val="512BD4"/>
          </a:solidFill>
          <a:ln w="12700">
            <a:solidFill>
              <a:srgbClr val="512BD4"/>
            </a:solidFill>
            <a:prstDash val="solid"/>
          </a:ln>
        </p:spPr>
      </p:sp>
      <p:pic>
        <p:nvPicPr>
          <p:cNvPr id="24" name="Image 3" descr="preencoded.png">    </p:cNvPr>
          <p:cNvPicPr>
            <a:picLocks noChangeAspect="1"/>
          </p:cNvPicPr>
          <p:nvPr/>
        </p:nvPicPr>
        <p:blipFill>
          <a:blip r:embed="rId4"/>
          <a:stretch>
            <a:fillRect/>
          </a:stretch>
        </p:blipFill>
        <p:spPr>
          <a:xfrm>
            <a:off x="7191756" y="1737360"/>
            <a:ext cx="219456" cy="219456"/>
          </a:xfrm>
          <a:prstGeom prst="rect">
            <a:avLst/>
          </a:prstGeom>
        </p:spPr>
      </p:pic>
      <p:sp>
        <p:nvSpPr>
          <p:cNvPr id="25" name="Text 19"/>
          <p:cNvSpPr txBox="1"/>
          <p:nvPr/>
        </p:nvSpPr>
        <p:spPr>
          <a:xfrm>
            <a:off x="7072884" y="2194560"/>
            <a:ext cx="1476756" cy="4114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The tool</a:t>
            </a:r>
            <a:endParaRPr lang="en-US" sz="1500" dirty="0"/>
          </a:p>
        </p:txBody>
      </p:sp>
      <p:sp>
        <p:nvSpPr>
          <p:cNvPr id="26" name="Text 20"/>
          <p:cNvSpPr txBox="1"/>
          <p:nvPr/>
        </p:nvSpPr>
        <p:spPr>
          <a:xfrm>
            <a:off x="7072884" y="2606040"/>
            <a:ext cx="1476756" cy="905256"/>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Unchanged. No tool's code knows approval exists.</a:t>
            </a:r>
            <a:endParaRPr lang="en-US" sz="1200" dirty="0"/>
          </a:p>
        </p:txBody>
      </p:sp>
      <p:sp>
        <p:nvSpPr>
          <p:cNvPr id="27" name="Text 21"/>
          <p:cNvSpPr txBox="1"/>
          <p:nvPr/>
        </p:nvSpPr>
        <p:spPr>
          <a:xfrm>
            <a:off x="457200" y="3922776"/>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Wrap, don't touch. A call waiting on an answer still counts toward the 20-call cap.</a:t>
            </a:r>
            <a:endParaRPr lang="en-US" sz="1400" dirty="0"/>
          </a:p>
        </p:txBody>
      </p:sp>
      <p:sp>
        <p:nvSpPr>
          <p:cNvPr id="28" name="Text 22"/>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Module 15 — Human Approval and Safety</a:t>
            </a:r>
            <a:endParaRPr lang="en-US" sz="900" dirty="0"/>
          </a:p>
        </p:txBody>
      </p:sp>
      <p:sp>
        <p:nvSpPr>
          <p:cNvPr id="29" name="Text 23"/>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1850" b="1" dirty="0">
                <a:solidFill>
                  <a:srgbClr val="1F2937"/>
                </a:solidFill>
                <a:latin typeface="Cambria" pitchFamily="34" charset="0"/>
                <a:ea typeface="Cambria" pitchFamily="34" charset="-122"/>
                <a:cs typeface="Cambria" pitchFamily="34" charset="-120"/>
              </a:rPr>
              <a:t>The interface where it's needed, the terminal where terminals live</a:t>
            </a:r>
            <a:endParaRPr lang="en-US" sz="1850" dirty="0"/>
          </a:p>
        </p:txBody>
      </p:sp>
      <p:sp>
        <p:nvSpPr>
          <p:cNvPr id="4" name="Shape 2"/>
          <p:cNvSpPr/>
          <p:nvPr/>
        </p:nvSpPr>
        <p:spPr>
          <a:xfrm>
            <a:off x="457200" y="1371600"/>
            <a:ext cx="3977640" cy="1120140"/>
          </a:xfrm>
          <a:prstGeom prst="roundRect">
            <a:avLst>
              <a:gd name="adj" fmla="val 6531"/>
            </a:avLst>
          </a:prstGeom>
          <a:solidFill>
            <a:srgbClr val="EFEBFC"/>
          </a:solidFill>
          <a:ln w="12700">
            <a:solidFill>
              <a:srgbClr val="EFEBFC"/>
            </a:solidFill>
            <a:prstDash val="solid"/>
          </a:ln>
        </p:spPr>
      </p:sp>
      <p:sp>
        <p:nvSpPr>
          <p:cNvPr id="5" name="Shape 3"/>
          <p:cNvSpPr/>
          <p:nvPr/>
        </p:nvSpPr>
        <p:spPr>
          <a:xfrm>
            <a:off x="640080" y="1554480"/>
            <a:ext cx="384048" cy="384048"/>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39932" y="1654332"/>
            <a:ext cx="184343" cy="184343"/>
          </a:xfrm>
          <a:prstGeom prst="rect">
            <a:avLst/>
          </a:prstGeom>
        </p:spPr>
      </p:pic>
      <p:sp>
        <p:nvSpPr>
          <p:cNvPr id="7" name="Text 4"/>
          <p:cNvSpPr txBox="1"/>
          <p:nvPr/>
        </p:nvSpPr>
        <p:spPr>
          <a:xfrm>
            <a:off x="1143000" y="1554480"/>
            <a:ext cx="315468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alibri" pitchFamily="34" charset="0"/>
                <a:ea typeface="Calibri" pitchFamily="34" charset="-122"/>
                <a:cs typeface="Calibri" pitchFamily="34" charset="-120"/>
              </a:rPr>
              <a:t>IApprovalPrompter</a:t>
            </a:r>
            <a:endParaRPr lang="en-US" sz="1500" dirty="0"/>
          </a:p>
        </p:txBody>
      </p:sp>
      <p:sp>
        <p:nvSpPr>
          <p:cNvPr id="8" name="Text 5"/>
          <p:cNvSpPr txBox="1"/>
          <p:nvPr/>
        </p:nvSpPr>
        <p:spPr>
          <a:xfrm>
            <a:off x="640080" y="2057400"/>
            <a:ext cx="3611880" cy="34290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In MiniCode.Agent, next to the invoker that calls it</a:t>
            </a:r>
            <a:endParaRPr lang="en-US" sz="1200" dirty="0"/>
          </a:p>
        </p:txBody>
      </p:sp>
      <p:sp>
        <p:nvSpPr>
          <p:cNvPr id="9" name="Shape 6"/>
          <p:cNvSpPr/>
          <p:nvPr/>
        </p:nvSpPr>
        <p:spPr>
          <a:xfrm>
            <a:off x="4709160" y="1371600"/>
            <a:ext cx="3977640" cy="1120140"/>
          </a:xfrm>
          <a:prstGeom prst="roundRect">
            <a:avLst>
              <a:gd name="adj" fmla="val 6531"/>
            </a:avLst>
          </a:prstGeom>
          <a:solidFill>
            <a:srgbClr val="EFEBFC"/>
          </a:solidFill>
          <a:ln w="12700">
            <a:solidFill>
              <a:srgbClr val="EFEBFC"/>
            </a:solidFill>
            <a:prstDash val="solid"/>
          </a:ln>
        </p:spPr>
      </p:sp>
      <p:sp>
        <p:nvSpPr>
          <p:cNvPr id="10" name="Shape 7"/>
          <p:cNvSpPr/>
          <p:nvPr/>
        </p:nvSpPr>
        <p:spPr>
          <a:xfrm>
            <a:off x="4892040" y="155448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4991892" y="1654332"/>
            <a:ext cx="184343" cy="184343"/>
          </a:xfrm>
          <a:prstGeom prst="rect">
            <a:avLst/>
          </a:prstGeom>
        </p:spPr>
      </p:pic>
      <p:sp>
        <p:nvSpPr>
          <p:cNvPr id="12" name="Text 8"/>
          <p:cNvSpPr txBox="1"/>
          <p:nvPr/>
        </p:nvSpPr>
        <p:spPr>
          <a:xfrm>
            <a:off x="5394960" y="1554480"/>
            <a:ext cx="3154680" cy="384048"/>
          </a:xfrm>
          <a:prstGeom prst="rect">
            <a:avLst/>
          </a:prstGeom>
          <a:noFill/>
          <a:ln/>
        </p:spPr>
        <p:txBody>
          <a:bodyPr wrap="square" lIns="0" tIns="0" rIns="0" bIns="0" rtlCol="0" anchor="ctr">
            <a:normAutofit/>
          </a:bodyPr>
          <a:lstStyle/>
          <a:p>
            <a:pPr indent="0" marL="0">
              <a:buNone/>
            </a:pPr>
            <a:r>
              <a:rPr lang="en-US" sz="1400" b="1" dirty="0">
                <a:solidFill>
                  <a:srgbClr val="1F2937"/>
                </a:solidFill>
                <a:latin typeface="Calibri" pitchFamily="34" charset="0"/>
                <a:ea typeface="Calibri" pitchFamily="34" charset="-122"/>
                <a:cs typeface="Calibri" pitchFamily="34" charset="-120"/>
              </a:rPr>
              <a:t>ConsoleApprovalPrompter</a:t>
            </a:r>
            <a:endParaRPr lang="en-US" sz="1400" dirty="0"/>
          </a:p>
        </p:txBody>
      </p:sp>
      <p:sp>
        <p:nvSpPr>
          <p:cNvPr id="13" name="Text 9"/>
          <p:cNvSpPr txBox="1"/>
          <p:nvPr/>
        </p:nvSpPr>
        <p:spPr>
          <a:xfrm>
            <a:off x="4892040" y="2057400"/>
            <a:ext cx="3611880" cy="34290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In MiniCode.Cli, internal. The only class that reads an answer from a person.</a:t>
            </a:r>
            <a:endParaRPr lang="en-US" sz="1200" dirty="0"/>
          </a:p>
        </p:txBody>
      </p:sp>
      <p:sp>
        <p:nvSpPr>
          <p:cNvPr id="14" name="Shape 10"/>
          <p:cNvSpPr/>
          <p:nvPr/>
        </p:nvSpPr>
        <p:spPr>
          <a:xfrm>
            <a:off x="457200" y="2720340"/>
            <a:ext cx="3977640" cy="1120140"/>
          </a:xfrm>
          <a:prstGeom prst="roundRect">
            <a:avLst>
              <a:gd name="adj" fmla="val 6531"/>
            </a:avLst>
          </a:prstGeom>
          <a:solidFill>
            <a:srgbClr val="512BD4"/>
          </a:solidFill>
          <a:ln w="12700">
            <a:solidFill>
              <a:srgbClr val="512BD4"/>
            </a:solidFill>
            <a:prstDash val="solid"/>
          </a:ln>
        </p:spPr>
      </p:sp>
      <p:sp>
        <p:nvSpPr>
          <p:cNvPr id="15" name="Shape 11"/>
          <p:cNvSpPr/>
          <p:nvPr/>
        </p:nvSpPr>
        <p:spPr>
          <a:xfrm>
            <a:off x="640080" y="2903220"/>
            <a:ext cx="384048" cy="384048"/>
          </a:xfrm>
          <a:prstGeom prst="ellipse">
            <a:avLst/>
          </a:prstGeom>
          <a:solidFill>
            <a:srgbClr val="FFFFFF"/>
          </a:solidFill>
          <a:ln w="12700">
            <a:solidFill>
              <a:srgbClr val="FFFFFF"/>
            </a:solidFill>
            <a:prstDash val="solid"/>
          </a:ln>
        </p:spPr>
      </p:sp>
      <p:pic>
        <p:nvPicPr>
          <p:cNvPr id="16" name="Image 2" descr="preencoded.png">    </p:cNvPr>
          <p:cNvPicPr>
            <a:picLocks noChangeAspect="1"/>
          </p:cNvPicPr>
          <p:nvPr/>
        </p:nvPicPr>
        <p:blipFill>
          <a:blip r:embed="rId3"/>
          <a:stretch>
            <a:fillRect/>
          </a:stretch>
        </p:blipFill>
        <p:spPr>
          <a:xfrm>
            <a:off x="739932" y="3003072"/>
            <a:ext cx="184343" cy="184343"/>
          </a:xfrm>
          <a:prstGeom prst="rect">
            <a:avLst/>
          </a:prstGeom>
        </p:spPr>
      </p:pic>
      <p:sp>
        <p:nvSpPr>
          <p:cNvPr id="17" name="Text 12"/>
          <p:cNvSpPr txBox="1"/>
          <p:nvPr/>
        </p:nvSpPr>
        <p:spPr>
          <a:xfrm>
            <a:off x="1143000" y="2903220"/>
            <a:ext cx="3154680" cy="384048"/>
          </a:xfrm>
          <a:prstGeom prst="rect">
            <a:avLst/>
          </a:prstGeom>
          <a:noFill/>
          <a:ln/>
        </p:spPr>
        <p:txBody>
          <a:bodyPr wrap="square" lIns="0" tIns="0" rIns="0" bIns="0" rtlCol="0" anchor="ctr">
            <a:normAutofit/>
          </a:bodyPr>
          <a:lstStyle/>
          <a:p>
            <a:pPr indent="0" marL="0">
              <a:buNone/>
            </a:pPr>
            <a:r>
              <a:rPr lang="en-US" sz="1500" b="1" dirty="0">
                <a:solidFill>
                  <a:srgbClr val="FFFFFF"/>
                </a:solidFill>
                <a:latin typeface="Calibri" pitchFamily="34" charset="0"/>
                <a:ea typeface="Calibri" pitchFamily="34" charset="-122"/>
                <a:cs typeface="Calibri" pitchFamily="34" charset="-120"/>
              </a:rPr>
              <a:t>CodingAgentFactory</a:t>
            </a:r>
            <a:endParaRPr lang="en-US" sz="1500" dirty="0"/>
          </a:p>
        </p:txBody>
      </p:sp>
      <p:sp>
        <p:nvSpPr>
          <p:cNvPr id="18" name="Text 13"/>
          <p:cNvSpPr txBox="1"/>
          <p:nvPr/>
        </p:nvSpPr>
        <p:spPr>
          <a:xfrm>
            <a:off x="640080" y="3406140"/>
            <a:ext cx="3611880" cy="34290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Takes the prompter from its caller: a first for the composition root</a:t>
            </a:r>
            <a:endParaRPr lang="en-US" sz="1200" dirty="0"/>
          </a:p>
        </p:txBody>
      </p:sp>
      <p:sp>
        <p:nvSpPr>
          <p:cNvPr id="19" name="Shape 14"/>
          <p:cNvSpPr/>
          <p:nvPr/>
        </p:nvSpPr>
        <p:spPr>
          <a:xfrm>
            <a:off x="4709160" y="2720340"/>
            <a:ext cx="3977640" cy="1120140"/>
          </a:xfrm>
          <a:prstGeom prst="roundRect">
            <a:avLst>
              <a:gd name="adj" fmla="val 6531"/>
            </a:avLst>
          </a:prstGeom>
          <a:solidFill>
            <a:srgbClr val="EFEBFC"/>
          </a:solidFill>
          <a:ln w="12700">
            <a:solidFill>
              <a:srgbClr val="EFEBFC"/>
            </a:solidFill>
            <a:prstDash val="solid"/>
          </a:ln>
        </p:spPr>
      </p:sp>
      <p:sp>
        <p:nvSpPr>
          <p:cNvPr id="20" name="Shape 15"/>
          <p:cNvSpPr/>
          <p:nvPr/>
        </p:nvSpPr>
        <p:spPr>
          <a:xfrm>
            <a:off x="4892040" y="2903220"/>
            <a:ext cx="384048" cy="384048"/>
          </a:xfrm>
          <a:prstGeom prst="ellipse">
            <a:avLst/>
          </a:prstGeom>
          <a:solidFill>
            <a:srgbClr val="512BD4"/>
          </a:solidFill>
          <a:ln w="12700">
            <a:solidFill>
              <a:srgbClr val="512BD4"/>
            </a:solidFill>
            <a:prstDash val="solid"/>
          </a:ln>
        </p:spPr>
      </p:sp>
      <p:pic>
        <p:nvPicPr>
          <p:cNvPr id="21" name="Image 3" descr="preencoded.png">    </p:cNvPr>
          <p:cNvPicPr>
            <a:picLocks noChangeAspect="1"/>
          </p:cNvPicPr>
          <p:nvPr/>
        </p:nvPicPr>
        <p:blipFill>
          <a:blip r:embed="rId4"/>
          <a:stretch>
            <a:fillRect/>
          </a:stretch>
        </p:blipFill>
        <p:spPr>
          <a:xfrm>
            <a:off x="4991892" y="3003072"/>
            <a:ext cx="184343" cy="184343"/>
          </a:xfrm>
          <a:prstGeom prst="rect">
            <a:avLst/>
          </a:prstGeom>
        </p:spPr>
      </p:pic>
      <p:sp>
        <p:nvSpPr>
          <p:cNvPr id="22" name="Text 16"/>
          <p:cNvSpPr txBox="1"/>
          <p:nvPr/>
        </p:nvSpPr>
        <p:spPr>
          <a:xfrm>
            <a:off x="5394960" y="2903220"/>
            <a:ext cx="315468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alibri" pitchFamily="34" charset="0"/>
                <a:ea typeface="Calibri" pitchFamily="34" charset="-122"/>
                <a:cs typeface="Calibri" pitchFamily="34" charset="-120"/>
              </a:rPr>
              <a:t>Program.cs</a:t>
            </a:r>
            <a:endParaRPr lang="en-US" sz="1500" dirty="0"/>
          </a:p>
        </p:txBody>
      </p:sp>
      <p:sp>
        <p:nvSpPr>
          <p:cNvPr id="23" name="Text 17"/>
          <p:cNvSpPr txBox="1"/>
          <p:nvPr/>
        </p:nvSpPr>
        <p:spPr>
          <a:xfrm>
            <a:off x="4892040" y="3406140"/>
            <a:ext cx="3611880" cy="34290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Passes new ConsoleApprovalPrompter() at the one call site</a:t>
            </a:r>
            <a:endParaRPr lang="en-US" sz="1200" dirty="0"/>
          </a:p>
        </p:txBody>
      </p:sp>
      <p:sp>
        <p:nvSpPr>
          <p:cNvPr id="24" name="Text 18"/>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Module 15 — Human Approval and Safety</a:t>
            </a:r>
            <a:endParaRPr lang="en-US" sz="900" dirty="0"/>
          </a:p>
        </p:txBody>
      </p:sp>
      <p:sp>
        <p:nvSpPr>
          <p:cNvPr id="25" name="Text 19"/>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Three answers, and what each one does</a:t>
            </a:r>
            <a:endParaRPr lang="en-US" sz="2800" dirty="0"/>
          </a:p>
        </p:txBody>
      </p:sp>
      <p:sp>
        <p:nvSpPr>
          <p:cNvPr id="4" name="Shape 2"/>
          <p:cNvSpPr/>
          <p:nvPr/>
        </p:nvSpPr>
        <p:spPr>
          <a:xfrm>
            <a:off x="457200" y="1325880"/>
            <a:ext cx="5257800" cy="2011680"/>
          </a:xfrm>
          <a:prstGeom prst="roundRect">
            <a:avLst>
              <a:gd name="adj" fmla="val 3636"/>
            </a:avLst>
          </a:prstGeom>
          <a:solidFill>
            <a:srgbClr val="0F1420"/>
          </a:solidFill>
          <a:ln w="12700">
            <a:solidFill>
              <a:srgbClr val="0F1420"/>
            </a:solidFill>
            <a:prstDash val="solid"/>
          </a:ln>
        </p:spPr>
      </p:sp>
      <p:sp>
        <p:nvSpPr>
          <p:cNvPr id="5" name="Text 3"/>
          <p:cNvSpPr txBox="1"/>
          <p:nvPr/>
        </p:nvSpPr>
        <p:spPr>
          <a:xfrm>
            <a:off x="640080" y="1463040"/>
            <a:ext cx="4892040" cy="1737360"/>
          </a:xfrm>
          <a:prstGeom prst="rect">
            <a:avLst/>
          </a:prstGeom>
          <a:noFill/>
          <a:ln/>
        </p:spPr>
        <p:txBody>
          <a:bodyPr wrap="square" lIns="0" tIns="0" rIns="0" bIns="0" rtlCol="0" anchor="t"/>
          <a:lstStyle/>
          <a:p>
            <a:pPr indent="0" marL="0">
              <a:buNone/>
            </a:pPr>
            <a:r>
              <a:rPr lang="en-US" sz="1000" dirty="0">
                <a:solidFill>
                  <a:srgbClr val="D7E3F4"/>
                </a:solidFill>
                <a:latin typeface="Courier New" pitchFamily="34" charset="0"/>
                <a:ea typeface="Courier New" pitchFamily="34" charset="-122"/>
                <a:cs typeface="Courier New" pitchFamily="34" charset="-120"/>
              </a:rPr>
              <a:t>MiniCode wants to run:</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run_command({"command":"git","arguments":["push"]})</a:t>
            </a:r>
            <a:endParaRPr lang="en-US" sz="1000" dirty="0"/>
          </a:p>
          <a:p>
            <a:pPr indent="0" marL="0">
              <a:buNone/>
            </a:pPr>
            <a:r>
              <a:rPr lang="en-US" sz="1000" b="1" dirty="0">
                <a:solidFill>
                  <a:srgbClr val="F5A623"/>
                </a:solidFill>
                <a:latin typeface="Courier New" pitchFamily="34" charset="0"/>
                <a:ea typeface="Courier New" pitchFamily="34" charset="-122"/>
                <a:cs typeface="Courier New" pitchFamily="34" charset="-120"/>
              </a:rPr>
              <a:t>Allow? [Y] Yes  [N] No  [A] Always allow for this session:</a:t>
            </a:r>
            <a:endParaRPr lang="en-US" sz="1000" dirty="0"/>
          </a:p>
        </p:txBody>
      </p:sp>
      <p:sp>
        <p:nvSpPr>
          <p:cNvPr id="6" name="Shape 4"/>
          <p:cNvSpPr/>
          <p:nvPr/>
        </p:nvSpPr>
        <p:spPr>
          <a:xfrm>
            <a:off x="6035040" y="1325880"/>
            <a:ext cx="384048" cy="384048"/>
          </a:xfrm>
          <a:prstGeom prst="ellipse">
            <a:avLst/>
          </a:prstGeom>
          <a:solidFill>
            <a:srgbClr val="16A34A"/>
          </a:solidFill>
          <a:ln w="12700">
            <a:solidFill>
              <a:srgbClr val="16A34A"/>
            </a:solidFill>
            <a:prstDash val="solid"/>
          </a:ln>
        </p:spPr>
      </p:sp>
      <p:pic>
        <p:nvPicPr>
          <p:cNvPr id="7" name="Image 0" descr="preencoded.png">    </p:cNvPr>
          <p:cNvPicPr>
            <a:picLocks noChangeAspect="1"/>
          </p:cNvPicPr>
          <p:nvPr/>
        </p:nvPicPr>
        <p:blipFill>
          <a:blip r:embed="rId1"/>
          <a:stretch>
            <a:fillRect/>
          </a:stretch>
        </p:blipFill>
        <p:spPr>
          <a:xfrm>
            <a:off x="6134892" y="1425732"/>
            <a:ext cx="184343" cy="184343"/>
          </a:xfrm>
          <a:prstGeom prst="rect">
            <a:avLst/>
          </a:prstGeom>
        </p:spPr>
      </p:pic>
      <p:sp>
        <p:nvSpPr>
          <p:cNvPr id="8" name="Text 5"/>
          <p:cNvSpPr txBox="1"/>
          <p:nvPr/>
        </p:nvSpPr>
        <p:spPr>
          <a:xfrm>
            <a:off x="6537960" y="132588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Y: run it</a:t>
            </a:r>
            <a:endParaRPr lang="en-US" sz="1400" dirty="0"/>
          </a:p>
        </p:txBody>
      </p:sp>
      <p:sp>
        <p:nvSpPr>
          <p:cNvPr id="9" name="Text 6"/>
          <p:cNvSpPr txBox="1"/>
          <p:nvPr/>
        </p:nvSpPr>
        <p:spPr>
          <a:xfrm>
            <a:off x="6537960" y="170992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And ask again next time</a:t>
            </a:r>
            <a:endParaRPr lang="en-US" sz="1200" dirty="0"/>
          </a:p>
        </p:txBody>
      </p:sp>
      <p:sp>
        <p:nvSpPr>
          <p:cNvPr id="10" name="Shape 7"/>
          <p:cNvSpPr/>
          <p:nvPr/>
        </p:nvSpPr>
        <p:spPr>
          <a:xfrm>
            <a:off x="6035040" y="2423160"/>
            <a:ext cx="384048" cy="384048"/>
          </a:xfrm>
          <a:prstGeom prst="ellipse">
            <a:avLst/>
          </a:prstGeom>
          <a:solidFill>
            <a:srgbClr val="DC2626"/>
          </a:solidFill>
          <a:ln w="12700">
            <a:solidFill>
              <a:srgbClr val="DC2626"/>
            </a:solidFill>
            <a:prstDash val="solid"/>
          </a:ln>
        </p:spPr>
      </p:sp>
      <p:pic>
        <p:nvPicPr>
          <p:cNvPr id="11" name="Image 1" descr="preencoded.png">    </p:cNvPr>
          <p:cNvPicPr>
            <a:picLocks noChangeAspect="1"/>
          </p:cNvPicPr>
          <p:nvPr/>
        </p:nvPicPr>
        <p:blipFill>
          <a:blip r:embed="rId2"/>
          <a:stretch>
            <a:fillRect/>
          </a:stretch>
        </p:blipFill>
        <p:spPr>
          <a:xfrm>
            <a:off x="6134892" y="2523012"/>
            <a:ext cx="184343" cy="184343"/>
          </a:xfrm>
          <a:prstGeom prst="rect">
            <a:avLst/>
          </a:prstGeom>
        </p:spPr>
      </p:pic>
      <p:sp>
        <p:nvSpPr>
          <p:cNvPr id="12" name="Text 8"/>
          <p:cNvSpPr txBox="1"/>
          <p:nvPr/>
        </p:nvSpPr>
        <p:spPr>
          <a:xfrm>
            <a:off x="6537960" y="242316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N: a sentence</a:t>
            </a:r>
            <a:endParaRPr lang="en-US" sz="1400" dirty="0"/>
          </a:p>
        </p:txBody>
      </p:sp>
      <p:sp>
        <p:nvSpPr>
          <p:cNvPr id="13" name="Text 9"/>
          <p:cNvSpPr txBox="1"/>
          <p:nvPr/>
        </p:nvSpPr>
        <p:spPr>
          <a:xfrm>
            <a:off x="6537960" y="280720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 was not approved and did not run."</a:t>
            </a:r>
            <a:endParaRPr lang="en-US" sz="1200" dirty="0"/>
          </a:p>
        </p:txBody>
      </p:sp>
      <p:sp>
        <p:nvSpPr>
          <p:cNvPr id="14" name="Shape 10"/>
          <p:cNvSpPr/>
          <p:nvPr/>
        </p:nvSpPr>
        <p:spPr>
          <a:xfrm>
            <a:off x="6035040" y="3520440"/>
            <a:ext cx="384048" cy="384048"/>
          </a:xfrm>
          <a:prstGeom prst="ellipse">
            <a:avLst/>
          </a:prstGeom>
          <a:solidFill>
            <a:srgbClr val="512BD4"/>
          </a:solidFill>
          <a:ln w="12700">
            <a:solidFill>
              <a:srgbClr val="512BD4"/>
            </a:solidFill>
            <a:prstDash val="solid"/>
          </a:ln>
        </p:spPr>
      </p:sp>
      <p:pic>
        <p:nvPicPr>
          <p:cNvPr id="15" name="Image 2" descr="preencoded.png">    </p:cNvPr>
          <p:cNvPicPr>
            <a:picLocks noChangeAspect="1"/>
          </p:cNvPicPr>
          <p:nvPr/>
        </p:nvPicPr>
        <p:blipFill>
          <a:blip r:embed="rId3"/>
          <a:stretch>
            <a:fillRect/>
          </a:stretch>
        </p:blipFill>
        <p:spPr>
          <a:xfrm>
            <a:off x="6134892" y="3620292"/>
            <a:ext cx="184343" cy="184343"/>
          </a:xfrm>
          <a:prstGeom prst="rect">
            <a:avLst/>
          </a:prstGeom>
        </p:spPr>
      </p:pic>
      <p:sp>
        <p:nvSpPr>
          <p:cNvPr id="16" name="Text 11"/>
          <p:cNvSpPr txBox="1"/>
          <p:nvPr/>
        </p:nvSpPr>
        <p:spPr>
          <a:xfrm>
            <a:off x="6537960" y="352044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A: one flag</a:t>
            </a:r>
            <a:endParaRPr lang="en-US" sz="1400" dirty="0"/>
          </a:p>
        </p:txBody>
      </p:sp>
      <p:sp>
        <p:nvSpPr>
          <p:cNvPr id="17" name="Text 12"/>
          <p:cNvSpPr txBox="1"/>
          <p:nvPr/>
        </p:nvSpPr>
        <p:spPr>
          <a:xfrm>
            <a:off x="6537960" y="390448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No more prompts for this session</a:t>
            </a:r>
            <a:endParaRPr lang="en-US" sz="1200" dirty="0"/>
          </a:p>
        </p:txBody>
      </p:sp>
      <p:sp>
        <p:nvSpPr>
          <p:cNvPr id="18" name="Text 13"/>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Module 15 — Human Approval and Safety</a:t>
            </a:r>
            <a:endParaRPr lang="en-US" sz="900" dirty="0"/>
          </a:p>
        </p:txBody>
      </p:sp>
      <p:sp>
        <p:nvSpPr>
          <p:cNvPr id="19" name="Text 14"/>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EXERCISE</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Remember "always" per tool</a:t>
            </a:r>
            <a:endParaRPr lang="en-US" sz="2800" dirty="0"/>
          </a:p>
        </p:txBody>
      </p:sp>
      <p:sp>
        <p:nvSpPr>
          <p:cNvPr id="4" name="Shape 2"/>
          <p:cNvSpPr/>
          <p:nvPr/>
        </p:nvSpPr>
        <p:spPr>
          <a:xfrm>
            <a:off x="457200" y="1371600"/>
            <a:ext cx="3108960" cy="3017520"/>
          </a:xfrm>
          <a:prstGeom prst="roundRect">
            <a:avLst>
              <a:gd name="adj" fmla="val 2424"/>
            </a:avLst>
          </a:prstGeom>
          <a:solidFill>
            <a:srgbClr val="512BD4"/>
          </a:solidFill>
          <a:ln w="12700">
            <a:solidFill>
              <a:srgbClr val="512BD4"/>
            </a:solidFill>
            <a:prstDash val="solid"/>
          </a:ln>
        </p:spPr>
      </p:sp>
      <p:sp>
        <p:nvSpPr>
          <p:cNvPr id="5" name="Shape 3"/>
          <p:cNvSpPr/>
          <p:nvPr/>
        </p:nvSpPr>
        <p:spPr>
          <a:xfrm>
            <a:off x="685800" y="1600200"/>
            <a:ext cx="457200" cy="45720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804672" y="1719072"/>
            <a:ext cx="219456" cy="219456"/>
          </a:xfrm>
          <a:prstGeom prst="rect">
            <a:avLst/>
          </a:prstGeom>
        </p:spPr>
      </p:pic>
      <p:sp>
        <p:nvSpPr>
          <p:cNvPr id="7" name="Text 4"/>
          <p:cNvSpPr txBox="1"/>
          <p:nvPr/>
        </p:nvSpPr>
        <p:spPr>
          <a:xfrm>
            <a:off x="685800" y="2194560"/>
            <a:ext cx="2651760" cy="137160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Answering "always" to a write_file prompt also silences the next git push. Change ApprovalInvoker to remember "always" per tool name instead of globally.</a:t>
            </a:r>
            <a:endParaRPr lang="en-US" sz="1400" dirty="0"/>
          </a:p>
        </p:txBody>
      </p:sp>
      <p:sp>
        <p:nvSpPr>
          <p:cNvPr id="8" name="Text 5"/>
          <p:cNvSpPr txBox="1"/>
          <p:nvPr/>
        </p:nvSpPr>
        <p:spPr>
          <a:xfrm>
            <a:off x="685800" y="3611880"/>
            <a:ext cx="2743200" cy="640080"/>
          </a:xfrm>
          <a:prstGeom prst="rect">
            <a:avLst/>
          </a:prstGeom>
          <a:noFill/>
          <a:ln/>
        </p:spPr>
        <p:txBody>
          <a:bodyPr wrap="square" lIns="0" tIns="0" rIns="0" bIns="0" rtlCol="0" anchor="b"/>
          <a:lstStyle/>
          <a:p>
            <a:pPr indent="0" marL="0">
              <a:buNone/>
            </a:pPr>
            <a:r>
              <a:rPr lang="en-US" sz="900" dirty="0">
                <a:solidFill>
                  <a:srgbClr val="B8B2E6"/>
                </a:solidFill>
                <a:latin typeface="Courier New" pitchFamily="34" charset="0"/>
                <a:ea typeface="Courier New" pitchFamily="34" charset="-122"/>
                <a:cs typeface="Courier New" pitchFamily="34" charset="-120"/>
              </a:rPr>
              <a:t>src/MiniCode.Agent/ApprovalInvoker.cs</a:t>
            </a:r>
            <a:endParaRPr lang="en-US" sz="900" dirty="0"/>
          </a:p>
        </p:txBody>
      </p:sp>
      <p:sp>
        <p:nvSpPr>
          <p:cNvPr id="9" name="Text 6"/>
          <p:cNvSpPr txBox="1"/>
          <p:nvPr/>
        </p:nvSpPr>
        <p:spPr>
          <a:xfrm>
            <a:off x="3931920" y="1371600"/>
            <a:ext cx="4754880" cy="320040"/>
          </a:xfrm>
          <a:prstGeom prst="rect">
            <a:avLst/>
          </a:prstGeom>
          <a:noFill/>
          <a:ln/>
        </p:spPr>
        <p:txBody>
          <a:bodyPr wrap="square" lIns="0" tIns="0" rIns="0" bIns="0" rtlCol="0" anchor="t"/>
          <a:lstStyle/>
          <a:p>
            <a:pPr indent="0" marL="0">
              <a:buNone/>
            </a:pPr>
            <a:r>
              <a:rPr lang="en-US" sz="1600" b="1" dirty="0">
                <a:solidFill>
                  <a:srgbClr val="1F2937"/>
                </a:solidFill>
                <a:latin typeface="Cambria" pitchFamily="34" charset="0"/>
                <a:ea typeface="Cambria" pitchFamily="34" charset="-122"/>
                <a:cs typeface="Cambria" pitchFamily="34" charset="-120"/>
              </a:rPr>
              <a:t>Done when</a:t>
            </a:r>
            <a:endParaRPr lang="en-US" sz="1600" dirty="0"/>
          </a:p>
        </p:txBody>
      </p:sp>
      <p:sp>
        <p:nvSpPr>
          <p:cNvPr id="10" name="Shape 7"/>
          <p:cNvSpPr/>
          <p:nvPr/>
        </p:nvSpPr>
        <p:spPr>
          <a:xfrm>
            <a:off x="3931920" y="1801368"/>
            <a:ext cx="292608" cy="292608"/>
          </a:xfrm>
          <a:prstGeom prst="ellipse">
            <a:avLst/>
          </a:prstGeom>
          <a:solidFill>
            <a:srgbClr val="F5A623"/>
          </a:solidFill>
          <a:ln w="12700">
            <a:solidFill>
              <a:srgbClr val="F5A623"/>
            </a:solidFill>
            <a:prstDash val="solid"/>
          </a:ln>
        </p:spPr>
      </p:sp>
      <p:pic>
        <p:nvPicPr>
          <p:cNvPr id="11" name="Image 1" descr="preencoded.png">    </p:cNvPr>
          <p:cNvPicPr>
            <a:picLocks noChangeAspect="1"/>
          </p:cNvPicPr>
          <p:nvPr/>
        </p:nvPicPr>
        <p:blipFill>
          <a:blip r:embed="rId2"/>
          <a:stretch>
            <a:fillRect/>
          </a:stretch>
        </p:blipFill>
        <p:spPr>
          <a:xfrm>
            <a:off x="4007998" y="1877446"/>
            <a:ext cx="140452" cy="140452"/>
          </a:xfrm>
          <a:prstGeom prst="rect">
            <a:avLst/>
          </a:prstGeom>
        </p:spPr>
      </p:pic>
      <p:sp>
        <p:nvSpPr>
          <p:cNvPr id="12" name="Text 8"/>
          <p:cNvSpPr txBox="1"/>
          <p:nvPr/>
        </p:nvSpPr>
        <p:spPr>
          <a:xfrm>
            <a:off x="4361688" y="1783080"/>
            <a:ext cx="4325112" cy="80772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"Always" for write_file stops write_file prompts, but a later run_command that needs approval still asks</a:t>
            </a:r>
            <a:endParaRPr lang="en-US" sz="1300" dirty="0"/>
          </a:p>
        </p:txBody>
      </p:sp>
      <p:sp>
        <p:nvSpPr>
          <p:cNvPr id="13" name="Shape 9"/>
          <p:cNvSpPr/>
          <p:nvPr/>
        </p:nvSpPr>
        <p:spPr>
          <a:xfrm>
            <a:off x="3931920" y="2654808"/>
            <a:ext cx="292608" cy="292608"/>
          </a:xfrm>
          <a:prstGeom prst="ellipse">
            <a:avLst/>
          </a:prstGeom>
          <a:solidFill>
            <a:srgbClr val="F5A623"/>
          </a:solidFill>
          <a:ln w="12700">
            <a:solidFill>
              <a:srgbClr val="F5A623"/>
            </a:solidFill>
            <a:prstDash val="solid"/>
          </a:ln>
        </p:spPr>
      </p:sp>
      <p:pic>
        <p:nvPicPr>
          <p:cNvPr id="14" name="Image 2" descr="preencoded.png">    </p:cNvPr>
          <p:cNvPicPr>
            <a:picLocks noChangeAspect="1"/>
          </p:cNvPicPr>
          <p:nvPr/>
        </p:nvPicPr>
        <p:blipFill>
          <a:blip r:embed="rId3"/>
          <a:stretch>
            <a:fillRect/>
          </a:stretch>
        </p:blipFill>
        <p:spPr>
          <a:xfrm>
            <a:off x="4007998" y="2730886"/>
            <a:ext cx="140452" cy="140452"/>
          </a:xfrm>
          <a:prstGeom prst="rect">
            <a:avLst/>
          </a:prstGeom>
        </p:spPr>
      </p:pic>
      <p:sp>
        <p:nvSpPr>
          <p:cNvPr id="15" name="Text 10"/>
          <p:cNvSpPr txBox="1"/>
          <p:nvPr/>
        </p:nvSpPr>
        <p:spPr>
          <a:xfrm>
            <a:off x="4361688" y="2636520"/>
            <a:ext cx="4325112" cy="80772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A fresh ApprovalInvoker starts with nothing remembered</a:t>
            </a:r>
            <a:endParaRPr lang="en-US" sz="1300" dirty="0"/>
          </a:p>
        </p:txBody>
      </p:sp>
      <p:sp>
        <p:nvSpPr>
          <p:cNvPr id="16" name="Shape 11"/>
          <p:cNvSpPr/>
          <p:nvPr/>
        </p:nvSpPr>
        <p:spPr>
          <a:xfrm>
            <a:off x="3931920" y="3508248"/>
            <a:ext cx="292608" cy="292608"/>
          </a:xfrm>
          <a:prstGeom prst="ellipse">
            <a:avLst/>
          </a:prstGeom>
          <a:solidFill>
            <a:srgbClr val="F5A623"/>
          </a:solidFill>
          <a:ln w="12700">
            <a:solidFill>
              <a:srgbClr val="F5A623"/>
            </a:solidFill>
            <a:prstDash val="solid"/>
          </a:ln>
        </p:spPr>
      </p:sp>
      <p:pic>
        <p:nvPicPr>
          <p:cNvPr id="17" name="Image 3" descr="preencoded.png">    </p:cNvPr>
          <p:cNvPicPr>
            <a:picLocks noChangeAspect="1"/>
          </p:cNvPicPr>
          <p:nvPr/>
        </p:nvPicPr>
        <p:blipFill>
          <a:blip r:embed="rId4"/>
          <a:stretch>
            <a:fillRect/>
          </a:stretch>
        </p:blipFill>
        <p:spPr>
          <a:xfrm>
            <a:off x="4007998" y="3584326"/>
            <a:ext cx="140452" cy="140452"/>
          </a:xfrm>
          <a:prstGeom prst="rect">
            <a:avLst/>
          </a:prstGeom>
        </p:spPr>
      </p:pic>
      <p:sp>
        <p:nvSpPr>
          <p:cNvPr id="18" name="Text 12"/>
          <p:cNvSpPr txBox="1"/>
          <p:nvPr/>
        </p:nvSpPr>
        <p:spPr>
          <a:xfrm>
            <a:off x="4361688" y="3489960"/>
            <a:ext cx="4325112" cy="80772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Denying a call does not count as "always" for anything</a:t>
            </a:r>
            <a:endParaRPr lang="en-US" sz="1300" dirty="0"/>
          </a:p>
        </p:txBody>
      </p:sp>
      <p:sp>
        <p:nvSpPr>
          <p:cNvPr id="19" name="Text 13"/>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Module 15 — Human Approval and Safety</a:t>
            </a:r>
            <a:endParaRPr lang="en-US" sz="900" dirty="0"/>
          </a:p>
        </p:txBody>
      </p:sp>
      <p:sp>
        <p:nvSpPr>
          <p:cNvPr id="20" name="Text 14"/>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EXPECTED OUTPUT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The policy decides who gets asked</a:t>
            </a:r>
            <a:endParaRPr lang="en-US" sz="2800" dirty="0"/>
          </a:p>
        </p:txBody>
      </p:sp>
      <p:sp>
        <p:nvSpPr>
          <p:cNvPr id="4" name="Shape 2"/>
          <p:cNvSpPr/>
          <p:nvPr/>
        </p:nvSpPr>
        <p:spPr>
          <a:xfrm>
            <a:off x="457200" y="1325880"/>
            <a:ext cx="5257800" cy="3246120"/>
          </a:xfrm>
          <a:prstGeom prst="roundRect">
            <a:avLst>
              <a:gd name="adj" fmla="val 2254"/>
            </a:avLst>
          </a:prstGeom>
          <a:solidFill>
            <a:srgbClr val="0F1420"/>
          </a:solidFill>
          <a:ln w="12700">
            <a:solidFill>
              <a:srgbClr val="0F1420"/>
            </a:solidFill>
            <a:prstDash val="solid"/>
          </a:ln>
        </p:spPr>
      </p:sp>
      <p:sp>
        <p:nvSpPr>
          <p:cNvPr id="5" name="Text 3"/>
          <p:cNvSpPr txBox="1"/>
          <p:nvPr/>
        </p:nvSpPr>
        <p:spPr>
          <a:xfrm>
            <a:off x="640080" y="1463040"/>
            <a:ext cx="4892040" cy="2971800"/>
          </a:xfrm>
          <a:prstGeom prst="rect">
            <a:avLst/>
          </a:prstGeom>
          <a:noFill/>
          <a:ln/>
        </p:spPr>
        <p:txBody>
          <a:bodyPr wrap="square" lIns="0" tIns="0" rIns="0" bIns="0" rtlCol="0" anchor="t"/>
          <a:lstStyle/>
          <a:p>
            <a:pPr indent="0" marL="0">
              <a:buNone/>
            </a:pPr>
            <a:r>
              <a:rPr lang="en-US" sz="1000" dirty="0">
                <a:solidFill>
                  <a:srgbClr val="D7E3F4"/>
                </a:solidFill>
                <a:latin typeface="Courier New" pitchFamily="34" charset="0"/>
                <a:ea typeface="Courier New" pitchFamily="34" charset="-122"/>
                <a:cs typeface="Courier New" pitchFamily="34" charset="-120"/>
              </a:rPr>
              <a:t># read_file</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ran: read_file</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Prompted: 0 time(s)</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run_command, a build or test</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ran: run_command</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Prompted: 0 time(s)</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write_file, answered: Deny</a:t>
            </a:r>
            <a:endParaRPr lang="en-US" sz="1000" dirty="0"/>
          </a:p>
          <a:p>
            <a:pPr indent="0" marL="0">
              <a:buNone/>
            </a:pPr>
            <a:r>
              <a:rPr lang="en-US" sz="1000" dirty="0">
                <a:solidFill>
                  <a:srgbClr val="FF9B9B"/>
                </a:solidFill>
                <a:latin typeface="Courier New" pitchFamily="34" charset="0"/>
                <a:ea typeface="Courier New" pitchFamily="34" charset="-122"/>
                <a:cs typeface="Courier New" pitchFamily="34" charset="-120"/>
              </a:rPr>
              <a:t>write_file was not approved and did not run.</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git push, answered: AlwaysApprove; then write_file</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ran: run_command</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ran: write_file</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Prompted: 1 time(s)</a:t>
            </a:r>
            <a:endParaRPr lang="en-US" sz="1000" dirty="0"/>
          </a:p>
        </p:txBody>
      </p:sp>
      <p:sp>
        <p:nvSpPr>
          <p:cNvPr id="6" name="Shape 4"/>
          <p:cNvSpPr/>
          <p:nvPr/>
        </p:nvSpPr>
        <p:spPr>
          <a:xfrm>
            <a:off x="6035040" y="1325880"/>
            <a:ext cx="384048" cy="384048"/>
          </a:xfrm>
          <a:prstGeom prst="ellipse">
            <a:avLst/>
          </a:prstGeom>
          <a:solidFill>
            <a:srgbClr val="16A34A"/>
          </a:solidFill>
          <a:ln w="12700">
            <a:solidFill>
              <a:srgbClr val="16A34A"/>
            </a:solidFill>
            <a:prstDash val="solid"/>
          </a:ln>
        </p:spPr>
      </p:sp>
      <p:pic>
        <p:nvPicPr>
          <p:cNvPr id="7" name="Image 0" descr="preencoded.png">    </p:cNvPr>
          <p:cNvPicPr>
            <a:picLocks noChangeAspect="1"/>
          </p:cNvPicPr>
          <p:nvPr/>
        </p:nvPicPr>
        <p:blipFill>
          <a:blip r:embed="rId1"/>
          <a:stretch>
            <a:fillRect/>
          </a:stretch>
        </p:blipFill>
        <p:spPr>
          <a:xfrm>
            <a:off x="6134892" y="1425732"/>
            <a:ext cx="184343" cy="184343"/>
          </a:xfrm>
          <a:prstGeom prst="rect">
            <a:avLst/>
          </a:prstGeom>
        </p:spPr>
      </p:pic>
      <p:sp>
        <p:nvSpPr>
          <p:cNvPr id="8" name="Text 5"/>
          <p:cNvSpPr txBox="1"/>
          <p:nvPr/>
        </p:nvSpPr>
        <p:spPr>
          <a:xfrm>
            <a:off x="6537960" y="132588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Safe calls</a:t>
            </a:r>
            <a:endParaRPr lang="en-US" sz="1400" dirty="0"/>
          </a:p>
        </p:txBody>
      </p:sp>
      <p:sp>
        <p:nvSpPr>
          <p:cNvPr id="9" name="Text 6"/>
          <p:cNvSpPr txBox="1"/>
          <p:nvPr/>
        </p:nvSpPr>
        <p:spPr>
          <a:xfrm>
            <a:off x="6537960" y="170992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Never prompt, even run_command</a:t>
            </a:r>
            <a:endParaRPr lang="en-US" sz="1200" dirty="0"/>
          </a:p>
        </p:txBody>
      </p:sp>
      <p:sp>
        <p:nvSpPr>
          <p:cNvPr id="10" name="Shape 7"/>
          <p:cNvSpPr/>
          <p:nvPr/>
        </p:nvSpPr>
        <p:spPr>
          <a:xfrm>
            <a:off x="6035040" y="2423160"/>
            <a:ext cx="384048" cy="384048"/>
          </a:xfrm>
          <a:prstGeom prst="ellipse">
            <a:avLst/>
          </a:prstGeom>
          <a:solidFill>
            <a:srgbClr val="DC2626"/>
          </a:solidFill>
          <a:ln w="12700">
            <a:solidFill>
              <a:srgbClr val="DC2626"/>
            </a:solidFill>
            <a:prstDash val="solid"/>
          </a:ln>
        </p:spPr>
      </p:sp>
      <p:pic>
        <p:nvPicPr>
          <p:cNvPr id="11" name="Image 1" descr="preencoded.png">    </p:cNvPr>
          <p:cNvPicPr>
            <a:picLocks noChangeAspect="1"/>
          </p:cNvPicPr>
          <p:nvPr/>
        </p:nvPicPr>
        <p:blipFill>
          <a:blip r:embed="rId2"/>
          <a:stretch>
            <a:fillRect/>
          </a:stretch>
        </p:blipFill>
        <p:spPr>
          <a:xfrm>
            <a:off x="6134892" y="2523012"/>
            <a:ext cx="184343" cy="184343"/>
          </a:xfrm>
          <a:prstGeom prst="rect">
            <a:avLst/>
          </a:prstGeom>
        </p:spPr>
      </p:pic>
      <p:sp>
        <p:nvSpPr>
          <p:cNvPr id="12" name="Text 8"/>
          <p:cNvSpPr txBox="1"/>
          <p:nvPr/>
        </p:nvSpPr>
        <p:spPr>
          <a:xfrm>
            <a:off x="6537960" y="242316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Denied</a:t>
            </a:r>
            <a:endParaRPr lang="en-US" sz="1400" dirty="0"/>
          </a:p>
        </p:txBody>
      </p:sp>
      <p:sp>
        <p:nvSpPr>
          <p:cNvPr id="13" name="Text 9"/>
          <p:cNvSpPr txBox="1"/>
          <p:nvPr/>
        </p:nvSpPr>
        <p:spPr>
          <a:xfrm>
            <a:off x="6537960" y="280720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The tool never runs</a:t>
            </a:r>
            <a:endParaRPr lang="en-US" sz="1200" dirty="0"/>
          </a:p>
        </p:txBody>
      </p:sp>
      <p:sp>
        <p:nvSpPr>
          <p:cNvPr id="14" name="Shape 10"/>
          <p:cNvSpPr/>
          <p:nvPr/>
        </p:nvSpPr>
        <p:spPr>
          <a:xfrm>
            <a:off x="6035040" y="3520440"/>
            <a:ext cx="384048" cy="384048"/>
          </a:xfrm>
          <a:prstGeom prst="ellipse">
            <a:avLst/>
          </a:prstGeom>
          <a:solidFill>
            <a:srgbClr val="512BD4"/>
          </a:solidFill>
          <a:ln w="12700">
            <a:solidFill>
              <a:srgbClr val="512BD4"/>
            </a:solidFill>
            <a:prstDash val="solid"/>
          </a:ln>
        </p:spPr>
      </p:sp>
      <p:pic>
        <p:nvPicPr>
          <p:cNvPr id="15" name="Image 2" descr="preencoded.png">    </p:cNvPr>
          <p:cNvPicPr>
            <a:picLocks noChangeAspect="1"/>
          </p:cNvPicPr>
          <p:nvPr/>
        </p:nvPicPr>
        <p:blipFill>
          <a:blip r:embed="rId3"/>
          <a:stretch>
            <a:fillRect/>
          </a:stretch>
        </p:blipFill>
        <p:spPr>
          <a:xfrm>
            <a:off x="6134892" y="3620292"/>
            <a:ext cx="184343" cy="184343"/>
          </a:xfrm>
          <a:prstGeom prst="rect">
            <a:avLst/>
          </a:prstGeom>
        </p:spPr>
      </p:pic>
      <p:sp>
        <p:nvSpPr>
          <p:cNvPr id="16" name="Text 11"/>
          <p:cNvSpPr txBox="1"/>
          <p:nvPr/>
        </p:nvSpPr>
        <p:spPr>
          <a:xfrm>
            <a:off x="6537960" y="352044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Always</a:t>
            </a:r>
            <a:endParaRPr lang="en-US" sz="1400" dirty="0"/>
          </a:p>
        </p:txBody>
      </p:sp>
      <p:sp>
        <p:nvSpPr>
          <p:cNvPr id="17" name="Text 12"/>
          <p:cNvSpPr txBox="1"/>
          <p:nvPr/>
        </p:nvSpPr>
        <p:spPr>
          <a:xfrm>
            <a:off x="6537960" y="390448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One prompt, then none</a:t>
            </a:r>
            <a:endParaRPr lang="en-US" sz="1200" dirty="0"/>
          </a:p>
        </p:txBody>
      </p:sp>
      <p:sp>
        <p:nvSpPr>
          <p:cNvPr id="18" name="Text 13"/>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Module 15 — Human Approval and Safety</a:t>
            </a:r>
            <a:endParaRPr lang="en-US" sz="900" dirty="0"/>
          </a:p>
        </p:txBody>
      </p:sp>
      <p:sp>
        <p:nvSpPr>
          <p:cNvPr id="19" name="Text 14"/>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41B2D"/>
        </a:solidFill>
      </p:bgPr>
    </p:bg>
    <p:spTree>
      <p:nvGrpSpPr>
        <p:cNvPr id="1" name=""/>
        <p:cNvGrpSpPr/>
        <p:nvPr/>
      </p:nvGrpSpPr>
      <p:grpSpPr>
        <a:xfrm>
          <a:off x="0" y="0"/>
          <a:ext cx="0" cy="0"/>
          <a:chOff x="0" y="0"/>
          <a:chExt cx="0" cy="0"/>
        </a:xfrm>
      </p:grpSpPr>
      <p:sp>
        <p:nvSpPr>
          <p:cNvPr id="2" name="Text 0"/>
          <p:cNvSpPr txBox="1"/>
          <p:nvPr/>
        </p:nvSpPr>
        <p:spPr>
          <a:xfrm>
            <a:off x="457200" y="347472"/>
            <a:ext cx="4572000" cy="228600"/>
          </a:xfrm>
          <a:prstGeom prst="rect">
            <a:avLst/>
          </a:prstGeom>
          <a:noFill/>
          <a:ln/>
        </p:spPr>
        <p:txBody>
          <a:bodyPr wrap="square" lIns="0" tIns="0" rIns="0" bIns="0" rtlCol="0" anchor="t"/>
          <a:lstStyle/>
          <a:p>
            <a:pPr indent="0" marL="0">
              <a:buNone/>
            </a:pPr>
            <a:r>
              <a:rPr lang="en-US" sz="1100" b="1" spc="200" kern="0" dirty="0">
                <a:solidFill>
                  <a:srgbClr val="F5A623"/>
                </a:solidFill>
                <a:latin typeface="Calibri" pitchFamily="34" charset="0"/>
                <a:ea typeface="Calibri" pitchFamily="34" charset="-122"/>
                <a:cs typeface="Calibri" pitchFamily="34" charset="-120"/>
              </a:rPr>
              <a:t>SUMMARY</a:t>
            </a:r>
            <a:endParaRPr lang="en-US" sz="1100" dirty="0"/>
          </a:p>
        </p:txBody>
      </p:sp>
      <p:sp>
        <p:nvSpPr>
          <p:cNvPr id="3" name="Text 1"/>
          <p:cNvSpPr txBox="1"/>
          <p:nvPr/>
        </p:nvSpPr>
        <p:spPr>
          <a:xfrm>
            <a:off x="457200" y="566928"/>
            <a:ext cx="8229600" cy="502920"/>
          </a:xfrm>
          <a:prstGeom prst="rect">
            <a:avLst/>
          </a:prstGeom>
          <a:noFill/>
          <a:ln/>
        </p:spPr>
        <p:txBody>
          <a:bodyPr wrap="square" lIns="0" tIns="0" rIns="0" bIns="0" rtlCol="0" anchor="t"/>
          <a:lstStyle/>
          <a:p>
            <a:pPr indent="0" marL="0">
              <a:buNone/>
            </a:pPr>
            <a:r>
              <a:rPr lang="en-US" sz="2600" b="1" dirty="0">
                <a:solidFill>
                  <a:srgbClr val="FFFFFF"/>
                </a:solidFill>
                <a:latin typeface="Cambria" pitchFamily="34" charset="0"/>
                <a:ea typeface="Cambria" pitchFamily="34" charset="-122"/>
                <a:cs typeface="Cambria" pitchFamily="34" charset="-120"/>
              </a:rPr>
              <a:t>What we learned, and where it goes</a:t>
            </a:r>
            <a:endParaRPr lang="en-US" sz="2600" dirty="0"/>
          </a:p>
        </p:txBody>
      </p:sp>
      <p:sp>
        <p:nvSpPr>
          <p:cNvPr id="4" name="Shape 2"/>
          <p:cNvSpPr/>
          <p:nvPr/>
        </p:nvSpPr>
        <p:spPr>
          <a:xfrm>
            <a:off x="457200" y="1234440"/>
            <a:ext cx="2926080" cy="493776"/>
          </a:xfrm>
          <a:prstGeom prst="roundRect">
            <a:avLst>
              <a:gd name="adj" fmla="val 14815"/>
            </a:avLst>
          </a:prstGeom>
          <a:solidFill>
            <a:srgbClr val="1F2943"/>
          </a:solidFill>
          <a:ln w="12700">
            <a:solidFill>
              <a:srgbClr val="1F2943"/>
            </a:solidFill>
            <a:prstDash val="solid"/>
          </a:ln>
        </p:spPr>
      </p:sp>
      <p:sp>
        <p:nvSpPr>
          <p:cNvPr id="5" name="Text 3"/>
          <p:cNvSpPr txBox="1"/>
          <p:nvPr/>
        </p:nvSpPr>
        <p:spPr>
          <a:xfrm>
            <a:off x="621792" y="1234440"/>
            <a:ext cx="2651760" cy="49377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Slash commands keep the policy</a:t>
            </a:r>
            <a:endParaRPr lang="en-US" sz="1300" dirty="0"/>
          </a:p>
        </p:txBody>
      </p:sp>
      <p:sp>
        <p:nvSpPr>
          <p:cNvPr id="6" name="Shape 4"/>
          <p:cNvSpPr/>
          <p:nvPr/>
        </p:nvSpPr>
        <p:spPr>
          <a:xfrm>
            <a:off x="3493008" y="1389888"/>
            <a:ext cx="329184" cy="182880"/>
          </a:xfrm>
          <a:prstGeom prst="rightArrow">
            <a:avLst/>
          </a:prstGeom>
          <a:solidFill>
            <a:srgbClr val="F5A623"/>
          </a:solidFill>
          <a:ln w="12700">
            <a:solidFill>
              <a:srgbClr val="F5A623"/>
            </a:solidFill>
            <a:prstDash val="solid"/>
          </a:ln>
        </p:spPr>
      </p:sp>
      <p:sp>
        <p:nvSpPr>
          <p:cNvPr id="7" name="Text 5"/>
          <p:cNvSpPr txBox="1"/>
          <p:nvPr/>
        </p:nvSpPr>
        <p:spPr>
          <a:xfrm>
            <a:off x="3977640" y="1234440"/>
            <a:ext cx="4709160" cy="49377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Module 16a  </a:t>
            </a:r>
            <a:pPr indent="0" marL="0">
              <a:buNone/>
            </a:pPr>
            <a:r>
              <a:rPr lang="en-US" sz="1250" dirty="0">
                <a:solidFill>
                  <a:srgbClr val="FFFFFF"/>
                </a:solidFill>
                <a:latin typeface="Calibri" pitchFamily="34" charset="0"/>
                <a:ea typeface="Calibri" pitchFamily="34" charset="-122"/>
                <a:cs typeface="Calibri" pitchFamily="34" charset="-120"/>
              </a:rPr>
              <a:t>/commit runs the whole chain, so approval fires before git commit</a:t>
            </a:r>
            <a:endParaRPr lang="en-US" sz="1250" dirty="0"/>
          </a:p>
        </p:txBody>
      </p:sp>
      <p:sp>
        <p:nvSpPr>
          <p:cNvPr id="8" name="Shape 6"/>
          <p:cNvSpPr/>
          <p:nvPr/>
        </p:nvSpPr>
        <p:spPr>
          <a:xfrm>
            <a:off x="457200" y="1837944"/>
            <a:ext cx="2926080" cy="493776"/>
          </a:xfrm>
          <a:prstGeom prst="roundRect">
            <a:avLst>
              <a:gd name="adj" fmla="val 14815"/>
            </a:avLst>
          </a:prstGeom>
          <a:solidFill>
            <a:srgbClr val="1F2943"/>
          </a:solidFill>
          <a:ln w="12700">
            <a:solidFill>
              <a:srgbClr val="1F2943"/>
            </a:solidFill>
            <a:prstDash val="solid"/>
          </a:ln>
        </p:spPr>
      </p:sp>
      <p:sp>
        <p:nvSpPr>
          <p:cNvPr id="9" name="Text 7"/>
          <p:cNvSpPr txBox="1"/>
          <p:nvPr/>
        </p:nvSpPr>
        <p:spPr>
          <a:xfrm>
            <a:off x="621792" y="1837944"/>
            <a:ext cx="2651760" cy="49377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Order in the invoker chain</a:t>
            </a:r>
            <a:endParaRPr lang="en-US" sz="1300" dirty="0"/>
          </a:p>
        </p:txBody>
      </p:sp>
      <p:sp>
        <p:nvSpPr>
          <p:cNvPr id="10" name="Shape 8"/>
          <p:cNvSpPr/>
          <p:nvPr/>
        </p:nvSpPr>
        <p:spPr>
          <a:xfrm>
            <a:off x="3493008" y="1993392"/>
            <a:ext cx="329184" cy="182880"/>
          </a:xfrm>
          <a:prstGeom prst="rightArrow">
            <a:avLst/>
          </a:prstGeom>
          <a:solidFill>
            <a:srgbClr val="F5A623"/>
          </a:solidFill>
          <a:ln w="12700">
            <a:solidFill>
              <a:srgbClr val="F5A623"/>
            </a:solidFill>
            <a:prstDash val="solid"/>
          </a:ln>
        </p:spPr>
      </p:sp>
      <p:sp>
        <p:nvSpPr>
          <p:cNvPr id="11" name="Text 9"/>
          <p:cNvSpPr txBox="1"/>
          <p:nvPr/>
        </p:nvSpPr>
        <p:spPr>
          <a:xfrm>
            <a:off x="3977640" y="1837944"/>
            <a:ext cx="4709160" cy="49377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Module 17  </a:t>
            </a:r>
            <a:pPr indent="0" marL="0">
              <a:buNone/>
            </a:pPr>
            <a:r>
              <a:rPr lang="en-US" sz="1250" dirty="0">
                <a:solidFill>
                  <a:srgbClr val="FFFFFF"/>
                </a:solidFill>
                <a:latin typeface="Calibri" pitchFamily="34" charset="0"/>
                <a:ea typeface="Calibri" pitchFamily="34" charset="-122"/>
                <a:cs typeface="Calibri" pitchFamily="34" charset="-120"/>
              </a:rPr>
              <a:t>TracingInvoker sits inside ApprovalInvoker, so a human's thinking time is not tool time</a:t>
            </a:r>
            <a:endParaRPr lang="en-US" sz="1250" dirty="0"/>
          </a:p>
        </p:txBody>
      </p:sp>
      <p:sp>
        <p:nvSpPr>
          <p:cNvPr id="12" name="Shape 10"/>
          <p:cNvSpPr/>
          <p:nvPr/>
        </p:nvSpPr>
        <p:spPr>
          <a:xfrm>
            <a:off x="457200" y="2441448"/>
            <a:ext cx="2926080" cy="493776"/>
          </a:xfrm>
          <a:prstGeom prst="roundRect">
            <a:avLst>
              <a:gd name="adj" fmla="val 14815"/>
            </a:avLst>
          </a:prstGeom>
          <a:solidFill>
            <a:srgbClr val="1F2943"/>
          </a:solidFill>
          <a:ln w="12700">
            <a:solidFill>
              <a:srgbClr val="1F2943"/>
            </a:solidFill>
            <a:prstDash val="solid"/>
          </a:ln>
        </p:spPr>
      </p:sp>
      <p:sp>
        <p:nvSpPr>
          <p:cNvPr id="13" name="Text 11"/>
          <p:cNvSpPr txBox="1"/>
          <p:nvPr/>
        </p:nvSpPr>
        <p:spPr>
          <a:xfrm>
            <a:off x="621792" y="2441448"/>
            <a:ext cx="2651760" cy="49377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The C# decides whether</a:t>
            </a:r>
            <a:endParaRPr lang="en-US" sz="1300" dirty="0"/>
          </a:p>
        </p:txBody>
      </p:sp>
      <p:sp>
        <p:nvSpPr>
          <p:cNvPr id="14" name="Shape 12"/>
          <p:cNvSpPr/>
          <p:nvPr/>
        </p:nvSpPr>
        <p:spPr>
          <a:xfrm>
            <a:off x="3493008" y="2596896"/>
            <a:ext cx="329184" cy="182880"/>
          </a:xfrm>
          <a:prstGeom prst="rightArrow">
            <a:avLst/>
          </a:prstGeom>
          <a:solidFill>
            <a:srgbClr val="F5A623"/>
          </a:solidFill>
          <a:ln w="12700">
            <a:solidFill>
              <a:srgbClr val="F5A623"/>
            </a:solidFill>
            <a:prstDash val="solid"/>
          </a:ln>
        </p:spPr>
      </p:sp>
      <p:sp>
        <p:nvSpPr>
          <p:cNvPr id="15" name="Text 13"/>
          <p:cNvSpPr txBox="1"/>
          <p:nvPr/>
        </p:nvSpPr>
        <p:spPr>
          <a:xfrm>
            <a:off x="3977640" y="2441448"/>
            <a:ext cx="4709160" cy="49377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Module 19  </a:t>
            </a:r>
            <a:pPr indent="0" marL="0">
              <a:buNone/>
            </a:pPr>
            <a:r>
              <a:rPr lang="en-US" sz="1250" dirty="0">
                <a:solidFill>
                  <a:srgbClr val="FFFFFF"/>
                </a:solidFill>
                <a:latin typeface="Calibri" pitchFamily="34" charset="0"/>
                <a:ea typeface="Calibri" pitchFamily="34" charset="-122"/>
                <a:cs typeface="Calibri" pitchFamily="34" charset="-120"/>
              </a:rPr>
              <a:t>An approval prompt is one of the deterministic guards around the one agent</a:t>
            </a:r>
            <a:endParaRPr lang="en-US" sz="1250" dirty="0"/>
          </a:p>
        </p:txBody>
      </p:sp>
      <p:sp>
        <p:nvSpPr>
          <p:cNvPr id="16" name="Text 14"/>
          <p:cNvSpPr txBox="1"/>
          <p:nvPr/>
        </p:nvSpPr>
        <p:spPr>
          <a:xfrm>
            <a:off x="457200" y="4224528"/>
            <a:ext cx="8229600" cy="320040"/>
          </a:xfrm>
          <a:prstGeom prst="rect">
            <a:avLst/>
          </a:prstGeom>
          <a:noFill/>
          <a:ln/>
        </p:spPr>
        <p:txBody>
          <a:bodyPr wrap="square" lIns="0" tIns="0" rIns="0" bIns="0" rtlCol="0" anchor="t"/>
          <a:lstStyle/>
          <a:p>
            <a:pPr indent="0" marL="0">
              <a:buNone/>
            </a:pPr>
            <a:r>
              <a:rPr lang="en-US" sz="1300" dirty="0">
                <a:solidFill>
                  <a:srgbClr val="B8B2E6"/>
                </a:solidFill>
                <a:latin typeface="Calibri" pitchFamily="34" charset="0"/>
                <a:ea typeface="Calibri" pitchFamily="34" charset="-122"/>
                <a:cs typeface="Calibri" pitchFamily="34" charset="-120"/>
              </a:rPr>
              <a:t>Ships in  </a:t>
            </a:r>
            <a:pPr indent="0" marL="0">
              <a:buNone/>
            </a:pPr>
            <a:r>
              <a:rPr lang="en-US" sz="1300" b="1" dirty="0">
                <a:solidFill>
                  <a:srgbClr val="FFFFFF"/>
                </a:solidFill>
                <a:latin typeface="Calibri" pitchFamily="34" charset="0"/>
                <a:ea typeface="Calibri" pitchFamily="34" charset="-122"/>
                <a:cs typeface="Calibri" pitchFamily="34" charset="-120"/>
              </a:rPr>
              <a:t>Phase 4 Capstone — Developer CLI (v0.4)</a:t>
            </a:r>
            <a:endParaRPr lang="en-US" sz="1300" dirty="0"/>
          </a:p>
        </p:txBody>
      </p:sp>
      <p:sp>
        <p:nvSpPr>
          <p:cNvPr id="17" name="Text 15"/>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B8B2E6"/>
                </a:solidFill>
                <a:latin typeface="Calibri" pitchFamily="34" charset="0"/>
                <a:ea typeface="Calibri" pitchFamily="34" charset="-122"/>
                <a:cs typeface="Calibri" pitchFamily="34" charset="-120"/>
              </a:rPr>
              <a:t>MiniCode  ·  Module 15 — Human Approval and Safety</a:t>
            </a:r>
            <a:endParaRPr lang="en-US" sz="900" dirty="0"/>
          </a:p>
        </p:txBody>
      </p:sp>
      <p:sp>
        <p:nvSpPr>
          <p:cNvPr id="18" name="Text 16"/>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B8B2E6"/>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15 — Human Approval and Safety</dc:title>
  <dc:subject>PptxGenJS Presentation</dc:subject>
  <dc:creator>MiniCode Course</dc:creator>
  <cp:lastModifiedBy>MiniCode Course</cp:lastModifiedBy>
  <cp:revision>1</cp:revision>
  <dcterms:created xsi:type="dcterms:W3CDTF">2026-10-01T23:15:10Z</dcterms:created>
  <dcterms:modified xsi:type="dcterms:W3CDTF">2026-10-01T23:15:10Z</dcterms:modified>
</cp:coreProperties>
</file>