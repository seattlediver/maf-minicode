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the first running piece of MiniCode: a console app that connects to OpenAI through Microsoft Agent Framework and streams replies back as they arrive. It has no tools and no filesystem access yet. The point is to get a real MAF agent talking, and to see the four objects every later Module builds on. This is the first code Module, so we start from an empty folder. The only thing carried forward is Module 1's mental model: the reason, act, observe loop, and the idea that a coding agent is mostly harness rather than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the .NET 10 SDK, Visual Studio 2026 or the dotnet CLI, and an OpenAI API key. Two packages, both in src/MiniCode.Cli: Microsoft.Agents.AI 1.22.0 for AIAgent, ChatClientAgent and AgentSession, and Microsoft.Extensions.AI.OpenAI 10.10.0 for AsIChatClient, which adapts the OpenAI SDK to IChatClient. Currency note: MAF is under active development and names have moved. AgentSession comes from agent.CreateSessionAsync(); the older AgentThread and GetNewThread() pairing is superseded. Non-streaming runs return AgentResponse; preview builds called it AgentRunResponse and that name is gone. Streaming still yields AgentResponseUpdate. If you follow an older sample and hit a missing type, this is usually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all of MAF's surface area comes down to four objects, and each one has exactly one job. IChatClient is the model. ChatClientAgent is the model plus a role. AgentSession is the conversation's memory. And streaming is how the reply reaches the user. Every later Module either wraps one of these or feeds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IChatClient is the provider boundary. It comes from Microsoft.Extensions.AI, not from MAF, and it knows nothing about agents. Ours wraps the OpenAI SDK, and that is the only place in the whole course that OpenAI is named. Two lines reach the model: GetChatClient gives the OpenAI SDK's client, and AsIChatClient adapts it. After that line, nothing downstream knows the provider. Module 2b turns swapping providers into a one-line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IChatClient answers a list of messages. An agent has an identity, standing instructions, and the ability to hold tools. ChatClientAgent is the adapter that turns the former into the latter, and it is the AIAgent MiniCode uses for the rest of the series. Instructions and a name are all it takes today. It accepts tools too, and that parameter is how Module 5a gives the agent hands. There is only ever one agent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session, every turn starts from nothing and the agent cannot answer 'what did I just say?'. The session is what makes a conversation rather than a sequence of unrelated questions. Create it once, outside the loop. Creating it per turn is the classic bug: an agent that forgets everything between questions. It matters more than it looks. Module 8b rewrites this history to keep long sessions inside the model's context window, and it can only do that because the session is a thing we hold rather than something buried inside the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coding agent may think for many seconds. RunStreamingAsync yields text as the model produces it, so the user sees progress immediately. We await foreach over it; each AgentResponseUpdate is a fragment, and Console.Write prints its text. Passing the session is what threads the turn onto the conversation. The non-streaming RunAsync exists and returns everything at once. For an interactive tool, streaming is the right default and we use it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key is read from the environment. It is never hardcoded and never committed. Right now that read happens inline in Program.cs, and a missing key throws immediately with a message aimed at a person. Failing at startup beats failing on the first request. Module 2b moves the read behind a single factory type, so exactly one place in the solution touches a credential. But the rule starts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non-streaming mode. Give the loop a second path that calls agent.RunAsync(input, session) instead of RunStreamingAsync, triggered by a command such as !once, and print the resulting AgentResponse in one go. Acceptance criteria: typing !once followed by a question prints the whole answer at once, with no incremental output. Normal input still streams. Both paths share the same AgentSession, so a !once answer is remembered by the next streamed turn and vice versa. Verify by asking a follow-up question that depends on the previous answer. Doing this makes the difference between the two APIs obvious in a way reading about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with dotnet run --project src/MiniCode.Cli. Ask for a two-sentence explanation of dependency injection in ASP.NET Core and watch it stream. Then ask 'What did I just ask you about?'. The second answer is the one that matters: it proves the AgentSession is carrying history. Remove the session from the RunStreamingAsync call and that reply becomes 'I don't have any previous context.' Type exit to quit. On the slide the first answer is trimmed with '...', and the closing '&gt; exit' line is omitted.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each piece goes. IChatClient is the provider boundary, and in Module 2b a factory chooses the provider at run time. This lesson's single Program.cs does four jobs; Module 3 splits them across the five MiniCode projects. ChatClientAgent already accepts tools; Module 5a adds the first one and the interception seam every tool call goes through. The instructions string is MiniCode's role; in Module 7 a repository's AGENTS.md is combined with it. The AgentSession is the history we hold; Module 8b compacts it to stay inside the context window. And streaming is how the user sees the work; Module 16a uses the same stream to show each tool call as it happens. All of this ships in the Phase 1 Capstone, Repository Explorer, version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2A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Creating an Agent</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Microsoft Agent Framework Fundamentals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empty folder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Module02a-CreatingAnAgent/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four MAF objects every later Module builds on</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Turning a chat model into an agent with ChatClientAgent</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Giving the conversation a memory with AgentSession</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Streaming replies as the model produces them</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Keeping the API key out of the code</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2a — Creating an Agent</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packages and one key</a:t>
            </a:r>
            <a:endParaRPr lang="en-US" sz="2800" dirty="0"/>
          </a:p>
        </p:txBody>
      </p:sp>
      <p:sp>
        <p:nvSpPr>
          <p:cNvPr id="4" name="Shape 2"/>
          <p:cNvSpPr/>
          <p:nvPr/>
        </p:nvSpPr>
        <p:spPr>
          <a:xfrm>
            <a:off x="457200" y="1371600"/>
            <a:ext cx="25603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Microsoft.Agents.AI</a:t>
            </a:r>
            <a:endParaRPr lang="en-US" sz="1400" dirty="0"/>
          </a:p>
        </p:txBody>
      </p:sp>
      <p:sp>
        <p:nvSpPr>
          <p:cNvPr id="8" name="Text 5"/>
          <p:cNvSpPr txBox="1"/>
          <p:nvPr/>
        </p:nvSpPr>
        <p:spPr>
          <a:xfrm>
            <a:off x="640080" y="2057400"/>
            <a:ext cx="219456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1.22.0</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AIAgent, ChatClientAgent, AgentSession</a:t>
            </a:r>
            <a:endParaRPr lang="en-US" sz="1200" dirty="0"/>
          </a:p>
        </p:txBody>
      </p:sp>
      <p:sp>
        <p:nvSpPr>
          <p:cNvPr id="9" name="Shape 6"/>
          <p:cNvSpPr/>
          <p:nvPr/>
        </p:nvSpPr>
        <p:spPr>
          <a:xfrm>
            <a:off x="3291840" y="1371600"/>
            <a:ext cx="25603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Microsoft.Extensions.​AI.OpenAI</a:t>
            </a:r>
            <a:endParaRPr lang="en-US" sz="1300" dirty="0"/>
          </a:p>
        </p:txBody>
      </p:sp>
      <p:sp>
        <p:nvSpPr>
          <p:cNvPr id="13" name="Text 9"/>
          <p:cNvSpPr txBox="1"/>
          <p:nvPr/>
        </p:nvSpPr>
        <p:spPr>
          <a:xfrm>
            <a:off x="3474720" y="2057400"/>
            <a:ext cx="219456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10.10.0</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AsIChatClient() adapts the OpenAI SDK to IChatClient</a:t>
            </a:r>
            <a:endParaRPr lang="en-US" sz="1200" dirty="0"/>
          </a:p>
        </p:txBody>
      </p:sp>
      <p:sp>
        <p:nvSpPr>
          <p:cNvPr id="14" name="Shape 10"/>
          <p:cNvSpPr/>
          <p:nvPr/>
        </p:nvSpPr>
        <p:spPr>
          <a:xfrm>
            <a:off x="6126480" y="1371600"/>
            <a:ext cx="2560320" cy="1920240"/>
          </a:xfrm>
          <a:prstGeom prst="roundRect">
            <a:avLst>
              <a:gd name="adj" fmla="val 3810"/>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ourier New" pitchFamily="34" charset="0"/>
                <a:ea typeface="Courier New" pitchFamily="34" charset="-122"/>
                <a:cs typeface="Courier New" pitchFamily="34" charset="-120"/>
              </a:rPr>
              <a:t>OPENAI_API_KEY</a:t>
            </a:r>
            <a:endParaRPr lang="en-US" sz="1300" dirty="0"/>
          </a:p>
        </p:txBody>
      </p:sp>
      <p:sp>
        <p:nvSpPr>
          <p:cNvPr id="18" name="Text 13"/>
          <p:cNvSpPr txBox="1"/>
          <p:nvPr/>
        </p:nvSpPr>
        <p:spPr>
          <a:xfrm>
            <a:off x="6309360" y="2057400"/>
            <a:ext cx="2194560" cy="11430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Set in the environment before running.</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Never in the code.</a:t>
            </a:r>
            <a:endParaRPr lang="en-US" sz="1200" dirty="0"/>
          </a:p>
        </p:txBody>
      </p:sp>
      <p:sp>
        <p:nvSpPr>
          <p:cNvPr id="19" name="Text 14"/>
          <p:cNvSpPr txBox="1"/>
          <p:nvPr/>
        </p:nvSpPr>
        <p:spPr>
          <a:xfrm>
            <a:off x="457200" y="35204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Older samples: AgentThread is now AgentSession; AgentRunResponse is now AgentResponse.</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2a — Creating an Agent</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Four objects, one job each</a:t>
            </a:r>
            <a:endParaRPr lang="en-US" sz="2800" dirty="0"/>
          </a:p>
        </p:txBody>
      </p:sp>
      <p:sp>
        <p:nvSpPr>
          <p:cNvPr id="4" name="Shape 2"/>
          <p:cNvSpPr/>
          <p:nvPr/>
        </p:nvSpPr>
        <p:spPr>
          <a:xfrm>
            <a:off x="457200" y="1417320"/>
            <a:ext cx="1796796" cy="2029968"/>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IChatClient</a:t>
            </a:r>
            <a:endParaRPr lang="en-US" sz="1500" dirty="0"/>
          </a:p>
        </p:txBody>
      </p:sp>
      <p:sp>
        <p:nvSpPr>
          <p:cNvPr id="8" name="Text 5"/>
          <p:cNvSpPr txBox="1"/>
          <p:nvPr/>
        </p:nvSpPr>
        <p:spPr>
          <a:xfrm>
            <a:off x="640080" y="28346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model, behind an abstraction</a:t>
            </a:r>
            <a:endParaRPr lang="en-US" sz="1200" dirty="0"/>
          </a:p>
        </p:txBody>
      </p:sp>
      <p:sp>
        <p:nvSpPr>
          <p:cNvPr id="9" name="Shape 6"/>
          <p:cNvSpPr/>
          <p:nvPr/>
        </p:nvSpPr>
        <p:spPr>
          <a:xfrm>
            <a:off x="2318004" y="2322576"/>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029968"/>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ChatClientAgent</a:t>
            </a:r>
            <a:endParaRPr lang="en-US" sz="1500" dirty="0"/>
          </a:p>
        </p:txBody>
      </p:sp>
      <p:sp>
        <p:nvSpPr>
          <p:cNvPr id="14" name="Text 10"/>
          <p:cNvSpPr txBox="1"/>
          <p:nvPr/>
        </p:nvSpPr>
        <p:spPr>
          <a:xfrm>
            <a:off x="2784348" y="28346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model plus a role</a:t>
            </a:r>
            <a:endParaRPr lang="en-US" sz="1200" dirty="0"/>
          </a:p>
        </p:txBody>
      </p:sp>
      <p:sp>
        <p:nvSpPr>
          <p:cNvPr id="15" name="Shape 11"/>
          <p:cNvSpPr/>
          <p:nvPr/>
        </p:nvSpPr>
        <p:spPr>
          <a:xfrm>
            <a:off x="4462272" y="2322576"/>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029968"/>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AgentSession</a:t>
            </a:r>
            <a:endParaRPr lang="en-US" sz="1500" dirty="0"/>
          </a:p>
        </p:txBody>
      </p:sp>
      <p:sp>
        <p:nvSpPr>
          <p:cNvPr id="20" name="Text 15"/>
          <p:cNvSpPr txBox="1"/>
          <p:nvPr/>
        </p:nvSpPr>
        <p:spPr>
          <a:xfrm>
            <a:off x="4928616" y="28346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conversation's memory</a:t>
            </a:r>
            <a:endParaRPr lang="en-US" sz="1200" dirty="0"/>
          </a:p>
        </p:txBody>
      </p:sp>
      <p:sp>
        <p:nvSpPr>
          <p:cNvPr id="21" name="Shape 16"/>
          <p:cNvSpPr/>
          <p:nvPr/>
        </p:nvSpPr>
        <p:spPr>
          <a:xfrm>
            <a:off x="6606540" y="2322576"/>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029968"/>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RunStreamingAsync</a:t>
            </a:r>
            <a:endParaRPr lang="en-US" sz="1400" dirty="0"/>
          </a:p>
        </p:txBody>
      </p:sp>
      <p:sp>
        <p:nvSpPr>
          <p:cNvPr id="26" name="Text 20"/>
          <p:cNvSpPr txBox="1"/>
          <p:nvPr/>
        </p:nvSpPr>
        <p:spPr>
          <a:xfrm>
            <a:off x="7072884" y="28346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Replies as they arrive</a:t>
            </a:r>
            <a:endParaRPr lang="en-US" sz="1200" dirty="0"/>
          </a:p>
        </p:txBody>
      </p:sp>
      <p:sp>
        <p:nvSpPr>
          <p:cNvPr id="27" name="Text 21"/>
          <p:cNvSpPr txBox="1"/>
          <p:nvPr/>
        </p:nvSpPr>
        <p:spPr>
          <a:xfrm>
            <a:off x="457200" y="37673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Every later Module either wraps one of these or feeds one.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2a — Creating an Agent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IChatClient: the provider boundary</a:t>
            </a:r>
            <a:endParaRPr lang="en-US" sz="2800" dirty="0"/>
          </a:p>
        </p:txBody>
      </p:sp>
      <p:sp>
        <p:nvSpPr>
          <p:cNvPr id="4" name="Shape 2"/>
          <p:cNvSpPr/>
          <p:nvPr/>
        </p:nvSpPr>
        <p:spPr>
          <a:xfrm>
            <a:off x="457200" y="1417320"/>
            <a:ext cx="2511552" cy="1993392"/>
          </a:xfrm>
          <a:prstGeom prst="roundRect">
            <a:avLst>
              <a:gd name="adj" fmla="val 3670"/>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OpenAI SDK</a:t>
            </a:r>
            <a:endParaRPr lang="en-US" sz="1500" dirty="0"/>
          </a:p>
        </p:txBody>
      </p:sp>
      <p:sp>
        <p:nvSpPr>
          <p:cNvPr id="8" name="Text 5"/>
          <p:cNvSpPr txBox="1"/>
          <p:nvPr/>
        </p:nvSpPr>
        <p:spPr>
          <a:xfrm>
            <a:off x="640080"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ChatClient for gpt-4.1-mini</a:t>
            </a:r>
            <a:endParaRPr lang="en-US" sz="1200" dirty="0"/>
          </a:p>
        </p:txBody>
      </p:sp>
      <p:sp>
        <p:nvSpPr>
          <p:cNvPr id="9" name="Shape 6"/>
          <p:cNvSpPr/>
          <p:nvPr/>
        </p:nvSpPr>
        <p:spPr>
          <a:xfrm>
            <a:off x="303276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993392"/>
          </a:xfrm>
          <a:prstGeom prst="roundRect">
            <a:avLst>
              <a:gd name="adj" fmla="val 3670"/>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AsIChatClient()</a:t>
            </a:r>
            <a:endParaRPr lang="en-US" sz="1400" dirty="0"/>
          </a:p>
        </p:txBody>
      </p:sp>
      <p:sp>
        <p:nvSpPr>
          <p:cNvPr id="14" name="Text 10"/>
          <p:cNvSpPr txBox="1"/>
          <p:nvPr/>
        </p:nvSpPr>
        <p:spPr>
          <a:xfrm>
            <a:off x="3499104"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Adapts it to the abstraction</a:t>
            </a:r>
            <a:endParaRPr lang="en-US" sz="1200" dirty="0"/>
          </a:p>
        </p:txBody>
      </p:sp>
      <p:sp>
        <p:nvSpPr>
          <p:cNvPr id="15" name="Shape 11"/>
          <p:cNvSpPr/>
          <p:nvPr/>
        </p:nvSpPr>
        <p:spPr>
          <a:xfrm>
            <a:off x="5891784"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993392"/>
          </a:xfrm>
          <a:prstGeom prst="roundRect">
            <a:avLst>
              <a:gd name="adj" fmla="val 3670"/>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IChatClient</a:t>
            </a:r>
            <a:endParaRPr lang="en-US" sz="1500" dirty="0"/>
          </a:p>
        </p:txBody>
      </p:sp>
      <p:sp>
        <p:nvSpPr>
          <p:cNvPr id="20" name="Text 15"/>
          <p:cNvSpPr txBox="1"/>
          <p:nvPr/>
        </p:nvSpPr>
        <p:spPr>
          <a:xfrm>
            <a:off x="6358128" y="2606040"/>
            <a:ext cx="219151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From Microsoft.Extensions.AI, not MAF. Knows nothing about agents.</a:t>
            </a:r>
            <a:endParaRPr lang="en-US" sz="1200" dirty="0"/>
          </a:p>
        </p:txBody>
      </p:sp>
      <p:sp>
        <p:nvSpPr>
          <p:cNvPr id="21" name="Text 1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This is the only place in the course that OpenAI is named.</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2a — Creating an Agent</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ChatClientAgent: the model plus a role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ChatClientAgent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Turns an IChatClient into the AIAgent MiniCode uses for the rest of the series.</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Identity</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name: "MiniCode"</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Instructions</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"You are MiniCode, a concise assistant for software developers."</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Tools</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Accepted, but none yet. Module 5a gives the agent hands.</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There is only ever one agent in this course.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2a — Creating an Agent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AgentSession: the conversation's memory</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Without a session</a:t>
            </a:r>
            <a:endParaRPr lang="en-US" sz="1700" dirty="0"/>
          </a:p>
        </p:txBody>
      </p:sp>
      <p:sp>
        <p:nvSpPr>
          <p:cNvPr id="8" name="Text 5"/>
          <p:cNvSpPr txBox="1"/>
          <p:nvPr/>
        </p:nvSpPr>
        <p:spPr>
          <a:xfrm>
            <a:off x="68580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turn starts from nothing</a:t>
            </a:r>
            <a:endParaRPr lang="en-US" sz="1300" dirty="0"/>
          </a:p>
        </p:txBody>
      </p:sp>
      <p:sp>
        <p:nvSpPr>
          <p:cNvPr id="9" name="Shape 6"/>
          <p:cNvSpPr/>
          <p:nvPr/>
        </p:nvSpPr>
        <p:spPr>
          <a:xfrm>
            <a:off x="685800" y="2633472"/>
            <a:ext cx="3474720" cy="1143000"/>
          </a:xfrm>
          <a:prstGeom prst="roundRect">
            <a:avLst>
              <a:gd name="adj" fmla="val 6400"/>
            </a:avLst>
          </a:prstGeom>
          <a:solidFill>
            <a:srgbClr val="0F1420"/>
          </a:solidFill>
          <a:ln w="12700">
            <a:solidFill>
              <a:srgbClr val="0F1420"/>
            </a:solidFill>
            <a:prstDash val="solid"/>
          </a:ln>
        </p:spPr>
      </p:sp>
      <p:sp>
        <p:nvSpPr>
          <p:cNvPr id="10" name="Text 7"/>
          <p:cNvSpPr txBox="1"/>
          <p:nvPr/>
        </p:nvSpPr>
        <p:spPr>
          <a:xfrm>
            <a:off x="868680" y="2770632"/>
            <a:ext cx="3108960" cy="86868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&gt; What did I just ask you about?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I don't have any previous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context.</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16A34A"/>
          </a:solidFill>
          <a:ln w="12700">
            <a:solidFill>
              <a:srgbClr val="16A34A"/>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With a session</a:t>
            </a:r>
            <a:endParaRPr lang="en-US" sz="1700" dirty="0"/>
          </a:p>
        </p:txBody>
      </p:sp>
      <p:sp>
        <p:nvSpPr>
          <p:cNvPr id="15" name="Text 11"/>
          <p:cNvSpPr txBox="1"/>
          <p:nvPr/>
        </p:nvSpPr>
        <p:spPr>
          <a:xfrm>
            <a:off x="498348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Created once, outside the loop</a:t>
            </a:r>
            <a:endParaRPr lang="en-US" sz="1300" dirty="0"/>
          </a:p>
        </p:txBody>
      </p:sp>
      <p:sp>
        <p:nvSpPr>
          <p:cNvPr id="16" name="Shape 12"/>
          <p:cNvSpPr/>
          <p:nvPr/>
        </p:nvSpPr>
        <p:spPr>
          <a:xfrm>
            <a:off x="4983480" y="2633472"/>
            <a:ext cx="3474720" cy="1143000"/>
          </a:xfrm>
          <a:prstGeom prst="roundRect">
            <a:avLst>
              <a:gd name="adj" fmla="val 6400"/>
            </a:avLst>
          </a:prstGeom>
          <a:solidFill>
            <a:srgbClr val="0F1420"/>
          </a:solidFill>
          <a:ln w="12700">
            <a:solidFill>
              <a:srgbClr val="0F1420"/>
            </a:solidFill>
            <a:prstDash val="solid"/>
          </a:ln>
        </p:spPr>
      </p:sp>
      <p:sp>
        <p:nvSpPr>
          <p:cNvPr id="17" name="Text 13"/>
          <p:cNvSpPr txBox="1"/>
          <p:nvPr/>
        </p:nvSpPr>
        <p:spPr>
          <a:xfrm>
            <a:off x="5166360" y="2770632"/>
            <a:ext cx="3108960" cy="86868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&gt; What did I just ask you about?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You asked for a two-sentence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explanation of dependency injection</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in ASP.NET Core.</a:t>
            </a:r>
            <a:endParaRPr lang="en-US" sz="1100" dirty="0"/>
          </a:p>
        </p:txBody>
      </p:sp>
      <p:sp>
        <p:nvSpPr>
          <p:cNvPr id="18" name="Text 14"/>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We hold the session, so Module 8b can rewrite its history later.</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2a — Creating an Agent</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Streaming, because waiting feels broken</a:t>
            </a:r>
            <a:endParaRPr lang="en-US" sz="2800" dirty="0"/>
          </a:p>
        </p:txBody>
      </p:sp>
      <p:sp>
        <p:nvSpPr>
          <p:cNvPr id="4" name="Shape 2"/>
          <p:cNvSpPr/>
          <p:nvPr/>
        </p:nvSpPr>
        <p:spPr>
          <a:xfrm>
            <a:off x="457200" y="1371600"/>
            <a:ext cx="3931920" cy="1828800"/>
          </a:xfrm>
          <a:prstGeom prst="roundRect">
            <a:avLst>
              <a:gd name="adj" fmla="val 400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RunStreamingAsync</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Yields AgentResponseUpdate fragments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user sees progress immediately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MiniCode's default, from the start</a:t>
            </a:r>
            <a:endParaRPr lang="en-US" sz="1300" dirty="0"/>
          </a:p>
        </p:txBody>
      </p:sp>
      <p:sp>
        <p:nvSpPr>
          <p:cNvPr id="9" name="Shape 6"/>
          <p:cNvSpPr/>
          <p:nvPr/>
        </p:nvSpPr>
        <p:spPr>
          <a:xfrm>
            <a:off x="4754880" y="1371600"/>
            <a:ext cx="3931920" cy="1828800"/>
          </a:xfrm>
          <a:prstGeom prst="roundRect">
            <a:avLst>
              <a:gd name="adj" fmla="val 400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RunAsync</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Returns one AgentResponse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Nothing shows until the model finishes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Exists, and is the exercise</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coding agent may think for many seconds. Show the work as it happens.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2a — Creating an Agent</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key comes from the environment</a:t>
            </a:r>
            <a:endParaRPr lang="en-US" sz="280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OPENAI_API_KEY</a:t>
            </a:r>
            <a:endParaRPr lang="en-US" sz="13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Never hardcoded, never committed</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Program.cs</a:t>
            </a:r>
            <a:endParaRPr lang="en-US" sz="15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Reads it inline today. A missing key fails at startup.</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Module 2b</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factory type becomes the only reader</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rule starts here: one place in the solution touches a credential.</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2a — Creating an Agent</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 non-streaming mode</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Typing !once before a question calls agent.RunAsync instead of RunStreamingAsync, and prints the whole AgentResponse in one go.</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src/MiniCode.Cli/Program.cs</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!once prints the whole answer at once, with no incremental output</a:t>
            </a:r>
            <a:endParaRPr lang="en-US" sz="1300" dirty="0"/>
          </a:p>
        </p:txBody>
      </p:sp>
      <p:sp>
        <p:nvSpPr>
          <p:cNvPr id="13" name="Shape 9"/>
          <p:cNvSpPr/>
          <p:nvPr/>
        </p:nvSpPr>
        <p:spPr>
          <a:xfrm>
            <a:off x="3931920" y="265480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730886"/>
            <a:ext cx="140452" cy="140452"/>
          </a:xfrm>
          <a:prstGeom prst="rect">
            <a:avLst/>
          </a:prstGeom>
        </p:spPr>
      </p:pic>
      <p:sp>
        <p:nvSpPr>
          <p:cNvPr id="15" name="Text 10"/>
          <p:cNvSpPr txBox="1"/>
          <p:nvPr/>
        </p:nvSpPr>
        <p:spPr>
          <a:xfrm>
            <a:off x="4361688" y="263652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Normal input still streams</a:t>
            </a:r>
            <a:endParaRPr lang="en-US" sz="1300" dirty="0"/>
          </a:p>
        </p:txBody>
      </p:sp>
      <p:sp>
        <p:nvSpPr>
          <p:cNvPr id="16" name="Shape 11"/>
          <p:cNvSpPr/>
          <p:nvPr/>
        </p:nvSpPr>
        <p:spPr>
          <a:xfrm>
            <a:off x="3931920" y="350824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584326"/>
            <a:ext cx="140452" cy="140452"/>
          </a:xfrm>
          <a:prstGeom prst="rect">
            <a:avLst/>
          </a:prstGeom>
        </p:spPr>
      </p:pic>
      <p:sp>
        <p:nvSpPr>
          <p:cNvPr id="18" name="Text 12"/>
          <p:cNvSpPr txBox="1"/>
          <p:nvPr/>
        </p:nvSpPr>
        <p:spPr>
          <a:xfrm>
            <a:off x="4361688" y="348996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Both paths share one AgentSession. A follow-up question remembers the other path's answer</a:t>
            </a:r>
            <a:endParaRPr lang="en-US" sz="1300" dirty="0"/>
          </a:p>
        </p:txBody>
      </p:sp>
      <p:sp>
        <p:nvSpPr>
          <p:cNvPr id="19"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2a — Creating an Agent</a:t>
            </a:r>
            <a:endParaRPr lang="en-US" sz="900" dirty="0"/>
          </a:p>
        </p:txBody>
      </p:sp>
      <p:sp>
        <p:nvSpPr>
          <p:cNvPr id="20"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conversation that remembers</a:t>
            </a:r>
            <a:endParaRPr lang="en-US" sz="2800" dirty="0"/>
          </a:p>
        </p:txBody>
      </p:sp>
      <p:sp>
        <p:nvSpPr>
          <p:cNvPr id="4" name="Shape 2"/>
          <p:cNvSpPr/>
          <p:nvPr/>
        </p:nvSpPr>
        <p:spPr>
          <a:xfrm>
            <a:off x="457200" y="1325880"/>
            <a:ext cx="5257800" cy="2514600"/>
          </a:xfrm>
          <a:prstGeom prst="roundRect">
            <a:avLst>
              <a:gd name="adj" fmla="val 2909"/>
            </a:avLst>
          </a:prstGeom>
          <a:solidFill>
            <a:srgbClr val="0F1420"/>
          </a:solidFill>
          <a:ln w="12700">
            <a:solidFill>
              <a:srgbClr val="0F1420"/>
            </a:solidFill>
            <a:prstDash val="solid"/>
          </a:ln>
        </p:spPr>
      </p:sp>
      <p:sp>
        <p:nvSpPr>
          <p:cNvPr id="5" name="Text 3"/>
          <p:cNvSpPr txBox="1"/>
          <p:nvPr/>
        </p:nvSpPr>
        <p:spPr>
          <a:xfrm>
            <a:off x="640080" y="1463040"/>
            <a:ext cx="4892040" cy="224028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&gt; dotnet run --project src/MiniCode.Cli</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MiniCode. Type 'exit' to quit.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Explain dependency injection in ASP.NET Core in two sentences.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Dependency injection in ASP.NET Core is a built-in pattern where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 service container creates and supplies the objects a class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needs, instead of the class constructing them itself.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What did I just ask you about?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You asked for a two-sentence explanation of dependency</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injection in ASP.NET Core.</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Turn 1</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answer streams in as it is generated</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Turn 2</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Proof the session carries the history</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2a — Creating an Agent</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355092"/>
          </a:xfrm>
          <a:prstGeom prst="roundRect">
            <a:avLst>
              <a:gd name="adj" fmla="val 20601"/>
            </a:avLst>
          </a:prstGeom>
          <a:solidFill>
            <a:srgbClr val="1F2943"/>
          </a:solidFill>
          <a:ln w="12700">
            <a:solidFill>
              <a:srgbClr val="1F2943"/>
            </a:solidFill>
            <a:prstDash val="solid"/>
          </a:ln>
        </p:spPr>
      </p:sp>
      <p:sp>
        <p:nvSpPr>
          <p:cNvPr id="5" name="Text 3"/>
          <p:cNvSpPr txBox="1"/>
          <p:nvPr/>
        </p:nvSpPr>
        <p:spPr>
          <a:xfrm>
            <a:off x="621792" y="12344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IChatClient, the provider boundary</a:t>
            </a:r>
            <a:endParaRPr lang="en-US" sz="1300" dirty="0"/>
          </a:p>
        </p:txBody>
      </p:sp>
      <p:sp>
        <p:nvSpPr>
          <p:cNvPr id="6" name="Shape 4"/>
          <p:cNvSpPr/>
          <p:nvPr/>
        </p:nvSpPr>
        <p:spPr>
          <a:xfrm>
            <a:off x="3493008" y="132054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2b  </a:t>
            </a:r>
            <a:pPr indent="0" marL="0">
              <a:buNone/>
            </a:pPr>
            <a:r>
              <a:rPr lang="en-US" sz="1250" dirty="0">
                <a:solidFill>
                  <a:srgbClr val="FFFFFF"/>
                </a:solidFill>
                <a:latin typeface="Calibri" pitchFamily="34" charset="0"/>
                <a:ea typeface="Calibri" pitchFamily="34" charset="-122"/>
                <a:cs typeface="Calibri" pitchFamily="34" charset="-120"/>
              </a:rPr>
              <a:t>ChatClientFactory picks OpenAI, Azure OpenAI or Gemini at run time</a:t>
            </a:r>
            <a:endParaRPr lang="en-US" sz="1250" dirty="0"/>
          </a:p>
        </p:txBody>
      </p:sp>
      <p:sp>
        <p:nvSpPr>
          <p:cNvPr id="8" name="Shape 6"/>
          <p:cNvSpPr/>
          <p:nvPr/>
        </p:nvSpPr>
        <p:spPr>
          <a:xfrm>
            <a:off x="457200" y="1699260"/>
            <a:ext cx="2926080" cy="355092"/>
          </a:xfrm>
          <a:prstGeom prst="roundRect">
            <a:avLst>
              <a:gd name="adj" fmla="val 20601"/>
            </a:avLst>
          </a:prstGeom>
          <a:solidFill>
            <a:srgbClr val="1F2943"/>
          </a:solidFill>
          <a:ln w="12700">
            <a:solidFill>
              <a:srgbClr val="1F2943"/>
            </a:solidFill>
            <a:prstDash val="solid"/>
          </a:ln>
        </p:spPr>
      </p:sp>
      <p:sp>
        <p:nvSpPr>
          <p:cNvPr id="9" name="Text 7"/>
          <p:cNvSpPr txBox="1"/>
          <p:nvPr/>
        </p:nvSpPr>
        <p:spPr>
          <a:xfrm>
            <a:off x="621792" y="169926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Program.cs, four jobs</a:t>
            </a:r>
            <a:endParaRPr lang="en-US" sz="1300" dirty="0"/>
          </a:p>
        </p:txBody>
      </p:sp>
      <p:sp>
        <p:nvSpPr>
          <p:cNvPr id="10" name="Shape 8"/>
          <p:cNvSpPr/>
          <p:nvPr/>
        </p:nvSpPr>
        <p:spPr>
          <a:xfrm>
            <a:off x="3493008" y="178536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69926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3  </a:t>
            </a:r>
            <a:pPr indent="0" marL="0">
              <a:buNone/>
            </a:pPr>
            <a:r>
              <a:rPr lang="en-US" sz="1250" dirty="0">
                <a:solidFill>
                  <a:srgbClr val="FFFFFF"/>
                </a:solidFill>
                <a:latin typeface="Calibri" pitchFamily="34" charset="0"/>
                <a:ea typeface="Calibri" pitchFamily="34" charset="-122"/>
                <a:cs typeface="Calibri" pitchFamily="34" charset="-120"/>
              </a:rPr>
              <a:t>Splits those jobs across the five MiniCode projects</a:t>
            </a:r>
            <a:endParaRPr lang="en-US" sz="1250" dirty="0"/>
          </a:p>
        </p:txBody>
      </p:sp>
      <p:sp>
        <p:nvSpPr>
          <p:cNvPr id="12" name="Shape 10"/>
          <p:cNvSpPr/>
          <p:nvPr/>
        </p:nvSpPr>
        <p:spPr>
          <a:xfrm>
            <a:off x="457200" y="2164080"/>
            <a:ext cx="2926080" cy="355092"/>
          </a:xfrm>
          <a:prstGeom prst="roundRect">
            <a:avLst>
              <a:gd name="adj" fmla="val 20601"/>
            </a:avLst>
          </a:prstGeom>
          <a:solidFill>
            <a:srgbClr val="1F2943"/>
          </a:solidFill>
          <a:ln w="12700">
            <a:solidFill>
              <a:srgbClr val="1F2943"/>
            </a:solidFill>
            <a:prstDash val="solid"/>
          </a:ln>
        </p:spPr>
      </p:sp>
      <p:sp>
        <p:nvSpPr>
          <p:cNvPr id="13" name="Text 11"/>
          <p:cNvSpPr txBox="1"/>
          <p:nvPr/>
        </p:nvSpPr>
        <p:spPr>
          <a:xfrm>
            <a:off x="621792" y="216408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ChatClientAgent takes tools</a:t>
            </a:r>
            <a:endParaRPr lang="en-US" sz="1300" dirty="0"/>
          </a:p>
        </p:txBody>
      </p:sp>
      <p:sp>
        <p:nvSpPr>
          <p:cNvPr id="14" name="Shape 12"/>
          <p:cNvSpPr/>
          <p:nvPr/>
        </p:nvSpPr>
        <p:spPr>
          <a:xfrm>
            <a:off x="3493008" y="225018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16408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5a  </a:t>
            </a:r>
            <a:pPr indent="0" marL="0">
              <a:buNone/>
            </a:pPr>
            <a:r>
              <a:rPr lang="en-US" sz="1250" dirty="0">
                <a:solidFill>
                  <a:srgbClr val="FFFFFF"/>
                </a:solidFill>
                <a:latin typeface="Calibri" pitchFamily="34" charset="0"/>
                <a:ea typeface="Calibri" pitchFamily="34" charset="-122"/>
                <a:cs typeface="Calibri" pitchFamily="34" charset="-120"/>
              </a:rPr>
              <a:t>The first tool, and the seam every tool call passes through</a:t>
            </a:r>
            <a:endParaRPr lang="en-US" sz="1250" dirty="0"/>
          </a:p>
        </p:txBody>
      </p:sp>
      <p:sp>
        <p:nvSpPr>
          <p:cNvPr id="16" name="Shape 14"/>
          <p:cNvSpPr/>
          <p:nvPr/>
        </p:nvSpPr>
        <p:spPr>
          <a:xfrm>
            <a:off x="457200" y="2628900"/>
            <a:ext cx="2926080" cy="355092"/>
          </a:xfrm>
          <a:prstGeom prst="roundRect">
            <a:avLst>
              <a:gd name="adj" fmla="val 20601"/>
            </a:avLst>
          </a:prstGeom>
          <a:solidFill>
            <a:srgbClr val="1F2943"/>
          </a:solidFill>
          <a:ln w="12700">
            <a:solidFill>
              <a:srgbClr val="1F2943"/>
            </a:solidFill>
            <a:prstDash val="solid"/>
          </a:ln>
        </p:spPr>
      </p:sp>
      <p:sp>
        <p:nvSpPr>
          <p:cNvPr id="17" name="Text 15"/>
          <p:cNvSpPr txBox="1"/>
          <p:nvPr/>
        </p:nvSpPr>
        <p:spPr>
          <a:xfrm>
            <a:off x="621792" y="262890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Instructions give the agent its role</a:t>
            </a:r>
            <a:endParaRPr lang="en-US" sz="1300" dirty="0"/>
          </a:p>
        </p:txBody>
      </p:sp>
      <p:sp>
        <p:nvSpPr>
          <p:cNvPr id="18" name="Shape 16"/>
          <p:cNvSpPr/>
          <p:nvPr/>
        </p:nvSpPr>
        <p:spPr>
          <a:xfrm>
            <a:off x="3493008" y="2715006"/>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62890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7  </a:t>
            </a:r>
            <a:pPr indent="0" marL="0">
              <a:buNone/>
            </a:pPr>
            <a:r>
              <a:rPr lang="en-US" sz="1250" dirty="0">
                <a:solidFill>
                  <a:srgbClr val="FFFFFF"/>
                </a:solidFill>
                <a:latin typeface="Calibri" pitchFamily="34" charset="0"/>
                <a:ea typeface="Calibri" pitchFamily="34" charset="-122"/>
                <a:cs typeface="Calibri" pitchFamily="34" charset="-120"/>
              </a:rPr>
              <a:t>AGENTS.md instructions are combined with MiniCode's own</a:t>
            </a:r>
            <a:endParaRPr lang="en-US" sz="1250" dirty="0"/>
          </a:p>
        </p:txBody>
      </p:sp>
      <p:sp>
        <p:nvSpPr>
          <p:cNvPr id="20" name="Shape 18"/>
          <p:cNvSpPr/>
          <p:nvPr/>
        </p:nvSpPr>
        <p:spPr>
          <a:xfrm>
            <a:off x="457200" y="3093720"/>
            <a:ext cx="2926080" cy="355092"/>
          </a:xfrm>
          <a:prstGeom prst="roundRect">
            <a:avLst>
              <a:gd name="adj" fmla="val 20601"/>
            </a:avLst>
          </a:prstGeom>
          <a:solidFill>
            <a:srgbClr val="1F2943"/>
          </a:solidFill>
          <a:ln w="12700">
            <a:solidFill>
              <a:srgbClr val="1F2943"/>
            </a:solidFill>
            <a:prstDash val="solid"/>
          </a:ln>
        </p:spPr>
      </p:sp>
      <p:sp>
        <p:nvSpPr>
          <p:cNvPr id="21" name="Text 19"/>
          <p:cNvSpPr txBox="1"/>
          <p:nvPr/>
        </p:nvSpPr>
        <p:spPr>
          <a:xfrm>
            <a:off x="621792" y="309372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AgentSession holds the history</a:t>
            </a:r>
            <a:endParaRPr lang="en-US" sz="1300" dirty="0"/>
          </a:p>
        </p:txBody>
      </p:sp>
      <p:sp>
        <p:nvSpPr>
          <p:cNvPr id="22" name="Shape 20"/>
          <p:cNvSpPr/>
          <p:nvPr/>
        </p:nvSpPr>
        <p:spPr>
          <a:xfrm>
            <a:off x="3493008" y="3179826"/>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09372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8b  </a:t>
            </a:r>
            <a:pPr indent="0" marL="0">
              <a:buNone/>
            </a:pPr>
            <a:r>
              <a:rPr lang="en-US" sz="1250" dirty="0">
                <a:solidFill>
                  <a:srgbClr val="FFFFFF"/>
                </a:solidFill>
                <a:latin typeface="Calibri" pitchFamily="34" charset="0"/>
                <a:ea typeface="Calibri" pitchFamily="34" charset="-122"/>
                <a:cs typeface="Calibri" pitchFamily="34" charset="-120"/>
              </a:rPr>
              <a:t>Compaction rewrites that history to stay inside the context window</a:t>
            </a:r>
            <a:endParaRPr lang="en-US" sz="1250" dirty="0"/>
          </a:p>
        </p:txBody>
      </p:sp>
      <p:sp>
        <p:nvSpPr>
          <p:cNvPr id="24" name="Shape 22"/>
          <p:cNvSpPr/>
          <p:nvPr/>
        </p:nvSpPr>
        <p:spPr>
          <a:xfrm>
            <a:off x="457200" y="3558540"/>
            <a:ext cx="2926080" cy="355092"/>
          </a:xfrm>
          <a:prstGeom prst="roundRect">
            <a:avLst>
              <a:gd name="adj" fmla="val 20601"/>
            </a:avLst>
          </a:prstGeom>
          <a:solidFill>
            <a:srgbClr val="1F2943"/>
          </a:solidFill>
          <a:ln w="12700">
            <a:solidFill>
              <a:srgbClr val="1F2943"/>
            </a:solidFill>
            <a:prstDash val="solid"/>
          </a:ln>
        </p:spPr>
      </p:sp>
      <p:sp>
        <p:nvSpPr>
          <p:cNvPr id="25" name="Text 23"/>
          <p:cNvSpPr txBox="1"/>
          <p:nvPr/>
        </p:nvSpPr>
        <p:spPr>
          <a:xfrm>
            <a:off x="621792" y="35585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Streaming updates</a:t>
            </a:r>
            <a:endParaRPr lang="en-US" sz="1300" dirty="0"/>
          </a:p>
        </p:txBody>
      </p:sp>
      <p:sp>
        <p:nvSpPr>
          <p:cNvPr id="26" name="Shape 24"/>
          <p:cNvSpPr/>
          <p:nvPr/>
        </p:nvSpPr>
        <p:spPr>
          <a:xfrm>
            <a:off x="3493008" y="3644646"/>
            <a:ext cx="329184" cy="182880"/>
          </a:xfrm>
          <a:prstGeom prst="rightArrow">
            <a:avLst/>
          </a:prstGeom>
          <a:solidFill>
            <a:srgbClr val="F5A623"/>
          </a:solidFill>
          <a:ln w="12700">
            <a:solidFill>
              <a:srgbClr val="F5A623"/>
            </a:solidFill>
            <a:prstDash val="solid"/>
          </a:ln>
        </p:spPr>
      </p:sp>
      <p:sp>
        <p:nvSpPr>
          <p:cNvPr id="27" name="Text 25"/>
          <p:cNvSpPr txBox="1"/>
          <p:nvPr/>
        </p:nvSpPr>
        <p:spPr>
          <a:xfrm>
            <a:off x="3977640" y="35585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16a  </a:t>
            </a:r>
            <a:pPr indent="0" marL="0">
              <a:buNone/>
            </a:pPr>
            <a:r>
              <a:rPr lang="en-US" sz="1250" dirty="0">
                <a:solidFill>
                  <a:srgbClr val="FFFFFF"/>
                </a:solidFill>
                <a:latin typeface="Calibri" pitchFamily="34" charset="0"/>
                <a:ea typeface="Calibri" pitchFamily="34" charset="-122"/>
                <a:cs typeface="Calibri" pitchFamily="34" charset="-120"/>
              </a:rPr>
              <a:t>The stream also shows each tool call as it happens</a:t>
            </a:r>
            <a:endParaRPr lang="en-US" sz="1250" dirty="0"/>
          </a:p>
        </p:txBody>
      </p:sp>
      <p:sp>
        <p:nvSpPr>
          <p:cNvPr id="28" name="Text 26"/>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1 Capstone — Repository Explorer (v0.1)</a:t>
            </a:r>
            <a:endParaRPr lang="en-US" sz="1300" dirty="0"/>
          </a:p>
        </p:txBody>
      </p:sp>
      <p:sp>
        <p:nvSpPr>
          <p:cNvPr id="29"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2a — Creating an Agent</a:t>
            </a:r>
            <a:endParaRPr lang="en-US" sz="900" dirty="0"/>
          </a:p>
        </p:txBody>
      </p:sp>
      <p:sp>
        <p:nvSpPr>
          <p:cNvPr id="30"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 — Microsoft Agent Framework Fundamentals: Creating an Agent</dc:title>
  <dc:subject>PptxGenJS Presentation</dc:subject>
  <dc:creator>MiniCode Course</dc:creator>
  <cp:lastModifiedBy>MiniCode Course</cp:lastModifiedBy>
  <cp:revision>1</cp:revision>
  <dcterms:created xsi:type="dcterms:W3CDTF">2026-10-01T23:14:56Z</dcterms:created>
  <dcterms:modified xsi:type="dcterms:W3CDTF">2026-10-01T23:14:56Z</dcterms:modified>
</cp:coreProperties>
</file>