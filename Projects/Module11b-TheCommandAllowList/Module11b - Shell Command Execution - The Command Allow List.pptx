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Module 11. Ships as part of Phase 3 Capstone — Autonomous Fixer (v0.3). CommandAllowList has no constructor parameters and no state beyond the fixed array: nothing reads a file, an environment variable, or the repository’s AGENTS.md. The list a viewer sees in that file is the complete, only list MiniCode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CodingAgentFactory now builds new AllowListedShellExecutor(new ShellExecutor(), new CommandAllowList()) in place of the bare ShellExecutor and hands that to ToolCatalog exactly as before — ToolCatalog’s constructor does not change, because it never depended on which IShellExecutor it received. run_command’s description gains one clause: "Restricted to a fixed allow list; a refusal names what is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11B · PHASE 3</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The Command</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Allow List</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Module 11a made run_command run a process correctly — no shell, a timeout, captured output. It never asked whether the process should run. This Module puts a fixed allow list in front of it, so dotnet build starts and everything else is refused before a process ever exists.</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Module11a-RunningAProcessSafely/ — IShellExecutor and ShellTools are untouched; nothing about them needed to change.</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MiniCode.Infrastructure still has zero package references.</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3</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the complete list</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restore</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build</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test</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format</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alone: absent</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matched on program +</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first argument, together</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11a was mechanics. This is policy.</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Two Different Questions, Now Two Different Classes</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11B — SHELL COMMAND EXECUTION: THE COMMAND ALLOW LIST</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11a Was Mechanics; This Is Policy</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Running a process safely and deciding which processes may run are separate questions with separate answers, and the code finally reflects that.</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ShellExecutor still knows nothing about permission.</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Wrap, Don’t Touch — the Same Shape as Module 5a, One Layer Down</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InterceptedFunction decorates an AIFunction without the inner function knowing. AllowListedShellExecutor does exactly that to IShellExecutor: it holds the real executor, checks first, and only calls through when the call is allowed.</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ShellTools still just takes an IShellExecutor — it cannot tell which one it was handed.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Match the Pair, Name What Is Allowed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11B — SHELL COMMAND EXECUTION: THE COMMAND ALLOW LIST</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3017520"/>
          </a:xfrm>
          <a:prstGeom prst="roundRect">
            <a:avLst>
              <a:gd name="adj" fmla="val 3030"/>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Program and Its First Argument, Together</a:t>
            </a:r>
            <a:endParaRPr lang="en-US" sz="1550" dirty="0"/>
          </a:p>
        </p:txBody>
      </p:sp>
      <p:sp>
        <p:nvSpPr>
          <p:cNvPr id="10" name="Text 7"/>
          <p:cNvSpPr txBox="1"/>
          <p:nvPr/>
        </p:nvSpPr>
        <p:spPr>
          <a:xfrm>
            <a:off x="868680" y="2606040"/>
            <a:ext cx="4709160" cy="146304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Allowing bare "dotnet" would allow dotnet nuget push and dotnet tool install under the same entry that was meant to permit dotnet build. Pairing the program with its subcommand is what makes an entry mean one specific thing.</a:t>
            </a:r>
            <a:endParaRPr lang="en-US" sz="1350" dirty="0"/>
          </a:p>
        </p:txBody>
      </p:sp>
      <p:sp>
        <p:nvSpPr>
          <p:cNvPr id="11" name="Shape 8"/>
          <p:cNvSpPr/>
          <p:nvPr/>
        </p:nvSpPr>
        <p:spPr>
          <a:xfrm>
            <a:off x="6309360" y="1417320"/>
            <a:ext cx="5349240" cy="3017520"/>
          </a:xfrm>
          <a:prstGeom prst="roundRect">
            <a:avLst>
              <a:gd name="adj" fmla="val 3030"/>
            </a:avLst>
          </a:prstGeom>
          <a:solidFill>
            <a:srgbClr val="3FBFB0"/>
          </a:solidFill>
          <a:ln/>
        </p:spPr>
      </p:sp>
      <p:sp>
        <p:nvSpPr>
          <p:cNvPr id="12" name="Shape 9"/>
          <p:cNvSpPr/>
          <p:nvPr/>
        </p:nvSpPr>
        <p:spPr>
          <a:xfrm>
            <a:off x="6629400" y="1737360"/>
            <a:ext cx="640080" cy="64008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Refusal Here Has the Same Shape as Every Refusal in the Course</a:t>
            </a:r>
            <a:endParaRPr lang="en-US" sz="1550" dirty="0"/>
          </a:p>
        </p:txBody>
      </p:sp>
      <p:sp>
        <p:nvSpPr>
          <p:cNvPr id="15" name="Text 11"/>
          <p:cNvSpPr txBox="1"/>
          <p:nvPr/>
        </p:nvSpPr>
        <p:spPr>
          <a:xfrm>
            <a:off x="6629400" y="2606040"/>
            <a:ext cx="4709160" cy="146304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Throw a sentence naming what was asked and what is allowed; Module 5a's invoker turns it into text; the model reads it and tries something on the list instead.</a:t>
            </a:r>
            <a:endParaRPr lang="en-US" sz="1350" dirty="0"/>
          </a:p>
        </p:txBody>
      </p:sp>
      <p:sp>
        <p:nvSpPr>
          <p:cNvPr id="16" name="Shape 12"/>
          <p:cNvSpPr/>
          <p:nvPr/>
        </p:nvSpPr>
        <p:spPr>
          <a:xfrm>
            <a:off x="548640" y="4709160"/>
            <a:ext cx="11064240" cy="1371600"/>
          </a:xfrm>
          <a:prstGeom prst="roundRect">
            <a:avLst>
              <a:gd name="adj" fmla="val 6667"/>
            </a:avLst>
          </a:prstGeom>
          <a:solidFill>
            <a:srgbClr val="1E2761"/>
          </a:solidFill>
          <a:ln w="15875">
            <a:solidFill>
              <a:srgbClr val="F87171"/>
            </a:solidFill>
            <a:prstDash val="solid"/>
          </a:ln>
        </p:spPr>
      </p:sp>
      <p:sp>
        <p:nvSpPr>
          <p:cNvPr id="17" name="Shape 13"/>
          <p:cNvSpPr/>
          <p:nvPr/>
        </p:nvSpPr>
        <p:spPr>
          <a:xfrm>
            <a:off x="841248" y="5001768"/>
            <a:ext cx="566928" cy="566928"/>
          </a:xfrm>
          <a:prstGeom prst="ellipse">
            <a:avLst/>
          </a:prstGeom>
          <a:solidFill>
            <a:srgbClr val="F87171"/>
          </a:solidFill>
          <a:ln/>
        </p:spPr>
      </p:sp>
      <p:pic>
        <p:nvPicPr>
          <p:cNvPr id="18" name="Image 2" descr="preencoded.png">    </p:cNvPr>
          <p:cNvPicPr>
            <a:picLocks noChangeAspect="1"/>
          </p:cNvPicPr>
          <p:nvPr/>
        </p:nvPicPr>
        <p:blipFill>
          <a:blip r:embed="rId3"/>
          <a:stretch>
            <a:fillRect/>
          </a:stretch>
        </p:blipFill>
        <p:spPr>
          <a:xfrm>
            <a:off x="987552" y="5148072"/>
            <a:ext cx="274320" cy="274320"/>
          </a:xfrm>
          <a:prstGeom prst="rect">
            <a:avLst/>
          </a:prstGeom>
        </p:spPr>
      </p:pic>
      <p:sp>
        <p:nvSpPr>
          <p:cNvPr id="19" name="Text 14"/>
          <p:cNvSpPr txBox="1"/>
          <p:nvPr/>
        </p:nvSpPr>
        <p:spPr>
          <a:xfrm>
            <a:off x="1554480" y="491032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What this Module deliberately does not do</a:t>
            </a:r>
            <a:endParaRPr lang="en-US" sz="1450" dirty="0"/>
          </a:p>
        </p:txBody>
      </p:sp>
      <p:sp>
        <p:nvSpPr>
          <p:cNvPr id="20" name="Text 15"/>
          <p:cNvSpPr txBox="1"/>
          <p:nvPr/>
        </p:nvSpPr>
        <p:spPr>
          <a:xfrm>
            <a:off x="1554480" y="5349240"/>
            <a:ext cx="9784080" cy="54864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The list stops a careless or prompt-injected command from starting. It does not stop a model that decides to get there another way — Module 10 already gave it write_file, and a .csproj with a custom build target can run anything dotnet build is asked to run, on the list by name. Closing that is Module 15's job, not a gap in this 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List, a Predicate, and a Decorator</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11B — SHELL COMMAND EXECUTION: THE COMMAND ALLOW LIST</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src/MiniCode.Infrastructure/ICommandAllowList.cs</a:t>
            </a:r>
            <a:endParaRPr lang="en-US" sz="950" dirty="0"/>
          </a:p>
        </p:txBody>
      </p:sp>
      <p:sp>
        <p:nvSpPr>
          <p:cNvPr id="8" name="Text 6"/>
          <p:cNvSpPr txBox="1"/>
          <p:nvPr/>
        </p:nvSpPr>
        <p:spPr>
          <a:xfrm>
            <a:off x="877824" y="200863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IReadOnlyList&lt;string&gt; Entries { get;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bool IsAllowed(string command,</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IReadOnlyList&lt;string&gt; arguments);</a:t>
            </a:r>
            <a:endParaRPr lang="en-US" sz="950" dirty="0"/>
          </a:p>
        </p:txBody>
      </p:sp>
      <p:sp>
        <p:nvSpPr>
          <p:cNvPr id="9" name="Text 7"/>
          <p:cNvSpPr txBox="1"/>
          <p:nvPr/>
        </p:nvSpPr>
        <p:spPr>
          <a:xfrm>
            <a:off x="877824" y="2465832"/>
            <a:ext cx="4690872" cy="6827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src/MiniCode.Infrastructure/CommandAllowList.cs</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One entry per allowed subcommand — "dotnet"</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alone is deliberately absent, so nothing else</a:t>
            </a:r>
            <a:endParaRPr lang="en-US" sz="950" dirty="0"/>
          </a:p>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after it is allowed by accident.</a:t>
            </a:r>
            <a:endParaRPr lang="en-US" sz="950" dirty="0"/>
          </a:p>
        </p:txBody>
      </p:sp>
      <p:sp>
        <p:nvSpPr>
          <p:cNvPr id="10" name="Text 8"/>
          <p:cNvSpPr txBox="1"/>
          <p:nvPr/>
        </p:nvSpPr>
        <p:spPr>
          <a:xfrm>
            <a:off x="877824" y="3258312"/>
            <a:ext cx="4690872" cy="2255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private static readonly string[] Allowed =</a:t>
            </a:r>
            <a:endParaRPr lang="en-US" sz="950" dirty="0"/>
          </a:p>
        </p:txBody>
      </p:sp>
      <p:sp>
        <p:nvSpPr>
          <p:cNvPr id="11" name="Text 9"/>
          <p:cNvSpPr txBox="1"/>
          <p:nvPr/>
        </p:nvSpPr>
        <p:spPr>
          <a:xfrm>
            <a:off x="877824" y="3410712"/>
            <a:ext cx="4690872" cy="3779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["dotnet restore", "dotnet build",</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"dotnet test", "dotnet format"];</a:t>
            </a:r>
            <a:endParaRPr lang="en-US" sz="950" dirty="0"/>
          </a:p>
        </p:txBody>
      </p:sp>
      <p:sp>
        <p:nvSpPr>
          <p:cNvPr id="12" name="Text 10"/>
          <p:cNvSpPr txBox="1"/>
          <p:nvPr/>
        </p:nvSpPr>
        <p:spPr>
          <a:xfrm>
            <a:off x="877824" y="3715512"/>
            <a:ext cx="4690872" cy="5303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IReadOnlyList&lt;string&gt; Entries =&gt; Allowed;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bool IsAllowed(string command,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IReadOnlyList&lt;string&gt; arguments) =&gt;</a:t>
            </a:r>
            <a:endParaRPr lang="en-US" sz="950" dirty="0"/>
          </a:p>
        </p:txBody>
      </p:sp>
      <p:sp>
        <p:nvSpPr>
          <p:cNvPr id="13" name="Text 11"/>
          <p:cNvSpPr txBox="1"/>
          <p:nvPr/>
        </p:nvSpPr>
        <p:spPr>
          <a:xfrm>
            <a:off x="877824" y="417271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arguments.Count &gt; 0</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&amp;&amp; Allowed.Contains(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$"{command} {arguments[0]}",</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StringComparer.OrdinalIgnoreCase);</a:t>
            </a:r>
            <a:endParaRPr lang="en-US" sz="950" dirty="0"/>
          </a:p>
        </p:txBody>
      </p:sp>
      <p:sp>
        <p:nvSpPr>
          <p:cNvPr id="14" name="Shape 12"/>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5" name="Text 13"/>
          <p:cNvSpPr txBox="1"/>
          <p:nvPr/>
        </p:nvSpPr>
        <p:spPr>
          <a:xfrm>
            <a:off x="6638544" y="1673352"/>
            <a:ext cx="4690872" cy="225552"/>
          </a:xfrm>
          <a:prstGeom prst="rect">
            <a:avLst/>
          </a:prstGeom>
          <a:noFill/>
          <a:ln/>
        </p:spPr>
        <p:txBody>
          <a:bodyPr wrap="square" lIns="0" tIns="0" rIns="0" bIns="0" rtlCol="0" anchor="t"/>
          <a:lstStyle/>
          <a:p>
            <a:pPr indent="0" marL="0">
              <a:lnSpc>
                <a:spcPts val="1200"/>
              </a:lnSpc>
              <a:buNone/>
            </a:pPr>
            <a:r>
              <a:rPr lang="en-US" sz="950" i="1" dirty="0">
                <a:solidFill>
                  <a:srgbClr val="6B7280"/>
                </a:solidFill>
                <a:latin typeface="Courier New" pitchFamily="34" charset="0"/>
                <a:ea typeface="Courier New" pitchFamily="34" charset="-122"/>
                <a:cs typeface="Courier New" pitchFamily="34" charset="-120"/>
              </a:rPr>
              <a:t>// AllowListedShellExecutor.cs</a:t>
            </a:r>
            <a:endParaRPr lang="en-US" sz="950" dirty="0"/>
          </a:p>
        </p:txBody>
      </p:sp>
      <p:sp>
        <p:nvSpPr>
          <p:cNvPr id="16" name="Text 14"/>
          <p:cNvSpPr txBox="1"/>
          <p:nvPr/>
        </p:nvSpPr>
        <p:spPr>
          <a:xfrm>
            <a:off x="6638544" y="2008632"/>
            <a:ext cx="4690872" cy="15971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public sealed class AllowListedShellExecutor(</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IShellExecutor inner, ICommandAllowList allowList)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 IShellExecutor</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public async Task&lt;ShellCommandResult&gt; RunAsync(</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command,</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IReadOnlyList&lt;string&gt; arguments,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string workingDirectory, TimeSpan timeout,</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17" name="Text 15"/>
          <p:cNvSpPr txBox="1"/>
          <p:nvPr/>
        </p:nvSpPr>
        <p:spPr>
          <a:xfrm>
            <a:off x="6638544" y="3532632"/>
            <a:ext cx="4690872" cy="1292352"/>
          </a:xfrm>
          <a:prstGeom prst="rect">
            <a:avLst/>
          </a:prstGeom>
          <a:noFill/>
          <a:ln/>
        </p:spPr>
        <p:txBody>
          <a:bodyPr wrap="square" lIns="0" tIns="0" rIns="0" bIns="0" rtlCol="0" anchor="t"/>
          <a:lstStyle/>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if (!allowList.IsAllowed(command, arguments))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string requested = $"{command}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string.Join(' ', arguments);</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throw new InvalidOperationException(</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$"'{requested.TrimEnd()}' is not on the"</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 $" allow list. Allowed: {...}.");</a:t>
            </a:r>
            <a:endParaRPr lang="en-US" sz="950" dirty="0"/>
          </a:p>
          <a:p>
            <a:pPr indent="0" marL="0">
              <a:lnSpc>
                <a:spcPts val="12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18" name="Text 16"/>
          <p:cNvSpPr txBox="1"/>
          <p:nvPr/>
        </p:nvSpPr>
        <p:spPr>
          <a:xfrm>
            <a:off x="6638544" y="4751832"/>
            <a:ext cx="4690872" cy="682752"/>
          </a:xfrm>
          <a:prstGeom prst="rect">
            <a:avLst/>
          </a:prstGeom>
          <a:noFill/>
          <a:ln/>
        </p:spPr>
        <p:txBody>
          <a:bodyPr wrap="square" lIns="0" tIns="0" rIns="0" bIns="0" rtlCol="0" anchor="t"/>
          <a:lstStyle/>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return await inner.RunAsync(command, arguments,</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workingDirectory, timeout, cancellationToken);</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2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9"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RunAsync throws before its first await, but because the method is async the exception rides on the Task it returns rather than escaping synchronously — so await sees it exactly where it expects to.</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Notes on a Twelve-Line Policy</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11B — SHELL COMMAND EXECUTION: THE COMMAND ALLOW LIST</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ICommandAllowList is the whole extension point</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Anything that can answer IsAllowed can sit in this slot — a hardcoded list today, something configurable later, without AllowListedShellExecutor or ShellTools changing.</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check runs before inner.RunAsync is ever called</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refused command never starts a process, never spends the timeout, never touches the filesystem.</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Entries exists so the refusal can name what is allowed</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 just what was refused. A tool that only says no teaches the model nothing about what to try next.</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dotnet --version is refused too, and that is not a regression</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It was fine in 11a because nothing decided otherwise yet. An allow list’s entire job is saying what is permitted — everything else follows, including commands that were harmless.</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OrdinalIgnoreCase on the match</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model composes these strings; "Build" should not silently fail where "build" would have succeeded.</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No constructor parameters, no state beyond the array</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Nothing reads a file, an environment variable, or AGENTS.md. What you see in the file is the complete list MiniCode enforces.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Generalize From a Pair to a Prefix</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Real output from this Module’s code, through AllowListedShellExecutor against the same temporary console project 11a used.</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11B — SHELL COMMAND EXECUTION: THE COMMAND ALLOW LIST</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entry tokens as a prefix</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Today IsAllowed can only express two-token rules. Split each entry into tokens and match when those tokens are a prefix of [command, ...arguments] — so "dotnet tool restore" permits dotnet tool restore without also permitting dotnet tool install, which the two-token check cannot distinguish.</a:t>
            </a:r>
            <a:endParaRPr lang="en-US" sz="1350" dirty="0"/>
          </a:p>
        </p:txBody>
      </p:sp>
      <p:sp>
        <p:nvSpPr>
          <p:cNvPr id="12" name="Text 9"/>
          <p:cNvSpPr txBox="1"/>
          <p:nvPr/>
        </p:nvSpPr>
        <p:spPr>
          <a:xfrm>
            <a:off x="868680" y="4251960"/>
            <a:ext cx="4709160" cy="182880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four shipped entries behave exactly as they do today</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Adding "dotnet tool restore" allows it and still refuses dotnet tool install x</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one-token entry such as "dotnet" would match every invocation — the criterion is that nobody adds one, not that the code forbids it</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 allowed command, as last lesson ===</a:t>
            </a:r>
            <a:endParaRPr lang="en-US" sz="950" dirty="0"/>
          </a:p>
        </p:txBody>
      </p:sp>
      <p:sp>
        <p:nvSpPr>
          <p:cNvPr id="15" name="Text 12"/>
          <p:cNvSpPr txBox="1"/>
          <p:nvPr/>
        </p:nvSpPr>
        <p:spPr>
          <a:xfrm>
            <a:off x="6638544" y="24785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Exit code 0</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Build succeeded.    0 Error(s)</a:t>
            </a:r>
            <a:endParaRPr lang="en-US" sz="950" dirty="0"/>
          </a:p>
        </p:txBody>
      </p:sp>
      <p:sp>
        <p:nvSpPr>
          <p:cNvPr id="16" name="Text 13"/>
          <p:cNvSpPr txBox="1"/>
          <p:nvPr/>
        </p:nvSpPr>
        <p:spPr>
          <a:xfrm>
            <a:off x="6638544" y="28087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 sibling subcommand, refused ===</a:t>
            </a:r>
            <a:endParaRPr lang="en-US" sz="950" dirty="0"/>
          </a:p>
        </p:txBody>
      </p:sp>
      <p:sp>
        <p:nvSpPr>
          <p:cNvPr id="17" name="Text 14"/>
          <p:cNvSpPr txBox="1"/>
          <p:nvPr/>
        </p:nvSpPr>
        <p:spPr>
          <a:xfrm>
            <a:off x="6638544" y="3156712"/>
            <a:ext cx="4690872" cy="733552"/>
          </a:xfrm>
          <a:prstGeom prst="rect">
            <a:avLst/>
          </a:prstGeom>
          <a:noFill/>
          <a:ln/>
        </p:spPr>
        <p:txBody>
          <a:bodyPr wrap="square" lIns="0" tIns="0" rIns="0" bIns="0" rtlCol="0" anchor="t"/>
          <a:lstStyle/>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run_command failed: 'dotnet nuget push' is</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not on the allow list. Allowed: dotnet</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restore, dotnet build, dotnet test, dotnet</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format.</a:t>
            </a:r>
            <a:endParaRPr lang="en-US" sz="900" dirty="0"/>
          </a:p>
        </p:txBody>
      </p:sp>
      <p:sp>
        <p:nvSpPr>
          <p:cNvPr id="18" name="Text 15"/>
          <p:cNvSpPr txBox="1"/>
          <p:nvPr/>
        </p:nvSpPr>
        <p:spPr>
          <a:xfrm>
            <a:off x="6638544" y="381711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11a's timeout never gets that far ===</a:t>
            </a:r>
            <a:endParaRPr lang="en-US" sz="950" dirty="0"/>
          </a:p>
        </p:txBody>
      </p:sp>
      <p:sp>
        <p:nvSpPr>
          <p:cNvPr id="19" name="Text 16"/>
          <p:cNvSpPr txBox="1"/>
          <p:nvPr/>
        </p:nvSpPr>
        <p:spPr>
          <a:xfrm>
            <a:off x="6638544" y="4165092"/>
            <a:ext cx="4690872" cy="733552"/>
          </a:xfrm>
          <a:prstGeom prst="rect">
            <a:avLst/>
          </a:prstGeom>
          <a:noFill/>
          <a:ln/>
        </p:spPr>
        <p:txBody>
          <a:bodyPr wrap="square" lIns="0" tIns="0" rIns="0" bIns="0" rtlCol="0" anchor="t"/>
          <a:lstStyle/>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run_command failed: 'ping -n 6 127.0.0.1'</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is not on the allow list. Allowed: dotnet</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restore, dotnet build, dotnet test, dotnet</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format.</a:t>
            </a:r>
            <a:endParaRPr lang="en-US" sz="900" dirty="0"/>
          </a:p>
        </p:txBody>
      </p:sp>
      <p:sp>
        <p:nvSpPr>
          <p:cNvPr id="20"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Same executor underneath, same never-throw invoker from Module 5a — the only thing that changed is that something now gets to say no before Process.Start is ever called.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2026-09-10T20:11:18Z</dcterms:created>
  <dcterms:modified xsi:type="dcterms:W3CDTF">2026-09-10T20:11:18Z</dcterms:modified>
</cp:coreProperties>
</file>