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dotnet test has run through run_command since Module 11a like any other command: raw stdout, truncated at 4,000 characters. That was fine for a build. A test run buries the one line that matters, which test failed and why, inside output that is mostly the runner announcing itself. This Module makes that line easy to find, and closes the loop: fix, rerun, confirm. We start from the Module 12 folder, with Module 11a's run_command and ShellCommandResult and Module 12's loop and its addition to AgentInstructions.Core. Setup: nothing new. This is the last Module of Phase 3, and it ships as part of the Phase 3 Capstone, Autonomous Fixer, v0.3.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Modify code, dotnet build, dotnet test. Tests pass? Finish. Otherwise diagnose, modify, and test again. Unit-test discovery already has an answer, and this Module is not it. Module 6 marks a project [test project] the first time describe_repository runs. What was missing was never 'does the model know tests exist'. It was 'can it read what running them produced'.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runner is quiet on success and loud on failure, and that was verified directly, not assumed. A passing run prints one line: Probe.dll (net10.0|x64) passed (596ms). A failing run itemizes every failure by name, with its assertion and a stack trace. Parsing does not have to find the failures; the runner already decided which lines matter. It only has to keep those and drop the rest. The console lines on this slide are wrapped to fit the card, and the failing run is trimmed: its Expected, Actual and stack-trace lines are 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codes extend Module 11a's topic, and the numbers are not the ones a build uses. Captured directly: 0 is a clean pass, 2 means one or more tests failed, and 5 means the test host never ran anything at all. That is a configuration problem, not a red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--nologo is that configuration problem, and it is real. dotnet test --nologo on this SDK reports Zero tests ran with exit code 5, confirmed against this Module's own toolchain. This is real captured output: the mistake this Module exists to prevent. A model that carried the habit over from dotnet build --nologo would silently stop testing anything. The instructions forbid it outright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stack frame is the test; the rest is the framework that called it. You see Assert.Equal() Failure, Expected, Actual, then one at line pointing at the test method and its source line. Everything after that is System.Reflection invoking the test: real, but not worth a token. The inner loop prints every detail line until it prints one starting with 'at ', then stops. The failure cap counts before it truncates: the total is computed once, up front, so the '... N more failing tests not shown.' notice is exact even though the loop stops as soon as it has shown five. There is no regex anywhere in the parser, only line-prefix and substring checks, the same style as every parser this course has written since FileSystemService.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summary that cannot be built is not the same as an empty one. A syntax error inside the test project never reaches the test host, so there is no Test run summary line to find. Falling back to the raw compiler output here is the same instinct as Module 5b's truncation notices: silence reads as 'nothing happened', which is worse than showing something unfiltered. IsTestRun checks the subcommand, not just the program, the same shape as Module 11b's allow-list matching, spent here on a parsing decision instead of a permission one. One IsNullOrWhiteSpace check covers two cases at once: not a test run at all, where the summary is null, and a test run whose output had nothing to extract, where the summary is empty. A compile error is the second case and falls through to the same raw output a build 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Regression detection ships as an instruction here, not a comparison. The parser reports what just happened; it keeps no memory of the run before it. Treating a newly broken test as seriously as the one being fixed, by rerunning the whole suite and not just the target, is behaviour asked of the model, the same way Module 12 asked it to rerun a command before declaring success. The new third of Core says: never pass --nologo to dotnet test, because on this SDK it can report Zero tests ran with exit code 5. After fixing a failing test, run the full suite again, not just the one that was failing. A change that breaks a different test is not a fix, and a newly failing test deserves the same attention as the one you started with. No tool's shape changed this Module, only what the model is told to do with output it can now read. run_command's description gains one clause: for dotnet test, the summary and failing tests are reported; passing tests are not listed by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Relativize the paths in run_command's output. The parser hands back lines like 'at CalculatorTests.SubtractsTwoNumbers() in C:\Repo\CalculatorTests.cs:9': an absolute path, because that is what the test host prints. Every instruction says paths are relative to the workspace root, and ValidatePath refuses a rooted path outright, so a model that copies that path straight into read_file gets refused with NotRelative and has to recover. It does recover, because Module 5a's invoker turns the refusal into a sentence, but it is friction on what should be the happy path, and Module 11a's compiler-error output has the identical shape. In ShellTools.RunCommand, after getting the result, replace occurrences of the workspace root, plus its trailing separator, with nothing in both stdout and stderr before handing them to the parser or to Append, and normalize backslashes to forward slashes in what remains. Acceptance criteria: a path inside the workspace root appears relative, with forward slashes, in both build and test output; a path outside the workspace root is left exactly as printed; output that contains no workspace path changes nothing. No later Module needs this: Module 14's Git tools format their own paths independently.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of this is real output from this Module's code, calling ShellTools.RunCommand through the real AllowListedShellExecutor and CommandAllowList against a temporary xunit.v3 test project with one failing test. The failing run is exit code 2: the summary, then the one failure with its assertion and the first stack frame. The at line is wrapped onto two lines here to fit. After fixing Calculator.Subtract, the same call returns exit code 0, Test run summary: Passed!, total 2, failed 0, succeeded 2; the counts are left off the slide. The Lab itself, handing MiniCode a failing test and asking it to fix the underlying code, needs a live OPENAI_API_KEY, since it is the model deciding what to search for and what to edit. What it produces is this tool call composed with Module 10's edit_file and Module 12's loop: the condensed failure tells it which method and which line, search_files or read_file on CalculatorTests.cs line 9 finds Calculator.Subtract, edit_file corrects it, and run_command runs again to confirm: exit code 0 where it was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where this goes. Module 16a's /test command runs dotnet test through the same run_command, so the operator sees the same condensed summary the model does. The Phase 3 Capstone fixes two seams around run_command: compaction now records every command already run, and the context budget finally charges tool calls and their results. In Module 15, dotnet build and dotnet test are among the operations that run without asking; any other command needs a yes. And in Module 19, the fail, diagnose, fix, rerun cycle is the repair loop at the centre of the capstone task. This ships in the Phase 3 Capstone, Autonomous Fixer, version 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MODULE 13  ·  PHASE 3</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3200" b="1" dirty="0">
                <a:solidFill>
                  <a:srgbClr val="FFFFFF"/>
                </a:solidFill>
                <a:latin typeface="Cambria" pitchFamily="34" charset="0"/>
                <a:ea typeface="Cambria" pitchFamily="34" charset="-122"/>
                <a:cs typeface="Cambria" pitchFamily="34" charset="-120"/>
              </a:rPr>
              <a:t>Automated Testing and Self-Correction</a:t>
            </a:r>
            <a:endParaRPr lang="en-US" sz="32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Fix, rerun, confirm</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Module12-TheAutonomousCodingLoop/</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900" dirty="0">
                <a:solidFill>
                  <a:srgbClr val="FFFFFF"/>
                </a:solidFill>
                <a:latin typeface="Courier New" pitchFamily="34" charset="0"/>
                <a:ea typeface="Courier New" pitchFamily="34" charset="-122"/>
                <a:cs typeface="Courier New" pitchFamily="34" charset="-120"/>
              </a:rPr>
              <a:t>Module13-AutomatedTestingAndSelfCorrection/</a:t>
            </a:r>
            <a:endParaRPr lang="en-US" sz="9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Why a raw test run buries the one line that matters</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Keeping the summary and the failures, dropping the rest</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Reading dotnet test exit codes: 0, 2 and 5</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Why --nologo silently stops testing anything</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Rerunning the whole suite to catch regressions</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MiniCode  ·  Module 13 — Automated Testing and Self-Correction</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The loop this Module closes</a:t>
            </a:r>
            <a:endParaRPr lang="en-US" sz="2800" dirty="0"/>
          </a:p>
        </p:txBody>
      </p:sp>
      <p:sp>
        <p:nvSpPr>
          <p:cNvPr id="4" name="Shape 2"/>
          <p:cNvSpPr/>
          <p:nvPr/>
        </p:nvSpPr>
        <p:spPr>
          <a:xfrm>
            <a:off x="457200" y="1417320"/>
            <a:ext cx="1796796" cy="2221992"/>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Modify code</a:t>
            </a:r>
            <a:endParaRPr lang="en-US" sz="1500" dirty="0"/>
          </a:p>
        </p:txBody>
      </p:sp>
      <p:sp>
        <p:nvSpPr>
          <p:cNvPr id="8" name="Text 5"/>
          <p:cNvSpPr txBox="1"/>
          <p:nvPr/>
        </p:nvSpPr>
        <p:spPr>
          <a:xfrm>
            <a:off x="640080" y="28346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edit_file, from Module 10</a:t>
            </a:r>
            <a:endParaRPr lang="en-US" sz="1200" dirty="0"/>
          </a:p>
        </p:txBody>
      </p:sp>
      <p:sp>
        <p:nvSpPr>
          <p:cNvPr id="9" name="Shape 6"/>
          <p:cNvSpPr/>
          <p:nvPr/>
        </p:nvSpPr>
        <p:spPr>
          <a:xfrm>
            <a:off x="2318004" y="2418588"/>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2221992"/>
          </a:xfrm>
          <a:prstGeom prst="roundRect">
            <a:avLst>
              <a:gd name="adj" fmla="val 4071"/>
            </a:avLst>
          </a:prstGeom>
          <a:solidFill>
            <a:srgbClr val="EFEBFC"/>
          </a:solidFill>
          <a:ln w="12700">
            <a:solidFill>
              <a:srgbClr val="EFEBFC"/>
            </a:solidFill>
            <a:prstDash val="solid"/>
          </a:ln>
        </p:spPr>
      </p:sp>
      <p:sp>
        <p:nvSpPr>
          <p:cNvPr id="11" name="Shape 8"/>
          <p:cNvSpPr/>
          <p:nvPr/>
        </p:nvSpPr>
        <p:spPr>
          <a:xfrm>
            <a:off x="2784348"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dotnet build</a:t>
            </a:r>
            <a:endParaRPr lang="en-US" sz="1500" dirty="0"/>
          </a:p>
        </p:txBody>
      </p:sp>
      <p:sp>
        <p:nvSpPr>
          <p:cNvPr id="14" name="Text 10"/>
          <p:cNvSpPr txBox="1"/>
          <p:nvPr/>
        </p:nvSpPr>
        <p:spPr>
          <a:xfrm>
            <a:off x="2784348" y="28346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Through run_command, from Module 11a</a:t>
            </a:r>
            <a:endParaRPr lang="en-US" sz="1200" dirty="0"/>
          </a:p>
        </p:txBody>
      </p:sp>
      <p:sp>
        <p:nvSpPr>
          <p:cNvPr id="15" name="Shape 11"/>
          <p:cNvSpPr/>
          <p:nvPr/>
        </p:nvSpPr>
        <p:spPr>
          <a:xfrm>
            <a:off x="4462272" y="2418588"/>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2221992"/>
          </a:xfrm>
          <a:prstGeom prst="roundRect">
            <a:avLst>
              <a:gd name="adj" fmla="val 4071"/>
            </a:avLst>
          </a:prstGeom>
          <a:solidFill>
            <a:srgbClr val="EFEBFC"/>
          </a:solidFill>
          <a:ln w="12700">
            <a:solidFill>
              <a:srgbClr val="EFEBFC"/>
            </a:solidFill>
            <a:prstDash val="solid"/>
          </a:ln>
        </p:spPr>
      </p:sp>
      <p:sp>
        <p:nvSpPr>
          <p:cNvPr id="17" name="Shape 13"/>
          <p:cNvSpPr/>
          <p:nvPr/>
        </p:nvSpPr>
        <p:spPr>
          <a:xfrm>
            <a:off x="4928616"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dotnet test</a:t>
            </a:r>
            <a:endParaRPr lang="en-US" sz="1500" dirty="0"/>
          </a:p>
        </p:txBody>
      </p:sp>
      <p:sp>
        <p:nvSpPr>
          <p:cNvPr id="20" name="Text 15"/>
          <p:cNvSpPr txBox="1"/>
          <p:nvPr/>
        </p:nvSpPr>
        <p:spPr>
          <a:xfrm>
            <a:off x="4928616" y="28346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Output the model can now actually read</a:t>
            </a:r>
            <a:endParaRPr lang="en-US" sz="1200" dirty="0"/>
          </a:p>
        </p:txBody>
      </p:sp>
      <p:sp>
        <p:nvSpPr>
          <p:cNvPr id="21" name="Shape 16"/>
          <p:cNvSpPr/>
          <p:nvPr/>
        </p:nvSpPr>
        <p:spPr>
          <a:xfrm>
            <a:off x="6606540" y="2418588"/>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2221992"/>
          </a:xfrm>
          <a:prstGeom prst="roundRect">
            <a:avLst>
              <a:gd name="adj" fmla="val 4071"/>
            </a:avLst>
          </a:prstGeom>
          <a:solidFill>
            <a:srgbClr val="512BD4"/>
          </a:solidFill>
          <a:ln w="12700">
            <a:solidFill>
              <a:srgbClr val="512BD4"/>
            </a:solidFill>
            <a:prstDash val="solid"/>
          </a:ln>
        </p:spPr>
      </p:sp>
      <p:sp>
        <p:nvSpPr>
          <p:cNvPr id="23" name="Shape 18"/>
          <p:cNvSpPr/>
          <p:nvPr/>
        </p:nvSpPr>
        <p:spPr>
          <a:xfrm>
            <a:off x="7072884" y="1618488"/>
            <a:ext cx="457200" cy="457200"/>
          </a:xfrm>
          <a:prstGeom prst="ellipse">
            <a:avLst/>
          </a:prstGeom>
          <a:solidFill>
            <a:srgbClr val="FFFFFF"/>
          </a:solidFill>
          <a:ln w="12700">
            <a:solidFill>
              <a:srgbClr val="FFFFFF"/>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6400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Pass or diagnose</a:t>
            </a:r>
            <a:endParaRPr lang="en-US" sz="1500" dirty="0"/>
          </a:p>
        </p:txBody>
      </p:sp>
      <p:sp>
        <p:nvSpPr>
          <p:cNvPr id="26" name="Text 20"/>
          <p:cNvSpPr txBox="1"/>
          <p:nvPr/>
        </p:nvSpPr>
        <p:spPr>
          <a:xfrm>
            <a:off x="7072884" y="2834640"/>
            <a:ext cx="1476756"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Pass: finish. Fail: diagnose, modify, test again.</a:t>
            </a:r>
            <a:endParaRPr lang="en-US" sz="1200" dirty="0"/>
          </a:p>
        </p:txBody>
      </p:sp>
      <p:sp>
        <p:nvSpPr>
          <p:cNvPr id="27" name="Text 21"/>
          <p:cNvSpPr txBox="1"/>
          <p:nvPr/>
        </p:nvSpPr>
        <p:spPr>
          <a:xfrm>
            <a:off x="457200" y="39593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Module 6 already marks [test project]. The gap was reading what running it produced.</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13 — Automated Testing and Self-Correction</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Quiet on success, loud on failure</a:t>
            </a:r>
            <a:endParaRPr lang="en-US" sz="2800" dirty="0"/>
          </a:p>
        </p:txBody>
      </p:sp>
      <p:sp>
        <p:nvSpPr>
          <p:cNvPr id="4" name="Shape 2"/>
          <p:cNvSpPr/>
          <p:nvPr/>
        </p:nvSpPr>
        <p:spPr>
          <a:xfrm>
            <a:off x="457200" y="1371600"/>
            <a:ext cx="3931920" cy="2606040"/>
          </a:xfrm>
          <a:prstGeom prst="roundRect">
            <a:avLst>
              <a:gd name="adj" fmla="val 2807"/>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16A34A"/>
          </a:solidFill>
          <a:ln w="12700">
            <a:solidFill>
              <a:srgbClr val="16A34A"/>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A passing run</a:t>
            </a:r>
            <a:endParaRPr lang="en-US" sz="1700" dirty="0"/>
          </a:p>
        </p:txBody>
      </p:sp>
      <p:sp>
        <p:nvSpPr>
          <p:cNvPr id="8" name="Text 5"/>
          <p:cNvSpPr txBox="1"/>
          <p:nvPr/>
        </p:nvSpPr>
        <p:spPr>
          <a:xfrm>
            <a:off x="685800" y="2194560"/>
            <a:ext cx="3474720" cy="36576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One line, and nothing itemized</a:t>
            </a:r>
            <a:endParaRPr lang="en-US" sz="1300" dirty="0"/>
          </a:p>
        </p:txBody>
      </p:sp>
      <p:sp>
        <p:nvSpPr>
          <p:cNvPr id="9" name="Shape 6"/>
          <p:cNvSpPr/>
          <p:nvPr/>
        </p:nvSpPr>
        <p:spPr>
          <a:xfrm>
            <a:off x="685800" y="2633472"/>
            <a:ext cx="3474720" cy="1143000"/>
          </a:xfrm>
          <a:prstGeom prst="roundRect">
            <a:avLst>
              <a:gd name="adj" fmla="val 6400"/>
            </a:avLst>
          </a:prstGeom>
          <a:solidFill>
            <a:srgbClr val="0F1420"/>
          </a:solidFill>
          <a:ln w="12700">
            <a:solidFill>
              <a:srgbClr val="0F1420"/>
            </a:solidFill>
            <a:prstDash val="solid"/>
          </a:ln>
        </p:spPr>
      </p:sp>
      <p:sp>
        <p:nvSpPr>
          <p:cNvPr id="10" name="Text 7"/>
          <p:cNvSpPr txBox="1"/>
          <p:nvPr/>
        </p:nvSpPr>
        <p:spPr>
          <a:xfrm>
            <a:off x="868680" y="2770632"/>
            <a:ext cx="3108960" cy="868680"/>
          </a:xfrm>
          <a:prstGeom prst="rect">
            <a:avLst/>
          </a:prstGeom>
          <a:noFill/>
          <a:ln/>
        </p:spPr>
        <p:txBody>
          <a:bodyPr wrap="square" lIns="0" tIns="0" rIns="0" bIns="0" rtlCol="0" anchor="t"/>
          <a:lstStyle/>
          <a:p>
            <a:pPr indent="0" marL="0">
              <a:buNone/>
            </a:pPr>
            <a:r>
              <a:rPr lang="en-US" sz="1100" dirty="0">
                <a:solidFill>
                  <a:srgbClr val="9FE6B8"/>
                </a:solidFill>
                <a:latin typeface="Courier New" pitchFamily="34" charset="0"/>
                <a:ea typeface="Courier New" pitchFamily="34" charset="-122"/>
                <a:cs typeface="Courier New" pitchFamily="34" charset="-120"/>
              </a:rPr>
              <a:t>Probe.dll (net10.0|x64) passed</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  (596ms)</a:t>
            </a:r>
            <a:endParaRPr lang="en-US" sz="1100" dirty="0"/>
          </a:p>
        </p:txBody>
      </p:sp>
      <p:sp>
        <p:nvSpPr>
          <p:cNvPr id="11" name="Shape 8"/>
          <p:cNvSpPr/>
          <p:nvPr/>
        </p:nvSpPr>
        <p:spPr>
          <a:xfrm>
            <a:off x="4754880" y="1371600"/>
            <a:ext cx="3931920" cy="2606040"/>
          </a:xfrm>
          <a:prstGeom prst="roundRect">
            <a:avLst>
              <a:gd name="adj" fmla="val 2807"/>
            </a:avLst>
          </a:prstGeom>
          <a:solidFill>
            <a:srgbClr val="EFEBFC"/>
          </a:solidFill>
          <a:ln w="12700">
            <a:solidFill>
              <a:srgbClr val="EFEBFC"/>
            </a:solidFill>
            <a:prstDash val="solid"/>
          </a:ln>
        </p:spPr>
      </p:sp>
      <p:sp>
        <p:nvSpPr>
          <p:cNvPr id="12" name="Shape 9"/>
          <p:cNvSpPr/>
          <p:nvPr/>
        </p:nvSpPr>
        <p:spPr>
          <a:xfrm>
            <a:off x="4983480" y="1600200"/>
            <a:ext cx="438912" cy="438912"/>
          </a:xfrm>
          <a:prstGeom prst="ellipse">
            <a:avLst/>
          </a:prstGeom>
          <a:solidFill>
            <a:srgbClr val="DC2626"/>
          </a:solidFill>
          <a:ln w="12700">
            <a:solidFill>
              <a:srgbClr val="DC2626"/>
            </a:solidFill>
            <a:prstDash val="solid"/>
          </a:ln>
        </p:spPr>
      </p:sp>
      <p:pic>
        <p:nvPicPr>
          <p:cNvPr id="13"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4" name="Text 10"/>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A failing run</a:t>
            </a:r>
            <a:endParaRPr lang="en-US" sz="1700" dirty="0"/>
          </a:p>
        </p:txBody>
      </p:sp>
      <p:sp>
        <p:nvSpPr>
          <p:cNvPr id="15" name="Text 11"/>
          <p:cNvSpPr txBox="1"/>
          <p:nvPr/>
        </p:nvSpPr>
        <p:spPr>
          <a:xfrm>
            <a:off x="4983480" y="2194560"/>
            <a:ext cx="3474720" cy="36576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Every failure, by name</a:t>
            </a:r>
            <a:endParaRPr lang="en-US" sz="1300" dirty="0"/>
          </a:p>
        </p:txBody>
      </p:sp>
      <p:sp>
        <p:nvSpPr>
          <p:cNvPr id="16" name="Shape 12"/>
          <p:cNvSpPr/>
          <p:nvPr/>
        </p:nvSpPr>
        <p:spPr>
          <a:xfrm>
            <a:off x="4983480" y="2633472"/>
            <a:ext cx="3474720" cy="1143000"/>
          </a:xfrm>
          <a:prstGeom prst="roundRect">
            <a:avLst>
              <a:gd name="adj" fmla="val 6400"/>
            </a:avLst>
          </a:prstGeom>
          <a:solidFill>
            <a:srgbClr val="0F1420"/>
          </a:solidFill>
          <a:ln w="12700">
            <a:solidFill>
              <a:srgbClr val="0F1420"/>
            </a:solidFill>
            <a:prstDash val="solid"/>
          </a:ln>
        </p:spPr>
      </p:sp>
      <p:sp>
        <p:nvSpPr>
          <p:cNvPr id="17" name="Text 13"/>
          <p:cNvSpPr txBox="1"/>
          <p:nvPr/>
        </p:nvSpPr>
        <p:spPr>
          <a:xfrm>
            <a:off x="5166360" y="2770632"/>
            <a:ext cx="3108960" cy="868680"/>
          </a:xfrm>
          <a:prstGeom prst="rect">
            <a:avLst/>
          </a:prstGeom>
          <a:noFill/>
          <a:ln/>
        </p:spPr>
        <p:txBody>
          <a:bodyPr wrap="square" lIns="0" tIns="0" rIns="0" bIns="0" rtlCol="0" anchor="t"/>
          <a:lstStyle/>
          <a:p>
            <a:pPr indent="0" marL="0">
              <a:buNone/>
            </a:pPr>
            <a:r>
              <a:rPr lang="en-US" sz="1100" dirty="0">
                <a:solidFill>
                  <a:srgbClr val="FF9B9B"/>
                </a:solidFill>
                <a:latin typeface="Courier New" pitchFamily="34" charset="0"/>
                <a:ea typeface="Courier New" pitchFamily="34" charset="-122"/>
                <a:cs typeface="Courier New" pitchFamily="34" charset="-120"/>
              </a:rPr>
              <a:t>failed CalculatorTests</a:t>
            </a:r>
            <a:endParaRPr lang="en-US" sz="1100" dirty="0"/>
          </a:p>
          <a:p>
            <a:pPr indent="0" marL="0">
              <a:buNone/>
            </a:pPr>
            <a:r>
              <a:rPr lang="en-US" sz="1100" dirty="0">
                <a:solidFill>
                  <a:srgbClr val="FF9B9B"/>
                </a:solidFill>
                <a:latin typeface="Courier New" pitchFamily="34" charset="0"/>
                <a:ea typeface="Courier New" pitchFamily="34" charset="-122"/>
                <a:cs typeface="Courier New" pitchFamily="34" charset="-120"/>
              </a:rPr>
              <a:t>  .SubtractsTwoNumbers (17ms)</a:t>
            </a:r>
            <a:endParaRPr lang="en-US" sz="1100" dirty="0"/>
          </a:p>
          <a:p>
            <a:pPr indent="0" marL="0">
              <a:buNone/>
            </a:pPr>
            <a:r>
              <a:rPr lang="en-US" sz="1100" dirty="0">
                <a:solidFill>
                  <a:srgbClr val="FF9B9B"/>
                </a:solidFill>
                <a:latin typeface="Courier New" pitchFamily="34" charset="0"/>
                <a:ea typeface="Courier New" pitchFamily="34" charset="-122"/>
                <a:cs typeface="Courier New" pitchFamily="34" charset="-120"/>
              </a:rPr>
              <a:t>  Assert.Equal() Failure:</a:t>
            </a:r>
            <a:endParaRPr lang="en-US" sz="1100" dirty="0"/>
          </a:p>
          <a:p>
            <a:pPr indent="0" marL="0">
              <a:buNone/>
            </a:pPr>
            <a:r>
              <a:rPr lang="en-US" sz="1100" dirty="0">
                <a:solidFill>
                  <a:srgbClr val="FF9B9B"/>
                </a:solidFill>
                <a:latin typeface="Courier New" pitchFamily="34" charset="0"/>
                <a:ea typeface="Courier New" pitchFamily="34" charset="-122"/>
                <a:cs typeface="Courier New" pitchFamily="34" charset="-120"/>
              </a:rPr>
              <a:t>  Values differ</a:t>
            </a:r>
            <a:endParaRPr lang="en-US" sz="1100" dirty="0"/>
          </a:p>
        </p:txBody>
      </p:sp>
      <p:sp>
        <p:nvSpPr>
          <p:cNvPr id="18" name="Text 14"/>
          <p:cNvSpPr txBox="1"/>
          <p:nvPr/>
        </p:nvSpPr>
        <p:spPr>
          <a:xfrm>
            <a:off x="457200" y="42519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runner already decided which lines matter. The parser only keeps them.</a:t>
            </a:r>
            <a:endParaRPr lang="en-US" sz="1400" dirty="0"/>
          </a:p>
        </p:txBody>
      </p:sp>
      <p:sp>
        <p:nvSpPr>
          <p:cNvPr id="19"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13 — Automated Testing and Self-Correction</a:t>
            </a:r>
            <a:endParaRPr lang="en-US" sz="900" dirty="0"/>
          </a:p>
        </p:txBody>
      </p:sp>
      <p:sp>
        <p:nvSpPr>
          <p:cNvPr id="20"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Three exit codes, three meanings</a:t>
            </a:r>
            <a:endParaRPr lang="en-US" sz="2800" dirty="0"/>
          </a:p>
        </p:txBody>
      </p:sp>
      <p:sp>
        <p:nvSpPr>
          <p:cNvPr id="4" name="Shape 2"/>
          <p:cNvSpPr/>
          <p:nvPr/>
        </p:nvSpPr>
        <p:spPr>
          <a:xfrm>
            <a:off x="457200" y="1371600"/>
            <a:ext cx="2560320" cy="1737360"/>
          </a:xfrm>
          <a:prstGeom prst="roundRect">
            <a:avLst>
              <a:gd name="adj" fmla="val 4211"/>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0: passed</a:t>
            </a:r>
            <a:endParaRPr lang="en-US" sz="1500" dirty="0"/>
          </a:p>
        </p:txBody>
      </p:sp>
      <p:sp>
        <p:nvSpPr>
          <p:cNvPr id="8" name="Text 5"/>
          <p:cNvSpPr txBox="1"/>
          <p:nvPr/>
        </p:nvSpPr>
        <p:spPr>
          <a:xfrm>
            <a:off x="640080" y="2057400"/>
            <a:ext cx="2194560" cy="9601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clean pass</a:t>
            </a:r>
            <a:endParaRPr lang="en-US" sz="1200" dirty="0"/>
          </a:p>
        </p:txBody>
      </p:sp>
      <p:sp>
        <p:nvSpPr>
          <p:cNvPr id="9" name="Shape 6"/>
          <p:cNvSpPr/>
          <p:nvPr/>
        </p:nvSpPr>
        <p:spPr>
          <a:xfrm>
            <a:off x="3291840" y="1371600"/>
            <a:ext cx="2560320" cy="1737360"/>
          </a:xfrm>
          <a:prstGeom prst="roundRect">
            <a:avLst>
              <a:gd name="adj" fmla="val 4211"/>
            </a:avLst>
          </a:prstGeom>
          <a:solidFill>
            <a:srgbClr val="EFEBFC"/>
          </a:solidFill>
          <a:ln w="12700">
            <a:solidFill>
              <a:srgbClr val="EFEBFC"/>
            </a:solidFill>
            <a:prstDash val="solid"/>
          </a:ln>
        </p:spPr>
      </p:sp>
      <p:sp>
        <p:nvSpPr>
          <p:cNvPr id="10" name="Shape 7"/>
          <p:cNvSpPr/>
          <p:nvPr/>
        </p:nvSpPr>
        <p:spPr>
          <a:xfrm>
            <a:off x="347472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2: tests failed</a:t>
            </a:r>
            <a:endParaRPr lang="en-US" sz="1500" dirty="0"/>
          </a:p>
        </p:txBody>
      </p:sp>
      <p:sp>
        <p:nvSpPr>
          <p:cNvPr id="13" name="Text 9"/>
          <p:cNvSpPr txBox="1"/>
          <p:nvPr/>
        </p:nvSpPr>
        <p:spPr>
          <a:xfrm>
            <a:off x="3474720" y="2057400"/>
            <a:ext cx="2194560" cy="9601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One or more tests are red</a:t>
            </a:r>
            <a:endParaRPr lang="en-US" sz="1200" dirty="0"/>
          </a:p>
        </p:txBody>
      </p:sp>
      <p:sp>
        <p:nvSpPr>
          <p:cNvPr id="14" name="Shape 10"/>
          <p:cNvSpPr/>
          <p:nvPr/>
        </p:nvSpPr>
        <p:spPr>
          <a:xfrm>
            <a:off x="6126480" y="1371600"/>
            <a:ext cx="2560320" cy="1737360"/>
          </a:xfrm>
          <a:prstGeom prst="roundRect">
            <a:avLst>
              <a:gd name="adj" fmla="val 4211"/>
            </a:avLst>
          </a:prstGeom>
          <a:solidFill>
            <a:srgbClr val="512BD4"/>
          </a:solidFill>
          <a:ln w="12700">
            <a:solidFill>
              <a:srgbClr val="512BD4"/>
            </a:solidFill>
            <a:prstDash val="solid"/>
          </a:ln>
        </p:spPr>
      </p:sp>
      <p:sp>
        <p:nvSpPr>
          <p:cNvPr id="15" name="Shape 11"/>
          <p:cNvSpPr/>
          <p:nvPr/>
        </p:nvSpPr>
        <p:spPr>
          <a:xfrm>
            <a:off x="6309360" y="1554480"/>
            <a:ext cx="384048" cy="384048"/>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5: nothing ran</a:t>
            </a:r>
            <a:endParaRPr lang="en-US" sz="1500" dirty="0"/>
          </a:p>
        </p:txBody>
      </p:sp>
      <p:sp>
        <p:nvSpPr>
          <p:cNvPr id="18" name="Text 13"/>
          <p:cNvSpPr txBox="1"/>
          <p:nvPr/>
        </p:nvSpPr>
        <p:spPr>
          <a:xfrm>
            <a:off x="6309360" y="2057400"/>
            <a:ext cx="2194560" cy="9601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The test host never ran a test. A configuration problem, not a red test.</a:t>
            </a:r>
            <a:endParaRPr lang="en-US" sz="1200" dirty="0"/>
          </a:p>
        </p:txBody>
      </p:sp>
      <p:sp>
        <p:nvSpPr>
          <p:cNvPr id="19" name="Text 14"/>
          <p:cNvSpPr txBox="1"/>
          <p:nvPr/>
        </p:nvSpPr>
        <p:spPr>
          <a:xfrm>
            <a:off x="457200" y="33375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These extend Module 11a's exit codes, and they are not the numbers a build uses.</a:t>
            </a:r>
            <a:endParaRPr lang="en-US" sz="1400" dirty="0"/>
          </a:p>
        </p:txBody>
      </p:sp>
      <p:sp>
        <p:nvSpPr>
          <p:cNvPr id="20"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13 — Automated Testing and Self-Correction</a:t>
            </a:r>
            <a:endParaRPr lang="en-US" sz="900" dirty="0"/>
          </a:p>
        </p:txBody>
      </p:sp>
      <p:sp>
        <p:nvSpPr>
          <p:cNvPr id="21"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--nologo is that configuration problem</a:t>
            </a:r>
            <a:endParaRPr lang="en-US" sz="2800" dirty="0"/>
          </a:p>
        </p:txBody>
      </p:sp>
      <p:sp>
        <p:nvSpPr>
          <p:cNvPr id="4" name="Shape 2"/>
          <p:cNvSpPr/>
          <p:nvPr/>
        </p:nvSpPr>
        <p:spPr>
          <a:xfrm>
            <a:off x="457200" y="1325880"/>
            <a:ext cx="5257800" cy="2103120"/>
          </a:xfrm>
          <a:prstGeom prst="roundRect">
            <a:avLst>
              <a:gd name="adj" fmla="val 3478"/>
            </a:avLst>
          </a:prstGeom>
          <a:solidFill>
            <a:srgbClr val="0F1420"/>
          </a:solidFill>
          <a:ln w="12700">
            <a:solidFill>
              <a:srgbClr val="0F1420"/>
            </a:solidFill>
            <a:prstDash val="solid"/>
          </a:ln>
        </p:spPr>
      </p:sp>
      <p:sp>
        <p:nvSpPr>
          <p:cNvPr id="5" name="Text 3"/>
          <p:cNvSpPr txBox="1"/>
          <p:nvPr/>
        </p:nvSpPr>
        <p:spPr>
          <a:xfrm>
            <a:off x="640080" y="1463040"/>
            <a:ext cx="4892040" cy="1828800"/>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 dotnet test --nologo</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FF9B9B"/>
                </a:solidFill>
                <a:latin typeface="Courier New" pitchFamily="34" charset="0"/>
                <a:ea typeface="Courier New" pitchFamily="34" charset="-122"/>
                <a:cs typeface="Courier New" pitchFamily="34" charset="-120"/>
              </a:rPr>
              <a:t>Exit code 5</a:t>
            </a:r>
            <a:endParaRPr lang="en-US" sz="1100" dirty="0"/>
          </a:p>
          <a:p>
            <a:pPr indent="0" marL="0">
              <a:buNone/>
            </a:pPr>
            <a:r>
              <a:rPr lang="en-US" sz="1100" dirty="0">
                <a:solidFill>
                  <a:srgbClr val="FF9B9B"/>
                </a:solidFill>
                <a:latin typeface="Courier New" pitchFamily="34" charset="0"/>
                <a:ea typeface="Courier New" pitchFamily="34" charset="-122"/>
                <a:cs typeface="Courier New" pitchFamily="34" charset="-120"/>
              </a:rPr>
              <a:t>Test run summary: Zero tests ran</a:t>
            </a:r>
            <a:endParaRPr lang="en-US" sz="1100" dirty="0"/>
          </a:p>
          <a:p>
            <a:pPr indent="0" marL="0">
              <a:buNone/>
            </a:pPr>
            <a:r>
              <a:rPr lang="en-US" sz="1100" dirty="0">
                <a:solidFill>
                  <a:srgbClr val="FF9B9B"/>
                </a:solidFill>
                <a:latin typeface="Courier New" pitchFamily="34" charset="0"/>
                <a:ea typeface="Courier New" pitchFamily="34" charset="-122"/>
                <a:cs typeface="Courier New" pitchFamily="34" charset="-120"/>
              </a:rPr>
              <a:t>error: 1</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total: 0</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failed: 0</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succeeded: 0</a:t>
            </a:r>
            <a:endParaRPr lang="en-US" sz="11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A build habit</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--nologo is harmless on dotnet build</a:t>
            </a:r>
            <a:endParaRPr lang="en-US" sz="1200" dirty="0"/>
          </a:p>
        </p:txBody>
      </p:sp>
      <p:sp>
        <p:nvSpPr>
          <p:cNvPr id="10" name="Shape 7"/>
          <p:cNvSpPr/>
          <p:nvPr/>
        </p:nvSpPr>
        <p:spPr>
          <a:xfrm>
            <a:off x="6035040" y="2423160"/>
            <a:ext cx="384048" cy="384048"/>
          </a:xfrm>
          <a:prstGeom prst="ellipse">
            <a:avLst/>
          </a:prstGeom>
          <a:solidFill>
            <a:srgbClr val="DC2626"/>
          </a:solidFill>
          <a:ln w="12700">
            <a:solidFill>
              <a:srgbClr val="DC2626"/>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Nothing tested</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On this SDK, dotnet test runs zero tests</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Now forbidden</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instructions say so outright</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13 — Automated Testing and Self-Correction</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The first stack frame is the test</a:t>
            </a:r>
            <a:endParaRPr lang="en-US" sz="2800" dirty="0"/>
          </a:p>
        </p:txBody>
      </p:sp>
      <p:sp>
        <p:nvSpPr>
          <p:cNvPr id="4" name="Shape 2"/>
          <p:cNvSpPr/>
          <p:nvPr/>
        </p:nvSpPr>
        <p:spPr>
          <a:xfrm>
            <a:off x="457200" y="1417320"/>
            <a:ext cx="1796796" cy="1993392"/>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Failure line</a:t>
            </a:r>
            <a:endParaRPr lang="en-US" sz="1500" dirty="0"/>
          </a:p>
        </p:txBody>
      </p:sp>
      <p:sp>
        <p:nvSpPr>
          <p:cNvPr id="8" name="Text 5"/>
          <p:cNvSpPr txBox="1"/>
          <p:nvPr/>
        </p:nvSpPr>
        <p:spPr>
          <a:xfrm>
            <a:off x="640080"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test's name and duration</a:t>
            </a:r>
            <a:endParaRPr lang="en-US" sz="1200" dirty="0"/>
          </a:p>
        </p:txBody>
      </p:sp>
      <p:sp>
        <p:nvSpPr>
          <p:cNvPr id="9" name="Shape 6"/>
          <p:cNvSpPr/>
          <p:nvPr/>
        </p:nvSpPr>
        <p:spPr>
          <a:xfrm>
            <a:off x="2318004" y="2304288"/>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1993392"/>
          </a:xfrm>
          <a:prstGeom prst="roundRect">
            <a:avLst>
              <a:gd name="adj" fmla="val 4071"/>
            </a:avLst>
          </a:prstGeom>
          <a:solidFill>
            <a:srgbClr val="EFEBFC"/>
          </a:solidFill>
          <a:ln w="12700">
            <a:solidFill>
              <a:srgbClr val="EFEBFC"/>
            </a:solidFill>
            <a:prstDash val="solid"/>
          </a:ln>
        </p:spPr>
      </p:sp>
      <p:sp>
        <p:nvSpPr>
          <p:cNvPr id="11" name="Shape 8"/>
          <p:cNvSpPr/>
          <p:nvPr/>
        </p:nvSpPr>
        <p:spPr>
          <a:xfrm>
            <a:off x="2784348"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Assertion</a:t>
            </a:r>
            <a:endParaRPr lang="en-US" sz="1500" dirty="0"/>
          </a:p>
        </p:txBody>
      </p:sp>
      <p:sp>
        <p:nvSpPr>
          <p:cNvPr id="14" name="Text 10"/>
          <p:cNvSpPr txBox="1"/>
          <p:nvPr/>
        </p:nvSpPr>
        <p:spPr>
          <a:xfrm>
            <a:off x="2784348"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Assert.Equal() Failure, Expected, Actual</a:t>
            </a:r>
            <a:endParaRPr lang="en-US" sz="1200" dirty="0"/>
          </a:p>
        </p:txBody>
      </p:sp>
      <p:sp>
        <p:nvSpPr>
          <p:cNvPr id="15" name="Shape 11"/>
          <p:cNvSpPr/>
          <p:nvPr/>
        </p:nvSpPr>
        <p:spPr>
          <a:xfrm>
            <a:off x="4462272" y="2304288"/>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1993392"/>
          </a:xfrm>
          <a:prstGeom prst="roundRect">
            <a:avLst>
              <a:gd name="adj" fmla="val 4071"/>
            </a:avLst>
          </a:prstGeom>
          <a:solidFill>
            <a:srgbClr val="512BD4"/>
          </a:solidFill>
          <a:ln w="12700">
            <a:solidFill>
              <a:srgbClr val="512BD4"/>
            </a:solidFill>
            <a:prstDash val="solid"/>
          </a:ln>
        </p:spPr>
      </p:sp>
      <p:sp>
        <p:nvSpPr>
          <p:cNvPr id="17" name="Shape 13"/>
          <p:cNvSpPr/>
          <p:nvPr/>
        </p:nvSpPr>
        <p:spPr>
          <a:xfrm>
            <a:off x="4928616" y="1618488"/>
            <a:ext cx="457200" cy="457200"/>
          </a:xfrm>
          <a:prstGeom prst="ellipse">
            <a:avLst/>
          </a:prstGeom>
          <a:solidFill>
            <a:srgbClr val="FFFFFF"/>
          </a:solidFill>
          <a:ln w="12700">
            <a:solidFill>
              <a:srgbClr val="FFFFFF"/>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4114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First at frame</a:t>
            </a:r>
            <a:endParaRPr lang="en-US" sz="1500" dirty="0"/>
          </a:p>
        </p:txBody>
      </p:sp>
      <p:sp>
        <p:nvSpPr>
          <p:cNvPr id="20" name="Text 15"/>
          <p:cNvSpPr txBox="1"/>
          <p:nvPr/>
        </p:nvSpPr>
        <p:spPr>
          <a:xfrm>
            <a:off x="4928616" y="2606040"/>
            <a:ext cx="1476756"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The test method and its source line</a:t>
            </a:r>
            <a:endParaRPr lang="en-US" sz="1200" dirty="0"/>
          </a:p>
        </p:txBody>
      </p:sp>
      <p:sp>
        <p:nvSpPr>
          <p:cNvPr id="21" name="Shape 16"/>
          <p:cNvSpPr/>
          <p:nvPr/>
        </p:nvSpPr>
        <p:spPr>
          <a:xfrm>
            <a:off x="6606540" y="2304288"/>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1993392"/>
          </a:xfrm>
          <a:prstGeom prst="roundRect">
            <a:avLst>
              <a:gd name="adj" fmla="val 4071"/>
            </a:avLst>
          </a:prstGeom>
          <a:solidFill>
            <a:srgbClr val="EFEBFC"/>
          </a:solidFill>
          <a:ln w="12700">
            <a:solidFill>
              <a:srgbClr val="EFEBFC"/>
            </a:solidFill>
            <a:prstDash val="solid"/>
          </a:ln>
        </p:spPr>
      </p:sp>
      <p:sp>
        <p:nvSpPr>
          <p:cNvPr id="23" name="Shape 18"/>
          <p:cNvSpPr/>
          <p:nvPr/>
        </p:nvSpPr>
        <p:spPr>
          <a:xfrm>
            <a:off x="7072884" y="1618488"/>
            <a:ext cx="457200" cy="457200"/>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The rest</a:t>
            </a:r>
            <a:endParaRPr lang="en-US" sz="1500" dirty="0"/>
          </a:p>
        </p:txBody>
      </p:sp>
      <p:sp>
        <p:nvSpPr>
          <p:cNvPr id="26" name="Text 20"/>
          <p:cNvSpPr txBox="1"/>
          <p:nvPr/>
        </p:nvSpPr>
        <p:spPr>
          <a:xfrm>
            <a:off x="7072884"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System.Reflection calling the test. Dropped.</a:t>
            </a:r>
            <a:endParaRPr lang="en-US" sz="1200" dirty="0"/>
          </a:p>
        </p:txBody>
      </p:sp>
      <p:sp>
        <p:nvSpPr>
          <p:cNvPr id="27" name="Text 21"/>
          <p:cNvSpPr txBox="1"/>
          <p:nvPr/>
        </p:nvSpPr>
        <p:spPr>
          <a:xfrm>
            <a:off x="457200" y="37307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At most five failures are shown, with an exact count of the rest.</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13 — Automated Testing and Self-Correction</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No summary is not an empty summary</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Summary or raw</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Only a dotnet test run is condensed, and only when there is something to condense.</a:t>
            </a:r>
            <a:endParaRPr lang="en-US" sz="13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Not a test run</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No summary: raw output, as for a build</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Compile error</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Never reached the test host: raw compiler output</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A test run</a:t>
            </a:r>
            <a:endParaRPr lang="en-US" sz="15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Summary counts plus up to five failures</a:t>
            </a:r>
            <a:endParaRPr lang="en-US" sz="1200" dirty="0"/>
          </a:p>
        </p:txBody>
      </p:sp>
      <p:sp>
        <p:nvSpPr>
          <p:cNvPr id="27" name="Text 21"/>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Silence reads as "nothing happened": the same instinct as Module 5b's truncation notices.</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13 — Automated Testing and Self-Correction</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Regression detection is an instruction</a:t>
            </a:r>
            <a:endParaRPr lang="en-US" sz="2800" dirty="0"/>
          </a:p>
        </p:txBody>
      </p:sp>
      <p:sp>
        <p:nvSpPr>
          <p:cNvPr id="4" name="Shape 2"/>
          <p:cNvSpPr/>
          <p:nvPr/>
        </p:nvSpPr>
        <p:spPr>
          <a:xfrm>
            <a:off x="457200" y="1371600"/>
            <a:ext cx="3931920" cy="2011680"/>
          </a:xfrm>
          <a:prstGeom prst="roundRect">
            <a:avLst>
              <a:gd name="adj" fmla="val 3636"/>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6B7280"/>
          </a:solidFill>
          <a:ln w="12700">
            <a:solidFill>
              <a:srgbClr val="6B7280"/>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What the parser does</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Reports what just happened</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Keeps no memory of the last run</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Compares nothing</a:t>
            </a:r>
            <a:endParaRPr lang="en-US" sz="1300" dirty="0"/>
          </a:p>
        </p:txBody>
      </p:sp>
      <p:sp>
        <p:nvSpPr>
          <p:cNvPr id="9" name="Shape 6"/>
          <p:cNvSpPr/>
          <p:nvPr/>
        </p:nvSpPr>
        <p:spPr>
          <a:xfrm>
            <a:off x="4754880" y="1371600"/>
            <a:ext cx="3931920" cy="2011680"/>
          </a:xfrm>
          <a:prstGeom prst="roundRect">
            <a:avLst>
              <a:gd name="adj" fmla="val 3636"/>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What the model is told</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Never pass --nologo to dotnet test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After a fix, rerun the whole suite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 newly failing test matters too</a:t>
            </a:r>
            <a:endParaRPr lang="en-US" sz="1300" dirty="0"/>
          </a:p>
        </p:txBody>
      </p:sp>
      <p:sp>
        <p:nvSpPr>
          <p:cNvPr id="14" name="Text 10"/>
          <p:cNvSpPr txBox="1"/>
          <p:nvPr/>
        </p:nvSpPr>
        <p:spPr>
          <a:xfrm>
            <a:off x="457200" y="36576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AgentInstructions.Core grows for the third time: Module 7, Module 12, now Module 13.</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13 — Automated Testing and Self-Correction</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Relativize the paths in run_command's output</a:t>
            </a:r>
            <a:endParaRPr lang="en-US" sz="280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Strip the workspace root from run_command's stdout and stderr, and turn backslashes into forward slashes, so a failure points at a path read_file accepts.</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950" dirty="0">
                <a:solidFill>
                  <a:srgbClr val="B8B2E6"/>
                </a:solidFill>
                <a:latin typeface="Courier New" pitchFamily="34" charset="0"/>
                <a:ea typeface="Courier New" pitchFamily="34" charset="-122"/>
                <a:cs typeface="Courier New" pitchFamily="34" charset="-120"/>
              </a:rPr>
              <a:t>src/MiniCode.Tools/ShellTools.cs</a:t>
            </a:r>
            <a:endParaRPr lang="en-US" sz="95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80772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 path inside the workspace root appears relative, with forward slashes, in build and test output</a:t>
            </a:r>
            <a:endParaRPr lang="en-US" sz="1300" dirty="0"/>
          </a:p>
        </p:txBody>
      </p:sp>
      <p:sp>
        <p:nvSpPr>
          <p:cNvPr id="13" name="Shape 9"/>
          <p:cNvSpPr/>
          <p:nvPr/>
        </p:nvSpPr>
        <p:spPr>
          <a:xfrm>
            <a:off x="3931920" y="2654808"/>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730886"/>
            <a:ext cx="140452" cy="140452"/>
          </a:xfrm>
          <a:prstGeom prst="rect">
            <a:avLst/>
          </a:prstGeom>
        </p:spPr>
      </p:pic>
      <p:sp>
        <p:nvSpPr>
          <p:cNvPr id="15" name="Text 10"/>
          <p:cNvSpPr txBox="1"/>
          <p:nvPr/>
        </p:nvSpPr>
        <p:spPr>
          <a:xfrm>
            <a:off x="4361688" y="2636520"/>
            <a:ext cx="4325112" cy="80772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 path outside the workspace root, such as a framework assembly, is left exactly as printed</a:t>
            </a:r>
            <a:endParaRPr lang="en-US" sz="1300" dirty="0"/>
          </a:p>
        </p:txBody>
      </p:sp>
      <p:sp>
        <p:nvSpPr>
          <p:cNvPr id="16" name="Shape 11"/>
          <p:cNvSpPr/>
          <p:nvPr/>
        </p:nvSpPr>
        <p:spPr>
          <a:xfrm>
            <a:off x="3931920" y="3508248"/>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3584326"/>
            <a:ext cx="140452" cy="140452"/>
          </a:xfrm>
          <a:prstGeom prst="rect">
            <a:avLst/>
          </a:prstGeom>
        </p:spPr>
      </p:pic>
      <p:sp>
        <p:nvSpPr>
          <p:cNvPr id="18" name="Text 12"/>
          <p:cNvSpPr txBox="1"/>
          <p:nvPr/>
        </p:nvSpPr>
        <p:spPr>
          <a:xfrm>
            <a:off x="4361688" y="3489960"/>
            <a:ext cx="4325112" cy="80772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Output with no workspace path in it is unchanged</a:t>
            </a:r>
            <a:endParaRPr lang="en-US" sz="1300" dirty="0"/>
          </a:p>
        </p:txBody>
      </p:sp>
      <p:sp>
        <p:nvSpPr>
          <p:cNvPr id="19"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13 — Automated Testing and Self-Correction</a:t>
            </a:r>
            <a:endParaRPr lang="en-US" sz="900" dirty="0"/>
          </a:p>
        </p:txBody>
      </p:sp>
      <p:sp>
        <p:nvSpPr>
          <p:cNvPr id="20"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OUTPUT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From exit code 2 to exit code 0</a:t>
            </a:r>
            <a:endParaRPr lang="en-US" sz="2800" dirty="0"/>
          </a:p>
        </p:txBody>
      </p:sp>
      <p:sp>
        <p:nvSpPr>
          <p:cNvPr id="4" name="Shape 2"/>
          <p:cNvSpPr/>
          <p:nvPr/>
        </p:nvSpPr>
        <p:spPr>
          <a:xfrm>
            <a:off x="457200" y="1325880"/>
            <a:ext cx="5257800" cy="3200400"/>
          </a:xfrm>
          <a:prstGeom prst="roundRect">
            <a:avLst>
              <a:gd name="adj" fmla="val 2286"/>
            </a:avLst>
          </a:prstGeom>
          <a:solidFill>
            <a:srgbClr val="0F1420"/>
          </a:solidFill>
          <a:ln w="12700">
            <a:solidFill>
              <a:srgbClr val="0F1420"/>
            </a:solidFill>
            <a:prstDash val="solid"/>
          </a:ln>
        </p:spPr>
      </p:sp>
      <p:sp>
        <p:nvSpPr>
          <p:cNvPr id="5" name="Text 3"/>
          <p:cNvSpPr txBox="1"/>
          <p:nvPr/>
        </p:nvSpPr>
        <p:spPr>
          <a:xfrm>
            <a:off x="640080" y="1463040"/>
            <a:ext cx="4892040" cy="2926080"/>
          </a:xfrm>
          <a:prstGeom prst="rect">
            <a:avLst/>
          </a:prstGeom>
          <a:noFill/>
          <a:ln/>
        </p:spPr>
        <p:txBody>
          <a:bodyPr wrap="square" lIns="0" tIns="0" rIns="0" bIns="0" rtlCol="0" anchor="t"/>
          <a:lstStyle/>
          <a:p>
            <a:pPr indent="0" marL="0">
              <a:buNone/>
            </a:pPr>
            <a:r>
              <a:rPr lang="en-US" sz="1000" dirty="0">
                <a:solidFill>
                  <a:srgbClr val="FF9B9B"/>
                </a:solidFill>
                <a:latin typeface="Courier New" pitchFamily="34" charset="0"/>
                <a:ea typeface="Courier New" pitchFamily="34" charset="-122"/>
                <a:cs typeface="Courier New" pitchFamily="34" charset="-120"/>
              </a:rPr>
              <a:t>Exit code 2</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Test run summary: Failed!</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total: 2</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failed: 1</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succeeded: 1</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failed CalculatorTests.SubtractsTwoNumbers (17ms)</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Assert.Equal() Failure: Values differ</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Expected: 1</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Actual:   2</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CalculatorTests.SubtractsTwoNumbers()</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in C:\...\CalculatorTests.cs:9</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after fixing Calculator.Subtract</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Exit code 0</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Test run summary: Passed!</a:t>
            </a:r>
            <a:endParaRPr lang="en-US" sz="1000" dirty="0"/>
          </a:p>
        </p:txBody>
      </p:sp>
      <p:sp>
        <p:nvSpPr>
          <p:cNvPr id="6" name="Shape 4"/>
          <p:cNvSpPr/>
          <p:nvPr/>
        </p:nvSpPr>
        <p:spPr>
          <a:xfrm>
            <a:off x="6035040" y="1325880"/>
            <a:ext cx="384048" cy="384048"/>
          </a:xfrm>
          <a:prstGeom prst="ellipse">
            <a:avLst/>
          </a:prstGeom>
          <a:solidFill>
            <a:srgbClr val="DC2626"/>
          </a:solidFill>
          <a:ln w="12700">
            <a:solidFill>
              <a:srgbClr val="DC2626"/>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The failure</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Which test, which values, which line</a:t>
            </a:r>
            <a:endParaRPr lang="en-US" sz="1200" dirty="0"/>
          </a:p>
        </p:txBody>
      </p:sp>
      <p:sp>
        <p:nvSpPr>
          <p:cNvPr id="10" name="Shape 7"/>
          <p:cNvSpPr/>
          <p:nvPr/>
        </p:nvSpPr>
        <p:spPr>
          <a:xfrm>
            <a:off x="6035040" y="2423160"/>
            <a:ext cx="384048" cy="384048"/>
          </a:xfrm>
          <a:prstGeom prst="ellipse">
            <a:avLst/>
          </a:prstGeom>
          <a:solidFill>
            <a:srgbClr val="16A34A"/>
          </a:solidFill>
          <a:ln w="12700">
            <a:solidFill>
              <a:srgbClr val="16A34A"/>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The confirmation</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same call, after the fix</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The live Lab</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Needs OPENAI_API_KEY: the model edits, then reruns</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13 — Automated Testing and Self-Correction</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93776"/>
          </a:xfrm>
          <a:prstGeom prst="roundRect">
            <a:avLst>
              <a:gd name="adj" fmla="val 14815"/>
            </a:avLst>
          </a:prstGeom>
          <a:solidFill>
            <a:srgbClr val="1F2943"/>
          </a:solidFill>
          <a:ln w="12700">
            <a:solidFill>
              <a:srgbClr val="1F2943"/>
            </a:solidFill>
            <a:prstDash val="solid"/>
          </a:ln>
        </p:spPr>
      </p:sp>
      <p:sp>
        <p:nvSpPr>
          <p:cNvPr id="5" name="Text 3"/>
          <p:cNvSpPr txBox="1"/>
          <p:nvPr/>
        </p:nvSpPr>
        <p:spPr>
          <a:xfrm>
            <a:off x="621792" y="1234440"/>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Condensed test output</a:t>
            </a:r>
            <a:endParaRPr lang="en-US" sz="1300" dirty="0"/>
          </a:p>
        </p:txBody>
      </p:sp>
      <p:sp>
        <p:nvSpPr>
          <p:cNvPr id="6" name="Shape 4"/>
          <p:cNvSpPr/>
          <p:nvPr/>
        </p:nvSpPr>
        <p:spPr>
          <a:xfrm>
            <a:off x="3493008" y="138988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16a  </a:t>
            </a:r>
            <a:pPr indent="0" marL="0">
              <a:buNone/>
            </a:pPr>
            <a:r>
              <a:rPr lang="en-US" sz="1250" dirty="0">
                <a:solidFill>
                  <a:srgbClr val="FFFFFF"/>
                </a:solidFill>
                <a:latin typeface="Calibri" pitchFamily="34" charset="0"/>
                <a:ea typeface="Calibri" pitchFamily="34" charset="-122"/>
                <a:cs typeface="Calibri" pitchFamily="34" charset="-120"/>
              </a:rPr>
              <a:t>/test runs the same run_command, so the operator sees the same summary</a:t>
            </a:r>
            <a:endParaRPr lang="en-US" sz="1250" dirty="0"/>
          </a:p>
        </p:txBody>
      </p:sp>
      <p:sp>
        <p:nvSpPr>
          <p:cNvPr id="8" name="Shape 6"/>
          <p:cNvSpPr/>
          <p:nvPr/>
        </p:nvSpPr>
        <p:spPr>
          <a:xfrm>
            <a:off x="457200" y="1837944"/>
            <a:ext cx="2926080" cy="493776"/>
          </a:xfrm>
          <a:prstGeom prst="roundRect">
            <a:avLst>
              <a:gd name="adj" fmla="val 14815"/>
            </a:avLst>
          </a:prstGeom>
          <a:solidFill>
            <a:srgbClr val="1F2943"/>
          </a:solidFill>
          <a:ln w="12700">
            <a:solidFill>
              <a:srgbClr val="1F2943"/>
            </a:solidFill>
            <a:prstDash val="solid"/>
          </a:ln>
        </p:spPr>
      </p:sp>
      <p:sp>
        <p:nvSpPr>
          <p:cNvPr id="9" name="Text 7"/>
          <p:cNvSpPr txBox="1"/>
          <p:nvPr/>
        </p:nvSpPr>
        <p:spPr>
          <a:xfrm>
            <a:off x="621792" y="1837944"/>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Every run_command counts</a:t>
            </a:r>
            <a:endParaRPr lang="en-US" sz="1300" dirty="0"/>
          </a:p>
        </p:txBody>
      </p:sp>
      <p:sp>
        <p:nvSpPr>
          <p:cNvPr id="10" name="Shape 8"/>
          <p:cNvSpPr/>
          <p:nvPr/>
        </p:nvSpPr>
        <p:spPr>
          <a:xfrm>
            <a:off x="3493008" y="199339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837944"/>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Phase 3 Capstone  </a:t>
            </a:r>
            <a:pPr indent="0" marL="0">
              <a:buNone/>
            </a:pPr>
            <a:r>
              <a:rPr lang="en-US" sz="1250" dirty="0">
                <a:solidFill>
                  <a:srgbClr val="FFFFFF"/>
                </a:solidFill>
                <a:latin typeface="Calibri" pitchFamily="34" charset="0"/>
                <a:ea typeface="Calibri" pitchFamily="34" charset="-122"/>
                <a:cs typeface="Calibri" pitchFamily="34" charset="-120"/>
              </a:rPr>
              <a:t>Compaction remembers commands already run, and the budget charges their output</a:t>
            </a:r>
            <a:endParaRPr lang="en-US" sz="1250" dirty="0"/>
          </a:p>
        </p:txBody>
      </p:sp>
      <p:sp>
        <p:nvSpPr>
          <p:cNvPr id="12" name="Shape 10"/>
          <p:cNvSpPr/>
          <p:nvPr/>
        </p:nvSpPr>
        <p:spPr>
          <a:xfrm>
            <a:off x="457200" y="2441448"/>
            <a:ext cx="2926080" cy="493776"/>
          </a:xfrm>
          <a:prstGeom prst="roundRect">
            <a:avLst>
              <a:gd name="adj" fmla="val 14815"/>
            </a:avLst>
          </a:prstGeom>
          <a:solidFill>
            <a:srgbClr val="1F2943"/>
          </a:solidFill>
          <a:ln w="12700">
            <a:solidFill>
              <a:srgbClr val="1F2943"/>
            </a:solidFill>
            <a:prstDash val="solid"/>
          </a:ln>
        </p:spPr>
      </p:sp>
      <p:sp>
        <p:nvSpPr>
          <p:cNvPr id="13" name="Text 11"/>
          <p:cNvSpPr txBox="1"/>
          <p:nvPr/>
        </p:nvSpPr>
        <p:spPr>
          <a:xfrm>
            <a:off x="621792" y="2441448"/>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Running the tests</a:t>
            </a:r>
            <a:endParaRPr lang="en-US" sz="1300" dirty="0"/>
          </a:p>
        </p:txBody>
      </p:sp>
      <p:sp>
        <p:nvSpPr>
          <p:cNvPr id="14" name="Shape 12"/>
          <p:cNvSpPr/>
          <p:nvPr/>
        </p:nvSpPr>
        <p:spPr>
          <a:xfrm>
            <a:off x="3493008" y="25968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441448"/>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15  </a:t>
            </a:r>
            <a:pPr indent="0" marL="0">
              <a:buNone/>
            </a:pPr>
            <a:r>
              <a:rPr lang="en-US" sz="1250" dirty="0">
                <a:solidFill>
                  <a:srgbClr val="FFFFFF"/>
                </a:solidFill>
                <a:latin typeface="Calibri" pitchFamily="34" charset="0"/>
                <a:ea typeface="Calibri" pitchFamily="34" charset="-122"/>
                <a:cs typeface="Calibri" pitchFamily="34" charset="-120"/>
              </a:rPr>
              <a:t>dotnet build and dotnet test stay safe; every other command needs a yes</a:t>
            </a:r>
            <a:endParaRPr lang="en-US" sz="1250" dirty="0"/>
          </a:p>
        </p:txBody>
      </p:sp>
      <p:sp>
        <p:nvSpPr>
          <p:cNvPr id="16" name="Shape 14"/>
          <p:cNvSpPr/>
          <p:nvPr/>
        </p:nvSpPr>
        <p:spPr>
          <a:xfrm>
            <a:off x="457200" y="3044952"/>
            <a:ext cx="2926080" cy="493776"/>
          </a:xfrm>
          <a:prstGeom prst="roundRect">
            <a:avLst>
              <a:gd name="adj" fmla="val 14815"/>
            </a:avLst>
          </a:prstGeom>
          <a:solidFill>
            <a:srgbClr val="1F2943"/>
          </a:solidFill>
          <a:ln w="12700">
            <a:solidFill>
              <a:srgbClr val="1F2943"/>
            </a:solidFill>
            <a:prstDash val="solid"/>
          </a:ln>
        </p:spPr>
      </p:sp>
      <p:sp>
        <p:nvSpPr>
          <p:cNvPr id="17" name="Text 15"/>
          <p:cNvSpPr txBox="1"/>
          <p:nvPr/>
        </p:nvSpPr>
        <p:spPr>
          <a:xfrm>
            <a:off x="621792" y="3044952"/>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Fail, diagnose, fix, rerun</a:t>
            </a:r>
            <a:endParaRPr lang="en-US" sz="1300" dirty="0"/>
          </a:p>
        </p:txBody>
      </p:sp>
      <p:sp>
        <p:nvSpPr>
          <p:cNvPr id="18" name="Shape 16"/>
          <p:cNvSpPr/>
          <p:nvPr/>
        </p:nvSpPr>
        <p:spPr>
          <a:xfrm>
            <a:off x="3493008" y="3200400"/>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3044952"/>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19  </a:t>
            </a:r>
            <a:pPr indent="0" marL="0">
              <a:buNone/>
            </a:pPr>
            <a:r>
              <a:rPr lang="en-US" sz="1250" dirty="0">
                <a:solidFill>
                  <a:srgbClr val="FFFFFF"/>
                </a:solidFill>
                <a:latin typeface="Calibri" pitchFamily="34" charset="0"/>
                <a:ea typeface="Calibri" pitchFamily="34" charset="-122"/>
                <a:cs typeface="Calibri" pitchFamily="34" charset="-120"/>
              </a:rPr>
              <a:t>The repair loop at the heart of the capstone task</a:t>
            </a:r>
            <a:endParaRPr lang="en-US" sz="1250" dirty="0"/>
          </a:p>
        </p:txBody>
      </p:sp>
      <p:sp>
        <p:nvSpPr>
          <p:cNvPr id="20" name="Text 18"/>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Phase 3 Capstone — Autonomous Fixer (v0.3)</a:t>
            </a:r>
            <a:endParaRPr lang="en-US" sz="1300" dirty="0"/>
          </a:p>
        </p:txBody>
      </p:sp>
      <p:sp>
        <p:nvSpPr>
          <p:cNvPr id="21"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MiniCode  ·  Module 13 — Automated Testing and Self-Correction</a:t>
            </a:r>
            <a:endParaRPr lang="en-US" sz="900" dirty="0"/>
          </a:p>
        </p:txBody>
      </p:sp>
      <p:sp>
        <p:nvSpPr>
          <p:cNvPr id="22"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13 — Automated Testing and Self-Correction</dc:title>
  <dc:subject>PptxGenJS Presentation</dc:subject>
  <dc:creator>MiniCode Course</dc:creator>
  <cp:lastModifiedBy>MiniCode Course</cp:lastModifiedBy>
  <cp:revision>1</cp:revision>
  <dcterms:created xsi:type="dcterms:W3CDTF">2026-10-01T23:15:08Z</dcterms:created>
  <dcterms:modified xsi:type="dcterms:W3CDTF">2026-10-01T23:15:08Z</dcterms:modified>
</cp:coreProperties>
</file>