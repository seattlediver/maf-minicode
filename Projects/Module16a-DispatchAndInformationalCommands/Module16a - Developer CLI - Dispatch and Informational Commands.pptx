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prior Module has treated the operator's input as one thing: a request for the model. This Module gives MiniCode a second channel. A line starting with a slash is a command, run deterministically, with no model call involved: /help, /status, /files, /diff, /build, /test, /commit, /clear and /exit. /plan and /review, the two commands that need genuinely new agent logic rather than a wire-through, are Module 16b. We start from the Module 15 folder: every tool built since Module 4, reached through Module 5a's interception seam, plus Module 15's ApprovalInvoker and Module 11b's CommandAllowList. A slash command reaches the exact same policy the model does, not a shortcut around it. Nothing to install, and no new package. This is the third Module of Phase 4, and it ships as part of the Phase 4 Capstone, Developer CLI, version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channels into one agent. Ordinary input is still a request for the model: the model chooses the tools and the answer streams back. A line that starts with a slash is a command. SlashCommand.TryParse returns null for anything that does not start with a slash, so InteractiveCommandLoop can pattern-match once, 'is { } command', and fall through to the existing chat path otherwise. A command splits into a lower-cased name and the rest of the line as its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slash command bypasses the model, not its policies. /build does not ask gpt-4.1-mini to call run_command. InteractiveCommandLoop calls it directly, through the identical AIFunction the model would have called. InvokeToolAsync calls function.InvokeAsync on an InterceptedFunction, so it runs the whole chain: LoopGuardInvoker, then ApprovalInvoker, then DirectToolInvoker, then the real tool, exactly as if the model had called it. A slash command also resets the loop guard. InvokeToolAsync calls the same Reset that RunStreamingAsync already calls at the start of a turn, so a /build typed between two chat turns does not eat into either turn's 20-call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Slash commands and the model share one dictionary of tools, built once. CodingAgent's constructor gains an IReadOnlyList of AITool and indexes ToolCatalog's tools by name, building _tools from tools.OfType&lt;AIFunction&gt;().ToDictionary by name. These are the same InterceptedFunction instances ChatClientAgent already holds; CodingAgentFactory passes catalog.GetTools() through unchanged from where it already built it. There is no second copy of any tool, so there is no way for a slash command to see a different run_command than the model does. A slash command's run_command and the model's run_command are TryGetValue calls into the same dictionary, not two different objects that happen to share a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ICodingAgent grows by exactly two members, and stays string-only. InvokeToolAsync takes a tool name and a plain IReadOnlyDictionary of string to object and returns a string. No AIFunction and no AIFunctionArguments crosses into MiniCode.Cli, honoring the interface's own founding rule. CodingAgent copies the plain dictionary into AIFunctionArguments on its side of the boundary. An unknown tool name returns 'No such tool' as text. The second member, ClearSession, discards the conversation so far; the workspace itself is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dispatcher is one switch over the command name. /help prints the command list. /status prints the agent's ContextSummary, the context budget. /files calls list_files and /diff calls git_diff, both through InvokeToolAsync. /build and /test call run_command with dotnet build and dotnet test. /commit builds git commit -a -m with the message, defaulting to 'MiniCode commit'. That stages every already-tracked modification but no new untracked file, the smallest thing that satisfies the syllabus's example without adding a git add step nothing asked for. /clear calls ClearSession and prints 'Session cleared.'. /exit is the only case that returns false and ends the loop. Anything else prints 'Unknown command' and points at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commit needed one more allow-list entry to be reachable at all. Module 11b's list matches program plus first argument. /commit is the first thing in the course to actually ask for git through run_command, so "git commit" joins the four dotnet entries. It is still approval-gated, exactly like every other run_command that is not build or test. The Allowed array is still a flat list of 'program subcommand' strings. Adding Git required no new matching logic, only a new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Silence during a tool call was always a gap, not a feature. Since Module 5a, a tool call mid-turn showed nothing, because AgentResponseUpdate.ToString() has always been empty for one. RunStreamingAsync now calls DescribeToolCalls in place of that empty fragment, and shows the call itself: an arrow, the tool's name and its arguments as JSON. DescribeToolCalls only reads FunctionCallContent, never FunctionResultContent. A tool's result can be thousands of characters of build or test output; showing the call is enough to tell the operator something is happening without flooding the screen with its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Ctrl+C ends a turn, not the process. A Console.CancelKeyPress handler cancels a per-turn CancellationTokenSource, a token scoped to whatever is running right now. The loop catches the OperationCanceledException and asks for the next line instead of the process exiting. One more catch keeps a bad turn from ending the session: any other exception during a turn now prints and the loop continues, instead of unwinding out of Main and killing MiniCode over one failed call. A catch this broad is deliberately the last resort of one turn, not a substitute for validation elsewhere. Every tool in this solution already follows the never-throw discipline from Module 5a; this catch exists for whatever that discipline does not reach, a network fault talking to OpenAI for instance, not as a place to route expected outcomes. Both strings on the slide, Cancelled. and Error: followed by the message, are printed by InteractiveCommandLoop.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Wire a /log command to git_log, in src/MiniCode.Cli/InteractiveCommandLoop.cs, following the exact shape /diff already uses. command.Argument, when present, is how many entries to show; git_log's own tool already defaults to ten when the argument is omitted. Acceptance criteria: /log with no argument shows the default ten; /log 3 shows three; a non-numeric argument, /log all, does not throw and falls back to the tool's default rather than crashing the turn. No reference implementation ships in a later Module folder; the course itself only ever calls git_log through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output from the Module's own code: SlashCommand, ToolCatalog's real tools, a real temporary Git repository, and a scripted IApprovalPrompter standing in for a person's Y/N/A answer. No model call is involved, since dispatch is deterministic. /files against the repository lists CustomerService.cs. /diff shows the one uncommitted edit; the slide shows only its changed lines, with the diff header cut where the '...' stands. /commit Bump CustomerService to v2: approval fires first, since git commit is not dotnet build or dotnet test. The run_command line is wrapped onto two lines on the slide, and the Allow prompt is shortened with an ellipsis; the full prompt reads '[Y] Yes [N] No [A] Always allow for this session'. Exit code 0, then Git's own commit line; the ' 1 file changed' line is cut where the '...' stands. /diff again immediately after says 'No unstaged changes.', so the commit actually landed. Cancellation, error presentation and the Y/N/A prompt itself need a real terminal and a live OPENAI_API_KEY to demonstrate as MiniCode actually runs. What reaches them is exactly this sequence: the same ApprovalInvoker prompt and the same tool results, driven by InteractiveCommandLoop instead of a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The dispatcher is one switch, and in Module 16b /plan and /review are two more case arms in it, not a second mechanism. InvokeToolAsync is the one path from the terminal to a tool, and Module 16b's /review fetches its diff through the same call /diff uses. The broad catch and the Ctrl+C handling print to the terminal; the Phase 4 Capstone closes the gap where a turn that dies mid-stream left no trace in Module 17's stderr log, and keeps cancellation distinct from a fault there too. And the command set itself is what v1.0 ships in Module 19: eleven slash commands on one agent. This ships in the Phase 4 Capstone, Developer CLI, version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16A  ·  PHASE 4</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3200" b="1" dirty="0">
                <a:solidFill>
                  <a:srgbClr val="FFFFFF"/>
                </a:solidFill>
                <a:latin typeface="Cambria" pitchFamily="34" charset="0"/>
                <a:ea typeface="Cambria" pitchFamily="34" charset="-122"/>
                <a:cs typeface="Cambria" pitchFamily="34" charset="-120"/>
              </a:rPr>
              <a:t>Dispatch and Informational Commands</a:t>
            </a:r>
            <a:endParaRPr lang="en-US" sz="32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Developer CLI</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Module15-HumanApprovalAndSafety/</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Module16a-DispatchAndInformationalCommands/</a:t>
            </a:r>
            <a:endParaRPr lang="en-US" sz="9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second input channel: slash commands that need no model call</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a command bypasses the model but not its policies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One dictionary of tools, shared by the model and the terminal</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Showing tool activity instead of silence</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Ctrl+C and errors that end a turn, not the session</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16a — Dispatch and Informational Commands</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channels into one agent</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 request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Goes to the model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chooses the tools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answer streams back</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 /command</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Parsed by SlashCommand.TryParse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Runs one tool directly</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model call at all</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TryParse returns null for anything else, so chat is simply the fall-through.</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16a — Dispatch and Informational Commands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A command bypasses the model, not its policies</a:t>
            </a:r>
            <a:endParaRPr lang="en-US" sz="2700" dirty="0"/>
          </a:p>
        </p:txBody>
      </p:sp>
      <p:sp>
        <p:nvSpPr>
          <p:cNvPr id="4" name="Shape 2"/>
          <p:cNvSpPr/>
          <p:nvPr/>
        </p:nvSpPr>
        <p:spPr>
          <a:xfrm>
            <a:off x="457200" y="1417320"/>
            <a:ext cx="1367942" cy="1993392"/>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/build</a:t>
            </a:r>
            <a:endParaRPr lang="en-US" sz="1500" dirty="0"/>
          </a:p>
        </p:txBody>
      </p:sp>
      <p:sp>
        <p:nvSpPr>
          <p:cNvPr id="8" name="Text 5"/>
          <p:cNvSpPr txBox="1"/>
          <p:nvPr/>
        </p:nvSpPr>
        <p:spPr>
          <a:xfrm>
            <a:off x="640080"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loop calls run_command itself</a:t>
            </a:r>
            <a:endParaRPr lang="en-US" sz="1200" dirty="0"/>
          </a:p>
        </p:txBody>
      </p:sp>
      <p:sp>
        <p:nvSpPr>
          <p:cNvPr id="9" name="Shape 6"/>
          <p:cNvSpPr/>
          <p:nvPr/>
        </p:nvSpPr>
        <p:spPr>
          <a:xfrm>
            <a:off x="188915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1993392"/>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Dispatch</a:t>
            </a:r>
            <a:endParaRPr lang="en-US" sz="1500" dirty="0"/>
          </a:p>
        </p:txBody>
      </p:sp>
      <p:sp>
        <p:nvSpPr>
          <p:cNvPr id="14" name="Text 10"/>
          <p:cNvSpPr txBox="1"/>
          <p:nvPr/>
        </p:nvSpPr>
        <p:spPr>
          <a:xfrm>
            <a:off x="2355494"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InvokeToolAsync finds the tool by name</a:t>
            </a:r>
            <a:endParaRPr lang="en-US" sz="1200" dirty="0"/>
          </a:p>
        </p:txBody>
      </p:sp>
      <p:sp>
        <p:nvSpPr>
          <p:cNvPr id="15" name="Shape 11"/>
          <p:cNvSpPr/>
          <p:nvPr/>
        </p:nvSpPr>
        <p:spPr>
          <a:xfrm>
            <a:off x="3604565"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1993392"/>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Loop guard</a:t>
            </a:r>
            <a:endParaRPr lang="en-US" sz="1500" dirty="0"/>
          </a:p>
        </p:txBody>
      </p:sp>
      <p:sp>
        <p:nvSpPr>
          <p:cNvPr id="20" name="Text 15"/>
          <p:cNvSpPr txBox="1"/>
          <p:nvPr/>
        </p:nvSpPr>
        <p:spPr>
          <a:xfrm>
            <a:off x="4070909"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Reset first, like a new turn</a:t>
            </a:r>
            <a:endParaRPr lang="en-US" sz="1200" dirty="0"/>
          </a:p>
        </p:txBody>
      </p:sp>
      <p:sp>
        <p:nvSpPr>
          <p:cNvPr id="21" name="Shape 16"/>
          <p:cNvSpPr/>
          <p:nvPr/>
        </p:nvSpPr>
        <p:spPr>
          <a:xfrm>
            <a:off x="5319979"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1993392"/>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Approval</a:t>
            </a:r>
            <a:endParaRPr lang="en-US" sz="1500" dirty="0"/>
          </a:p>
        </p:txBody>
      </p:sp>
      <p:sp>
        <p:nvSpPr>
          <p:cNvPr id="26" name="Text 20"/>
          <p:cNvSpPr txBox="1"/>
          <p:nvPr/>
        </p:nvSpPr>
        <p:spPr>
          <a:xfrm>
            <a:off x="5786323"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same Y/N/A the model gets</a:t>
            </a:r>
            <a:endParaRPr lang="en-US" sz="1200" dirty="0"/>
          </a:p>
        </p:txBody>
      </p:sp>
      <p:sp>
        <p:nvSpPr>
          <p:cNvPr id="27" name="Shape 21"/>
          <p:cNvSpPr/>
          <p:nvPr/>
        </p:nvSpPr>
        <p:spPr>
          <a:xfrm>
            <a:off x="7035394" y="2304288"/>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1993392"/>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run_command</a:t>
            </a:r>
            <a:endParaRPr lang="en-US" sz="1300" dirty="0"/>
          </a:p>
        </p:txBody>
      </p:sp>
      <p:sp>
        <p:nvSpPr>
          <p:cNvPr id="32" name="Text 25"/>
          <p:cNvSpPr txBox="1"/>
          <p:nvPr/>
        </p:nvSpPr>
        <p:spPr>
          <a:xfrm>
            <a:off x="7501738" y="2606040"/>
            <a:ext cx="104790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same allow list</a:t>
            </a:r>
            <a:endParaRPr lang="en-US" sz="1200" dirty="0"/>
          </a:p>
        </p:txBody>
      </p:sp>
      <p:sp>
        <p:nvSpPr>
          <p:cNvPr id="33" name="Text 2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Same allow list, same approval, same loop guard as the model's own calls.</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16a — Dispatch and Informational Commands</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dictionary of tools, built once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_tools</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Built in CodingAgent's constructor from the exact list ChatClientAgent was given.</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The model</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Calls the InterceptedFunction instances</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Commands</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TryGetValue into the same dictionary</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No copy</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So no second run_command to drift</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CodingAgentFactory passes catalog.GetTools() through, unchanged.</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16a — Dispatch and Informational Commands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200" b="1" dirty="0">
                <a:solidFill>
                  <a:srgbClr val="1F2937"/>
                </a:solidFill>
                <a:latin typeface="Cambria" pitchFamily="34" charset="0"/>
                <a:ea typeface="Cambria" pitchFamily="34" charset="-122"/>
                <a:cs typeface="Cambria" pitchFamily="34" charset="-120"/>
              </a:rPr>
              <a:t>ICodingAgent grows by two members, and stays string-only</a:t>
            </a:r>
            <a:endParaRPr lang="en-US" sz="2200" dirty="0"/>
          </a:p>
        </p:txBody>
      </p:sp>
      <p:sp>
        <p:nvSpPr>
          <p:cNvPr id="4" name="Shape 2"/>
          <p:cNvSpPr/>
          <p:nvPr/>
        </p:nvSpPr>
        <p:spPr>
          <a:xfrm>
            <a:off x="457200" y="1371600"/>
            <a:ext cx="2560320" cy="1737360"/>
          </a:xfrm>
          <a:prstGeom prst="roundRect">
            <a:avLst>
              <a:gd name="adj" fmla="val 4211"/>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InvokeToolAsync</a:t>
            </a:r>
            <a:endParaRPr lang="en-US" sz="1500" dirty="0"/>
          </a:p>
        </p:txBody>
      </p:sp>
      <p:sp>
        <p:nvSpPr>
          <p:cNvPr id="8" name="Text 5"/>
          <p:cNvSpPr txBox="1"/>
          <p:nvPr/>
        </p:nvSpPr>
        <p:spPr>
          <a:xfrm>
            <a:off x="64008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tool name and a plain dictionary in, a string out</a:t>
            </a:r>
            <a:endParaRPr lang="en-US" sz="1200" dirty="0"/>
          </a:p>
        </p:txBody>
      </p:sp>
      <p:sp>
        <p:nvSpPr>
          <p:cNvPr id="9" name="Shape 6"/>
          <p:cNvSpPr/>
          <p:nvPr/>
        </p:nvSpPr>
        <p:spPr>
          <a:xfrm>
            <a:off x="3291840" y="1371600"/>
            <a:ext cx="2560320" cy="1737360"/>
          </a:xfrm>
          <a:prstGeom prst="roundRect">
            <a:avLst>
              <a:gd name="adj" fmla="val 4211"/>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ClearSession</a:t>
            </a:r>
            <a:endParaRPr lang="en-US" sz="1500" dirty="0"/>
          </a:p>
        </p:txBody>
      </p:sp>
      <p:sp>
        <p:nvSpPr>
          <p:cNvPr id="13" name="Text 9"/>
          <p:cNvSpPr txBox="1"/>
          <p:nvPr/>
        </p:nvSpPr>
        <p:spPr>
          <a:xfrm>
            <a:off x="3474720" y="2057400"/>
            <a:ext cx="2194560" cy="9601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Discards the conversation. The workspace is untouched.</a:t>
            </a:r>
            <a:endParaRPr lang="en-US" sz="1200" dirty="0"/>
          </a:p>
        </p:txBody>
      </p:sp>
      <p:sp>
        <p:nvSpPr>
          <p:cNvPr id="14" name="Shape 10"/>
          <p:cNvSpPr/>
          <p:nvPr/>
        </p:nvSpPr>
        <p:spPr>
          <a:xfrm>
            <a:off x="6126480" y="1371600"/>
            <a:ext cx="2560320" cy="1737360"/>
          </a:xfrm>
          <a:prstGeom prst="roundRect">
            <a:avLst>
              <a:gd name="adj" fmla="val 4211"/>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No MAF types</a:t>
            </a:r>
            <a:endParaRPr lang="en-US" sz="1500" dirty="0"/>
          </a:p>
        </p:txBody>
      </p:sp>
      <p:sp>
        <p:nvSpPr>
          <p:cNvPr id="18" name="Text 13"/>
          <p:cNvSpPr txBox="1"/>
          <p:nvPr/>
        </p:nvSpPr>
        <p:spPr>
          <a:xfrm>
            <a:off x="6309360" y="2057400"/>
            <a:ext cx="2194560" cy="9601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No AIFunction or AIFunctionArguments reaches MiniCode.Cli</a:t>
            </a:r>
            <a:endParaRPr lang="en-US" sz="1200" dirty="0"/>
          </a:p>
        </p:txBody>
      </p:sp>
      <p:sp>
        <p:nvSpPr>
          <p:cNvPr id="19" name="Text 14"/>
          <p:cNvSpPr txBox="1"/>
          <p:nvPr/>
        </p:nvSpPr>
        <p:spPr>
          <a:xfrm>
            <a:off x="457200" y="33375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interface keeps its founding rule: the terminal sees only strings.</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16a — Dispatch and Informational Commands</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COMMANDS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450" b="1" dirty="0">
                <a:solidFill>
                  <a:srgbClr val="1F2937"/>
                </a:solidFill>
                <a:latin typeface="Cambria" pitchFamily="34" charset="0"/>
                <a:ea typeface="Cambria" pitchFamily="34" charset="-122"/>
                <a:cs typeface="Cambria" pitchFamily="34" charset="-120"/>
              </a:rPr>
              <a:t>Nine commands, each wired to something that exists</a:t>
            </a:r>
            <a:endParaRPr lang="en-US" sz="2450" dirty="0"/>
          </a:p>
        </p:txBody>
      </p:sp>
      <p:sp>
        <p:nvSpPr>
          <p:cNvPr id="4" name="Shape 2"/>
          <p:cNvSpPr/>
          <p:nvPr/>
        </p:nvSpPr>
        <p:spPr>
          <a:xfrm>
            <a:off x="457200" y="1371600"/>
            <a:ext cx="256032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400" b="1" dirty="0">
                <a:solidFill>
                  <a:srgbClr val="1F2937"/>
                </a:solidFill>
                <a:latin typeface="Calibri" pitchFamily="34" charset="0"/>
                <a:ea typeface="Calibri" pitchFamily="34" charset="-122"/>
                <a:cs typeface="Calibri" pitchFamily="34" charset="-120"/>
              </a:rPr>
              <a:t>/help  /status</a:t>
            </a:r>
            <a:endParaRPr lang="en-US" sz="1400" dirty="0"/>
          </a:p>
        </p:txBody>
      </p:sp>
      <p:sp>
        <p:nvSpPr>
          <p:cNvPr id="8" name="Text 5"/>
          <p:cNvSpPr txBox="1"/>
          <p:nvPr/>
        </p:nvSpPr>
        <p:spPr>
          <a:xfrm>
            <a:off x="64008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command list, and the context budget</a:t>
            </a:r>
            <a:endParaRPr lang="en-US" sz="1200" dirty="0"/>
          </a:p>
        </p:txBody>
      </p:sp>
      <p:sp>
        <p:nvSpPr>
          <p:cNvPr id="9" name="Shape 6"/>
          <p:cNvSpPr/>
          <p:nvPr/>
        </p:nvSpPr>
        <p:spPr>
          <a:xfrm>
            <a:off x="3291840" y="1371600"/>
            <a:ext cx="256032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400" b="1" dirty="0">
                <a:solidFill>
                  <a:srgbClr val="1F2937"/>
                </a:solidFill>
                <a:latin typeface="Calibri" pitchFamily="34" charset="0"/>
                <a:ea typeface="Calibri" pitchFamily="34" charset="-122"/>
                <a:cs typeface="Calibri" pitchFamily="34" charset="-120"/>
              </a:rPr>
              <a:t>/files  /diff</a:t>
            </a:r>
            <a:endParaRPr lang="en-US" sz="1400" dirty="0"/>
          </a:p>
        </p:txBody>
      </p:sp>
      <p:sp>
        <p:nvSpPr>
          <p:cNvPr id="13" name="Text 9"/>
          <p:cNvSpPr txBox="1"/>
          <p:nvPr/>
        </p:nvSpPr>
        <p:spPr>
          <a:xfrm>
            <a:off x="347472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list_files and git_diff, called directly</a:t>
            </a:r>
            <a:endParaRPr lang="en-US" sz="1200" dirty="0"/>
          </a:p>
        </p:txBody>
      </p:sp>
      <p:sp>
        <p:nvSpPr>
          <p:cNvPr id="14" name="Shape 10"/>
          <p:cNvSpPr/>
          <p:nvPr/>
        </p:nvSpPr>
        <p:spPr>
          <a:xfrm>
            <a:off x="6126480" y="1371600"/>
            <a:ext cx="256032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400" b="1" dirty="0">
                <a:solidFill>
                  <a:srgbClr val="1F2937"/>
                </a:solidFill>
                <a:latin typeface="Calibri" pitchFamily="34" charset="0"/>
                <a:ea typeface="Calibri" pitchFamily="34" charset="-122"/>
                <a:cs typeface="Calibri" pitchFamily="34" charset="-120"/>
              </a:rPr>
              <a:t>/build  /test</a:t>
            </a:r>
            <a:endParaRPr lang="en-US" sz="1400" dirty="0"/>
          </a:p>
        </p:txBody>
      </p:sp>
      <p:sp>
        <p:nvSpPr>
          <p:cNvPr id="18" name="Text 13"/>
          <p:cNvSpPr txBox="1"/>
          <p:nvPr/>
        </p:nvSpPr>
        <p:spPr>
          <a:xfrm>
            <a:off x="630936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run_command with dotnet build or dotnet test</a:t>
            </a:r>
            <a:endParaRPr lang="en-US" sz="1200" dirty="0"/>
          </a:p>
        </p:txBody>
      </p:sp>
      <p:sp>
        <p:nvSpPr>
          <p:cNvPr id="19" name="Shape 14"/>
          <p:cNvSpPr/>
          <p:nvPr/>
        </p:nvSpPr>
        <p:spPr>
          <a:xfrm>
            <a:off x="457200" y="2994660"/>
            <a:ext cx="2560320" cy="1394460"/>
          </a:xfrm>
          <a:prstGeom prst="roundRect">
            <a:avLst>
              <a:gd name="adj" fmla="val 5246"/>
            </a:avLst>
          </a:prstGeom>
          <a:solidFill>
            <a:srgbClr val="512BD4"/>
          </a:solidFill>
          <a:ln w="12700">
            <a:solidFill>
              <a:srgbClr val="512BD4"/>
            </a:solidFill>
            <a:prstDash val="solid"/>
          </a:ln>
        </p:spPr>
      </p:sp>
      <p:sp>
        <p:nvSpPr>
          <p:cNvPr id="20" name="Shape 15"/>
          <p:cNvSpPr/>
          <p:nvPr/>
        </p:nvSpPr>
        <p:spPr>
          <a:xfrm>
            <a:off x="640080" y="317754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739932" y="3277392"/>
            <a:ext cx="184343" cy="184343"/>
          </a:xfrm>
          <a:prstGeom prst="rect">
            <a:avLst/>
          </a:prstGeom>
        </p:spPr>
      </p:pic>
      <p:sp>
        <p:nvSpPr>
          <p:cNvPr id="22" name="Text 16"/>
          <p:cNvSpPr txBox="1"/>
          <p:nvPr/>
        </p:nvSpPr>
        <p:spPr>
          <a:xfrm>
            <a:off x="1143000" y="317754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/commit</a:t>
            </a:r>
            <a:endParaRPr lang="en-US" sz="1500" dirty="0"/>
          </a:p>
        </p:txBody>
      </p:sp>
      <p:sp>
        <p:nvSpPr>
          <p:cNvPr id="23" name="Text 17"/>
          <p:cNvSpPr txBox="1"/>
          <p:nvPr/>
        </p:nvSpPr>
        <p:spPr>
          <a:xfrm>
            <a:off x="640080" y="3680460"/>
            <a:ext cx="219456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git commit -a -m, through approval</a:t>
            </a:r>
            <a:endParaRPr lang="en-US" sz="1200" dirty="0"/>
          </a:p>
        </p:txBody>
      </p:sp>
      <p:sp>
        <p:nvSpPr>
          <p:cNvPr id="24" name="Shape 18"/>
          <p:cNvSpPr/>
          <p:nvPr/>
        </p:nvSpPr>
        <p:spPr>
          <a:xfrm>
            <a:off x="3291840" y="2994660"/>
            <a:ext cx="2560320" cy="1394460"/>
          </a:xfrm>
          <a:prstGeom prst="roundRect">
            <a:avLst>
              <a:gd name="adj" fmla="val 5246"/>
            </a:avLst>
          </a:prstGeom>
          <a:solidFill>
            <a:srgbClr val="EFEBFC"/>
          </a:solidFill>
          <a:ln w="12700">
            <a:solidFill>
              <a:srgbClr val="EFEBFC"/>
            </a:solidFill>
            <a:prstDash val="solid"/>
          </a:ln>
        </p:spPr>
      </p:sp>
      <p:sp>
        <p:nvSpPr>
          <p:cNvPr id="25" name="Shape 19"/>
          <p:cNvSpPr/>
          <p:nvPr/>
        </p:nvSpPr>
        <p:spPr>
          <a:xfrm>
            <a:off x="3474720" y="3177540"/>
            <a:ext cx="384048" cy="384048"/>
          </a:xfrm>
          <a:prstGeom prst="ellipse">
            <a:avLst/>
          </a:prstGeom>
          <a:solidFill>
            <a:srgbClr val="512BD4"/>
          </a:solidFill>
          <a:ln w="12700">
            <a:solidFill>
              <a:srgbClr val="512BD4"/>
            </a:solidFill>
            <a:prstDash val="solid"/>
          </a:ln>
        </p:spPr>
      </p:sp>
      <p:pic>
        <p:nvPicPr>
          <p:cNvPr id="26" name="Image 4" descr="preencoded.png">    </p:cNvPr>
          <p:cNvPicPr>
            <a:picLocks noChangeAspect="1"/>
          </p:cNvPicPr>
          <p:nvPr/>
        </p:nvPicPr>
        <p:blipFill>
          <a:blip r:embed="rId5"/>
          <a:stretch>
            <a:fillRect/>
          </a:stretch>
        </p:blipFill>
        <p:spPr>
          <a:xfrm>
            <a:off x="3574572" y="3277392"/>
            <a:ext cx="184343" cy="184343"/>
          </a:xfrm>
          <a:prstGeom prst="rect">
            <a:avLst/>
          </a:prstGeom>
        </p:spPr>
      </p:pic>
      <p:sp>
        <p:nvSpPr>
          <p:cNvPr id="27" name="Text 20"/>
          <p:cNvSpPr txBox="1"/>
          <p:nvPr/>
        </p:nvSpPr>
        <p:spPr>
          <a:xfrm>
            <a:off x="3977640" y="317754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/clear</a:t>
            </a:r>
            <a:endParaRPr lang="en-US" sz="1500" dirty="0"/>
          </a:p>
        </p:txBody>
      </p:sp>
      <p:sp>
        <p:nvSpPr>
          <p:cNvPr id="28" name="Text 21"/>
          <p:cNvSpPr txBox="1"/>
          <p:nvPr/>
        </p:nvSpPr>
        <p:spPr>
          <a:xfrm>
            <a:off x="347472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ClearSession: discard the conversation</a:t>
            </a:r>
            <a:endParaRPr lang="en-US" sz="1200" dirty="0"/>
          </a:p>
        </p:txBody>
      </p:sp>
      <p:sp>
        <p:nvSpPr>
          <p:cNvPr id="29" name="Shape 22"/>
          <p:cNvSpPr/>
          <p:nvPr/>
        </p:nvSpPr>
        <p:spPr>
          <a:xfrm>
            <a:off x="6126480" y="2994660"/>
            <a:ext cx="2560320" cy="1394460"/>
          </a:xfrm>
          <a:prstGeom prst="roundRect">
            <a:avLst>
              <a:gd name="adj" fmla="val 5246"/>
            </a:avLst>
          </a:prstGeom>
          <a:solidFill>
            <a:srgbClr val="EFEBFC"/>
          </a:solidFill>
          <a:ln w="12700">
            <a:solidFill>
              <a:srgbClr val="EFEBFC"/>
            </a:solidFill>
            <a:prstDash val="solid"/>
          </a:ln>
        </p:spPr>
      </p:sp>
      <p:sp>
        <p:nvSpPr>
          <p:cNvPr id="30" name="Shape 23"/>
          <p:cNvSpPr/>
          <p:nvPr/>
        </p:nvSpPr>
        <p:spPr>
          <a:xfrm>
            <a:off x="6309360" y="3177540"/>
            <a:ext cx="384048" cy="384048"/>
          </a:xfrm>
          <a:prstGeom prst="ellipse">
            <a:avLst/>
          </a:prstGeom>
          <a:solidFill>
            <a:srgbClr val="512BD4"/>
          </a:solidFill>
          <a:ln w="12700">
            <a:solidFill>
              <a:srgbClr val="512BD4"/>
            </a:solidFill>
            <a:prstDash val="solid"/>
          </a:ln>
        </p:spPr>
      </p:sp>
      <p:pic>
        <p:nvPicPr>
          <p:cNvPr id="31" name="Image 5" descr="preencoded.png">    </p:cNvPr>
          <p:cNvPicPr>
            <a:picLocks noChangeAspect="1"/>
          </p:cNvPicPr>
          <p:nvPr/>
        </p:nvPicPr>
        <p:blipFill>
          <a:blip r:embed="rId6"/>
          <a:stretch>
            <a:fillRect/>
          </a:stretch>
        </p:blipFill>
        <p:spPr>
          <a:xfrm>
            <a:off x="6409212" y="3277392"/>
            <a:ext cx="184343" cy="184343"/>
          </a:xfrm>
          <a:prstGeom prst="rect">
            <a:avLst/>
          </a:prstGeom>
        </p:spPr>
      </p:pic>
      <p:sp>
        <p:nvSpPr>
          <p:cNvPr id="32" name="Text 24"/>
          <p:cNvSpPr txBox="1"/>
          <p:nvPr/>
        </p:nvSpPr>
        <p:spPr>
          <a:xfrm>
            <a:off x="6812280" y="317754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/exit</a:t>
            </a:r>
            <a:endParaRPr lang="en-US" sz="1500" dirty="0"/>
          </a:p>
        </p:txBody>
      </p:sp>
      <p:sp>
        <p:nvSpPr>
          <p:cNvPr id="33" name="Text 25"/>
          <p:cNvSpPr txBox="1"/>
          <p:nvPr/>
        </p:nvSpPr>
        <p:spPr>
          <a:xfrm>
            <a:off x="630936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only command that ends the loop</a:t>
            </a:r>
            <a:endParaRPr lang="en-US" sz="1200" dirty="0"/>
          </a:p>
        </p:txBody>
      </p:sp>
      <p:sp>
        <p:nvSpPr>
          <p:cNvPr id="34"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16a — Dispatch and Informational Commands</a:t>
            </a:r>
            <a:endParaRPr lang="en-US" sz="900" dirty="0"/>
          </a:p>
        </p:txBody>
      </p:sp>
      <p:sp>
        <p:nvSpPr>
          <p:cNvPr id="35"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git commit needs one more allow-list entry</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Before: Module 11b</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dotnet restore, build, test, format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Matched on program plus first argument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Nothing in the course asked for git</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After: Module 16a</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"git commit" joins the four entries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Still approval-gated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new matching logic</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list's shape from Module 11b already generalized past dotnet.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16a — Dispatch and Informational Commands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Silence during a tool call was always a gap</a:t>
            </a:r>
            <a:endParaRPr lang="en-US" sz="2800" dirty="0"/>
          </a:p>
        </p:txBody>
      </p:sp>
      <p:sp>
        <p:nvSpPr>
          <p:cNvPr id="4" name="Shape 2"/>
          <p:cNvSpPr/>
          <p:nvPr/>
        </p:nvSpPr>
        <p:spPr>
          <a:xfrm>
            <a:off x="457200" y="1325880"/>
            <a:ext cx="5257800" cy="1463040"/>
          </a:xfrm>
          <a:prstGeom prst="roundRect">
            <a:avLst>
              <a:gd name="adj" fmla="val 5000"/>
            </a:avLst>
          </a:prstGeom>
          <a:solidFill>
            <a:srgbClr val="0F1420"/>
          </a:solidFill>
          <a:ln w="12700">
            <a:solidFill>
              <a:srgbClr val="0F1420"/>
            </a:solidFill>
            <a:prstDash val="solid"/>
          </a:ln>
        </p:spPr>
      </p:sp>
      <p:sp>
        <p:nvSpPr>
          <p:cNvPr id="5" name="Text 3"/>
          <p:cNvSpPr txBox="1"/>
          <p:nvPr/>
        </p:nvSpPr>
        <p:spPr>
          <a:xfrm>
            <a:off x="640080" y="1463040"/>
            <a:ext cx="4892040" cy="118872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The update a read_file call produces mid-turn</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update.ToString() = []</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Shown to operator:</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read_file({"path":"src/CustomerService.cs"})</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The call</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Shown in the gap where nothing used to appear</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Not the result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Build output can run to thousands of characters</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16a — Dispatch and Informational Commands</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bad turn ends the turn, not the session</a:t>
            </a:r>
            <a:endParaRPr lang="en-US" sz="2800" dirty="0"/>
          </a:p>
        </p:txBody>
      </p:sp>
      <p:sp>
        <p:nvSpPr>
          <p:cNvPr id="4" name="Shape 2"/>
          <p:cNvSpPr/>
          <p:nvPr/>
        </p:nvSpPr>
        <p:spPr>
          <a:xfrm>
            <a:off x="457200" y="1371600"/>
            <a:ext cx="3931920" cy="1828800"/>
          </a:xfrm>
          <a:prstGeom prst="roundRect">
            <a:avLst>
              <a:gd name="adj" fmla="val 4000"/>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Ctrl+C</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Cancels a token scoped to this turn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loop prints Cancelled.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Then asks for the next line</a:t>
            </a:r>
            <a:endParaRPr lang="en-US" sz="1300" dirty="0"/>
          </a:p>
        </p:txBody>
      </p:sp>
      <p:sp>
        <p:nvSpPr>
          <p:cNvPr id="9" name="Shape 6"/>
          <p:cNvSpPr/>
          <p:nvPr/>
        </p:nvSpPr>
        <p:spPr>
          <a:xfrm>
            <a:off x="4754880" y="1371600"/>
            <a:ext cx="3931920" cy="1828800"/>
          </a:xfrm>
          <a:prstGeom prst="roundRect">
            <a:avLst>
              <a:gd name="adj" fmla="val 4000"/>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DC2626"/>
          </a:solidFill>
          <a:ln w="12700">
            <a:solidFill>
              <a:srgbClr val="DC2626"/>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Any other exception</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Caught around the turn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loop prints Error: and the message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MiniCode keeps running</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broad catch is a last resort. Every tool already follows the never-throw rule.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16a — Dispatch and Informational Commands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Wire /log to git_log</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 /log, following the exact shape /diff already uses. An optional argument says how many entries to show.</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src/MiniCode.Cli/InteractiveCommandLoop.cs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/log with no argument shows git_log's default of ten entries</a:t>
            </a:r>
            <a:endParaRPr lang="en-US" sz="1300" dirty="0"/>
          </a:p>
        </p:txBody>
      </p:sp>
      <p:sp>
        <p:nvSpPr>
          <p:cNvPr id="13" name="Shape 9"/>
          <p:cNvSpPr/>
          <p:nvPr/>
        </p:nvSpPr>
        <p:spPr>
          <a:xfrm>
            <a:off x="3931920" y="265480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730886"/>
            <a:ext cx="140452" cy="140452"/>
          </a:xfrm>
          <a:prstGeom prst="rect">
            <a:avLst/>
          </a:prstGeom>
        </p:spPr>
      </p:pic>
      <p:sp>
        <p:nvSpPr>
          <p:cNvPr id="15" name="Text 10"/>
          <p:cNvSpPr txBox="1"/>
          <p:nvPr/>
        </p:nvSpPr>
        <p:spPr>
          <a:xfrm>
            <a:off x="4361688" y="263652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/log 3 shows three</a:t>
            </a:r>
            <a:endParaRPr lang="en-US" sz="1300" dirty="0"/>
          </a:p>
        </p:txBody>
      </p:sp>
      <p:sp>
        <p:nvSpPr>
          <p:cNvPr id="16" name="Shape 11"/>
          <p:cNvSpPr/>
          <p:nvPr/>
        </p:nvSpPr>
        <p:spPr>
          <a:xfrm>
            <a:off x="3931920" y="350824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584326"/>
            <a:ext cx="140452" cy="140452"/>
          </a:xfrm>
          <a:prstGeom prst="rect">
            <a:avLst/>
          </a:prstGeom>
        </p:spPr>
      </p:pic>
      <p:sp>
        <p:nvSpPr>
          <p:cNvPr id="18" name="Text 12"/>
          <p:cNvSpPr txBox="1"/>
          <p:nvPr/>
        </p:nvSpPr>
        <p:spPr>
          <a:xfrm>
            <a:off x="4361688" y="348996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/log all does not throw, and falls back to the tool's default</a:t>
            </a:r>
            <a:endParaRPr lang="en-US" sz="1300" dirty="0"/>
          </a:p>
        </p:txBody>
      </p:sp>
      <p:sp>
        <p:nvSpPr>
          <p:cNvPr id="19"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16a — Dispatch and Informational Commands</a:t>
            </a:r>
            <a:endParaRPr lang="en-US" sz="900" dirty="0"/>
          </a:p>
        </p:txBody>
      </p:sp>
      <p:sp>
        <p:nvSpPr>
          <p:cNvPr id="20"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/commit asks first, then lands</a:t>
            </a:r>
            <a:endParaRPr lang="en-US" sz="2800" dirty="0"/>
          </a:p>
        </p:txBody>
      </p:sp>
      <p:sp>
        <p:nvSpPr>
          <p:cNvPr id="4" name="Shape 2"/>
          <p:cNvSpPr/>
          <p:nvPr/>
        </p:nvSpPr>
        <p:spPr>
          <a:xfrm>
            <a:off x="457200" y="1325880"/>
            <a:ext cx="5257800" cy="3246120"/>
          </a:xfrm>
          <a:prstGeom prst="roundRect">
            <a:avLst>
              <a:gd name="adj" fmla="val 2254"/>
            </a:avLst>
          </a:prstGeom>
          <a:solidFill>
            <a:srgbClr val="0F1420"/>
          </a:solidFill>
          <a:ln w="12700">
            <a:solidFill>
              <a:srgbClr val="0F1420"/>
            </a:solidFill>
            <a:prstDash val="solid"/>
          </a:ln>
        </p:spPr>
      </p:sp>
      <p:sp>
        <p:nvSpPr>
          <p:cNvPr id="5" name="Text 3"/>
          <p:cNvSpPr txBox="1"/>
          <p:nvPr/>
        </p:nvSpPr>
        <p:spPr>
          <a:xfrm>
            <a:off x="640080" y="1463040"/>
            <a:ext cx="4892040" cy="297180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/diff, with one uncommitted edit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-public class CustomerService {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+public class CustomerService { public int Version =&gt; 2;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/commit Bump CustomerService to v2</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MiniCode wants to run:</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run_command({"command":"git","arguments":["commit",</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"-a","-m","Bump CustomerService to v2"]})</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Allow? [Y] Yes  [N] No  [A] ... (scripted: Approve)</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Exit code 0</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[master 5f67412] Bump CustomerService to v2</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/diff again</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No unstaged changes.</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Approval first</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git commit is not build or test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It landed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second /diff is empty</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No model call</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Dispatch is deterministic</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16a — Dispatch and Informational Commands</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dispatcher switch</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16b  </a:t>
            </a:r>
            <a:pPr indent="0" marL="0">
              <a:buNone/>
            </a:pPr>
            <a:r>
              <a:rPr lang="en-US" sz="1250" dirty="0">
                <a:solidFill>
                  <a:srgbClr val="FFFFFF"/>
                </a:solidFill>
                <a:latin typeface="Calibri" pitchFamily="34" charset="0"/>
                <a:ea typeface="Calibri" pitchFamily="34" charset="-122"/>
                <a:cs typeface="Calibri" pitchFamily="34" charset="-120"/>
              </a:rPr>
              <a:t>/plan and /review are two more case arms, not a second mechanism</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InvokeToolAsync, one path to a tool</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16b  </a:t>
            </a:r>
            <a:pPr indent="0" marL="0">
              <a:buNone/>
            </a:pPr>
            <a:r>
              <a:rPr lang="en-US" sz="1250" dirty="0">
                <a:solidFill>
                  <a:srgbClr val="FFFFFF"/>
                </a:solidFill>
                <a:latin typeface="Calibri" pitchFamily="34" charset="0"/>
                <a:ea typeface="Calibri" pitchFamily="34" charset="-122"/>
                <a:cs typeface="Calibri" pitchFamily="34" charset="-120"/>
              </a:rPr>
              <a:t>/review fetches its diff through the same call /diff uses</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broad catch and Ctrl+C</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Phase 4 Capstone  </a:t>
            </a:r>
            <a:pPr indent="0" marL="0">
              <a:buNone/>
            </a:pPr>
            <a:r>
              <a:rPr lang="en-US" sz="1250" dirty="0">
                <a:solidFill>
                  <a:srgbClr val="FFFFFF"/>
                </a:solidFill>
                <a:latin typeface="Calibri" pitchFamily="34" charset="0"/>
                <a:ea typeface="Calibri" pitchFamily="34" charset="-122"/>
                <a:cs typeface="Calibri" pitchFamily="34" charset="-120"/>
              </a:rPr>
              <a:t>A turn that dies mid-stream reaches the trace; Cancelled stays distinct</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slash-command set</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19  </a:t>
            </a:r>
            <a:pPr indent="0" marL="0">
              <a:buNone/>
            </a:pPr>
            <a:r>
              <a:rPr lang="en-US" sz="1250" dirty="0">
                <a:solidFill>
                  <a:srgbClr val="FFFFFF"/>
                </a:solidFill>
                <a:latin typeface="Calibri" pitchFamily="34" charset="0"/>
                <a:ea typeface="Calibri" pitchFamily="34" charset="-122"/>
                <a:cs typeface="Calibri" pitchFamily="34" charset="-120"/>
              </a:rPr>
              <a:t>v1.0 ships eleven slash commands on one agent</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4 Capstone — Developer CLI (v0.4)</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16a — Dispatch and Informational Commands</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16a — Developer CLI: Dispatch and Informational Commands</dc:title>
  <dc:subject>PptxGenJS Presentation</dc:subject>
  <dc:creator>MiniCode Course</dc:creator>
  <cp:lastModifiedBy>MiniCode Course</cp:lastModifiedBy>
  <cp:revision>1</cp:revision>
  <dcterms:created xsi:type="dcterms:W3CDTF">2026-10-01T23:15:11Z</dcterms:created>
  <dcterms:modified xsi:type="dcterms:W3CDTF">2026-10-01T23:15:11Z</dcterms:modified>
</cp:coreProperties>
</file>