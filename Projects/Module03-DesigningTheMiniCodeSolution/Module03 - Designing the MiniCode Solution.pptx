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take Module 2b's two files and split them across the five projects MiniCode will live in for the rest of the course, then fix the direction dependencies are allowed to flow between them. Nothing new happens on screen: MiniCode still just chats. What changes is that the terminal no longer knows what a model is. We start from the Module 2b folder. Module 2a's four objects and Module 2b's ChatClientFactory are carried forward exactly; they just move out of MiniCode.Cli and into the projects that own them. Nothing new to install: the two packages from Module 2b move from MiniCode.Cli to MiniCode.Agent, which is the whole point of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coding agent edits files and runs commands on your machine because a language model asked it to. The blast radius of a bug is your repository. Every safety claim MiniCode makes later, that it cannot escape the workspace, that it cannot run an arbitrary command, that every tool call passes one gate, is only true if there is exactly one code path that can do the dangerous thing. Layering is how you get exactly one code path. It is a safety mechanism, not decoration.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responsibilities are fixed for the rest of the series. MiniCode.Cli is the terminal interface and user interaction. MiniCode.Agent is MAF configuration and coding-agent execution. MiniCode.Tools holds the tools exposed to the model. MiniCode.Workspace owns repository boundaries and filesystem access. MiniCode.Infrastructure owns shell execution, Git, configuration and external services. Three of them are empty today, and that is correct. Tools, Workspace and Infrastructure exist with their references wired and no code inside: Module 4 fills Workspace, Module 5a fills Tools, and Module 11a fills Infrastructure. Creating them now makes the dependency graph real before there is anything to argue about. The two leaf projects compile with no files in them: not a placeholder, but the dependency graph existing before the code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dependency graph: every arrow points downward, and none ever points back up. Stated as rules: Cli references only Agent. Agent references Tools, Workspace and Infrastructure. Tools references Workspace and Infrastructure. The two leaves reference nothing internal. Nothing, ever, depends back on Cli or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leaves must stay leaves. MiniCode.Workspace will decide whether a path is inside the repository. MiniCode.Infrastructure will decide whether a process starts. If either could reach back up into Tools or Agent, then answering 'can the agent write to C:\Windows?' would mean reading the whole solution. Because they are leaves, that question is answered by one small class with no dependencies. Why the CLI references only the agent. Look at what MiniCode.Cli no longer has: no Microsoft.Agents.AI, no OpenAI SDK. It cannot see a ChatClientAgent, so it cannot accidentally configure one. ICodingAgent is deliberately expressed in string and IAsyncEnumerable of string; no framework type crosses that line. The payoff lands in Module 16a, when the CLI grows slash commands: none of that work can reach the model, and none of the model work can reach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actually breaks when the graph goes cyclic. The failure is gradual, not dramatic. The compiler stops a true cycle outright, because C# project references cannot form one, so the cycle never appears as a cycle. It appears as a workaround: someone merges two projects, or hoists a type into a shared 'Common' project that slowly accumulates everything. Both erase the boundary while leaving the folder names intact, which is worse than an honest cycle, because the diagram still looks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ICodingAgent is the whole boundary: one method, a string in and IAsyncEnumerable of string out. The CLI cannot name a MAF type because it does not reference the package that defines one. CodingAgent holds the session. Module 2a created it in Main; it now lives on the class that uses it, which is the reason Module 8b can later replace the conversation without touching the loop. The constructor is internal, so the only way to get a CodingAgent is through the factory, and nobody can assemble a half-configured one. CodingAgentFactory is the composition root, and it never names a provider: the IChatClient comes from ChatClientFactory, which moved into MiniCode.Agent unchanged apart from its namespace and is still the only type that reads an environment variable. When Module 5a adds tools, they get wired in here. Program shrank to plumbing: resolve an agent, run the loop, and translate a missing key into a message and exit code 1. A misconfigured start now reports to the person, not into a model's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the chat loop into its own class. Program.cs calls new InteractiveCommandLoop(agent).RunAsync(), and that class does not exist yet. Create src/MiniCode.Cli/InteractiveCommandLoop.cs and move Module 2b's read-evaluate-print loop into it. Acceptance criteria: it takes an ICodingAgent in its constructor and nothing else. RunAsync prints the banner, MiniCode. Type 'exit' to quit. Then it loops: prompt, read a line, stream the answer, blank line. Empty input or exit, case-insensitive, ends the loop. It accepts a CancellationToken and stops when cancellation is requested. And it compiles with no using Microsoft.Agents.AI. If you need that using, something has leaked through ICodingAgent and the boundary is broken. The finished version is in this Module's folder: write yours first, then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Identical behaviour to Module 2b, which is the point: a refactor that changes structure and not function. Run with dotnet run --project src/MiniCode.Cli, ask what the difference is between a record and a class in C#, and the answer streams as before. And with the key unset, the failure now reaches you rather than the model: OPENAI_API_KEY is not set. Set it before running MiniCode. On the slide the answer is trimmed with '...', the closing '&gt; exit' line is omitted, and the second run's '&gt; dotnet run' line is replaced by a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each piece goes. Module 4 fills the Workspace leaf with the path boundary every file operation goes through. Module 5a adds the first tool to MiniCode.Tools and wires it in through CodingAgentFactory. Because CodingAgent owns the session, Module 8b can compact that history inside MiniCode.Agent. Module 11a gives Infrastructure its first files, running a process safely. In Module 15 the composition root receives the approval prompter from its caller instead of building it. And because the CLI sees only ICodingAgent, Module 16a adds slash commands that run with no model call involved. This structure is what the Phase 1 Capstone, Repository Explorer, version 0.1, consolidates.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3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Designing the MiniCode Solution</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Five projects, one direction</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Module02b-ConfiguringModelProviders/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Module03-DesigningTheMiniCodeSolution/</a:t>
            </a:r>
            <a:endParaRPr lang="en-US" sz="105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layering is a safety mechanism</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five projects and what each one owns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dependency graph, and why the leaves stay leaves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Keeping every MAF type out of the terminal</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How a broken boundary really creeps in</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3 — Designing the MiniCode Solution</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Why a solution shape is worth a lesson</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One code path</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Every safety claim holds only if exactly one path can do the dangerous thing.</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The workspace</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It cannot escape the repository</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Commands</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It cannot run an arbitrary command</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Tool calls</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Every call passes one gate</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Layering is a safety mechanism, not decoration.</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3 — Designing the MiniCode Solution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Five projects, each with one job</a:t>
            </a:r>
            <a:endParaRPr lang="en-US" sz="2800" dirty="0"/>
          </a:p>
        </p:txBody>
      </p:sp>
      <p:sp>
        <p:nvSpPr>
          <p:cNvPr id="4" name="Shape 2"/>
          <p:cNvSpPr/>
          <p:nvPr/>
        </p:nvSpPr>
        <p:spPr>
          <a:xfrm>
            <a:off x="457200" y="1371600"/>
            <a:ext cx="256032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MiniCode.Cli</a:t>
            </a:r>
            <a:endParaRPr lang="en-US" sz="1300" dirty="0"/>
          </a:p>
        </p:txBody>
      </p:sp>
      <p:sp>
        <p:nvSpPr>
          <p:cNvPr id="8" name="Text 5"/>
          <p:cNvSpPr txBox="1"/>
          <p:nvPr/>
        </p:nvSpPr>
        <p:spPr>
          <a:xfrm>
            <a:off x="64008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Terminal interface and user interaction</a:t>
            </a:r>
            <a:endParaRPr lang="en-US" sz="1200" dirty="0"/>
          </a:p>
        </p:txBody>
      </p:sp>
      <p:sp>
        <p:nvSpPr>
          <p:cNvPr id="9" name="Shape 6"/>
          <p:cNvSpPr/>
          <p:nvPr/>
        </p:nvSpPr>
        <p:spPr>
          <a:xfrm>
            <a:off x="3291840" y="1371600"/>
            <a:ext cx="256032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MiniCode.Agent</a:t>
            </a:r>
            <a:endParaRPr lang="en-US" sz="1300" dirty="0"/>
          </a:p>
        </p:txBody>
      </p:sp>
      <p:sp>
        <p:nvSpPr>
          <p:cNvPr id="13" name="Text 9"/>
          <p:cNvSpPr txBox="1"/>
          <p:nvPr/>
        </p:nvSpPr>
        <p:spPr>
          <a:xfrm>
            <a:off x="347472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MAF configuration and agent execution</a:t>
            </a:r>
            <a:endParaRPr lang="en-US" sz="1200" dirty="0"/>
          </a:p>
        </p:txBody>
      </p:sp>
      <p:sp>
        <p:nvSpPr>
          <p:cNvPr id="14" name="Shape 10"/>
          <p:cNvSpPr/>
          <p:nvPr/>
        </p:nvSpPr>
        <p:spPr>
          <a:xfrm>
            <a:off x="6126480" y="1371600"/>
            <a:ext cx="256032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MiniCode.Tools</a:t>
            </a:r>
            <a:endParaRPr lang="en-US" sz="1300" dirty="0"/>
          </a:p>
        </p:txBody>
      </p:sp>
      <p:sp>
        <p:nvSpPr>
          <p:cNvPr id="18" name="Text 13"/>
          <p:cNvSpPr txBox="1"/>
          <p:nvPr/>
        </p:nvSpPr>
        <p:spPr>
          <a:xfrm>
            <a:off x="630936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Empty today. Module 5a fills it.</a:t>
            </a:r>
            <a:endParaRPr lang="en-US" sz="1200" dirty="0"/>
          </a:p>
        </p:txBody>
      </p:sp>
      <p:sp>
        <p:nvSpPr>
          <p:cNvPr id="19" name="Shape 14"/>
          <p:cNvSpPr/>
          <p:nvPr/>
        </p:nvSpPr>
        <p:spPr>
          <a:xfrm>
            <a:off x="457200" y="2994660"/>
            <a:ext cx="256032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64008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39932" y="3277392"/>
            <a:ext cx="184343" cy="184343"/>
          </a:xfrm>
          <a:prstGeom prst="rect">
            <a:avLst/>
          </a:prstGeom>
        </p:spPr>
      </p:pic>
      <p:sp>
        <p:nvSpPr>
          <p:cNvPr id="22" name="Text 16"/>
          <p:cNvSpPr txBox="1"/>
          <p:nvPr/>
        </p:nvSpPr>
        <p:spPr>
          <a:xfrm>
            <a:off x="1143000" y="3177540"/>
            <a:ext cx="1737360" cy="384048"/>
          </a:xfrm>
          <a:prstGeom prst="rect">
            <a:avLst/>
          </a:prstGeom>
          <a:noFill/>
          <a:ln/>
        </p:spPr>
        <p:txBody>
          <a:bodyPr wrap="square" lIns="0" tIns="0" rIns="0" bIns="0" rtlCol="0" anchor="ctr">
            <a:normAutofit/>
          </a:bodyPr>
          <a:lstStyle/>
          <a:p>
            <a:pPr indent="0" marL="0">
              <a:buNone/>
            </a:pPr>
            <a:r>
              <a:rPr lang="en-US" sz="1200" b="1" dirty="0">
                <a:solidFill>
                  <a:srgbClr val="1F2937"/>
                </a:solidFill>
                <a:latin typeface="Calibri" pitchFamily="34" charset="0"/>
                <a:ea typeface="Calibri" pitchFamily="34" charset="-122"/>
                <a:cs typeface="Calibri" pitchFamily="34" charset="-120"/>
              </a:rPr>
              <a:t>MiniCode.Workspace</a:t>
            </a:r>
            <a:endParaRPr lang="en-US" sz="1200" dirty="0"/>
          </a:p>
        </p:txBody>
      </p:sp>
      <p:sp>
        <p:nvSpPr>
          <p:cNvPr id="23" name="Text 17"/>
          <p:cNvSpPr txBox="1"/>
          <p:nvPr/>
        </p:nvSpPr>
        <p:spPr>
          <a:xfrm>
            <a:off x="64008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Empty today. Module 4 fills it.</a:t>
            </a:r>
            <a:endParaRPr lang="en-US" sz="1200" dirty="0"/>
          </a:p>
        </p:txBody>
      </p:sp>
      <p:sp>
        <p:nvSpPr>
          <p:cNvPr id="24" name="Shape 18"/>
          <p:cNvSpPr/>
          <p:nvPr/>
        </p:nvSpPr>
        <p:spPr>
          <a:xfrm>
            <a:off x="3291840" y="2994660"/>
            <a:ext cx="2560320" cy="1394460"/>
          </a:xfrm>
          <a:prstGeom prst="roundRect">
            <a:avLst>
              <a:gd name="adj" fmla="val 5246"/>
            </a:avLst>
          </a:prstGeom>
          <a:solidFill>
            <a:srgbClr val="EFEBFC"/>
          </a:solidFill>
          <a:ln w="12700">
            <a:solidFill>
              <a:srgbClr val="EFEBFC"/>
            </a:solidFill>
            <a:prstDash val="solid"/>
          </a:ln>
        </p:spPr>
      </p:sp>
      <p:sp>
        <p:nvSpPr>
          <p:cNvPr id="25" name="Shape 19"/>
          <p:cNvSpPr/>
          <p:nvPr/>
        </p:nvSpPr>
        <p:spPr>
          <a:xfrm>
            <a:off x="3474720" y="3177540"/>
            <a:ext cx="384048" cy="384048"/>
          </a:xfrm>
          <a:prstGeom prst="ellipse">
            <a:avLst/>
          </a:prstGeom>
          <a:solidFill>
            <a:srgbClr val="512BD4"/>
          </a:solidFill>
          <a:ln w="12700">
            <a:solidFill>
              <a:srgbClr val="512BD4"/>
            </a:solidFill>
            <a:prstDash val="solid"/>
          </a:ln>
        </p:spPr>
      </p:sp>
      <p:pic>
        <p:nvPicPr>
          <p:cNvPr id="26" name="Image 4" descr="preencoded.png">    </p:cNvPr>
          <p:cNvPicPr>
            <a:picLocks noChangeAspect="1"/>
          </p:cNvPicPr>
          <p:nvPr/>
        </p:nvPicPr>
        <p:blipFill>
          <a:blip r:embed="rId5"/>
          <a:stretch>
            <a:fillRect/>
          </a:stretch>
        </p:blipFill>
        <p:spPr>
          <a:xfrm>
            <a:off x="3574572" y="3277392"/>
            <a:ext cx="184343" cy="184343"/>
          </a:xfrm>
          <a:prstGeom prst="rect">
            <a:avLst/>
          </a:prstGeom>
        </p:spPr>
      </p:pic>
      <p:sp>
        <p:nvSpPr>
          <p:cNvPr id="27" name="Text 20"/>
          <p:cNvSpPr txBox="1"/>
          <p:nvPr/>
        </p:nvSpPr>
        <p:spPr>
          <a:xfrm>
            <a:off x="3977640" y="3177540"/>
            <a:ext cx="1737360" cy="384048"/>
          </a:xfrm>
          <a:prstGeom prst="rect">
            <a:avLst/>
          </a:prstGeom>
          <a:noFill/>
          <a:ln/>
        </p:spPr>
        <p:txBody>
          <a:bodyPr wrap="square" lIns="0" tIns="0" rIns="0" bIns="0" rtlCol="0" anchor="ctr">
            <a:normAutofit/>
          </a:bodyPr>
          <a:lstStyle/>
          <a:p>
            <a:pPr indent="0" marL="0">
              <a:buNone/>
            </a:pPr>
            <a:r>
              <a:rPr lang="en-US" sz="1100" b="1" dirty="0">
                <a:solidFill>
                  <a:srgbClr val="1F2937"/>
                </a:solidFill>
                <a:latin typeface="Calibri" pitchFamily="34" charset="0"/>
                <a:ea typeface="Calibri" pitchFamily="34" charset="-122"/>
                <a:cs typeface="Calibri" pitchFamily="34" charset="-120"/>
              </a:rPr>
              <a:t>MiniCode.Infrastructure</a:t>
            </a:r>
            <a:endParaRPr lang="en-US" sz="1100" dirty="0"/>
          </a:p>
        </p:txBody>
      </p:sp>
      <p:sp>
        <p:nvSpPr>
          <p:cNvPr id="28" name="Text 21"/>
          <p:cNvSpPr txBox="1"/>
          <p:nvPr/>
        </p:nvSpPr>
        <p:spPr>
          <a:xfrm>
            <a:off x="347472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Empty today. Module 11a fills it.</a:t>
            </a:r>
            <a:endParaRPr lang="en-US" sz="1200" dirty="0"/>
          </a:p>
        </p:txBody>
      </p:sp>
      <p:sp>
        <p:nvSpPr>
          <p:cNvPr id="29" name="Shape 22"/>
          <p:cNvSpPr/>
          <p:nvPr/>
        </p:nvSpPr>
        <p:spPr>
          <a:xfrm>
            <a:off x="6126480" y="2994660"/>
            <a:ext cx="2560320" cy="1394460"/>
          </a:xfrm>
          <a:prstGeom prst="roundRect">
            <a:avLst>
              <a:gd name="adj" fmla="val 5246"/>
            </a:avLst>
          </a:prstGeom>
          <a:solidFill>
            <a:srgbClr val="512BD4"/>
          </a:solidFill>
          <a:ln w="12700">
            <a:solidFill>
              <a:srgbClr val="512BD4"/>
            </a:solidFill>
            <a:prstDash val="solid"/>
          </a:ln>
        </p:spPr>
      </p:sp>
      <p:sp>
        <p:nvSpPr>
          <p:cNvPr id="30" name="Shape 23"/>
          <p:cNvSpPr/>
          <p:nvPr/>
        </p:nvSpPr>
        <p:spPr>
          <a:xfrm>
            <a:off x="6309360" y="3177540"/>
            <a:ext cx="384048" cy="384048"/>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6409212" y="3277392"/>
            <a:ext cx="184343" cy="184343"/>
          </a:xfrm>
          <a:prstGeom prst="rect">
            <a:avLst/>
          </a:prstGeom>
        </p:spPr>
      </p:pic>
      <p:sp>
        <p:nvSpPr>
          <p:cNvPr id="32" name="Text 24"/>
          <p:cNvSpPr txBox="1"/>
          <p:nvPr/>
        </p:nvSpPr>
        <p:spPr>
          <a:xfrm>
            <a:off x="681228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Empty is correct</a:t>
            </a:r>
            <a:endParaRPr lang="en-US" sz="1500" dirty="0"/>
          </a:p>
        </p:txBody>
      </p:sp>
      <p:sp>
        <p:nvSpPr>
          <p:cNvPr id="33" name="Text 25"/>
          <p:cNvSpPr txBox="1"/>
          <p:nvPr/>
        </p:nvSpPr>
        <p:spPr>
          <a:xfrm>
            <a:off x="6309360" y="3680460"/>
            <a:ext cx="219456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graph is real before the code is</a:t>
            </a:r>
            <a:endParaRPr lang="en-US" sz="1200" dirty="0"/>
          </a:p>
        </p:txBody>
      </p:sp>
      <p:sp>
        <p:nvSpPr>
          <p:cNvPr id="34"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3 — Designing the MiniCode Solution</a:t>
            </a:r>
            <a:endParaRPr lang="en-US" sz="900" dirty="0"/>
          </a:p>
        </p:txBody>
      </p:sp>
      <p:sp>
        <p:nvSpPr>
          <p:cNvPr id="35"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Every arrow points down</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Cli</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Front end. No AI packages at all.</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Agent</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MAF configuration and execution</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Tools</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Tools exposed to the model</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Two leaves</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Workspace and Infrastructure reference nothing</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Agent also references both leaves. Nothing ever depends back on Cli or Agent.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3 — Designing the MiniCode Solution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boundaries that make it work</a:t>
            </a:r>
            <a:endParaRPr lang="en-US" sz="2800" dirty="0"/>
          </a:p>
        </p:txBody>
      </p:sp>
      <p:sp>
        <p:nvSpPr>
          <p:cNvPr id="4" name="Shape 2"/>
          <p:cNvSpPr/>
          <p:nvPr/>
        </p:nvSpPr>
        <p:spPr>
          <a:xfrm>
            <a:off x="457200" y="1371600"/>
            <a:ext cx="3931920" cy="2377440"/>
          </a:xfrm>
          <a:prstGeom prst="roundRect">
            <a:avLst>
              <a:gd name="adj" fmla="val 307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The leaves stay leaves</a:t>
            </a:r>
            <a:endParaRPr lang="en-US" sz="1700" dirty="0"/>
          </a:p>
        </p:txBody>
      </p:sp>
      <p:sp>
        <p:nvSpPr>
          <p:cNvPr id="8" name="Text 5"/>
          <p:cNvSpPr txBox="1"/>
          <p:nvPr/>
        </p:nvSpPr>
        <p:spPr>
          <a:xfrm>
            <a:off x="68580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Workspace decides whether a path is inside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Infrastructure decides whether a process starts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small class answers "can it write there?"</a:t>
            </a:r>
            <a:endParaRPr lang="en-US" sz="1300" dirty="0"/>
          </a:p>
        </p:txBody>
      </p:sp>
      <p:sp>
        <p:nvSpPr>
          <p:cNvPr id="9" name="Shape 6"/>
          <p:cNvSpPr/>
          <p:nvPr/>
        </p:nvSpPr>
        <p:spPr>
          <a:xfrm>
            <a:off x="4754880" y="1371600"/>
            <a:ext cx="3931920" cy="2377440"/>
          </a:xfrm>
          <a:prstGeom prst="roundRect">
            <a:avLst>
              <a:gd name="adj" fmla="val 3077"/>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The CLI sees only the agent</a:t>
            </a:r>
            <a:endParaRPr lang="en-US" sz="1700" dirty="0"/>
          </a:p>
        </p:txBody>
      </p:sp>
      <p:sp>
        <p:nvSpPr>
          <p:cNvPr id="13" name="Text 9"/>
          <p:cNvSpPr txBox="1"/>
          <p:nvPr/>
        </p:nvSpPr>
        <p:spPr>
          <a:xfrm>
            <a:off x="498348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Microsoft.Agents.AI, no OpenAI SDK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ICodingAgent: a string in, strings out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framework type crosses the line</a:t>
            </a:r>
            <a:endParaRPr lang="en-US" sz="1300" dirty="0"/>
          </a:p>
        </p:txBody>
      </p:sp>
      <p:sp>
        <p:nvSpPr>
          <p:cNvPr id="14" name="Text 10"/>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In Module 16a the CLI grows slash commands, and still cannot reach the model.</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3 — Designing the MiniCode Solution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How a boundary really breaks</a:t>
            </a:r>
            <a:endParaRPr lang="en-US" sz="2800" dirty="0"/>
          </a:p>
        </p:txBody>
      </p:sp>
      <p:sp>
        <p:nvSpPr>
          <p:cNvPr id="4" name="Shape 2"/>
          <p:cNvSpPr/>
          <p:nvPr/>
        </p:nvSpPr>
        <p:spPr>
          <a:xfrm>
            <a:off x="457200" y="1417320"/>
            <a:ext cx="2511552" cy="1801368"/>
          </a:xfrm>
          <a:prstGeom prst="roundRect">
            <a:avLst>
              <a:gd name="adj" fmla="val 406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No true cycle</a:t>
            </a:r>
            <a:endParaRPr lang="en-US" sz="1500" dirty="0"/>
          </a:p>
        </p:txBody>
      </p:sp>
      <p:sp>
        <p:nvSpPr>
          <p:cNvPr id="8" name="Text 5"/>
          <p:cNvSpPr txBox="1"/>
          <p:nvPr/>
        </p:nvSpPr>
        <p:spPr>
          <a:xfrm>
            <a:off x="640080"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 project references cannot form one</a:t>
            </a:r>
            <a:endParaRPr lang="en-US" sz="1200" dirty="0"/>
          </a:p>
        </p:txBody>
      </p:sp>
      <p:sp>
        <p:nvSpPr>
          <p:cNvPr id="9" name="Shape 6"/>
          <p:cNvSpPr/>
          <p:nvPr/>
        </p:nvSpPr>
        <p:spPr>
          <a:xfrm>
            <a:off x="3032760"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801368"/>
          </a:xfrm>
          <a:prstGeom prst="roundRect">
            <a:avLst>
              <a:gd name="adj" fmla="val 4061"/>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 workaround</a:t>
            </a:r>
            <a:endParaRPr lang="en-US" sz="1500" dirty="0"/>
          </a:p>
        </p:txBody>
      </p:sp>
      <p:sp>
        <p:nvSpPr>
          <p:cNvPr id="14" name="Text 10"/>
          <p:cNvSpPr txBox="1"/>
          <p:nvPr/>
        </p:nvSpPr>
        <p:spPr>
          <a:xfrm>
            <a:off x="3499104"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Merge two projects, or hoist types into "Common"</a:t>
            </a:r>
            <a:endParaRPr lang="en-US" sz="1200" dirty="0"/>
          </a:p>
        </p:txBody>
      </p:sp>
      <p:sp>
        <p:nvSpPr>
          <p:cNvPr id="15" name="Shape 11"/>
          <p:cNvSpPr/>
          <p:nvPr/>
        </p:nvSpPr>
        <p:spPr>
          <a:xfrm>
            <a:off x="5891784"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801368"/>
          </a:xfrm>
          <a:prstGeom prst="roundRect">
            <a:avLst>
              <a:gd name="adj" fmla="val 4061"/>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 silent loss</a:t>
            </a:r>
            <a:endParaRPr lang="en-US" sz="1500" dirty="0"/>
          </a:p>
        </p:txBody>
      </p:sp>
      <p:sp>
        <p:nvSpPr>
          <p:cNvPr id="20" name="Text 15"/>
          <p:cNvSpPr txBox="1"/>
          <p:nvPr/>
        </p:nvSpPr>
        <p:spPr>
          <a:xfrm>
            <a:off x="6358128" y="2606040"/>
            <a:ext cx="2191512"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boundary is gone, but the diagram still looks right</a:t>
            </a:r>
            <a:endParaRPr lang="en-US" sz="1200" dirty="0"/>
          </a:p>
        </p:txBody>
      </p:sp>
      <p:sp>
        <p:nvSpPr>
          <p:cNvPr id="21" name="Text 16"/>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Worse than an honest cycle, because nothing looks wrong.</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3 — Designing the MiniCode Solution</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CODE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Where Module 2b's code lands</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ICodingAgent</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whole boundary: one streaming method in plain strings</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CodingAgent</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Holds the session now. Its constructor is internal.</a:t>
            </a:r>
            <a:endParaRPr lang="en-US" sz="1200" dirty="0"/>
          </a:p>
        </p:txBody>
      </p:sp>
      <p:sp>
        <p:nvSpPr>
          <p:cNvPr id="14" name="Shape 10"/>
          <p:cNvSpPr/>
          <p:nvPr/>
        </p:nvSpPr>
        <p:spPr>
          <a:xfrm>
            <a:off x="457200" y="2994660"/>
            <a:ext cx="3977640" cy="1394460"/>
          </a:xfrm>
          <a:prstGeom prst="roundRect">
            <a:avLst>
              <a:gd name="adj" fmla="val 5246"/>
            </a:avLst>
          </a:prstGeom>
          <a:solidFill>
            <a:srgbClr val="512BD4"/>
          </a:solidFill>
          <a:ln w="12700">
            <a:solidFill>
              <a:srgbClr val="512BD4"/>
            </a:solidFill>
            <a:prstDash val="solid"/>
          </a:ln>
        </p:spPr>
      </p:sp>
      <p:sp>
        <p:nvSpPr>
          <p:cNvPr id="15" name="Shape 11"/>
          <p:cNvSpPr/>
          <p:nvPr/>
        </p:nvSpPr>
        <p:spPr>
          <a:xfrm>
            <a:off x="640080" y="317754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Calibri" pitchFamily="34" charset="0"/>
                <a:ea typeface="Calibri" pitchFamily="34" charset="-122"/>
                <a:cs typeface="Calibri" pitchFamily="34" charset="-120"/>
              </a:rPr>
              <a:t>CodingAgentFactory</a:t>
            </a:r>
            <a:endParaRPr lang="en-US" sz="14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composition root. Never names a provider.</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Program</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Plumbing. A missing key prints a message and exits 1.</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3 — Designing the MiniCode Solution</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Move the chat loop into its own class</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Program.cs already calls a class that does not exist yet: InteractiveCommandLoop. Create it and move Module 2b's read-evaluate-print loop into it.</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src/MiniCode.Cli/InteractiveCommandLoop.cs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Its constructor takes an ICodingAgent and nothing else</a:t>
            </a:r>
            <a:endParaRPr lang="en-US" sz="1300" dirty="0"/>
          </a:p>
        </p:txBody>
      </p:sp>
      <p:sp>
        <p:nvSpPr>
          <p:cNvPr id="13" name="Shape 9"/>
          <p:cNvSpPr/>
          <p:nvPr/>
        </p:nvSpPr>
        <p:spPr>
          <a:xfrm>
            <a:off x="3931920" y="2313432"/>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389510"/>
            <a:ext cx="140452" cy="140452"/>
          </a:xfrm>
          <a:prstGeom prst="rect">
            <a:avLst/>
          </a:prstGeom>
        </p:spPr>
      </p:pic>
      <p:sp>
        <p:nvSpPr>
          <p:cNvPr id="15" name="Text 10"/>
          <p:cNvSpPr txBox="1"/>
          <p:nvPr/>
        </p:nvSpPr>
        <p:spPr>
          <a:xfrm>
            <a:off x="4361688" y="2295144"/>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RunAsync prints the banner, then prompts, reads, streams the answer</a:t>
            </a:r>
            <a:endParaRPr lang="en-US" sz="1300" dirty="0"/>
          </a:p>
        </p:txBody>
      </p:sp>
      <p:sp>
        <p:nvSpPr>
          <p:cNvPr id="16" name="Shape 11"/>
          <p:cNvSpPr/>
          <p:nvPr/>
        </p:nvSpPr>
        <p:spPr>
          <a:xfrm>
            <a:off x="3931920" y="2825496"/>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2901574"/>
            <a:ext cx="140452" cy="140452"/>
          </a:xfrm>
          <a:prstGeom prst="rect">
            <a:avLst/>
          </a:prstGeom>
        </p:spPr>
      </p:pic>
      <p:sp>
        <p:nvSpPr>
          <p:cNvPr id="18" name="Text 12"/>
          <p:cNvSpPr txBox="1"/>
          <p:nvPr/>
        </p:nvSpPr>
        <p:spPr>
          <a:xfrm>
            <a:off x="4361688" y="2807208"/>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Empty input or exit, in any case, ends the loop</a:t>
            </a:r>
            <a:endParaRPr lang="en-US" sz="1300" dirty="0"/>
          </a:p>
        </p:txBody>
      </p:sp>
      <p:sp>
        <p:nvSpPr>
          <p:cNvPr id="19" name="Shape 13"/>
          <p:cNvSpPr/>
          <p:nvPr/>
        </p:nvSpPr>
        <p:spPr>
          <a:xfrm>
            <a:off x="3931920" y="3337560"/>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413638"/>
            <a:ext cx="140452" cy="140452"/>
          </a:xfrm>
          <a:prstGeom prst="rect">
            <a:avLst/>
          </a:prstGeom>
        </p:spPr>
      </p:pic>
      <p:sp>
        <p:nvSpPr>
          <p:cNvPr id="21" name="Text 14"/>
          <p:cNvSpPr txBox="1"/>
          <p:nvPr/>
        </p:nvSpPr>
        <p:spPr>
          <a:xfrm>
            <a:off x="4361688" y="3319272"/>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It accepts a CancellationToken and stops when cancelled</a:t>
            </a:r>
            <a:endParaRPr lang="en-US" sz="1300" dirty="0"/>
          </a:p>
        </p:txBody>
      </p:sp>
      <p:sp>
        <p:nvSpPr>
          <p:cNvPr id="22" name="Shape 15"/>
          <p:cNvSpPr/>
          <p:nvPr/>
        </p:nvSpPr>
        <p:spPr>
          <a:xfrm>
            <a:off x="3931920" y="3849624"/>
            <a:ext cx="292608" cy="292608"/>
          </a:xfrm>
          <a:prstGeom prst="ellipse">
            <a:avLst/>
          </a:prstGeom>
          <a:solidFill>
            <a:srgbClr val="F5A623"/>
          </a:solidFill>
          <a:ln w="12700">
            <a:solidFill>
              <a:srgbClr val="F5A623"/>
            </a:solidFill>
            <a:prstDash val="solid"/>
          </a:ln>
        </p:spPr>
      </p:sp>
      <p:pic>
        <p:nvPicPr>
          <p:cNvPr id="23" name="Image 5" descr="preencoded.png">    </p:cNvPr>
          <p:cNvPicPr>
            <a:picLocks noChangeAspect="1"/>
          </p:cNvPicPr>
          <p:nvPr/>
        </p:nvPicPr>
        <p:blipFill>
          <a:blip r:embed="rId6"/>
          <a:stretch>
            <a:fillRect/>
          </a:stretch>
        </p:blipFill>
        <p:spPr>
          <a:xfrm>
            <a:off x="4007998" y="3925702"/>
            <a:ext cx="140452" cy="140452"/>
          </a:xfrm>
          <a:prstGeom prst="rect">
            <a:avLst/>
          </a:prstGeom>
        </p:spPr>
      </p:pic>
      <p:sp>
        <p:nvSpPr>
          <p:cNvPr id="24" name="Text 16"/>
          <p:cNvSpPr txBox="1"/>
          <p:nvPr/>
        </p:nvSpPr>
        <p:spPr>
          <a:xfrm>
            <a:off x="4361688" y="3831336"/>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It compiles with no using Microsoft.Agents.AI</a:t>
            </a:r>
            <a:endParaRPr lang="en-US" sz="1300" dirty="0"/>
          </a:p>
        </p:txBody>
      </p:sp>
      <p:sp>
        <p:nvSpPr>
          <p:cNvPr id="25"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3 — Designing the MiniCode Solution</a:t>
            </a:r>
            <a:endParaRPr lang="en-US" sz="900" dirty="0"/>
          </a:p>
        </p:txBody>
      </p:sp>
      <p:sp>
        <p:nvSpPr>
          <p:cNvPr id="26"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Same behaviour, new structure</a:t>
            </a:r>
            <a:endParaRPr lang="en-US" sz="2800" dirty="0"/>
          </a:p>
        </p:txBody>
      </p:sp>
      <p:sp>
        <p:nvSpPr>
          <p:cNvPr id="4" name="Shape 2"/>
          <p:cNvSpPr/>
          <p:nvPr/>
        </p:nvSpPr>
        <p:spPr>
          <a:xfrm>
            <a:off x="457200" y="1325880"/>
            <a:ext cx="5257800" cy="3017520"/>
          </a:xfrm>
          <a:prstGeom prst="roundRect">
            <a:avLst>
              <a:gd name="adj" fmla="val 2424"/>
            </a:avLst>
          </a:prstGeom>
          <a:solidFill>
            <a:srgbClr val="0F1420"/>
          </a:solidFill>
          <a:ln w="12700">
            <a:solidFill>
              <a:srgbClr val="0F1420"/>
            </a:solidFill>
            <a:prstDash val="solid"/>
          </a:ln>
        </p:spPr>
      </p:sp>
      <p:sp>
        <p:nvSpPr>
          <p:cNvPr id="5" name="Text 3"/>
          <p:cNvSpPr txBox="1"/>
          <p:nvPr/>
        </p:nvSpPr>
        <p:spPr>
          <a:xfrm>
            <a:off x="640080" y="1463040"/>
            <a:ext cx="4892040" cy="274320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&gt; dotnet run --project src/MiniCode.Cli</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MiniCode. Type 'exit' to quit.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What is the difference between a record and a</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class in C#?</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A record is a reference type with value-based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equality, a compiler-generated ToString, and concise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positional syntax; a class has reference equality</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unless you write your own.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with the key unset: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OPENAI_API_KEY is not set. Set it before running MiniCode.</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 refactor</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Structure changed, function did not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Failure reaches you</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message and exit code 1, not the model</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3 — Designing the MiniCode Solution</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355092"/>
          </a:xfrm>
          <a:prstGeom prst="roundRect">
            <a:avLst>
              <a:gd name="adj" fmla="val 20601"/>
            </a:avLst>
          </a:prstGeom>
          <a:solidFill>
            <a:srgbClr val="1F2943"/>
          </a:solidFill>
          <a:ln w="12700">
            <a:solidFill>
              <a:srgbClr val="1F2943"/>
            </a:solidFill>
            <a:prstDash val="solid"/>
          </a:ln>
        </p:spPr>
      </p:sp>
      <p:sp>
        <p:nvSpPr>
          <p:cNvPr id="5" name="Text 3"/>
          <p:cNvSpPr txBox="1"/>
          <p:nvPr/>
        </p:nvSpPr>
        <p:spPr>
          <a:xfrm>
            <a:off x="621792" y="12344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MiniCode.Workspace, a leaf</a:t>
            </a:r>
            <a:endParaRPr lang="en-US" sz="1300" dirty="0"/>
          </a:p>
        </p:txBody>
      </p:sp>
      <p:sp>
        <p:nvSpPr>
          <p:cNvPr id="6" name="Shape 4"/>
          <p:cNvSpPr/>
          <p:nvPr/>
        </p:nvSpPr>
        <p:spPr>
          <a:xfrm>
            <a:off x="3493008" y="132054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4  </a:t>
            </a:r>
            <a:pPr indent="0" marL="0">
              <a:buNone/>
            </a:pPr>
            <a:r>
              <a:rPr lang="en-US" sz="1250" dirty="0">
                <a:solidFill>
                  <a:srgbClr val="FFFFFF"/>
                </a:solidFill>
                <a:latin typeface="Calibri" pitchFamily="34" charset="0"/>
                <a:ea typeface="Calibri" pitchFamily="34" charset="-122"/>
                <a:cs typeface="Calibri" pitchFamily="34" charset="-120"/>
              </a:rPr>
              <a:t>Fills it with the path boundary every file operation uses</a:t>
            </a:r>
            <a:endParaRPr lang="en-US" sz="1250" dirty="0"/>
          </a:p>
        </p:txBody>
      </p:sp>
      <p:sp>
        <p:nvSpPr>
          <p:cNvPr id="8" name="Shape 6"/>
          <p:cNvSpPr/>
          <p:nvPr/>
        </p:nvSpPr>
        <p:spPr>
          <a:xfrm>
            <a:off x="457200" y="1699260"/>
            <a:ext cx="2926080" cy="355092"/>
          </a:xfrm>
          <a:prstGeom prst="roundRect">
            <a:avLst>
              <a:gd name="adj" fmla="val 20601"/>
            </a:avLst>
          </a:prstGeom>
          <a:solidFill>
            <a:srgbClr val="1F2943"/>
          </a:solidFill>
          <a:ln w="12700">
            <a:solidFill>
              <a:srgbClr val="1F2943"/>
            </a:solidFill>
            <a:prstDash val="solid"/>
          </a:ln>
        </p:spPr>
      </p:sp>
      <p:sp>
        <p:nvSpPr>
          <p:cNvPr id="9" name="Text 7"/>
          <p:cNvSpPr txBox="1"/>
          <p:nvPr/>
        </p:nvSpPr>
        <p:spPr>
          <a:xfrm>
            <a:off x="621792" y="169926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MiniCode.Tools, still empty</a:t>
            </a:r>
            <a:endParaRPr lang="en-US" sz="1300" dirty="0"/>
          </a:p>
        </p:txBody>
      </p:sp>
      <p:sp>
        <p:nvSpPr>
          <p:cNvPr id="10" name="Shape 8"/>
          <p:cNvSpPr/>
          <p:nvPr/>
        </p:nvSpPr>
        <p:spPr>
          <a:xfrm>
            <a:off x="3493008" y="178536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69926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5a  </a:t>
            </a:r>
            <a:pPr indent="0" marL="0">
              <a:buNone/>
            </a:pPr>
            <a:r>
              <a:rPr lang="en-US" sz="1250" dirty="0">
                <a:solidFill>
                  <a:srgbClr val="FFFFFF"/>
                </a:solidFill>
                <a:latin typeface="Calibri" pitchFamily="34" charset="0"/>
                <a:ea typeface="Calibri" pitchFamily="34" charset="-122"/>
                <a:cs typeface="Calibri" pitchFamily="34" charset="-120"/>
              </a:rPr>
              <a:t>The first tool, wired in through CodingAgentFactory</a:t>
            </a:r>
            <a:endParaRPr lang="en-US" sz="1250" dirty="0"/>
          </a:p>
        </p:txBody>
      </p:sp>
      <p:sp>
        <p:nvSpPr>
          <p:cNvPr id="12" name="Shape 10"/>
          <p:cNvSpPr/>
          <p:nvPr/>
        </p:nvSpPr>
        <p:spPr>
          <a:xfrm>
            <a:off x="457200" y="2164080"/>
            <a:ext cx="2926080" cy="355092"/>
          </a:xfrm>
          <a:prstGeom prst="roundRect">
            <a:avLst>
              <a:gd name="adj" fmla="val 20601"/>
            </a:avLst>
          </a:prstGeom>
          <a:solidFill>
            <a:srgbClr val="1F2943"/>
          </a:solidFill>
          <a:ln w="12700">
            <a:solidFill>
              <a:srgbClr val="1F2943"/>
            </a:solidFill>
            <a:prstDash val="solid"/>
          </a:ln>
        </p:spPr>
      </p:sp>
      <p:sp>
        <p:nvSpPr>
          <p:cNvPr id="13" name="Text 11"/>
          <p:cNvSpPr txBox="1"/>
          <p:nvPr/>
        </p:nvSpPr>
        <p:spPr>
          <a:xfrm>
            <a:off x="621792" y="216408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CodingAgent owns the session</a:t>
            </a:r>
            <a:endParaRPr lang="en-US" sz="1300" dirty="0"/>
          </a:p>
        </p:txBody>
      </p:sp>
      <p:sp>
        <p:nvSpPr>
          <p:cNvPr id="14" name="Shape 12"/>
          <p:cNvSpPr/>
          <p:nvPr/>
        </p:nvSpPr>
        <p:spPr>
          <a:xfrm>
            <a:off x="3493008" y="225018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16408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8b  </a:t>
            </a:r>
            <a:pPr indent="0" marL="0">
              <a:buNone/>
            </a:pPr>
            <a:r>
              <a:rPr lang="en-US" sz="1250" dirty="0">
                <a:solidFill>
                  <a:srgbClr val="FFFFFF"/>
                </a:solidFill>
                <a:latin typeface="Calibri" pitchFamily="34" charset="0"/>
                <a:ea typeface="Calibri" pitchFamily="34" charset="-122"/>
                <a:cs typeface="Calibri" pitchFamily="34" charset="-120"/>
              </a:rPr>
              <a:t>Compaction rewrites that history inside MiniCode.Agent</a:t>
            </a:r>
            <a:endParaRPr lang="en-US" sz="1250" dirty="0"/>
          </a:p>
        </p:txBody>
      </p:sp>
      <p:sp>
        <p:nvSpPr>
          <p:cNvPr id="16" name="Shape 14"/>
          <p:cNvSpPr/>
          <p:nvPr/>
        </p:nvSpPr>
        <p:spPr>
          <a:xfrm>
            <a:off x="457200" y="2628900"/>
            <a:ext cx="2926080" cy="355092"/>
          </a:xfrm>
          <a:prstGeom prst="roundRect">
            <a:avLst>
              <a:gd name="adj" fmla="val 20601"/>
            </a:avLst>
          </a:prstGeom>
          <a:solidFill>
            <a:srgbClr val="1F2943"/>
          </a:solidFill>
          <a:ln w="12700">
            <a:solidFill>
              <a:srgbClr val="1F2943"/>
            </a:solidFill>
            <a:prstDash val="solid"/>
          </a:ln>
        </p:spPr>
      </p:sp>
      <p:sp>
        <p:nvSpPr>
          <p:cNvPr id="17" name="Text 15"/>
          <p:cNvSpPr txBox="1"/>
          <p:nvPr/>
        </p:nvSpPr>
        <p:spPr>
          <a:xfrm>
            <a:off x="621792" y="262890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MiniCode.Infrastructure, a leaf</a:t>
            </a:r>
            <a:endParaRPr lang="en-US" sz="1300" dirty="0"/>
          </a:p>
        </p:txBody>
      </p:sp>
      <p:sp>
        <p:nvSpPr>
          <p:cNvPr id="18" name="Shape 16"/>
          <p:cNvSpPr/>
          <p:nvPr/>
        </p:nvSpPr>
        <p:spPr>
          <a:xfrm>
            <a:off x="3493008" y="2715006"/>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62890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11a  </a:t>
            </a:r>
            <a:pPr indent="0" marL="0">
              <a:buNone/>
            </a:pPr>
            <a:r>
              <a:rPr lang="en-US" sz="1250" dirty="0">
                <a:solidFill>
                  <a:srgbClr val="FFFFFF"/>
                </a:solidFill>
                <a:latin typeface="Calibri" pitchFamily="34" charset="0"/>
                <a:ea typeface="Calibri" pitchFamily="34" charset="-122"/>
                <a:cs typeface="Calibri" pitchFamily="34" charset="-120"/>
              </a:rPr>
              <a:t>Its first files: running a process safely</a:t>
            </a:r>
            <a:endParaRPr lang="en-US" sz="1250" dirty="0"/>
          </a:p>
        </p:txBody>
      </p:sp>
      <p:sp>
        <p:nvSpPr>
          <p:cNvPr id="20" name="Shape 18"/>
          <p:cNvSpPr/>
          <p:nvPr/>
        </p:nvSpPr>
        <p:spPr>
          <a:xfrm>
            <a:off x="457200" y="3093720"/>
            <a:ext cx="2926080" cy="355092"/>
          </a:xfrm>
          <a:prstGeom prst="roundRect">
            <a:avLst>
              <a:gd name="adj" fmla="val 20601"/>
            </a:avLst>
          </a:prstGeom>
          <a:solidFill>
            <a:srgbClr val="1F2943"/>
          </a:solidFill>
          <a:ln w="12700">
            <a:solidFill>
              <a:srgbClr val="1F2943"/>
            </a:solidFill>
            <a:prstDash val="solid"/>
          </a:ln>
        </p:spPr>
      </p:sp>
      <p:sp>
        <p:nvSpPr>
          <p:cNvPr id="21" name="Text 19"/>
          <p:cNvSpPr txBox="1"/>
          <p:nvPr/>
        </p:nvSpPr>
        <p:spPr>
          <a:xfrm>
            <a:off x="621792" y="309372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composition root</a:t>
            </a:r>
            <a:endParaRPr lang="en-US" sz="1300" dirty="0"/>
          </a:p>
        </p:txBody>
      </p:sp>
      <p:sp>
        <p:nvSpPr>
          <p:cNvPr id="22" name="Shape 20"/>
          <p:cNvSpPr/>
          <p:nvPr/>
        </p:nvSpPr>
        <p:spPr>
          <a:xfrm>
            <a:off x="3493008" y="3179826"/>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09372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15  </a:t>
            </a:r>
            <a:pPr indent="0" marL="0">
              <a:buNone/>
            </a:pPr>
            <a:r>
              <a:rPr lang="en-US" sz="1250" dirty="0">
                <a:solidFill>
                  <a:srgbClr val="FFFFFF"/>
                </a:solidFill>
                <a:latin typeface="Calibri" pitchFamily="34" charset="0"/>
                <a:ea typeface="Calibri" pitchFamily="34" charset="-122"/>
                <a:cs typeface="Calibri" pitchFamily="34" charset="-120"/>
              </a:rPr>
              <a:t>Takes the approval prompter from its caller</a:t>
            </a:r>
            <a:endParaRPr lang="en-US" sz="1250" dirty="0"/>
          </a:p>
        </p:txBody>
      </p:sp>
      <p:sp>
        <p:nvSpPr>
          <p:cNvPr id="24" name="Shape 22"/>
          <p:cNvSpPr/>
          <p:nvPr/>
        </p:nvSpPr>
        <p:spPr>
          <a:xfrm>
            <a:off x="457200" y="3558540"/>
            <a:ext cx="2926080" cy="355092"/>
          </a:xfrm>
          <a:prstGeom prst="roundRect">
            <a:avLst>
              <a:gd name="adj" fmla="val 20601"/>
            </a:avLst>
          </a:prstGeom>
          <a:solidFill>
            <a:srgbClr val="1F2943"/>
          </a:solidFill>
          <a:ln w="12700">
            <a:solidFill>
              <a:srgbClr val="1F2943"/>
            </a:solidFill>
            <a:prstDash val="solid"/>
          </a:ln>
        </p:spPr>
      </p:sp>
      <p:sp>
        <p:nvSpPr>
          <p:cNvPr id="25" name="Text 23"/>
          <p:cNvSpPr txBox="1"/>
          <p:nvPr/>
        </p:nvSpPr>
        <p:spPr>
          <a:xfrm>
            <a:off x="621792" y="35585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CLI sees only ICodingAgent</a:t>
            </a:r>
            <a:endParaRPr lang="en-US" sz="1300" dirty="0"/>
          </a:p>
        </p:txBody>
      </p:sp>
      <p:sp>
        <p:nvSpPr>
          <p:cNvPr id="26" name="Shape 24"/>
          <p:cNvSpPr/>
          <p:nvPr/>
        </p:nvSpPr>
        <p:spPr>
          <a:xfrm>
            <a:off x="3493008" y="3644646"/>
            <a:ext cx="329184" cy="182880"/>
          </a:xfrm>
          <a:prstGeom prst="rightArrow">
            <a:avLst/>
          </a:prstGeom>
          <a:solidFill>
            <a:srgbClr val="F5A623"/>
          </a:solidFill>
          <a:ln w="12700">
            <a:solidFill>
              <a:srgbClr val="F5A623"/>
            </a:solidFill>
            <a:prstDash val="solid"/>
          </a:ln>
        </p:spPr>
      </p:sp>
      <p:sp>
        <p:nvSpPr>
          <p:cNvPr id="27" name="Text 25"/>
          <p:cNvSpPr txBox="1"/>
          <p:nvPr/>
        </p:nvSpPr>
        <p:spPr>
          <a:xfrm>
            <a:off x="3977640" y="35585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16a  </a:t>
            </a:r>
            <a:pPr indent="0" marL="0">
              <a:buNone/>
            </a:pPr>
            <a:r>
              <a:rPr lang="en-US" sz="1250" dirty="0">
                <a:solidFill>
                  <a:srgbClr val="FFFFFF"/>
                </a:solidFill>
                <a:latin typeface="Calibri" pitchFamily="34" charset="0"/>
                <a:ea typeface="Calibri" pitchFamily="34" charset="-122"/>
                <a:cs typeface="Calibri" pitchFamily="34" charset="-120"/>
              </a:rPr>
              <a:t>Slash commands run without a model call</a:t>
            </a:r>
            <a:endParaRPr lang="en-US" sz="1250" dirty="0"/>
          </a:p>
        </p:txBody>
      </p:sp>
      <p:sp>
        <p:nvSpPr>
          <p:cNvPr id="28" name="Text 26"/>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1 Capstone — Repository Explorer (v0.1)</a:t>
            </a:r>
            <a:endParaRPr lang="en-US" sz="1300" dirty="0"/>
          </a:p>
        </p:txBody>
      </p:sp>
      <p:sp>
        <p:nvSpPr>
          <p:cNvPr id="29"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3 — Designing the MiniCode Solution</a:t>
            </a:r>
            <a:endParaRPr lang="en-US" sz="900" dirty="0"/>
          </a:p>
        </p:txBody>
      </p:sp>
      <p:sp>
        <p:nvSpPr>
          <p:cNvPr id="30"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 Designing the MiniCode Solution</dc:title>
  <dc:subject>PptxGenJS Presentation</dc:subject>
  <dc:creator>MiniCode Course</dc:creator>
  <cp:lastModifiedBy>MiniCode Course</cp:lastModifiedBy>
  <cp:revision>1</cp:revision>
  <dcterms:created xsi:type="dcterms:W3CDTF">2026-10-01T23:14:58Z</dcterms:created>
  <dcterms:modified xsi:type="dcterms:W3CDTF">2026-10-01T23:14:58Z</dcterms:modified>
</cp:coreProperties>
</file>