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move the model connection out of Program.cs into one small type, ChatClientFactory, so the rest of MiniCode never names a provider. The same factory builds a client for OpenAI, which is the default, Azure OpenAI or Google Gemini, chosen by one environment variable, MINI_CODE_LLM. That is what lets a demo switch provider without touching the agent or rebuilding. We start from the Module 2a folder. Of its four objects, only the IChatClient changes here; ChatClientAgent, AgentSession and streaming are untouched.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new package. Azure OpenAI and Gemini are both reached through the Microsoft.Extensions.AI.OpenAI and OpenAI SDK pair Module 2a already references. There is one new, optional environment variable: MINI_CODE_LLM. Leave it unset and OpenAI stays the default, needing only OPENAI_API_KEY. AZURE needs AZURE_OPENAI_ENDPOINT, for example https://my-resource.openai.azure.com, and AZURE_OPENAI_API_KEY. GEMINI needs GEMINI_API_KEY. Currency note: Gemini's OpenAI-compatible endpoint chats with every current model, but Gemini 3.x models reject the second half of a tool call there with 'Function call is missing a thought_signature', because the OpenAI SDK has nowhere to carry that field. gemini-2.5-flash completes tool calls, which MiniCode needs from Module 5a on, so that is the pin. Azure's /openai/v1/ endpoint accepts the plain OpenAI SDK, so the separate Azure.AI.OpenAI package is not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2a said IChatClient is the provider boundary. Now the code agrees. Everything provider-specific, meaning the address, the key's name and the model, lives in ChatClientFactory. Program.cs asks for an IChatClient and never learns where it came from. Program.cs got shorter: the two OpenAI usings, the model constant and the key check are gone, and one line remains.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Azure OpenAI and Gemini both accept the OpenAI chat API at their own address. So one client class covers all three, and the only differences are the base URL, which key, and which model name. OpenAIClientOptions carries the address. OpenAI needs none. Azure appends /openai/v1/ to the resource address; building it with new Uri(base, "/openai/v1/") replaces any path that was pasted with it. Gemini's address is fixed.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MINI_CODE_LLM picks the provider each time MiniCode starts, so one build can talk to any of the three. The default, with the variable not set at all, behaves exactly like Module 2a. The value is upper-cased first, so gemini works too. The switch starts from OpenAI's values and overrides them: OPENAI changes nothing, and AZURE and GEMINI each swap in their key's name and their address, and Gemini its model. A value the factory does not recognise fails loudly, naming the variable, rather than quietly falling back to OpenAI.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Azure, the model is a deployment. You deploy a model in the Azure portal under a name you choose, and requests address that name. With MINI_CODE_LLM=AZURE, modelId is that deployment name, so the deployment is named gpt-4.1-mini, matching the course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Exactly one type reads the environment, and from here on that type is the factory. Every setting a provider needs later joins it here rather than appearing anywhere else. A missing setting fails loudly, naming the variable. With OpenAI selected, the message is word for word Module 2a's.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a fourth provider: a local model served by Ollama. Ollama exposes an OpenAI-compatible endpoint at http://localhost:11434/v1/ and does not check the key. The work belongs in src/MiniCode.Cli/ChatClientFactory.cs. Acceptance criteria: MINI_CODE_LLM=OLLAMA selects it, and with the variable unset MiniCode still talks to OpenAI. With Ollama running and a model pulled, for example ollama pull llama3.2, the two-turn conversation works, and the second answer remembers the first. Ollama needs no key variable; the factory still passes a non-empty key string, because the OpenAI SDK refuses an empty one. The error for an unrecognised MINI_CODE_LLM value lists OLLAMA alongside the other three. Program.cs does not change. This goes beyond what MiniCode needs, so the criteria are the specification; no reference implementation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MINI_CODE_LLM unset, MiniCode talks to OpenAI, exactly as in Module 2a: the same two-turn conversation about dependency injection, and the second answer remembers the first. Set MINI_CODE_LLM to GEMINI and set GEMINI_API_KEY, and run again: same build, same prompt, a different model answering, and the session still remembers. Forget the key for whichever provider is selected, and the factory says which one it wanted: OPENAI_API_KEY is not set. Set it before running MiniCode. The slide shows only the Gemini run and the missing-key error: the OpenAI run is in the lesson, the Gemini answer is trimmed with '...', the closing '&gt; exit' is omitted, and the one-line error is wrapped across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where this goes. ChatClientFactory now owns the provider; in Module 3 it moves into MiniCode.Agent, and the terminal no longer knows what a model is. The Gemini pin matters in Module 5a, where the agent makes its first tool call: per this lesson's currency note, Gemini 3.x models would reject it on Gemini's OpenAI-compatible endpoint, and gemini-2.5-flash completes it. The rule that exactly one type reads the environment carries all the way to Module 18: when MiniCode becomes a global tool, the new MINICODE_MODEL variable joins the same factory, and configuration, API credentials and model choice stay environment variables. This ships in the Phase 1 Capstone, Repository Explorer, version 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502920"/>
            <a:ext cx="4206240" cy="4572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MODULE 2B  ·  PHASE 1</a:t>
            </a:r>
            <a:endParaRPr lang="en-US" sz="1100" dirty="0"/>
          </a:p>
        </p:txBody>
      </p:sp>
      <p:sp>
        <p:nvSpPr>
          <p:cNvPr id="3" name="Text 1"/>
          <p:cNvSpPr txBox="1"/>
          <p:nvPr/>
        </p:nvSpPr>
        <p:spPr>
          <a:xfrm>
            <a:off x="457200" y="1005840"/>
            <a:ext cx="4206240" cy="1371600"/>
          </a:xfrm>
          <a:prstGeom prst="rect">
            <a:avLst/>
          </a:prstGeom>
          <a:noFill/>
          <a:ln/>
        </p:spPr>
        <p:txBody>
          <a:bodyPr wrap="square" lIns="0" tIns="0" rIns="0" bIns="0" rtlCol="0" anchor="b"/>
          <a:lstStyle/>
          <a:p>
            <a:pPr indent="0" marL="0">
              <a:buNone/>
            </a:pPr>
            <a:r>
              <a:rPr lang="en-US" sz="4000" b="1" dirty="0">
                <a:solidFill>
                  <a:srgbClr val="FFFFFF"/>
                </a:solidFill>
                <a:latin typeface="Cambria" pitchFamily="34" charset="0"/>
                <a:ea typeface="Cambria" pitchFamily="34" charset="-122"/>
                <a:cs typeface="Cambria" pitchFamily="34" charset="-120"/>
              </a:rPr>
              <a:t>Configuring Model Providers</a:t>
            </a:r>
            <a:endParaRPr lang="en-US" sz="4000" dirty="0"/>
          </a:p>
        </p:txBody>
      </p:sp>
      <p:sp>
        <p:nvSpPr>
          <p:cNvPr id="4" name="Text 2"/>
          <p:cNvSpPr txBox="1"/>
          <p:nvPr/>
        </p:nvSpPr>
        <p:spPr>
          <a:xfrm>
            <a:off x="457200" y="2468880"/>
            <a:ext cx="4206240" cy="640080"/>
          </a:xfrm>
          <a:prstGeom prst="rect">
            <a:avLst/>
          </a:prstGeom>
          <a:noFill/>
          <a:ln/>
        </p:spPr>
        <p:txBody>
          <a:bodyPr wrap="square" lIns="0" tIns="0" rIns="0" bIns="0" rtlCol="0" anchor="t"/>
          <a:lstStyle/>
          <a:p>
            <a:pPr indent="0" marL="0">
              <a:buNone/>
            </a:pPr>
            <a:r>
              <a:rPr lang="en-US" sz="1600" dirty="0">
                <a:solidFill>
                  <a:srgbClr val="B8B2E6"/>
                </a:solidFill>
                <a:latin typeface="Calibri" pitchFamily="34" charset="0"/>
                <a:ea typeface="Calibri" pitchFamily="34" charset="-122"/>
                <a:cs typeface="Calibri" pitchFamily="34" charset="-120"/>
              </a:rPr>
              <a:t>Microsoft Agent Framework Fundamentals</a:t>
            </a:r>
            <a:endParaRPr lang="en-US" sz="1600" dirty="0"/>
          </a:p>
        </p:txBody>
      </p:sp>
      <p:sp>
        <p:nvSpPr>
          <p:cNvPr id="5" name="Text 3"/>
          <p:cNvSpPr txBox="1"/>
          <p:nvPr/>
        </p:nvSpPr>
        <p:spPr>
          <a:xfrm>
            <a:off x="457200" y="33467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STARTS FROM</a:t>
            </a:r>
            <a:endParaRPr lang="en-US" sz="900" dirty="0"/>
          </a:p>
        </p:txBody>
      </p:sp>
      <p:sp>
        <p:nvSpPr>
          <p:cNvPr id="6" name="Text 4"/>
          <p:cNvSpPr txBox="1"/>
          <p:nvPr/>
        </p:nvSpPr>
        <p:spPr>
          <a:xfrm>
            <a:off x="1554480" y="32918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Module02a-CreatingAnAgent/</a:t>
            </a:r>
            <a:endParaRPr lang="en-US" sz="1100" dirty="0"/>
          </a:p>
        </p:txBody>
      </p:sp>
      <p:sp>
        <p:nvSpPr>
          <p:cNvPr id="7" name="Text 5"/>
          <p:cNvSpPr txBox="1"/>
          <p:nvPr/>
        </p:nvSpPr>
        <p:spPr>
          <a:xfrm>
            <a:off x="457200" y="38039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FINISHES AS</a:t>
            </a:r>
            <a:endParaRPr lang="en-US" sz="900" dirty="0"/>
          </a:p>
        </p:txBody>
      </p:sp>
      <p:sp>
        <p:nvSpPr>
          <p:cNvPr id="8" name="Text 6"/>
          <p:cNvSpPr txBox="1"/>
          <p:nvPr/>
        </p:nvSpPr>
        <p:spPr>
          <a:xfrm>
            <a:off x="1554480" y="37490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Module02b-ConfiguringModelProviders/</a:t>
            </a:r>
            <a:endParaRPr lang="en-US" sz="1100" dirty="0"/>
          </a:p>
        </p:txBody>
      </p:sp>
      <p:sp>
        <p:nvSpPr>
          <p:cNvPr id="9" name="Shape 7"/>
          <p:cNvSpPr/>
          <p:nvPr/>
        </p:nvSpPr>
        <p:spPr>
          <a:xfrm>
            <a:off x="4983480" y="502920"/>
            <a:ext cx="3703320" cy="4069080"/>
          </a:xfrm>
          <a:prstGeom prst="roundRect">
            <a:avLst>
              <a:gd name="adj" fmla="val 1975"/>
            </a:avLst>
          </a:prstGeom>
          <a:solidFill>
            <a:srgbClr val="1F2943"/>
          </a:solidFill>
          <a:ln w="12700">
            <a:solidFill>
              <a:srgbClr val="1F2943"/>
            </a:solidFill>
            <a:prstDash val="solid"/>
          </a:ln>
        </p:spPr>
      </p:sp>
      <p:sp>
        <p:nvSpPr>
          <p:cNvPr id="10" name="Text 8"/>
          <p:cNvSpPr txBox="1"/>
          <p:nvPr/>
        </p:nvSpPr>
        <p:spPr>
          <a:xfrm>
            <a:off x="5257800" y="731520"/>
            <a:ext cx="320040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In this lesson you'll learn</a:t>
            </a:r>
            <a:endParaRPr lang="en-US" sz="1600" dirty="0"/>
          </a:p>
        </p:txBody>
      </p:sp>
      <p:sp>
        <p:nvSpPr>
          <p:cNvPr id="11" name="Shape 9"/>
          <p:cNvSpPr/>
          <p:nvPr/>
        </p:nvSpPr>
        <p:spPr>
          <a:xfrm>
            <a:off x="5257800" y="1252728"/>
            <a:ext cx="310896" cy="310896"/>
          </a:xfrm>
          <a:prstGeom prst="ellipse">
            <a:avLst/>
          </a:prstGeom>
          <a:solidFill>
            <a:srgbClr val="512BD4"/>
          </a:solidFill>
          <a:ln w="12700">
            <a:solidFill>
              <a:srgbClr val="512BD4"/>
            </a:solidFill>
            <a:prstDash val="solid"/>
          </a:ln>
        </p:spPr>
      </p:sp>
      <p:pic>
        <p:nvPicPr>
          <p:cNvPr id="12" name="Image 0" descr="preencoded.png">    </p:cNvPr>
          <p:cNvPicPr>
            <a:picLocks noChangeAspect="1"/>
          </p:cNvPicPr>
          <p:nvPr/>
        </p:nvPicPr>
        <p:blipFill>
          <a:blip r:embed="rId1"/>
          <a:stretch>
            <a:fillRect/>
          </a:stretch>
        </p:blipFill>
        <p:spPr>
          <a:xfrm>
            <a:off x="5338633" y="1333561"/>
            <a:ext cx="149230" cy="149230"/>
          </a:xfrm>
          <a:prstGeom prst="rect">
            <a:avLst/>
          </a:prstGeom>
        </p:spPr>
      </p:pic>
      <p:sp>
        <p:nvSpPr>
          <p:cNvPr id="13" name="Text 10"/>
          <p:cNvSpPr txBox="1"/>
          <p:nvPr/>
        </p:nvSpPr>
        <p:spPr>
          <a:xfrm>
            <a:off x="5715000" y="1234440"/>
            <a:ext cx="2743200" cy="75438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Moving the model connection into one type: ChatClientFactory</a:t>
            </a:r>
            <a:endParaRPr lang="en-US" sz="1300" dirty="0"/>
          </a:p>
        </p:txBody>
      </p:sp>
      <p:sp>
        <p:nvSpPr>
          <p:cNvPr id="14" name="Shape 11"/>
          <p:cNvSpPr/>
          <p:nvPr/>
        </p:nvSpPr>
        <p:spPr>
          <a:xfrm>
            <a:off x="5257800" y="2052828"/>
            <a:ext cx="310896" cy="310896"/>
          </a:xfrm>
          <a:prstGeom prst="ellipse">
            <a:avLst/>
          </a:prstGeom>
          <a:solidFill>
            <a:srgbClr val="512BD4"/>
          </a:solidFill>
          <a:ln w="12700">
            <a:solidFill>
              <a:srgbClr val="512BD4"/>
            </a:solidFill>
            <a:prstDash val="solid"/>
          </a:ln>
        </p:spPr>
      </p:sp>
      <p:pic>
        <p:nvPicPr>
          <p:cNvPr id="15" name="Image 1" descr="preencoded.png">    </p:cNvPr>
          <p:cNvPicPr>
            <a:picLocks noChangeAspect="1"/>
          </p:cNvPicPr>
          <p:nvPr/>
        </p:nvPicPr>
        <p:blipFill>
          <a:blip r:embed="rId2"/>
          <a:stretch>
            <a:fillRect/>
          </a:stretch>
        </p:blipFill>
        <p:spPr>
          <a:xfrm>
            <a:off x="5338633" y="2133661"/>
            <a:ext cx="149230" cy="149230"/>
          </a:xfrm>
          <a:prstGeom prst="rect">
            <a:avLst/>
          </a:prstGeom>
        </p:spPr>
      </p:pic>
      <p:sp>
        <p:nvSpPr>
          <p:cNvPr id="16" name="Text 12"/>
          <p:cNvSpPr txBox="1"/>
          <p:nvPr/>
        </p:nvSpPr>
        <p:spPr>
          <a:xfrm>
            <a:off x="5715000" y="2034540"/>
            <a:ext cx="2743200" cy="75438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Reaching OpenAI, Azure OpenAI and Gemini through one client</a:t>
            </a:r>
            <a:endParaRPr lang="en-US" sz="1300" dirty="0"/>
          </a:p>
        </p:txBody>
      </p:sp>
      <p:sp>
        <p:nvSpPr>
          <p:cNvPr id="17" name="Shape 13"/>
          <p:cNvSpPr/>
          <p:nvPr/>
        </p:nvSpPr>
        <p:spPr>
          <a:xfrm>
            <a:off x="5257800" y="2852928"/>
            <a:ext cx="310896" cy="310896"/>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338633" y="2933761"/>
            <a:ext cx="149230" cy="149230"/>
          </a:xfrm>
          <a:prstGeom prst="rect">
            <a:avLst/>
          </a:prstGeom>
        </p:spPr>
      </p:pic>
      <p:sp>
        <p:nvSpPr>
          <p:cNvPr id="19" name="Text 14"/>
          <p:cNvSpPr txBox="1"/>
          <p:nvPr/>
        </p:nvSpPr>
        <p:spPr>
          <a:xfrm>
            <a:off x="5715000" y="2834640"/>
            <a:ext cx="2743200" cy="75438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Choosing the provider at run time with MINI_CODE_LLM</a:t>
            </a:r>
            <a:endParaRPr lang="en-US" sz="1300" dirty="0"/>
          </a:p>
        </p:txBody>
      </p:sp>
      <p:sp>
        <p:nvSpPr>
          <p:cNvPr id="20" name="Shape 15"/>
          <p:cNvSpPr/>
          <p:nvPr/>
        </p:nvSpPr>
        <p:spPr>
          <a:xfrm>
            <a:off x="5257800" y="3653028"/>
            <a:ext cx="310896" cy="310896"/>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5338633" y="3733861"/>
            <a:ext cx="149230" cy="149230"/>
          </a:xfrm>
          <a:prstGeom prst="rect">
            <a:avLst/>
          </a:prstGeom>
        </p:spPr>
      </p:pic>
      <p:sp>
        <p:nvSpPr>
          <p:cNvPr id="22" name="Text 16"/>
          <p:cNvSpPr txBox="1"/>
          <p:nvPr/>
        </p:nvSpPr>
        <p:spPr>
          <a:xfrm>
            <a:off x="5715000" y="3634740"/>
            <a:ext cx="2743200" cy="75438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Why exactly one type reads the environment</a:t>
            </a:r>
            <a:endParaRPr lang="en-US" sz="1300" dirty="0"/>
          </a:p>
        </p:txBody>
      </p:sp>
      <p:sp>
        <p:nvSpPr>
          <p:cNvPr id="23" name="Text 1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MiniCode  ·  Module 2b — Configuring Model Providers</a:t>
            </a:r>
            <a:endParaRPr lang="en-US" sz="900" dirty="0"/>
          </a:p>
        </p:txBody>
      </p:sp>
      <p:sp>
        <p:nvSpPr>
          <p:cNvPr id="24" name="Text 1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SETUP</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No new package. One optional variable.</a:t>
            </a:r>
            <a:endParaRPr lang="en-US" sz="2800" dirty="0"/>
          </a:p>
        </p:txBody>
      </p:sp>
      <p:sp>
        <p:nvSpPr>
          <p:cNvPr id="4" name="Shape 2"/>
          <p:cNvSpPr/>
          <p:nvPr/>
        </p:nvSpPr>
        <p:spPr>
          <a:xfrm>
            <a:off x="457200" y="1371600"/>
            <a:ext cx="2560320" cy="1737360"/>
          </a:xfrm>
          <a:prstGeom prst="roundRect">
            <a:avLst>
              <a:gd name="adj" fmla="val 4211"/>
            </a:avLst>
          </a:prstGeom>
          <a:solidFill>
            <a:srgbClr val="512BD4"/>
          </a:solidFill>
          <a:ln w="12700">
            <a:solidFill>
              <a:srgbClr val="512BD4"/>
            </a:solidFill>
            <a:prstDash val="solid"/>
          </a:ln>
        </p:spPr>
      </p:sp>
      <p:sp>
        <p:nvSpPr>
          <p:cNvPr id="5" name="Shape 3"/>
          <p:cNvSpPr/>
          <p:nvPr/>
        </p:nvSpPr>
        <p:spPr>
          <a:xfrm>
            <a:off x="640080" y="1554480"/>
            <a:ext cx="384048" cy="384048"/>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737360" cy="384048"/>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Calibri" pitchFamily="34" charset="0"/>
                <a:ea typeface="Calibri" pitchFamily="34" charset="-122"/>
                <a:cs typeface="Calibri" pitchFamily="34" charset="-120"/>
              </a:rPr>
              <a:t>OpenAI</a:t>
            </a:r>
            <a:endParaRPr lang="en-US" sz="1500" dirty="0"/>
          </a:p>
        </p:txBody>
      </p:sp>
      <p:sp>
        <p:nvSpPr>
          <p:cNvPr id="8" name="Text 5"/>
          <p:cNvSpPr txBox="1"/>
          <p:nvPr/>
        </p:nvSpPr>
        <p:spPr>
          <a:xfrm>
            <a:off x="640080" y="2057400"/>
            <a:ext cx="2194560" cy="96012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MINI_CODE_LLM unset or OPENAI</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OPENAI_API_KEY</a:t>
            </a:r>
            <a:endParaRPr lang="en-US" sz="1200" dirty="0"/>
          </a:p>
        </p:txBody>
      </p:sp>
      <p:sp>
        <p:nvSpPr>
          <p:cNvPr id="9" name="Shape 6"/>
          <p:cNvSpPr/>
          <p:nvPr/>
        </p:nvSpPr>
        <p:spPr>
          <a:xfrm>
            <a:off x="3291840" y="1371600"/>
            <a:ext cx="2560320" cy="1737360"/>
          </a:xfrm>
          <a:prstGeom prst="roundRect">
            <a:avLst>
              <a:gd name="adj" fmla="val 4211"/>
            </a:avLst>
          </a:prstGeom>
          <a:solidFill>
            <a:srgbClr val="EFEBFC"/>
          </a:solidFill>
          <a:ln w="12700">
            <a:solidFill>
              <a:srgbClr val="EFEBFC"/>
            </a:solidFill>
            <a:prstDash val="solid"/>
          </a:ln>
        </p:spPr>
      </p:sp>
      <p:sp>
        <p:nvSpPr>
          <p:cNvPr id="10" name="Shape 7"/>
          <p:cNvSpPr/>
          <p:nvPr/>
        </p:nvSpPr>
        <p:spPr>
          <a:xfrm>
            <a:off x="347472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3574572" y="1654332"/>
            <a:ext cx="184343" cy="184343"/>
          </a:xfrm>
          <a:prstGeom prst="rect">
            <a:avLst/>
          </a:prstGeom>
        </p:spPr>
      </p:pic>
      <p:sp>
        <p:nvSpPr>
          <p:cNvPr id="12" name="Text 8"/>
          <p:cNvSpPr txBox="1"/>
          <p:nvPr/>
        </p:nvSpPr>
        <p:spPr>
          <a:xfrm>
            <a:off x="3977640" y="1554480"/>
            <a:ext cx="173736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Azure OpenAI</a:t>
            </a:r>
            <a:endParaRPr lang="en-US" sz="1500" dirty="0"/>
          </a:p>
        </p:txBody>
      </p:sp>
      <p:sp>
        <p:nvSpPr>
          <p:cNvPr id="13" name="Text 9"/>
          <p:cNvSpPr txBox="1"/>
          <p:nvPr/>
        </p:nvSpPr>
        <p:spPr>
          <a:xfrm>
            <a:off x="3474720" y="2057400"/>
            <a:ext cx="2194560" cy="9601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MINI_CODE_LLM=AZURE</a:t>
            </a:r>
            <a:endParaRPr lang="en-US" sz="1200" dirty="0"/>
          </a:p>
          <a:p>
            <a:pPr indent="0" marL="0">
              <a:buNone/>
            </a:pPr>
            <a:r>
              <a:rPr lang="en-US" sz="1200" dirty="0">
                <a:solidFill>
                  <a:srgbClr val="6B7280"/>
                </a:solidFill>
                <a:latin typeface="Calibri" pitchFamily="34" charset="0"/>
                <a:ea typeface="Calibri" pitchFamily="34" charset="-122"/>
                <a:cs typeface="Calibri" pitchFamily="34" charset="-120"/>
              </a:rPr>
              <a:t>AZURE_OPENAI_ENDPOINT</a:t>
            </a:r>
            <a:endParaRPr lang="en-US" sz="1200" dirty="0"/>
          </a:p>
          <a:p>
            <a:pPr indent="0" marL="0">
              <a:buNone/>
            </a:pPr>
            <a:r>
              <a:rPr lang="en-US" sz="1200" dirty="0">
                <a:solidFill>
                  <a:srgbClr val="6B7280"/>
                </a:solidFill>
                <a:latin typeface="Calibri" pitchFamily="34" charset="0"/>
                <a:ea typeface="Calibri" pitchFamily="34" charset="-122"/>
                <a:cs typeface="Calibri" pitchFamily="34" charset="-120"/>
              </a:rPr>
              <a:t>AZURE_OPENAI_API_KEY</a:t>
            </a:r>
            <a:endParaRPr lang="en-US" sz="1200" dirty="0"/>
          </a:p>
        </p:txBody>
      </p:sp>
      <p:sp>
        <p:nvSpPr>
          <p:cNvPr id="14" name="Shape 10"/>
          <p:cNvSpPr/>
          <p:nvPr/>
        </p:nvSpPr>
        <p:spPr>
          <a:xfrm>
            <a:off x="6126480" y="1371600"/>
            <a:ext cx="2560320" cy="1737360"/>
          </a:xfrm>
          <a:prstGeom prst="roundRect">
            <a:avLst>
              <a:gd name="adj" fmla="val 4211"/>
            </a:avLst>
          </a:prstGeom>
          <a:solidFill>
            <a:srgbClr val="EFEBFC"/>
          </a:solidFill>
          <a:ln w="12700">
            <a:solidFill>
              <a:srgbClr val="EFEBFC"/>
            </a:solidFill>
            <a:prstDash val="solid"/>
          </a:ln>
        </p:spPr>
      </p:sp>
      <p:sp>
        <p:nvSpPr>
          <p:cNvPr id="15" name="Shape 11"/>
          <p:cNvSpPr/>
          <p:nvPr/>
        </p:nvSpPr>
        <p:spPr>
          <a:xfrm>
            <a:off x="6309360" y="155448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6409212" y="1654332"/>
            <a:ext cx="184343" cy="184343"/>
          </a:xfrm>
          <a:prstGeom prst="rect">
            <a:avLst/>
          </a:prstGeom>
        </p:spPr>
      </p:pic>
      <p:sp>
        <p:nvSpPr>
          <p:cNvPr id="17" name="Text 12"/>
          <p:cNvSpPr txBox="1"/>
          <p:nvPr/>
        </p:nvSpPr>
        <p:spPr>
          <a:xfrm>
            <a:off x="6812280" y="1554480"/>
            <a:ext cx="173736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Gemini</a:t>
            </a:r>
            <a:endParaRPr lang="en-US" sz="1500" dirty="0"/>
          </a:p>
        </p:txBody>
      </p:sp>
      <p:sp>
        <p:nvSpPr>
          <p:cNvPr id="18" name="Text 13"/>
          <p:cNvSpPr txBox="1"/>
          <p:nvPr/>
        </p:nvSpPr>
        <p:spPr>
          <a:xfrm>
            <a:off x="6309360" y="2057400"/>
            <a:ext cx="2194560" cy="9601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MINI_CODE_LLM=GEMINI</a:t>
            </a:r>
            <a:endParaRPr lang="en-US" sz="1200" dirty="0"/>
          </a:p>
          <a:p>
            <a:pPr indent="0" marL="0">
              <a:buNone/>
            </a:pPr>
            <a:r>
              <a:rPr lang="en-US" sz="1200" dirty="0">
                <a:solidFill>
                  <a:srgbClr val="6B7280"/>
                </a:solidFill>
                <a:latin typeface="Calibri" pitchFamily="34" charset="0"/>
                <a:ea typeface="Calibri" pitchFamily="34" charset="-122"/>
                <a:cs typeface="Calibri" pitchFamily="34" charset="-120"/>
              </a:rPr>
              <a:t>GEMINI_API_KEY</a:t>
            </a:r>
            <a:endParaRPr lang="en-US" sz="1200" dirty="0"/>
          </a:p>
          <a:p>
            <a:pPr indent="0" marL="0">
              <a:buNone/>
            </a:pPr>
            <a:r>
              <a:rPr lang="en-US" sz="1200" dirty="0">
                <a:solidFill>
                  <a:srgbClr val="6B7280"/>
                </a:solidFill>
                <a:latin typeface="Calibri" pitchFamily="34" charset="0"/>
                <a:ea typeface="Calibri" pitchFamily="34" charset="-122"/>
                <a:cs typeface="Calibri" pitchFamily="34" charset="-120"/>
              </a:rPr>
              <a:t>Pinned to gemini-2.5-flash</a:t>
            </a:r>
            <a:endParaRPr lang="en-US" sz="1200" dirty="0"/>
          </a:p>
        </p:txBody>
      </p:sp>
      <p:sp>
        <p:nvSpPr>
          <p:cNvPr id="19" name="Text 14"/>
          <p:cNvSpPr txBox="1"/>
          <p:nvPr/>
        </p:nvSpPr>
        <p:spPr>
          <a:xfrm>
            <a:off x="457200" y="333756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Gemini 3.x rejects tool calls on this endpoint. gemini-2.5-flash completes them.</a:t>
            </a:r>
            <a:endParaRPr lang="en-US" sz="1400" dirty="0"/>
          </a:p>
        </p:txBody>
      </p:sp>
      <p:sp>
        <p:nvSpPr>
          <p:cNvPr id="20"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2b — Configuring Model Providers</a:t>
            </a:r>
            <a:endParaRPr lang="en-US" sz="900" dirty="0"/>
          </a:p>
        </p:txBody>
      </p:sp>
      <p:sp>
        <p:nvSpPr>
          <p:cNvPr id="21"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One provider boundary, one file</a:t>
            </a:r>
            <a:endParaRPr lang="en-US" sz="2800" dirty="0"/>
          </a:p>
        </p:txBody>
      </p:sp>
      <p:sp>
        <p:nvSpPr>
          <p:cNvPr id="4" name="Shape 2"/>
          <p:cNvSpPr/>
          <p:nvPr/>
        </p:nvSpPr>
        <p:spPr>
          <a:xfrm>
            <a:off x="457200" y="1417320"/>
            <a:ext cx="2511552" cy="1993392"/>
          </a:xfrm>
          <a:prstGeom prst="roundRect">
            <a:avLst>
              <a:gd name="adj" fmla="val 3670"/>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2191512"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Program.cs</a:t>
            </a:r>
            <a:endParaRPr lang="en-US" sz="1500" dirty="0"/>
          </a:p>
        </p:txBody>
      </p:sp>
      <p:sp>
        <p:nvSpPr>
          <p:cNvPr id="8" name="Text 5"/>
          <p:cNvSpPr txBox="1"/>
          <p:nvPr/>
        </p:nvSpPr>
        <p:spPr>
          <a:xfrm>
            <a:off x="640080" y="2606040"/>
            <a:ext cx="2191512"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Asks for an IChatClient. Never learns where it came from.</a:t>
            </a:r>
            <a:endParaRPr lang="en-US" sz="1200" dirty="0"/>
          </a:p>
        </p:txBody>
      </p:sp>
      <p:sp>
        <p:nvSpPr>
          <p:cNvPr id="9" name="Shape 6"/>
          <p:cNvSpPr/>
          <p:nvPr/>
        </p:nvSpPr>
        <p:spPr>
          <a:xfrm>
            <a:off x="3032760" y="2304288"/>
            <a:ext cx="219456" cy="219456"/>
          </a:xfrm>
          <a:prstGeom prst="rightArrow">
            <a:avLst/>
          </a:prstGeom>
          <a:solidFill>
            <a:srgbClr val="F5A623"/>
          </a:solidFill>
          <a:ln w="12700">
            <a:solidFill>
              <a:srgbClr val="F5A623"/>
            </a:solidFill>
            <a:prstDash val="solid"/>
          </a:ln>
        </p:spPr>
      </p:sp>
      <p:sp>
        <p:nvSpPr>
          <p:cNvPr id="10" name="Shape 7"/>
          <p:cNvSpPr/>
          <p:nvPr/>
        </p:nvSpPr>
        <p:spPr>
          <a:xfrm>
            <a:off x="3316224" y="1417320"/>
            <a:ext cx="2511552" cy="1993392"/>
          </a:xfrm>
          <a:prstGeom prst="roundRect">
            <a:avLst>
              <a:gd name="adj" fmla="val 3670"/>
            </a:avLst>
          </a:prstGeom>
          <a:solidFill>
            <a:srgbClr val="512BD4"/>
          </a:solidFill>
          <a:ln w="12700">
            <a:solidFill>
              <a:srgbClr val="512BD4"/>
            </a:solidFill>
            <a:prstDash val="solid"/>
          </a:ln>
        </p:spPr>
      </p:sp>
      <p:sp>
        <p:nvSpPr>
          <p:cNvPr id="11" name="Shape 8"/>
          <p:cNvSpPr/>
          <p:nvPr/>
        </p:nvSpPr>
        <p:spPr>
          <a:xfrm>
            <a:off x="3499104" y="1618488"/>
            <a:ext cx="457200" cy="457200"/>
          </a:xfrm>
          <a:prstGeom prst="ellipse">
            <a:avLst/>
          </a:prstGeom>
          <a:solidFill>
            <a:srgbClr val="FFFFFF"/>
          </a:solidFill>
          <a:ln w="12700">
            <a:solidFill>
              <a:srgbClr val="FFFFFF"/>
            </a:solidFill>
            <a:prstDash val="solid"/>
          </a:ln>
        </p:spPr>
      </p:sp>
      <p:pic>
        <p:nvPicPr>
          <p:cNvPr id="12" name="Image 1" descr="preencoded.png">    </p:cNvPr>
          <p:cNvPicPr>
            <a:picLocks noChangeAspect="1"/>
          </p:cNvPicPr>
          <p:nvPr/>
        </p:nvPicPr>
        <p:blipFill>
          <a:blip r:embed="rId2"/>
          <a:stretch>
            <a:fillRect/>
          </a:stretch>
        </p:blipFill>
        <p:spPr>
          <a:xfrm>
            <a:off x="3617976" y="1737360"/>
            <a:ext cx="219456" cy="219456"/>
          </a:xfrm>
          <a:prstGeom prst="rect">
            <a:avLst/>
          </a:prstGeom>
        </p:spPr>
      </p:pic>
      <p:sp>
        <p:nvSpPr>
          <p:cNvPr id="13" name="Text 9"/>
          <p:cNvSpPr txBox="1"/>
          <p:nvPr/>
        </p:nvSpPr>
        <p:spPr>
          <a:xfrm>
            <a:off x="3499104" y="2194560"/>
            <a:ext cx="2191512" cy="41148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ChatClientFactory</a:t>
            </a:r>
            <a:endParaRPr lang="en-US" sz="1400" dirty="0"/>
          </a:p>
        </p:txBody>
      </p:sp>
      <p:sp>
        <p:nvSpPr>
          <p:cNvPr id="14" name="Text 10"/>
          <p:cNvSpPr txBox="1"/>
          <p:nvPr/>
        </p:nvSpPr>
        <p:spPr>
          <a:xfrm>
            <a:off x="3499104" y="2606040"/>
            <a:ext cx="2191512" cy="71323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Holds the address, the key's name and the model</a:t>
            </a:r>
            <a:endParaRPr lang="en-US" sz="1200" dirty="0"/>
          </a:p>
        </p:txBody>
      </p:sp>
      <p:sp>
        <p:nvSpPr>
          <p:cNvPr id="15" name="Shape 11"/>
          <p:cNvSpPr/>
          <p:nvPr/>
        </p:nvSpPr>
        <p:spPr>
          <a:xfrm>
            <a:off x="5891784" y="2304288"/>
            <a:ext cx="219456" cy="219456"/>
          </a:xfrm>
          <a:prstGeom prst="rightArrow">
            <a:avLst/>
          </a:prstGeom>
          <a:solidFill>
            <a:srgbClr val="F5A623"/>
          </a:solidFill>
          <a:ln w="12700">
            <a:solidFill>
              <a:srgbClr val="F5A623"/>
            </a:solidFill>
            <a:prstDash val="solid"/>
          </a:ln>
        </p:spPr>
      </p:sp>
      <p:sp>
        <p:nvSpPr>
          <p:cNvPr id="16" name="Shape 12"/>
          <p:cNvSpPr/>
          <p:nvPr/>
        </p:nvSpPr>
        <p:spPr>
          <a:xfrm>
            <a:off x="6175248" y="1417320"/>
            <a:ext cx="2511552" cy="1993392"/>
          </a:xfrm>
          <a:prstGeom prst="roundRect">
            <a:avLst>
              <a:gd name="adj" fmla="val 3670"/>
            </a:avLst>
          </a:prstGeom>
          <a:solidFill>
            <a:srgbClr val="EFEBFC"/>
          </a:solidFill>
          <a:ln w="12700">
            <a:solidFill>
              <a:srgbClr val="EFEBFC"/>
            </a:solidFill>
            <a:prstDash val="solid"/>
          </a:ln>
        </p:spPr>
      </p:sp>
      <p:sp>
        <p:nvSpPr>
          <p:cNvPr id="17" name="Shape 13"/>
          <p:cNvSpPr/>
          <p:nvPr/>
        </p:nvSpPr>
        <p:spPr>
          <a:xfrm>
            <a:off x="6358128" y="1618488"/>
            <a:ext cx="457200" cy="457200"/>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6477000" y="1737360"/>
            <a:ext cx="219456" cy="219456"/>
          </a:xfrm>
          <a:prstGeom prst="rect">
            <a:avLst/>
          </a:prstGeom>
        </p:spPr>
      </p:pic>
      <p:sp>
        <p:nvSpPr>
          <p:cNvPr id="19" name="Text 14"/>
          <p:cNvSpPr txBox="1"/>
          <p:nvPr/>
        </p:nvSpPr>
        <p:spPr>
          <a:xfrm>
            <a:off x="6358128" y="2194560"/>
            <a:ext cx="2191512"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IChatClient</a:t>
            </a:r>
            <a:endParaRPr lang="en-US" sz="1500" dirty="0"/>
          </a:p>
        </p:txBody>
      </p:sp>
      <p:sp>
        <p:nvSpPr>
          <p:cNvPr id="20" name="Text 15"/>
          <p:cNvSpPr txBox="1"/>
          <p:nvPr/>
        </p:nvSpPr>
        <p:spPr>
          <a:xfrm>
            <a:off x="6358128" y="2606040"/>
            <a:ext cx="2191512"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same abstraction Module 2a handed the agent</a:t>
            </a:r>
            <a:endParaRPr lang="en-US" sz="1200" dirty="0"/>
          </a:p>
        </p:txBody>
      </p:sp>
      <p:sp>
        <p:nvSpPr>
          <p:cNvPr id="21" name="Text 16"/>
          <p:cNvSpPr txBox="1"/>
          <p:nvPr/>
        </p:nvSpPr>
        <p:spPr>
          <a:xfrm>
            <a:off x="457200" y="3730752"/>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Module 2a said IChatClient is the provider boundary. Now the code agrees.</a:t>
            </a:r>
            <a:endParaRPr lang="en-US" sz="1400" dirty="0"/>
          </a:p>
        </p:txBody>
      </p:sp>
      <p:sp>
        <p:nvSpPr>
          <p:cNvPr id="22" name="Text 1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2b — Configuring Model Providers</a:t>
            </a:r>
            <a:endParaRPr lang="en-US" sz="900" dirty="0"/>
          </a:p>
        </p:txBody>
      </p:sp>
      <p:sp>
        <p:nvSpPr>
          <p:cNvPr id="23" name="Text 1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Many providers speak OpenAI's protocol</a:t>
            </a:r>
            <a:endParaRPr lang="en-US" sz="2800" dirty="0"/>
          </a:p>
        </p:txBody>
      </p:sp>
      <p:sp>
        <p:nvSpPr>
          <p:cNvPr id="4" name="Shape 2"/>
          <p:cNvSpPr/>
          <p:nvPr/>
        </p:nvSpPr>
        <p:spPr>
          <a:xfrm>
            <a:off x="457200" y="1417320"/>
            <a:ext cx="2468880" cy="2377440"/>
          </a:xfrm>
          <a:prstGeom prst="roundRect">
            <a:avLst>
              <a:gd name="adj" fmla="val 3077"/>
            </a:avLst>
          </a:prstGeom>
          <a:solidFill>
            <a:srgbClr val="512BD4"/>
          </a:solidFill>
          <a:ln w="12700">
            <a:solidFill>
              <a:srgbClr val="512BD4"/>
            </a:solidFill>
            <a:prstDash val="solid"/>
          </a:ln>
        </p:spPr>
      </p:sp>
      <p:sp>
        <p:nvSpPr>
          <p:cNvPr id="5" name="Shape 3"/>
          <p:cNvSpPr/>
          <p:nvPr/>
        </p:nvSpPr>
        <p:spPr>
          <a:xfrm>
            <a:off x="685800" y="164592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16559" y="1776679"/>
            <a:ext cx="241402" cy="241402"/>
          </a:xfrm>
          <a:prstGeom prst="rect">
            <a:avLst/>
          </a:prstGeom>
        </p:spPr>
      </p:pic>
      <p:sp>
        <p:nvSpPr>
          <p:cNvPr id="7" name="Text 4"/>
          <p:cNvSpPr txBox="1"/>
          <p:nvPr/>
        </p:nvSpPr>
        <p:spPr>
          <a:xfrm>
            <a:off x="685800" y="2286000"/>
            <a:ext cx="2057400" cy="4572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One OpenAIClient</a:t>
            </a:r>
            <a:endParaRPr lang="en-US" sz="1800" dirty="0"/>
          </a:p>
        </p:txBody>
      </p:sp>
      <p:sp>
        <p:nvSpPr>
          <p:cNvPr id="8" name="Text 5"/>
          <p:cNvSpPr txBox="1"/>
          <p:nvPr/>
        </p:nvSpPr>
        <p:spPr>
          <a:xfrm>
            <a:off x="685800" y="2743200"/>
            <a:ext cx="2057400" cy="9601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One client class covers all three. Only the base URL, the key and the model name differ.</a:t>
            </a:r>
            <a:endParaRPr lang="en-US" sz="1300" dirty="0"/>
          </a:p>
        </p:txBody>
      </p:sp>
      <p:sp>
        <p:nvSpPr>
          <p:cNvPr id="9" name="Shape 6"/>
          <p:cNvSpPr/>
          <p:nvPr/>
        </p:nvSpPr>
        <p:spPr>
          <a:xfrm>
            <a:off x="2926080" y="1752600"/>
            <a:ext cx="502920" cy="0"/>
          </a:xfrm>
          <a:prstGeom prst="line">
            <a:avLst/>
          </a:prstGeom>
          <a:noFill/>
          <a:ln w="25400">
            <a:solidFill>
              <a:srgbClr val="F5A623"/>
            </a:solidFill>
            <a:prstDash val="solid"/>
          </a:ln>
        </p:spPr>
      </p:sp>
      <p:sp>
        <p:nvSpPr>
          <p:cNvPr id="10" name="Shape 7"/>
          <p:cNvSpPr/>
          <p:nvPr/>
        </p:nvSpPr>
        <p:spPr>
          <a:xfrm>
            <a:off x="3429000" y="1417320"/>
            <a:ext cx="5257800" cy="670560"/>
          </a:xfrm>
          <a:prstGeom prst="roundRect">
            <a:avLst>
              <a:gd name="adj" fmla="val 10909"/>
            </a:avLst>
          </a:prstGeom>
          <a:solidFill>
            <a:srgbClr val="EFEBFC"/>
          </a:solidFill>
          <a:ln w="12700">
            <a:solidFill>
              <a:srgbClr val="EFEBFC"/>
            </a:solidFill>
            <a:prstDash val="solid"/>
          </a:ln>
        </p:spPr>
      </p:sp>
      <p:sp>
        <p:nvSpPr>
          <p:cNvPr id="11" name="Shape 8"/>
          <p:cNvSpPr/>
          <p:nvPr/>
        </p:nvSpPr>
        <p:spPr>
          <a:xfrm>
            <a:off x="3593592" y="1560576"/>
            <a:ext cx="384048" cy="384048"/>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93444" y="1660428"/>
            <a:ext cx="184343" cy="184343"/>
          </a:xfrm>
          <a:prstGeom prst="rect">
            <a:avLst/>
          </a:prstGeom>
        </p:spPr>
      </p:pic>
      <p:sp>
        <p:nvSpPr>
          <p:cNvPr id="13" name="Text 9"/>
          <p:cNvSpPr txBox="1"/>
          <p:nvPr/>
        </p:nvSpPr>
        <p:spPr>
          <a:xfrm>
            <a:off x="4142232" y="150876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OpenAI</a:t>
            </a:r>
            <a:endParaRPr lang="en-US" sz="1500" dirty="0"/>
          </a:p>
        </p:txBody>
      </p:sp>
      <p:sp>
        <p:nvSpPr>
          <p:cNvPr id="14" name="Text 10"/>
          <p:cNvSpPr txBox="1"/>
          <p:nvPr/>
        </p:nvSpPr>
        <p:spPr>
          <a:xfrm>
            <a:off x="5577840" y="150876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No endpoint needed: the SDK's default</a:t>
            </a:r>
            <a:endParaRPr lang="en-US" sz="1200" dirty="0"/>
          </a:p>
        </p:txBody>
      </p:sp>
      <p:sp>
        <p:nvSpPr>
          <p:cNvPr id="15" name="Shape 11"/>
          <p:cNvSpPr/>
          <p:nvPr/>
        </p:nvSpPr>
        <p:spPr>
          <a:xfrm>
            <a:off x="2926080" y="2606040"/>
            <a:ext cx="502920" cy="0"/>
          </a:xfrm>
          <a:prstGeom prst="line">
            <a:avLst/>
          </a:prstGeom>
          <a:noFill/>
          <a:ln w="25400">
            <a:solidFill>
              <a:srgbClr val="F5A623"/>
            </a:solidFill>
            <a:prstDash val="solid"/>
          </a:ln>
        </p:spPr>
      </p:sp>
      <p:sp>
        <p:nvSpPr>
          <p:cNvPr id="16" name="Shape 12"/>
          <p:cNvSpPr/>
          <p:nvPr/>
        </p:nvSpPr>
        <p:spPr>
          <a:xfrm>
            <a:off x="3429000" y="2270760"/>
            <a:ext cx="5257800" cy="670560"/>
          </a:xfrm>
          <a:prstGeom prst="roundRect">
            <a:avLst>
              <a:gd name="adj" fmla="val 10909"/>
            </a:avLst>
          </a:prstGeom>
          <a:solidFill>
            <a:srgbClr val="EFEBFC"/>
          </a:solidFill>
          <a:ln w="12700">
            <a:solidFill>
              <a:srgbClr val="EFEBFC"/>
            </a:solidFill>
            <a:prstDash val="solid"/>
          </a:ln>
        </p:spPr>
      </p:sp>
      <p:sp>
        <p:nvSpPr>
          <p:cNvPr id="17" name="Shape 13"/>
          <p:cNvSpPr/>
          <p:nvPr/>
        </p:nvSpPr>
        <p:spPr>
          <a:xfrm>
            <a:off x="3593592" y="2414016"/>
            <a:ext cx="384048" cy="384048"/>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3693444" y="2513868"/>
            <a:ext cx="184343" cy="184343"/>
          </a:xfrm>
          <a:prstGeom prst="rect">
            <a:avLst/>
          </a:prstGeom>
        </p:spPr>
      </p:pic>
      <p:sp>
        <p:nvSpPr>
          <p:cNvPr id="19" name="Text 14"/>
          <p:cNvSpPr txBox="1"/>
          <p:nvPr/>
        </p:nvSpPr>
        <p:spPr>
          <a:xfrm>
            <a:off x="4142232" y="236220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Azure OpenAI</a:t>
            </a:r>
            <a:endParaRPr lang="en-US" sz="1500" dirty="0"/>
          </a:p>
        </p:txBody>
      </p:sp>
      <p:sp>
        <p:nvSpPr>
          <p:cNvPr id="20" name="Text 15"/>
          <p:cNvSpPr txBox="1"/>
          <p:nvPr/>
        </p:nvSpPr>
        <p:spPr>
          <a:xfrm>
            <a:off x="5577840" y="236220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Your resource address + /openai/v1/</a:t>
            </a:r>
            <a:endParaRPr lang="en-US" sz="1200" dirty="0"/>
          </a:p>
        </p:txBody>
      </p:sp>
      <p:sp>
        <p:nvSpPr>
          <p:cNvPr id="21" name="Shape 16"/>
          <p:cNvSpPr/>
          <p:nvPr/>
        </p:nvSpPr>
        <p:spPr>
          <a:xfrm>
            <a:off x="2926080" y="3459480"/>
            <a:ext cx="502920" cy="0"/>
          </a:xfrm>
          <a:prstGeom prst="line">
            <a:avLst/>
          </a:prstGeom>
          <a:noFill/>
          <a:ln w="25400">
            <a:solidFill>
              <a:srgbClr val="F5A623"/>
            </a:solidFill>
            <a:prstDash val="solid"/>
          </a:ln>
        </p:spPr>
      </p:sp>
      <p:sp>
        <p:nvSpPr>
          <p:cNvPr id="22" name="Shape 17"/>
          <p:cNvSpPr/>
          <p:nvPr/>
        </p:nvSpPr>
        <p:spPr>
          <a:xfrm>
            <a:off x="3429000" y="3124200"/>
            <a:ext cx="5257800" cy="670560"/>
          </a:xfrm>
          <a:prstGeom prst="roundRect">
            <a:avLst>
              <a:gd name="adj" fmla="val 10909"/>
            </a:avLst>
          </a:prstGeom>
          <a:solidFill>
            <a:srgbClr val="EFEBFC"/>
          </a:solidFill>
          <a:ln w="12700">
            <a:solidFill>
              <a:srgbClr val="EFEBFC"/>
            </a:solidFill>
            <a:prstDash val="solid"/>
          </a:ln>
        </p:spPr>
      </p:sp>
      <p:sp>
        <p:nvSpPr>
          <p:cNvPr id="23" name="Shape 18"/>
          <p:cNvSpPr/>
          <p:nvPr/>
        </p:nvSpPr>
        <p:spPr>
          <a:xfrm>
            <a:off x="3593592" y="3267456"/>
            <a:ext cx="384048" cy="384048"/>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3693444" y="3367308"/>
            <a:ext cx="184343" cy="184343"/>
          </a:xfrm>
          <a:prstGeom prst="rect">
            <a:avLst/>
          </a:prstGeom>
        </p:spPr>
      </p:pic>
      <p:sp>
        <p:nvSpPr>
          <p:cNvPr id="25" name="Text 19"/>
          <p:cNvSpPr txBox="1"/>
          <p:nvPr/>
        </p:nvSpPr>
        <p:spPr>
          <a:xfrm>
            <a:off x="4142232" y="321564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Gemini</a:t>
            </a:r>
            <a:endParaRPr lang="en-US" sz="1500" dirty="0"/>
          </a:p>
        </p:txBody>
      </p:sp>
      <p:sp>
        <p:nvSpPr>
          <p:cNvPr id="26" name="Text 20"/>
          <p:cNvSpPr txBox="1"/>
          <p:nvPr/>
        </p:nvSpPr>
        <p:spPr>
          <a:xfrm>
            <a:off x="5577840" y="321564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generativelanguage.googleapis.com /v1beta/openai/</a:t>
            </a:r>
            <a:endParaRPr lang="en-US" sz="1200" dirty="0"/>
          </a:p>
        </p:txBody>
      </p:sp>
      <p:sp>
        <p:nvSpPr>
          <p:cNvPr id="27" name="Text 21"/>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OpenAIClientOptions carries the address. Everything else is the same client.</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2b — Configuring Model Providers</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A run-time switch</a:t>
            </a:r>
            <a:endParaRPr lang="en-US" sz="2800" dirty="0"/>
          </a:p>
        </p:txBody>
      </p:sp>
      <p:sp>
        <p:nvSpPr>
          <p:cNvPr id="4" name="Shape 2"/>
          <p:cNvSpPr/>
          <p:nvPr/>
        </p:nvSpPr>
        <p:spPr>
          <a:xfrm>
            <a:off x="457200" y="1371600"/>
            <a:ext cx="2560320" cy="1737360"/>
          </a:xfrm>
          <a:prstGeom prst="roundRect">
            <a:avLst>
              <a:gd name="adj" fmla="val 4211"/>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73736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Unset</a:t>
            </a:r>
            <a:endParaRPr lang="en-US" sz="1500" dirty="0"/>
          </a:p>
        </p:txBody>
      </p:sp>
      <p:sp>
        <p:nvSpPr>
          <p:cNvPr id="8" name="Text 5"/>
          <p:cNvSpPr txBox="1"/>
          <p:nvPr/>
        </p:nvSpPr>
        <p:spPr>
          <a:xfrm>
            <a:off x="640080" y="2057400"/>
            <a:ext cx="2194560" cy="9601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Behaves exactly like Module 2a: OpenAI</a:t>
            </a:r>
            <a:endParaRPr lang="en-US" sz="1200" dirty="0"/>
          </a:p>
        </p:txBody>
      </p:sp>
      <p:sp>
        <p:nvSpPr>
          <p:cNvPr id="9" name="Shape 6"/>
          <p:cNvSpPr/>
          <p:nvPr/>
        </p:nvSpPr>
        <p:spPr>
          <a:xfrm>
            <a:off x="3291840" y="1371600"/>
            <a:ext cx="2560320" cy="1737360"/>
          </a:xfrm>
          <a:prstGeom prst="roundRect">
            <a:avLst>
              <a:gd name="adj" fmla="val 4211"/>
            </a:avLst>
          </a:prstGeom>
          <a:solidFill>
            <a:srgbClr val="512BD4"/>
          </a:solidFill>
          <a:ln w="12700">
            <a:solidFill>
              <a:srgbClr val="512BD4"/>
            </a:solidFill>
            <a:prstDash val="solid"/>
          </a:ln>
        </p:spPr>
      </p:sp>
      <p:sp>
        <p:nvSpPr>
          <p:cNvPr id="10" name="Shape 7"/>
          <p:cNvSpPr/>
          <p:nvPr/>
        </p:nvSpPr>
        <p:spPr>
          <a:xfrm>
            <a:off x="3474720" y="1554480"/>
            <a:ext cx="384048" cy="384048"/>
          </a:xfrm>
          <a:prstGeom prst="ellipse">
            <a:avLst/>
          </a:prstGeom>
          <a:solidFill>
            <a:srgbClr val="FFFFFF"/>
          </a:solidFill>
          <a:ln w="12700">
            <a:solidFill>
              <a:srgbClr val="FFFFFF"/>
            </a:solidFill>
            <a:prstDash val="solid"/>
          </a:ln>
        </p:spPr>
      </p:sp>
      <p:pic>
        <p:nvPicPr>
          <p:cNvPr id="11" name="Image 1" descr="preencoded.png">    </p:cNvPr>
          <p:cNvPicPr>
            <a:picLocks noChangeAspect="1"/>
          </p:cNvPicPr>
          <p:nvPr/>
        </p:nvPicPr>
        <p:blipFill>
          <a:blip r:embed="rId2"/>
          <a:stretch>
            <a:fillRect/>
          </a:stretch>
        </p:blipFill>
        <p:spPr>
          <a:xfrm>
            <a:off x="3574572" y="1654332"/>
            <a:ext cx="184343" cy="184343"/>
          </a:xfrm>
          <a:prstGeom prst="rect">
            <a:avLst/>
          </a:prstGeom>
        </p:spPr>
      </p:pic>
      <p:sp>
        <p:nvSpPr>
          <p:cNvPr id="12" name="Text 8"/>
          <p:cNvSpPr txBox="1"/>
          <p:nvPr/>
        </p:nvSpPr>
        <p:spPr>
          <a:xfrm>
            <a:off x="3977640" y="1554480"/>
            <a:ext cx="1737360" cy="384048"/>
          </a:xfrm>
          <a:prstGeom prst="rect">
            <a:avLst/>
          </a:prstGeom>
          <a:noFill/>
          <a:ln/>
        </p:spPr>
        <p:txBody>
          <a:bodyPr wrap="square" lIns="0" tIns="0" rIns="0" bIns="0" rtlCol="0" anchor="ctr">
            <a:normAutofit/>
          </a:bodyPr>
          <a:lstStyle/>
          <a:p>
            <a:pPr indent="0" marL="0">
              <a:buNone/>
            </a:pPr>
            <a:r>
              <a:rPr lang="en-US" sz="1100" b="1" dirty="0">
                <a:solidFill>
                  <a:srgbClr val="FFFFFF"/>
                </a:solidFill>
                <a:latin typeface="Calibri" pitchFamily="34" charset="0"/>
                <a:ea typeface="Calibri" pitchFamily="34" charset="-122"/>
                <a:cs typeface="Calibri" pitchFamily="34" charset="-120"/>
              </a:rPr>
              <a:t>OPENAI · AZURE · GEMINI</a:t>
            </a:r>
            <a:endParaRPr lang="en-US" sz="1100" dirty="0"/>
          </a:p>
        </p:txBody>
      </p:sp>
      <p:sp>
        <p:nvSpPr>
          <p:cNvPr id="13" name="Text 9"/>
          <p:cNvSpPr txBox="1"/>
          <p:nvPr/>
        </p:nvSpPr>
        <p:spPr>
          <a:xfrm>
            <a:off x="3474720" y="2057400"/>
            <a:ext cx="2194560" cy="96012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Picks that provider. Case does not matter.</a:t>
            </a:r>
            <a:endParaRPr lang="en-US" sz="1200" dirty="0"/>
          </a:p>
        </p:txBody>
      </p:sp>
      <p:sp>
        <p:nvSpPr>
          <p:cNvPr id="14" name="Shape 10"/>
          <p:cNvSpPr/>
          <p:nvPr/>
        </p:nvSpPr>
        <p:spPr>
          <a:xfrm>
            <a:off x="6126480" y="1371600"/>
            <a:ext cx="2560320" cy="1737360"/>
          </a:xfrm>
          <a:prstGeom prst="roundRect">
            <a:avLst>
              <a:gd name="adj" fmla="val 4211"/>
            </a:avLst>
          </a:prstGeom>
          <a:solidFill>
            <a:srgbClr val="EFEBFC"/>
          </a:solidFill>
          <a:ln w="12700">
            <a:solidFill>
              <a:srgbClr val="EFEBFC"/>
            </a:solidFill>
            <a:prstDash val="solid"/>
          </a:ln>
        </p:spPr>
      </p:sp>
      <p:sp>
        <p:nvSpPr>
          <p:cNvPr id="15" name="Shape 11"/>
          <p:cNvSpPr/>
          <p:nvPr/>
        </p:nvSpPr>
        <p:spPr>
          <a:xfrm>
            <a:off x="6309360" y="155448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6409212" y="1654332"/>
            <a:ext cx="184343" cy="184343"/>
          </a:xfrm>
          <a:prstGeom prst="rect">
            <a:avLst/>
          </a:prstGeom>
        </p:spPr>
      </p:pic>
      <p:sp>
        <p:nvSpPr>
          <p:cNvPr id="17" name="Text 12"/>
          <p:cNvSpPr txBox="1"/>
          <p:nvPr/>
        </p:nvSpPr>
        <p:spPr>
          <a:xfrm>
            <a:off x="6812280" y="1554480"/>
            <a:ext cx="173736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Anything else</a:t>
            </a:r>
            <a:endParaRPr lang="en-US" sz="1500" dirty="0"/>
          </a:p>
        </p:txBody>
      </p:sp>
      <p:sp>
        <p:nvSpPr>
          <p:cNvPr id="18" name="Text 13"/>
          <p:cNvSpPr txBox="1"/>
          <p:nvPr/>
        </p:nvSpPr>
        <p:spPr>
          <a:xfrm>
            <a:off x="6309360" y="2057400"/>
            <a:ext cx="2194560" cy="9601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Fails loudly and names the variable. No quiet fallback.</a:t>
            </a:r>
            <a:endParaRPr lang="en-US" sz="1200" dirty="0"/>
          </a:p>
        </p:txBody>
      </p:sp>
      <p:sp>
        <p:nvSpPr>
          <p:cNvPr id="19" name="Text 14"/>
          <p:cNvSpPr txBox="1"/>
          <p:nvPr/>
        </p:nvSpPr>
        <p:spPr>
          <a:xfrm>
            <a:off x="457200" y="333756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One build can talk to any of the three providers.</a:t>
            </a:r>
            <a:endParaRPr lang="en-US" sz="1400" dirty="0"/>
          </a:p>
        </p:txBody>
      </p:sp>
      <p:sp>
        <p:nvSpPr>
          <p:cNvPr id="20"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2b — Configuring Model Providers</a:t>
            </a:r>
            <a:endParaRPr lang="en-US" sz="900" dirty="0"/>
          </a:p>
        </p:txBody>
      </p:sp>
      <p:sp>
        <p:nvSpPr>
          <p:cNvPr id="21"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On Azure, the model is a deployment</a:t>
            </a:r>
            <a:endParaRPr lang="en-US" sz="2800" dirty="0"/>
          </a:p>
        </p:txBody>
      </p:sp>
      <p:sp>
        <p:nvSpPr>
          <p:cNvPr id="4" name="Shape 2"/>
          <p:cNvSpPr/>
          <p:nvPr/>
        </p:nvSpPr>
        <p:spPr>
          <a:xfrm>
            <a:off x="457200" y="1417320"/>
            <a:ext cx="2511552" cy="1993392"/>
          </a:xfrm>
          <a:prstGeom prst="roundRect">
            <a:avLst>
              <a:gd name="adj" fmla="val 3670"/>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2191512"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Azure portal</a:t>
            </a:r>
            <a:endParaRPr lang="en-US" sz="1500" dirty="0"/>
          </a:p>
        </p:txBody>
      </p:sp>
      <p:sp>
        <p:nvSpPr>
          <p:cNvPr id="8" name="Text 5"/>
          <p:cNvSpPr txBox="1"/>
          <p:nvPr/>
        </p:nvSpPr>
        <p:spPr>
          <a:xfrm>
            <a:off x="640080" y="2606040"/>
            <a:ext cx="2191512"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Deploy a model under a name you choose</a:t>
            </a:r>
            <a:endParaRPr lang="en-US" sz="1200" dirty="0"/>
          </a:p>
        </p:txBody>
      </p:sp>
      <p:sp>
        <p:nvSpPr>
          <p:cNvPr id="9" name="Shape 6"/>
          <p:cNvSpPr/>
          <p:nvPr/>
        </p:nvSpPr>
        <p:spPr>
          <a:xfrm>
            <a:off x="3032760" y="2304288"/>
            <a:ext cx="219456" cy="219456"/>
          </a:xfrm>
          <a:prstGeom prst="rightArrow">
            <a:avLst/>
          </a:prstGeom>
          <a:solidFill>
            <a:srgbClr val="F5A623"/>
          </a:solidFill>
          <a:ln w="12700">
            <a:solidFill>
              <a:srgbClr val="F5A623"/>
            </a:solidFill>
            <a:prstDash val="solid"/>
          </a:ln>
        </p:spPr>
      </p:sp>
      <p:sp>
        <p:nvSpPr>
          <p:cNvPr id="10" name="Shape 7"/>
          <p:cNvSpPr/>
          <p:nvPr/>
        </p:nvSpPr>
        <p:spPr>
          <a:xfrm>
            <a:off x="3316224" y="1417320"/>
            <a:ext cx="2511552" cy="1993392"/>
          </a:xfrm>
          <a:prstGeom prst="roundRect">
            <a:avLst>
              <a:gd name="adj" fmla="val 3670"/>
            </a:avLst>
          </a:prstGeom>
          <a:solidFill>
            <a:srgbClr val="EFEBFC"/>
          </a:solidFill>
          <a:ln w="12700">
            <a:solidFill>
              <a:srgbClr val="EFEBFC"/>
            </a:solidFill>
            <a:prstDash val="solid"/>
          </a:ln>
        </p:spPr>
      </p:sp>
      <p:sp>
        <p:nvSpPr>
          <p:cNvPr id="11" name="Shape 8"/>
          <p:cNvSpPr/>
          <p:nvPr/>
        </p:nvSpPr>
        <p:spPr>
          <a:xfrm>
            <a:off x="3499104"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17976" y="1737360"/>
            <a:ext cx="219456" cy="219456"/>
          </a:xfrm>
          <a:prstGeom prst="rect">
            <a:avLst/>
          </a:prstGeom>
        </p:spPr>
      </p:pic>
      <p:sp>
        <p:nvSpPr>
          <p:cNvPr id="13" name="Text 9"/>
          <p:cNvSpPr txBox="1"/>
          <p:nvPr/>
        </p:nvSpPr>
        <p:spPr>
          <a:xfrm>
            <a:off x="3499104" y="2194560"/>
            <a:ext cx="2191512"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Deployment name</a:t>
            </a:r>
            <a:endParaRPr lang="en-US" sz="1500" dirty="0"/>
          </a:p>
        </p:txBody>
      </p:sp>
      <p:sp>
        <p:nvSpPr>
          <p:cNvPr id="14" name="Text 10"/>
          <p:cNvSpPr txBox="1"/>
          <p:nvPr/>
        </p:nvSpPr>
        <p:spPr>
          <a:xfrm>
            <a:off x="3499104" y="2606040"/>
            <a:ext cx="2191512"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Requests address that name, not the model</a:t>
            </a:r>
            <a:endParaRPr lang="en-US" sz="1200" dirty="0"/>
          </a:p>
        </p:txBody>
      </p:sp>
      <p:sp>
        <p:nvSpPr>
          <p:cNvPr id="15" name="Shape 11"/>
          <p:cNvSpPr/>
          <p:nvPr/>
        </p:nvSpPr>
        <p:spPr>
          <a:xfrm>
            <a:off x="5891784" y="2304288"/>
            <a:ext cx="219456" cy="219456"/>
          </a:xfrm>
          <a:prstGeom prst="rightArrow">
            <a:avLst/>
          </a:prstGeom>
          <a:solidFill>
            <a:srgbClr val="F5A623"/>
          </a:solidFill>
          <a:ln w="12700">
            <a:solidFill>
              <a:srgbClr val="F5A623"/>
            </a:solidFill>
            <a:prstDash val="solid"/>
          </a:ln>
        </p:spPr>
      </p:sp>
      <p:sp>
        <p:nvSpPr>
          <p:cNvPr id="16" name="Shape 12"/>
          <p:cNvSpPr/>
          <p:nvPr/>
        </p:nvSpPr>
        <p:spPr>
          <a:xfrm>
            <a:off x="6175248" y="1417320"/>
            <a:ext cx="2511552" cy="1993392"/>
          </a:xfrm>
          <a:prstGeom prst="roundRect">
            <a:avLst>
              <a:gd name="adj" fmla="val 3670"/>
            </a:avLst>
          </a:prstGeom>
          <a:solidFill>
            <a:srgbClr val="512BD4"/>
          </a:solidFill>
          <a:ln w="12700">
            <a:solidFill>
              <a:srgbClr val="512BD4"/>
            </a:solidFill>
            <a:prstDash val="solid"/>
          </a:ln>
        </p:spPr>
      </p:sp>
      <p:sp>
        <p:nvSpPr>
          <p:cNvPr id="17" name="Shape 13"/>
          <p:cNvSpPr/>
          <p:nvPr/>
        </p:nvSpPr>
        <p:spPr>
          <a:xfrm>
            <a:off x="6358128" y="1618488"/>
            <a:ext cx="457200" cy="457200"/>
          </a:xfrm>
          <a:prstGeom prst="ellipse">
            <a:avLst/>
          </a:prstGeom>
          <a:solidFill>
            <a:srgbClr val="FFFFFF"/>
          </a:solidFill>
          <a:ln w="12700">
            <a:solidFill>
              <a:srgbClr val="FFFFFF"/>
            </a:solidFill>
            <a:prstDash val="solid"/>
          </a:ln>
        </p:spPr>
      </p:sp>
      <p:pic>
        <p:nvPicPr>
          <p:cNvPr id="18" name="Image 2" descr="preencoded.png">    </p:cNvPr>
          <p:cNvPicPr>
            <a:picLocks noChangeAspect="1"/>
          </p:cNvPicPr>
          <p:nvPr/>
        </p:nvPicPr>
        <p:blipFill>
          <a:blip r:embed="rId3"/>
          <a:stretch>
            <a:fillRect/>
          </a:stretch>
        </p:blipFill>
        <p:spPr>
          <a:xfrm>
            <a:off x="6477000" y="1737360"/>
            <a:ext cx="219456" cy="219456"/>
          </a:xfrm>
          <a:prstGeom prst="rect">
            <a:avLst/>
          </a:prstGeom>
        </p:spPr>
      </p:pic>
      <p:sp>
        <p:nvSpPr>
          <p:cNvPr id="19" name="Text 14"/>
          <p:cNvSpPr txBox="1"/>
          <p:nvPr/>
        </p:nvSpPr>
        <p:spPr>
          <a:xfrm>
            <a:off x="6358128" y="2194560"/>
            <a:ext cx="2191512" cy="41148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modelId</a:t>
            </a:r>
            <a:endParaRPr lang="en-US" sz="1500" dirty="0"/>
          </a:p>
        </p:txBody>
      </p:sp>
      <p:sp>
        <p:nvSpPr>
          <p:cNvPr id="20" name="Text 15"/>
          <p:cNvSpPr txBox="1"/>
          <p:nvPr/>
        </p:nvSpPr>
        <p:spPr>
          <a:xfrm>
            <a:off x="6358128" y="2606040"/>
            <a:ext cx="2191512" cy="71323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With MINI_CODE_LLM=AZURE, gpt-4.1-mini is the deployment name</a:t>
            </a:r>
            <a:endParaRPr lang="en-US" sz="1200" dirty="0"/>
          </a:p>
        </p:txBody>
      </p:sp>
      <p:sp>
        <p:nvSpPr>
          <p:cNvPr id="21" name="Text 16"/>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2b — Configuring Model Providers</a:t>
            </a:r>
            <a:endParaRPr lang="en-US" sz="900" dirty="0"/>
          </a:p>
        </p:txBody>
      </p:sp>
      <p:sp>
        <p:nvSpPr>
          <p:cNvPr id="22" name="Text 17"/>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Exactly one type reads the environment</a:t>
            </a:r>
            <a:endParaRPr lang="en-US" sz="2800" dirty="0"/>
          </a:p>
        </p:txBody>
      </p:sp>
      <p:sp>
        <p:nvSpPr>
          <p:cNvPr id="4" name="Shape 2"/>
          <p:cNvSpPr/>
          <p:nvPr/>
        </p:nvSpPr>
        <p:spPr>
          <a:xfrm>
            <a:off x="457200" y="1371600"/>
            <a:ext cx="3931920" cy="1828800"/>
          </a:xfrm>
          <a:prstGeom prst="roundRect">
            <a:avLst>
              <a:gd name="adj" fmla="val 4000"/>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6B7280"/>
          </a:solidFill>
          <a:ln w="12700">
            <a:solidFill>
              <a:srgbClr val="6B7280"/>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Before: Module 2a</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Program.cs reads OPENAI_API_KEY inline</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Program.cs holds the model name</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Program.cs names OpenAI</a:t>
            </a:r>
            <a:endParaRPr lang="en-US" sz="1300" dirty="0"/>
          </a:p>
        </p:txBody>
      </p:sp>
      <p:sp>
        <p:nvSpPr>
          <p:cNvPr id="9" name="Shape 6"/>
          <p:cNvSpPr/>
          <p:nvPr/>
        </p:nvSpPr>
        <p:spPr>
          <a:xfrm>
            <a:off x="4754880" y="1371600"/>
            <a:ext cx="3931920" cy="1828800"/>
          </a:xfrm>
          <a:prstGeom prst="roundRect">
            <a:avLst>
              <a:gd name="adj" fmla="val 4000"/>
            </a:avLst>
          </a:prstGeom>
          <a:solidFill>
            <a:srgbClr val="EFEBFC"/>
          </a:solidFill>
          <a:ln w="12700">
            <a:solidFill>
              <a:srgbClr val="EFEBFC"/>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After: Module 2b</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ChatClientFactory reads every setting</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Program.cs reads nothing at all</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Program.cs just gets an IChatClient</a:t>
            </a:r>
            <a:endParaRPr lang="en-US" sz="1300" dirty="0"/>
          </a:p>
        </p:txBody>
      </p:sp>
      <p:sp>
        <p:nvSpPr>
          <p:cNvPr id="14" name="Text 10"/>
          <p:cNvSpPr txBox="1"/>
          <p:nvPr/>
        </p:nvSpPr>
        <p:spPr>
          <a:xfrm>
            <a:off x="457200" y="347472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Every setting a provider needs later joins the factory, not some other file.</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2b — Configuring Model Providers</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EXERCISE</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Add a fourth provider: Ollama</a:t>
            </a:r>
            <a:endParaRPr lang="en-US" sz="2800" dirty="0"/>
          </a:p>
        </p:txBody>
      </p:sp>
      <p:sp>
        <p:nvSpPr>
          <p:cNvPr id="4" name="Shape 2"/>
          <p:cNvSpPr/>
          <p:nvPr/>
        </p:nvSpPr>
        <p:spPr>
          <a:xfrm>
            <a:off x="457200" y="1371600"/>
            <a:ext cx="3108960" cy="3017520"/>
          </a:xfrm>
          <a:prstGeom prst="roundRect">
            <a:avLst>
              <a:gd name="adj" fmla="val 2424"/>
            </a:avLst>
          </a:prstGeom>
          <a:solidFill>
            <a:srgbClr val="512BD4"/>
          </a:solidFill>
          <a:ln w="12700">
            <a:solidFill>
              <a:srgbClr val="512BD4"/>
            </a:solidFill>
            <a:prstDash val="solid"/>
          </a:ln>
        </p:spPr>
      </p:sp>
      <p:sp>
        <p:nvSpPr>
          <p:cNvPr id="5" name="Shape 3"/>
          <p:cNvSpPr/>
          <p:nvPr/>
        </p:nvSpPr>
        <p:spPr>
          <a:xfrm>
            <a:off x="685800" y="1600200"/>
            <a:ext cx="457200" cy="45720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04672" y="1719072"/>
            <a:ext cx="219456" cy="219456"/>
          </a:xfrm>
          <a:prstGeom prst="rect">
            <a:avLst/>
          </a:prstGeom>
        </p:spPr>
      </p:pic>
      <p:sp>
        <p:nvSpPr>
          <p:cNvPr id="7" name="Text 4"/>
          <p:cNvSpPr txBox="1"/>
          <p:nvPr/>
        </p:nvSpPr>
        <p:spPr>
          <a:xfrm>
            <a:off x="685800" y="2194560"/>
            <a:ext cx="2651760" cy="137160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MINI_CODE_LLM=OLLAMA talks to a local model through Ollama's OpenAI-compatible endpoint at http://localhost:11434/v1/.</a:t>
            </a:r>
            <a:endParaRPr lang="en-US" sz="1400" dirty="0"/>
          </a:p>
        </p:txBody>
      </p:sp>
      <p:sp>
        <p:nvSpPr>
          <p:cNvPr id="8" name="Text 5"/>
          <p:cNvSpPr txBox="1"/>
          <p:nvPr/>
        </p:nvSpPr>
        <p:spPr>
          <a:xfrm>
            <a:off x="685800" y="3611880"/>
            <a:ext cx="2743200" cy="640080"/>
          </a:xfrm>
          <a:prstGeom prst="rect">
            <a:avLst/>
          </a:prstGeom>
          <a:noFill/>
          <a:ln/>
        </p:spPr>
        <p:txBody>
          <a:bodyPr wrap="square" lIns="0" tIns="0" rIns="0" bIns="0" rtlCol="0" anchor="b"/>
          <a:lstStyle/>
          <a:p>
            <a:pPr indent="0" marL="0">
              <a:buNone/>
            </a:pPr>
            <a:r>
              <a:rPr lang="en-US" sz="900" dirty="0">
                <a:solidFill>
                  <a:srgbClr val="B8B2E6"/>
                </a:solidFill>
                <a:latin typeface="Courier New" pitchFamily="34" charset="0"/>
                <a:ea typeface="Courier New" pitchFamily="34" charset="-122"/>
                <a:cs typeface="Courier New" pitchFamily="34" charset="-120"/>
              </a:rPr>
              <a:t>src/MiniCode.Cli/ChatClientFactory.cs</a:t>
            </a:r>
            <a:endParaRPr lang="en-US" sz="900" dirty="0"/>
          </a:p>
        </p:txBody>
      </p:sp>
      <p:sp>
        <p:nvSpPr>
          <p:cNvPr id="9" name="Text 6"/>
          <p:cNvSpPr txBox="1"/>
          <p:nvPr/>
        </p:nvSpPr>
        <p:spPr>
          <a:xfrm>
            <a:off x="3931920" y="1371600"/>
            <a:ext cx="4754880" cy="320040"/>
          </a:xfrm>
          <a:prstGeom prst="rect">
            <a:avLst/>
          </a:prstGeom>
          <a:noFill/>
          <a:ln/>
        </p:spPr>
        <p:txBody>
          <a:bodyPr wrap="square" lIns="0" tIns="0" rIns="0" bIns="0" rtlCol="0" anchor="t"/>
          <a:lstStyle/>
          <a:p>
            <a:pPr indent="0" marL="0">
              <a:buNone/>
            </a:pPr>
            <a:r>
              <a:rPr lang="en-US" sz="1600" b="1" dirty="0">
                <a:solidFill>
                  <a:srgbClr val="1F2937"/>
                </a:solidFill>
                <a:latin typeface="Cambria" pitchFamily="34" charset="0"/>
                <a:ea typeface="Cambria" pitchFamily="34" charset="-122"/>
                <a:cs typeface="Cambria" pitchFamily="34" charset="-120"/>
              </a:rPr>
              <a:t>Done when</a:t>
            </a:r>
            <a:endParaRPr lang="en-US" sz="1600" dirty="0"/>
          </a:p>
        </p:txBody>
      </p:sp>
      <p:sp>
        <p:nvSpPr>
          <p:cNvPr id="10" name="Shape 7"/>
          <p:cNvSpPr/>
          <p:nvPr/>
        </p:nvSpPr>
        <p:spPr>
          <a:xfrm>
            <a:off x="3931920" y="1801368"/>
            <a:ext cx="292608" cy="292608"/>
          </a:xfrm>
          <a:prstGeom prst="ellipse">
            <a:avLst/>
          </a:prstGeom>
          <a:solidFill>
            <a:srgbClr val="F5A623"/>
          </a:solidFill>
          <a:ln w="12700">
            <a:solidFill>
              <a:srgbClr val="F5A623"/>
            </a:solidFill>
            <a:prstDash val="solid"/>
          </a:ln>
        </p:spPr>
      </p:sp>
      <p:pic>
        <p:nvPicPr>
          <p:cNvPr id="11" name="Image 1" descr="preencoded.png">    </p:cNvPr>
          <p:cNvPicPr>
            <a:picLocks noChangeAspect="1"/>
          </p:cNvPicPr>
          <p:nvPr/>
        </p:nvPicPr>
        <p:blipFill>
          <a:blip r:embed="rId2"/>
          <a:stretch>
            <a:fillRect/>
          </a:stretch>
        </p:blipFill>
        <p:spPr>
          <a:xfrm>
            <a:off x="4007998" y="1877446"/>
            <a:ext cx="140452" cy="140452"/>
          </a:xfrm>
          <a:prstGeom prst="rect">
            <a:avLst/>
          </a:prstGeom>
        </p:spPr>
      </p:pic>
      <p:sp>
        <p:nvSpPr>
          <p:cNvPr id="12" name="Text 8"/>
          <p:cNvSpPr txBox="1"/>
          <p:nvPr/>
        </p:nvSpPr>
        <p:spPr>
          <a:xfrm>
            <a:off x="4361688" y="178308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OLLAMA selects it. With the variable unset, MiniCode still talks to OpenAI</a:t>
            </a:r>
            <a:endParaRPr lang="en-US" sz="1300" dirty="0"/>
          </a:p>
        </p:txBody>
      </p:sp>
      <p:sp>
        <p:nvSpPr>
          <p:cNvPr id="13" name="Shape 9"/>
          <p:cNvSpPr/>
          <p:nvPr/>
        </p:nvSpPr>
        <p:spPr>
          <a:xfrm>
            <a:off x="3931920" y="2441448"/>
            <a:ext cx="292608" cy="292608"/>
          </a:xfrm>
          <a:prstGeom prst="ellipse">
            <a:avLst/>
          </a:prstGeom>
          <a:solidFill>
            <a:srgbClr val="F5A623"/>
          </a:solidFill>
          <a:ln w="12700">
            <a:solidFill>
              <a:srgbClr val="F5A623"/>
            </a:solidFill>
            <a:prstDash val="solid"/>
          </a:ln>
        </p:spPr>
      </p:sp>
      <p:pic>
        <p:nvPicPr>
          <p:cNvPr id="14" name="Image 2" descr="preencoded.png">    </p:cNvPr>
          <p:cNvPicPr>
            <a:picLocks noChangeAspect="1"/>
          </p:cNvPicPr>
          <p:nvPr/>
        </p:nvPicPr>
        <p:blipFill>
          <a:blip r:embed="rId3"/>
          <a:stretch>
            <a:fillRect/>
          </a:stretch>
        </p:blipFill>
        <p:spPr>
          <a:xfrm>
            <a:off x="4007998" y="2517526"/>
            <a:ext cx="140452" cy="140452"/>
          </a:xfrm>
          <a:prstGeom prst="rect">
            <a:avLst/>
          </a:prstGeom>
        </p:spPr>
      </p:pic>
      <p:sp>
        <p:nvSpPr>
          <p:cNvPr id="15" name="Text 10"/>
          <p:cNvSpPr txBox="1"/>
          <p:nvPr/>
        </p:nvSpPr>
        <p:spPr>
          <a:xfrm>
            <a:off x="4361688" y="242316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With a model pulled, the two-turn conversation works and the second answer remembers the first</a:t>
            </a:r>
            <a:endParaRPr lang="en-US" sz="1300" dirty="0"/>
          </a:p>
        </p:txBody>
      </p:sp>
      <p:sp>
        <p:nvSpPr>
          <p:cNvPr id="16" name="Shape 11"/>
          <p:cNvSpPr/>
          <p:nvPr/>
        </p:nvSpPr>
        <p:spPr>
          <a:xfrm>
            <a:off x="3931920" y="3081528"/>
            <a:ext cx="292608" cy="292608"/>
          </a:xfrm>
          <a:prstGeom prst="ellipse">
            <a:avLst/>
          </a:prstGeom>
          <a:solidFill>
            <a:srgbClr val="F5A623"/>
          </a:solidFill>
          <a:ln w="12700">
            <a:solidFill>
              <a:srgbClr val="F5A623"/>
            </a:solidFill>
            <a:prstDash val="solid"/>
          </a:ln>
        </p:spPr>
      </p:sp>
      <p:pic>
        <p:nvPicPr>
          <p:cNvPr id="17" name="Image 3" descr="preencoded.png">    </p:cNvPr>
          <p:cNvPicPr>
            <a:picLocks noChangeAspect="1"/>
          </p:cNvPicPr>
          <p:nvPr/>
        </p:nvPicPr>
        <p:blipFill>
          <a:blip r:embed="rId4"/>
          <a:stretch>
            <a:fillRect/>
          </a:stretch>
        </p:blipFill>
        <p:spPr>
          <a:xfrm>
            <a:off x="4007998" y="3157606"/>
            <a:ext cx="140452" cy="140452"/>
          </a:xfrm>
          <a:prstGeom prst="rect">
            <a:avLst/>
          </a:prstGeom>
        </p:spPr>
      </p:pic>
      <p:sp>
        <p:nvSpPr>
          <p:cNvPr id="18" name="Text 12"/>
          <p:cNvSpPr txBox="1"/>
          <p:nvPr/>
        </p:nvSpPr>
        <p:spPr>
          <a:xfrm>
            <a:off x="4361688" y="306324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No key variable, but a non-empty key string, because the SDK refuses an empty one</a:t>
            </a:r>
            <a:endParaRPr lang="en-US" sz="1300" dirty="0"/>
          </a:p>
        </p:txBody>
      </p:sp>
      <p:sp>
        <p:nvSpPr>
          <p:cNvPr id="19" name="Shape 13"/>
          <p:cNvSpPr/>
          <p:nvPr/>
        </p:nvSpPr>
        <p:spPr>
          <a:xfrm>
            <a:off x="3931920" y="3721608"/>
            <a:ext cx="292608" cy="292608"/>
          </a:xfrm>
          <a:prstGeom prst="ellipse">
            <a:avLst/>
          </a:prstGeom>
          <a:solidFill>
            <a:srgbClr val="F5A623"/>
          </a:solidFill>
          <a:ln w="12700">
            <a:solidFill>
              <a:srgbClr val="F5A623"/>
            </a:solidFill>
            <a:prstDash val="solid"/>
          </a:ln>
        </p:spPr>
      </p:sp>
      <p:pic>
        <p:nvPicPr>
          <p:cNvPr id="20" name="Image 4" descr="preencoded.png">    </p:cNvPr>
          <p:cNvPicPr>
            <a:picLocks noChangeAspect="1"/>
          </p:cNvPicPr>
          <p:nvPr/>
        </p:nvPicPr>
        <p:blipFill>
          <a:blip r:embed="rId5"/>
          <a:stretch>
            <a:fillRect/>
          </a:stretch>
        </p:blipFill>
        <p:spPr>
          <a:xfrm>
            <a:off x="4007998" y="3797686"/>
            <a:ext cx="140452" cy="140452"/>
          </a:xfrm>
          <a:prstGeom prst="rect">
            <a:avLst/>
          </a:prstGeom>
        </p:spPr>
      </p:pic>
      <p:sp>
        <p:nvSpPr>
          <p:cNvPr id="21" name="Text 14"/>
          <p:cNvSpPr txBox="1"/>
          <p:nvPr/>
        </p:nvSpPr>
        <p:spPr>
          <a:xfrm>
            <a:off x="4361688" y="370332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The unrecognised-value error lists OLLAMA too, and Program.cs does not change</a:t>
            </a:r>
            <a:endParaRPr lang="en-US" sz="1300" dirty="0"/>
          </a:p>
        </p:txBody>
      </p:sp>
      <p:sp>
        <p:nvSpPr>
          <p:cNvPr id="22"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2b — Configuring Model Providers</a:t>
            </a:r>
            <a:endParaRPr lang="en-US" sz="900" dirty="0"/>
          </a:p>
        </p:txBody>
      </p:sp>
      <p:sp>
        <p:nvSpPr>
          <p:cNvPr id="23"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EXPECTED OUTPUT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Same build, a different model answering</a:t>
            </a:r>
            <a:endParaRPr lang="en-US" sz="2800" dirty="0"/>
          </a:p>
        </p:txBody>
      </p:sp>
      <p:sp>
        <p:nvSpPr>
          <p:cNvPr id="4" name="Shape 2"/>
          <p:cNvSpPr/>
          <p:nvPr/>
        </p:nvSpPr>
        <p:spPr>
          <a:xfrm>
            <a:off x="457200" y="1325880"/>
            <a:ext cx="5257800" cy="3246120"/>
          </a:xfrm>
          <a:prstGeom prst="roundRect">
            <a:avLst>
              <a:gd name="adj" fmla="val 2254"/>
            </a:avLst>
          </a:prstGeom>
          <a:solidFill>
            <a:srgbClr val="0F1420"/>
          </a:solidFill>
          <a:ln w="12700">
            <a:solidFill>
              <a:srgbClr val="0F1420"/>
            </a:solidFill>
            <a:prstDash val="solid"/>
          </a:ln>
        </p:spPr>
      </p:sp>
      <p:sp>
        <p:nvSpPr>
          <p:cNvPr id="5" name="Text 3"/>
          <p:cNvSpPr txBox="1"/>
          <p:nvPr/>
        </p:nvSpPr>
        <p:spPr>
          <a:xfrm>
            <a:off x="640080" y="1463040"/>
            <a:ext cx="4892040" cy="2971800"/>
          </a:xfrm>
          <a:prstGeom prst="rect">
            <a:avLst/>
          </a:prstGeom>
          <a:noFill/>
          <a:ln/>
        </p:spPr>
        <p:txBody>
          <a:bodyPr wrap="square" lIns="0" tIns="0" rIns="0" bIns="0" rtlCol="0" anchor="t"/>
          <a:lstStyle/>
          <a:p>
            <a:pPr indent="0" marL="0">
              <a:buNone/>
            </a:pPr>
            <a:r>
              <a:rPr lang="en-US" sz="1000" dirty="0">
                <a:solidFill>
                  <a:srgbClr val="D7E3F4"/>
                </a:solidFill>
                <a:latin typeface="Courier New" pitchFamily="34" charset="0"/>
                <a:ea typeface="Courier New" pitchFamily="34" charset="-122"/>
                <a:cs typeface="Courier New" pitchFamily="34" charset="-120"/>
              </a:rPr>
              <a:t># MINI_CODE_LLM=GEMINI, GEMINI_API_KEY set</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MiniCode. Type 'exit' to quit.</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b="1" dirty="0">
                <a:solidFill>
                  <a:srgbClr val="F5A623"/>
                </a:solidFill>
                <a:latin typeface="Courier New" pitchFamily="34" charset="0"/>
                <a:ea typeface="Courier New" pitchFamily="34" charset="-122"/>
                <a:cs typeface="Courier New" pitchFamily="34" charset="-120"/>
              </a:rPr>
              <a:t>&gt; Explain dependency injection in ASP.NET Core in two sentences.</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Dependency Injection (DI) is a design pattern where objects</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receive their dependencies from an external source rather</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than creating them, promoting loose coupling and</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testability.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b="1" dirty="0">
                <a:solidFill>
                  <a:srgbClr val="F5A623"/>
                </a:solidFill>
                <a:latin typeface="Courier New" pitchFamily="34" charset="0"/>
                <a:ea typeface="Courier New" pitchFamily="34" charset="-122"/>
                <a:cs typeface="Courier New" pitchFamily="34" charset="-120"/>
              </a:rPr>
              <a:t>&gt; What did I just ask you about?</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You asked me about **Dependency Injection in ASP.NET Core**.</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MINI_CODE_LLM unset, OPENAI_API_KEY not set:</a:t>
            </a:r>
            <a:endParaRPr lang="en-US" sz="1000" dirty="0"/>
          </a:p>
          <a:p>
            <a:pPr indent="0" marL="0">
              <a:buNone/>
            </a:pPr>
            <a:r>
              <a:rPr lang="en-US" sz="1000" dirty="0">
                <a:solidFill>
                  <a:srgbClr val="FF9B9B"/>
                </a:solidFill>
                <a:latin typeface="Courier New" pitchFamily="34" charset="0"/>
                <a:ea typeface="Courier New" pitchFamily="34" charset="-122"/>
                <a:cs typeface="Courier New" pitchFamily="34" charset="-120"/>
              </a:rPr>
              <a:t>Unhandled exception. System.InvalidOperationException:</a:t>
            </a:r>
            <a:endParaRPr lang="en-US" sz="1000" dirty="0"/>
          </a:p>
          <a:p>
            <a:pPr indent="0" marL="0">
              <a:buNone/>
            </a:pPr>
            <a:r>
              <a:rPr lang="en-US" sz="1000" dirty="0">
                <a:solidFill>
                  <a:srgbClr val="FF9B9B"/>
                </a:solidFill>
                <a:latin typeface="Courier New" pitchFamily="34" charset="0"/>
                <a:ea typeface="Courier New" pitchFamily="34" charset="-122"/>
                <a:cs typeface="Courier New" pitchFamily="34" charset="-120"/>
              </a:rPr>
              <a:t>OPENAI_API_KEY is not set. Set it before running MiniCode.</a:t>
            </a:r>
            <a:endParaRPr lang="en-US" sz="100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Unset</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OpenAI answers, exactly as in Module 2a</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GEMINI</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Same prompt, same session behaviour</a:t>
            </a:r>
            <a:endParaRPr lang="en-US" sz="1200" dirty="0"/>
          </a:p>
        </p:txBody>
      </p:sp>
      <p:sp>
        <p:nvSpPr>
          <p:cNvPr id="14" name="Shape 10"/>
          <p:cNvSpPr/>
          <p:nvPr/>
        </p:nvSpPr>
        <p:spPr>
          <a:xfrm>
            <a:off x="6035040" y="3520440"/>
            <a:ext cx="384048" cy="384048"/>
          </a:xfrm>
          <a:prstGeom prst="ellipse">
            <a:avLst/>
          </a:prstGeom>
          <a:solidFill>
            <a:srgbClr val="DC2626"/>
          </a:solidFill>
          <a:ln w="12700">
            <a:solidFill>
              <a:srgbClr val="DC2626"/>
            </a:solidFill>
            <a:prstDash val="solid"/>
          </a:ln>
        </p:spPr>
      </p:sp>
      <p:pic>
        <p:nvPicPr>
          <p:cNvPr id="15" name="Image 2" descr="preencoded.png">    </p:cNvPr>
          <p:cNvPicPr>
            <a:picLocks noChangeAspect="1"/>
          </p:cNvPicPr>
          <p:nvPr/>
        </p:nvPicPr>
        <p:blipFill>
          <a:blip r:embed="rId3"/>
          <a:stretch>
            <a:fillRect/>
          </a:stretch>
        </p:blipFill>
        <p:spPr>
          <a:xfrm>
            <a:off x="6134892" y="3620292"/>
            <a:ext cx="184343" cy="184343"/>
          </a:xfrm>
          <a:prstGeom prst="rect">
            <a:avLst/>
          </a:prstGeom>
        </p:spPr>
      </p:pic>
      <p:sp>
        <p:nvSpPr>
          <p:cNvPr id="16" name="Text 11"/>
          <p:cNvSpPr txBox="1"/>
          <p:nvPr/>
        </p:nvSpPr>
        <p:spPr>
          <a:xfrm>
            <a:off x="6537960" y="352044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Missing key</a:t>
            </a:r>
            <a:endParaRPr lang="en-US" sz="1400" dirty="0"/>
          </a:p>
        </p:txBody>
      </p:sp>
      <p:sp>
        <p:nvSpPr>
          <p:cNvPr id="17" name="Text 12"/>
          <p:cNvSpPr txBox="1"/>
          <p:nvPr/>
        </p:nvSpPr>
        <p:spPr>
          <a:xfrm>
            <a:off x="6537960" y="390448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factory names the variable it wanted</a:t>
            </a:r>
            <a:endParaRPr lang="en-US" sz="1200" dirty="0"/>
          </a:p>
        </p:txBody>
      </p:sp>
      <p:sp>
        <p:nvSpPr>
          <p:cNvPr id="18"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2b — Configuring Model Providers</a:t>
            </a:r>
            <a:endParaRPr lang="en-US" sz="900" dirty="0"/>
          </a:p>
        </p:txBody>
      </p:sp>
      <p:sp>
        <p:nvSpPr>
          <p:cNvPr id="19"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347472"/>
            <a:ext cx="4572000" cy="2286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457200" y="566928"/>
            <a:ext cx="8229600" cy="5029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What we learned, and where it goes</a:t>
            </a:r>
            <a:endParaRPr lang="en-US" sz="2600" dirty="0"/>
          </a:p>
        </p:txBody>
      </p:sp>
      <p:sp>
        <p:nvSpPr>
          <p:cNvPr id="4" name="Shape 2"/>
          <p:cNvSpPr/>
          <p:nvPr/>
        </p:nvSpPr>
        <p:spPr>
          <a:xfrm>
            <a:off x="457200" y="1234440"/>
            <a:ext cx="2926080" cy="493776"/>
          </a:xfrm>
          <a:prstGeom prst="roundRect">
            <a:avLst>
              <a:gd name="adj" fmla="val 14815"/>
            </a:avLst>
          </a:prstGeom>
          <a:solidFill>
            <a:srgbClr val="1F2943"/>
          </a:solidFill>
          <a:ln w="12700">
            <a:solidFill>
              <a:srgbClr val="1F2943"/>
            </a:solidFill>
            <a:prstDash val="solid"/>
          </a:ln>
        </p:spPr>
      </p:sp>
      <p:sp>
        <p:nvSpPr>
          <p:cNvPr id="5" name="Text 3"/>
          <p:cNvSpPr txBox="1"/>
          <p:nvPr/>
        </p:nvSpPr>
        <p:spPr>
          <a:xfrm>
            <a:off x="621792" y="1234440"/>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ChatClientFactory owns the provider</a:t>
            </a:r>
            <a:endParaRPr lang="en-US" sz="1300" dirty="0"/>
          </a:p>
        </p:txBody>
      </p:sp>
      <p:sp>
        <p:nvSpPr>
          <p:cNvPr id="6" name="Shape 4"/>
          <p:cNvSpPr/>
          <p:nvPr/>
        </p:nvSpPr>
        <p:spPr>
          <a:xfrm>
            <a:off x="3493008" y="1389888"/>
            <a:ext cx="329184" cy="182880"/>
          </a:xfrm>
          <a:prstGeom prst="rightArrow">
            <a:avLst/>
          </a:prstGeom>
          <a:solidFill>
            <a:srgbClr val="F5A623"/>
          </a:solidFill>
          <a:ln w="12700">
            <a:solidFill>
              <a:srgbClr val="F5A623"/>
            </a:solidFill>
            <a:prstDash val="solid"/>
          </a:ln>
        </p:spPr>
      </p:sp>
      <p:sp>
        <p:nvSpPr>
          <p:cNvPr id="7" name="Text 5"/>
          <p:cNvSpPr txBox="1"/>
          <p:nvPr/>
        </p:nvSpPr>
        <p:spPr>
          <a:xfrm>
            <a:off x="3977640" y="1234440"/>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Module 3  </a:t>
            </a:r>
            <a:pPr indent="0" marL="0">
              <a:buNone/>
            </a:pPr>
            <a:r>
              <a:rPr lang="en-US" sz="1250" dirty="0">
                <a:solidFill>
                  <a:srgbClr val="FFFFFF"/>
                </a:solidFill>
                <a:latin typeface="Calibri" pitchFamily="34" charset="0"/>
                <a:ea typeface="Calibri" pitchFamily="34" charset="-122"/>
                <a:cs typeface="Calibri" pitchFamily="34" charset="-120"/>
              </a:rPr>
              <a:t>The factory moves into MiniCode.Agent; the terminal no longer knows what a model is</a:t>
            </a:r>
            <a:endParaRPr lang="en-US" sz="1250" dirty="0"/>
          </a:p>
        </p:txBody>
      </p:sp>
      <p:sp>
        <p:nvSpPr>
          <p:cNvPr id="8" name="Shape 6"/>
          <p:cNvSpPr/>
          <p:nvPr/>
        </p:nvSpPr>
        <p:spPr>
          <a:xfrm>
            <a:off x="457200" y="1837944"/>
            <a:ext cx="2926080" cy="493776"/>
          </a:xfrm>
          <a:prstGeom prst="roundRect">
            <a:avLst>
              <a:gd name="adj" fmla="val 14815"/>
            </a:avLst>
          </a:prstGeom>
          <a:solidFill>
            <a:srgbClr val="1F2943"/>
          </a:solidFill>
          <a:ln w="12700">
            <a:solidFill>
              <a:srgbClr val="1F2943"/>
            </a:solidFill>
            <a:prstDash val="solid"/>
          </a:ln>
        </p:spPr>
      </p:sp>
      <p:sp>
        <p:nvSpPr>
          <p:cNvPr id="9" name="Text 7"/>
          <p:cNvSpPr txBox="1"/>
          <p:nvPr/>
        </p:nvSpPr>
        <p:spPr>
          <a:xfrm>
            <a:off x="621792" y="1837944"/>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gemini-2.5-flash completes tool calls</a:t>
            </a:r>
            <a:endParaRPr lang="en-US" sz="1300" dirty="0"/>
          </a:p>
        </p:txBody>
      </p:sp>
      <p:sp>
        <p:nvSpPr>
          <p:cNvPr id="10" name="Shape 8"/>
          <p:cNvSpPr/>
          <p:nvPr/>
        </p:nvSpPr>
        <p:spPr>
          <a:xfrm>
            <a:off x="3493008" y="1993392"/>
            <a:ext cx="329184" cy="182880"/>
          </a:xfrm>
          <a:prstGeom prst="rightArrow">
            <a:avLst/>
          </a:prstGeom>
          <a:solidFill>
            <a:srgbClr val="F5A623"/>
          </a:solidFill>
          <a:ln w="12700">
            <a:solidFill>
              <a:srgbClr val="F5A623"/>
            </a:solidFill>
            <a:prstDash val="solid"/>
          </a:ln>
        </p:spPr>
      </p:sp>
      <p:sp>
        <p:nvSpPr>
          <p:cNvPr id="11" name="Text 9"/>
          <p:cNvSpPr txBox="1"/>
          <p:nvPr/>
        </p:nvSpPr>
        <p:spPr>
          <a:xfrm>
            <a:off x="3977640" y="1837944"/>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Module 5a  </a:t>
            </a:r>
            <a:pPr indent="0" marL="0">
              <a:buNone/>
            </a:pPr>
            <a:r>
              <a:rPr lang="en-US" sz="1250" dirty="0">
                <a:solidFill>
                  <a:srgbClr val="FFFFFF"/>
                </a:solidFill>
                <a:latin typeface="Calibri" pitchFamily="34" charset="0"/>
                <a:ea typeface="Calibri" pitchFamily="34" charset="-122"/>
                <a:cs typeface="Calibri" pitchFamily="34" charset="-120"/>
              </a:rPr>
              <a:t>Makes the first tool call, which Gemini 3.x models would reject</a:t>
            </a:r>
            <a:endParaRPr lang="en-US" sz="1250" dirty="0"/>
          </a:p>
        </p:txBody>
      </p:sp>
      <p:sp>
        <p:nvSpPr>
          <p:cNvPr id="12" name="Shape 10"/>
          <p:cNvSpPr/>
          <p:nvPr/>
        </p:nvSpPr>
        <p:spPr>
          <a:xfrm>
            <a:off x="457200" y="2441448"/>
            <a:ext cx="2926080" cy="493776"/>
          </a:xfrm>
          <a:prstGeom prst="roundRect">
            <a:avLst>
              <a:gd name="adj" fmla="val 14815"/>
            </a:avLst>
          </a:prstGeom>
          <a:solidFill>
            <a:srgbClr val="1F2943"/>
          </a:solidFill>
          <a:ln w="12700">
            <a:solidFill>
              <a:srgbClr val="1F2943"/>
            </a:solidFill>
            <a:prstDash val="solid"/>
          </a:ln>
        </p:spPr>
      </p:sp>
      <p:sp>
        <p:nvSpPr>
          <p:cNvPr id="13" name="Text 11"/>
          <p:cNvSpPr txBox="1"/>
          <p:nvPr/>
        </p:nvSpPr>
        <p:spPr>
          <a:xfrm>
            <a:off x="621792" y="2441448"/>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One type reads the environment</a:t>
            </a:r>
            <a:endParaRPr lang="en-US" sz="1300" dirty="0"/>
          </a:p>
        </p:txBody>
      </p:sp>
      <p:sp>
        <p:nvSpPr>
          <p:cNvPr id="14" name="Shape 12"/>
          <p:cNvSpPr/>
          <p:nvPr/>
        </p:nvSpPr>
        <p:spPr>
          <a:xfrm>
            <a:off x="3493008" y="2596896"/>
            <a:ext cx="329184" cy="182880"/>
          </a:xfrm>
          <a:prstGeom prst="rightArrow">
            <a:avLst/>
          </a:prstGeom>
          <a:solidFill>
            <a:srgbClr val="F5A623"/>
          </a:solidFill>
          <a:ln w="12700">
            <a:solidFill>
              <a:srgbClr val="F5A623"/>
            </a:solidFill>
            <a:prstDash val="solid"/>
          </a:ln>
        </p:spPr>
      </p:sp>
      <p:sp>
        <p:nvSpPr>
          <p:cNvPr id="15" name="Text 13"/>
          <p:cNvSpPr txBox="1"/>
          <p:nvPr/>
        </p:nvSpPr>
        <p:spPr>
          <a:xfrm>
            <a:off x="3977640" y="2441448"/>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Module 18  </a:t>
            </a:r>
            <a:pPr indent="0" marL="0">
              <a:buNone/>
            </a:pPr>
            <a:r>
              <a:rPr lang="en-US" sz="1250" dirty="0">
                <a:solidFill>
                  <a:srgbClr val="FFFFFF"/>
                </a:solidFill>
                <a:latin typeface="Calibri" pitchFamily="34" charset="0"/>
                <a:ea typeface="Calibri" pitchFamily="34" charset="-122"/>
                <a:cs typeface="Calibri" pitchFamily="34" charset="-120"/>
              </a:rPr>
              <a:t>The installed global tool still configures through it: MINICODE_MODEL joins the factory</a:t>
            </a:r>
            <a:endParaRPr lang="en-US" sz="1250" dirty="0"/>
          </a:p>
        </p:txBody>
      </p:sp>
      <p:sp>
        <p:nvSpPr>
          <p:cNvPr id="16" name="Text 14"/>
          <p:cNvSpPr txBox="1"/>
          <p:nvPr/>
        </p:nvSpPr>
        <p:spPr>
          <a:xfrm>
            <a:off x="457200" y="4224528"/>
            <a:ext cx="8229600" cy="320040"/>
          </a:xfrm>
          <a:prstGeom prst="rect">
            <a:avLst/>
          </a:prstGeom>
          <a:noFill/>
          <a:ln/>
        </p:spPr>
        <p:txBody>
          <a:bodyPr wrap="square" lIns="0" tIns="0" rIns="0" bIns="0" rtlCol="0" anchor="t"/>
          <a:lstStyle/>
          <a:p>
            <a:pPr indent="0" marL="0">
              <a:buNone/>
            </a:pPr>
            <a:r>
              <a:rPr lang="en-US" sz="1300" dirty="0">
                <a:solidFill>
                  <a:srgbClr val="B8B2E6"/>
                </a:solidFill>
                <a:latin typeface="Calibri" pitchFamily="34" charset="0"/>
                <a:ea typeface="Calibri" pitchFamily="34" charset="-122"/>
                <a:cs typeface="Calibri" pitchFamily="34" charset="-120"/>
              </a:rPr>
              <a:t>Ships in  </a:t>
            </a:r>
            <a:pPr indent="0" marL="0">
              <a:buNone/>
            </a:pPr>
            <a:r>
              <a:rPr lang="en-US" sz="1300" b="1" dirty="0">
                <a:solidFill>
                  <a:srgbClr val="FFFFFF"/>
                </a:solidFill>
                <a:latin typeface="Calibri" pitchFamily="34" charset="0"/>
                <a:ea typeface="Calibri" pitchFamily="34" charset="-122"/>
                <a:cs typeface="Calibri" pitchFamily="34" charset="-120"/>
              </a:rPr>
              <a:t>Phase 1 Capstone — Repository Explorer (v0.1)</a:t>
            </a:r>
            <a:endParaRPr lang="en-US" sz="1300" dirty="0"/>
          </a:p>
        </p:txBody>
      </p:sp>
      <p:sp>
        <p:nvSpPr>
          <p:cNvPr id="17"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MiniCode  ·  Module 2b — Configuring Model Providers</a:t>
            </a:r>
            <a:endParaRPr lang="en-US" sz="900" dirty="0"/>
          </a:p>
        </p:txBody>
      </p:sp>
      <p:sp>
        <p:nvSpPr>
          <p:cNvPr id="18"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2b — Microsoft Agent Framework Fundamentals: Configuring Model Providers</dc:title>
  <dc:subject>PptxGenJS Presentation</dc:subject>
  <dc:creator>MiniCode Course</dc:creator>
  <cp:lastModifiedBy>MiniCode Course</cp:lastModifiedBy>
  <cp:revision>1</cp:revision>
  <dcterms:created xsi:type="dcterms:W3CDTF">2026-10-01T23:14:57Z</dcterms:created>
  <dcterms:modified xsi:type="dcterms:W3CDTF">2026-10-01T23:14:57Z</dcterms:modified>
</cp:coreProperties>
</file>