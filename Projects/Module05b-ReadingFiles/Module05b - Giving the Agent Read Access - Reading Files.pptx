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give the agent the two tools it needs to explore a repository it has never seen: list_files and read_file. Both go through the sandbox from Module 4 and the interception seam from Module 5a, so this Module is mostly about a question the framework cannot answer for us: what should the model actually see? We start from the Module 5a folder. Module 4's IWorkspace and Module 5a's IToolInvoker, InterceptedFunction and ToolCatalog carry forward, and the workspace_root tool from 5a stays exactly as it is. Setup: nothing new. Microsoft.Extensions.AI is already in MiniCode.Tools from Module 5a, and MiniCode.Workspace still has no packages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tool result is a prompt fragment, not a return value. Whatever a tool returns is pasted into the conversation and becomes something the model reasons about. That reframes the design question: not 'what is the correct data shape?' but 'what text makes the model's next decision a good one?' Which is why these tools return strings. A structured result object would only be serialised into text a moment later, and we would have chosen the shape without ever looking at what the model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projects, two jobs: MiniCode.Workspace decides what is legal, MiniCode.Tools decides what is visible. ListFiles treats an omitted path as the root, so the model can call it with no arguments, which is what it does first, every time. Where(workspace.IsPathAllowed) filters the results, so bin, obj and .git never appear. The sandbox is doing double duty: gatekeeper on the way in, filter on the way out. Paths come back relative with forward slashes, so the model sees src/MiniCode.Cli/Program.cs on every platform, and those strings are exactly what it can hand back to read_file. In the code, FileSystemService in MiniCode.Workspace also numbers the lines, applies both caps, MaxEntries and MaxLines, and writes read_file's truncation notice; FileTools in MiniCode.Tools carries the tool and parameter descriptions and adds the list_files notice. FileTools takes IFileSystemService, not IWorkspace, so the tool layer cannot reach the filesystem directly even if someone tried.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numbers earn their place. read_file returns '42  public void Save()' rather than bare source. It costs a few tokens per line and buys the ability for the model to say 'line 42' and for a later Module to act exactly there. This is the one formatting decision in the Module that pays off repeatedly.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must be capped, and the cap must be visible. A repository has more files than fit in a context window, and one generated .cs file can be longer than the whole budget. So list_files stops at 200 entries and read_file at 400 lines, and when it truncates, it says so and tells the model how to ask for the next page. A silent truncation is worse than a refusal: the model concludes the file ends there and reasons confidently from half a file. Both truncation notices are instructions. '812 more lines. Call again with startLine 401' tells the model it has part of the file and exactly how to get the rest; the listing's '200 entries shown. List a subdirectory to narrow the results' does the same for a directory that is too large. ReadFile clamps startLine instead of failing. Ask for line 5,000 of a 40-line file and you get line 40, numbered, so the model can see from the number that the file is shorter than it assumed. A wrong-but-harmless argument should not cost a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Refusals cost us nothing extra, because Module 5a already solved it. The service calls ResolvePath, which throws with the sandbox's reason. DirectToolInvoker catches it and returns 'read_file failed: Path ../secrets was refused: OutsideWorkspace.', text the model can act on. We wrote no error-handling code in the tools at all; the seam's never-throw rule did the work. That is Module 5a's seam paying for itself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descriptions are behaviour, not documentation. list_files says 'Start here rather than guessing paths.' read_file says 'Prefer reading one file you have located over listing everything.' Those sentences are the only place the model is taught the search-before-read discipline, and Module 8a builds directly on the habit. Parameter descriptions matter as much as the tool's. AIFunctionFactory reads [Description] on each parameter into the JSON schema. Without them the model guesses what startLine means; with them, paging through a long file is something it does unprompted.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 SearchFiles, the third tool the syllabus names, and the one that makes the search-before-read discipline possible. Add SearchFiles(query, path) to IFileSystemService and FileSystemService, then a SearchFiles method on FileTools and an entry in ToolCatalog. Acceptance criteria: it returns matches as path:line: text, so one result tells the model where to read next. It searches only files the sandbox allows, and skips files it refuses without failing the whole call. It caps results the way the others do, and says so when it truncates. Case-insensitive plain-text matching is enough; a regex option is not required. Its description tells the model to search before reading; that sentence is the point of the tool. A query that matches nothing returns a sentence saying so, not an empty string. An empty result reads to the model as a broken tool. The finished version is in this Module's folder, as a search_files entry in ToolCatalog. Write yours first, then compare. Module 8a builds directly on this tool, so it ships here rather than being left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MiniCode at a repository and ask what kind of project it is and where it starts. To answer that, the model called list_files with no arguments, saw the three project directories, and read one file. Note what is absent from the listing it received: no bin, no obj, no .git. The sandbox filtered them before the model ever spent a token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this goes. search_files and read_file are what Module 8a's search-before-read discipline is built on. The visible truncation notices return in 8a, where a capped plan admits it was capped. The same idea caps process output in Module 11a: run_command limits stdout and stderr and says so. Line numbers pay off in Module 10, where each edit reports the line it changed. And in Module 15, every read-only tool is classed as safe, so none of them ever prompts for approval. All of this ships in the Phase 1 Capstone, Repository Explorer, version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MODULE 5B  ·  PHASE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Reading Files</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Giving the Agent Read Access</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Module05a-TheInterceptionSeam/</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Module05b-ReadingFiles/</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a tool result is a prompt fragment, not a return value</a:t>
            </a:r>
            <a:endParaRPr lang="en-US" sz="1300" dirty="0"/>
          </a:p>
        </p:txBody>
      </p:sp>
      <p:sp>
        <p:nvSpPr>
          <p:cNvPr id="14" name="Shape 11"/>
          <p:cNvSpPr/>
          <p:nvPr/>
        </p:nvSpPr>
        <p:spPr>
          <a:xfrm>
            <a:off x="5257800" y="205282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2133661"/>
            <a:ext cx="149230" cy="149230"/>
          </a:xfrm>
          <a:prstGeom prst="rect">
            <a:avLst/>
          </a:prstGeom>
        </p:spPr>
      </p:pic>
      <p:sp>
        <p:nvSpPr>
          <p:cNvPr id="16" name="Text 12"/>
          <p:cNvSpPr txBox="1"/>
          <p:nvPr/>
        </p:nvSpPr>
        <p:spPr>
          <a:xfrm>
            <a:off x="5715000" y="20345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list_files and read_file, through the sandbox and the seam</a:t>
            </a:r>
            <a:endParaRPr lang="en-US" sz="1300" dirty="0"/>
          </a:p>
        </p:txBody>
      </p:sp>
      <p:sp>
        <p:nvSpPr>
          <p:cNvPr id="17" name="Shape 13"/>
          <p:cNvSpPr/>
          <p:nvPr/>
        </p:nvSpPr>
        <p:spPr>
          <a:xfrm>
            <a:off x="5257800" y="285292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933761"/>
            <a:ext cx="149230" cy="149230"/>
          </a:xfrm>
          <a:prstGeom prst="rect">
            <a:avLst/>
          </a:prstGeom>
        </p:spPr>
      </p:pic>
      <p:sp>
        <p:nvSpPr>
          <p:cNvPr id="19" name="Text 14"/>
          <p:cNvSpPr txBox="1"/>
          <p:nvPr/>
        </p:nvSpPr>
        <p:spPr>
          <a:xfrm>
            <a:off x="5715000" y="28346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Capping every result, and saying so when it truncates</a:t>
            </a:r>
            <a:endParaRPr lang="en-US" sz="1300" dirty="0"/>
          </a:p>
        </p:txBody>
      </p:sp>
      <p:sp>
        <p:nvSpPr>
          <p:cNvPr id="20" name="Shape 15"/>
          <p:cNvSpPr/>
          <p:nvPr/>
        </p:nvSpPr>
        <p:spPr>
          <a:xfrm>
            <a:off x="5257800" y="365302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733861"/>
            <a:ext cx="149230" cy="149230"/>
          </a:xfrm>
          <a:prstGeom prst="rect">
            <a:avLst/>
          </a:prstGeom>
        </p:spPr>
      </p:pic>
      <p:sp>
        <p:nvSpPr>
          <p:cNvPr id="22" name="Text 16"/>
          <p:cNvSpPr txBox="1"/>
          <p:nvPr/>
        </p:nvSpPr>
        <p:spPr>
          <a:xfrm>
            <a:off x="5715000" y="36347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Writing tool and parameter descriptions that teach the model</a:t>
            </a:r>
            <a:endParaRPr lang="en-US" sz="1300" dirty="0"/>
          </a:p>
        </p:txBody>
      </p:sp>
      <p:sp>
        <p:nvSpPr>
          <p:cNvPr id="23"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5b — Reading Files</a:t>
            </a:r>
            <a:endParaRPr lang="en-US" sz="900" dirty="0"/>
          </a:p>
        </p:txBody>
      </p:sp>
      <p:sp>
        <p:nvSpPr>
          <p:cNvPr id="24"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tool result is a prompt fragment</a:t>
            </a:r>
            <a:endParaRPr lang="en-US" sz="2800" dirty="0"/>
          </a:p>
        </p:txBody>
      </p:sp>
      <p:sp>
        <p:nvSpPr>
          <p:cNvPr id="4" name="Shape 2"/>
          <p:cNvSpPr/>
          <p:nvPr/>
        </p:nvSpPr>
        <p:spPr>
          <a:xfrm>
            <a:off x="457200" y="1417320"/>
            <a:ext cx="2511552" cy="1801368"/>
          </a:xfrm>
          <a:prstGeom prst="roundRect">
            <a:avLst>
              <a:gd name="adj" fmla="val 406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The tool runs</a:t>
            </a:r>
            <a:endParaRPr lang="en-US" sz="1500" dirty="0"/>
          </a:p>
        </p:txBody>
      </p:sp>
      <p:sp>
        <p:nvSpPr>
          <p:cNvPr id="8" name="Text 5"/>
          <p:cNvSpPr txBox="1"/>
          <p:nvPr/>
        </p:nvSpPr>
        <p:spPr>
          <a:xfrm>
            <a:off x="640080" y="2606040"/>
            <a:ext cx="219151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list_files or read_file, inside the sandbox</a:t>
            </a:r>
            <a:endParaRPr lang="en-US" sz="1200" dirty="0"/>
          </a:p>
        </p:txBody>
      </p:sp>
      <p:sp>
        <p:nvSpPr>
          <p:cNvPr id="9" name="Shape 6"/>
          <p:cNvSpPr/>
          <p:nvPr/>
        </p:nvSpPr>
        <p:spPr>
          <a:xfrm>
            <a:off x="3032760" y="2208276"/>
            <a:ext cx="219456" cy="219456"/>
          </a:xfrm>
          <a:prstGeom prst="rightArrow">
            <a:avLst/>
          </a:prstGeom>
          <a:solidFill>
            <a:srgbClr val="F5A623"/>
          </a:solidFill>
          <a:ln w="12700">
            <a:solidFill>
              <a:srgbClr val="F5A623"/>
            </a:solidFill>
            <a:prstDash val="solid"/>
          </a:ln>
        </p:spPr>
      </p:sp>
      <p:sp>
        <p:nvSpPr>
          <p:cNvPr id="10" name="Shape 7"/>
          <p:cNvSpPr/>
          <p:nvPr/>
        </p:nvSpPr>
        <p:spPr>
          <a:xfrm>
            <a:off x="3316224" y="1417320"/>
            <a:ext cx="2511552" cy="1801368"/>
          </a:xfrm>
          <a:prstGeom prst="roundRect">
            <a:avLst>
              <a:gd name="adj" fmla="val 4061"/>
            </a:avLst>
          </a:prstGeom>
          <a:solidFill>
            <a:srgbClr val="EFEBFC"/>
          </a:solidFill>
          <a:ln w="12700">
            <a:solidFill>
              <a:srgbClr val="EFEBFC"/>
            </a:solidFill>
            <a:prstDash val="solid"/>
          </a:ln>
        </p:spPr>
      </p:sp>
      <p:sp>
        <p:nvSpPr>
          <p:cNvPr id="11" name="Shape 8"/>
          <p:cNvSpPr/>
          <p:nvPr/>
        </p:nvSpPr>
        <p:spPr>
          <a:xfrm>
            <a:off x="349910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17976" y="1737360"/>
            <a:ext cx="219456" cy="219456"/>
          </a:xfrm>
          <a:prstGeom prst="rect">
            <a:avLst/>
          </a:prstGeom>
        </p:spPr>
      </p:pic>
      <p:sp>
        <p:nvSpPr>
          <p:cNvPr id="13" name="Text 9"/>
          <p:cNvSpPr txBox="1"/>
          <p:nvPr/>
        </p:nvSpPr>
        <p:spPr>
          <a:xfrm>
            <a:off x="3499104"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It returns text</a:t>
            </a:r>
            <a:endParaRPr lang="en-US" sz="1500" dirty="0"/>
          </a:p>
        </p:txBody>
      </p:sp>
      <p:sp>
        <p:nvSpPr>
          <p:cNvPr id="14" name="Text 10"/>
          <p:cNvSpPr txBox="1"/>
          <p:nvPr/>
        </p:nvSpPr>
        <p:spPr>
          <a:xfrm>
            <a:off x="3499104" y="2606040"/>
            <a:ext cx="219151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Pasted straight into the conversation</a:t>
            </a:r>
            <a:endParaRPr lang="en-US" sz="1200" dirty="0"/>
          </a:p>
        </p:txBody>
      </p:sp>
      <p:sp>
        <p:nvSpPr>
          <p:cNvPr id="15" name="Shape 11"/>
          <p:cNvSpPr/>
          <p:nvPr/>
        </p:nvSpPr>
        <p:spPr>
          <a:xfrm>
            <a:off x="5891784" y="2208276"/>
            <a:ext cx="219456" cy="219456"/>
          </a:xfrm>
          <a:prstGeom prst="rightArrow">
            <a:avLst/>
          </a:prstGeom>
          <a:solidFill>
            <a:srgbClr val="F5A623"/>
          </a:solidFill>
          <a:ln w="12700">
            <a:solidFill>
              <a:srgbClr val="F5A623"/>
            </a:solidFill>
            <a:prstDash val="solid"/>
          </a:ln>
        </p:spPr>
      </p:sp>
      <p:sp>
        <p:nvSpPr>
          <p:cNvPr id="16" name="Shape 12"/>
          <p:cNvSpPr/>
          <p:nvPr/>
        </p:nvSpPr>
        <p:spPr>
          <a:xfrm>
            <a:off x="6175248" y="1417320"/>
            <a:ext cx="2511552" cy="1801368"/>
          </a:xfrm>
          <a:prstGeom prst="roundRect">
            <a:avLst>
              <a:gd name="adj" fmla="val 4061"/>
            </a:avLst>
          </a:prstGeom>
          <a:solidFill>
            <a:srgbClr val="512BD4"/>
          </a:solidFill>
          <a:ln w="12700">
            <a:solidFill>
              <a:srgbClr val="512BD4"/>
            </a:solidFill>
            <a:prstDash val="solid"/>
          </a:ln>
        </p:spPr>
      </p:sp>
      <p:sp>
        <p:nvSpPr>
          <p:cNvPr id="17" name="Shape 13"/>
          <p:cNvSpPr/>
          <p:nvPr/>
        </p:nvSpPr>
        <p:spPr>
          <a:xfrm>
            <a:off x="6358128"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6477000" y="1737360"/>
            <a:ext cx="219456" cy="219456"/>
          </a:xfrm>
          <a:prstGeom prst="rect">
            <a:avLst/>
          </a:prstGeom>
        </p:spPr>
      </p:pic>
      <p:sp>
        <p:nvSpPr>
          <p:cNvPr id="19" name="Text 14"/>
          <p:cNvSpPr txBox="1"/>
          <p:nvPr/>
        </p:nvSpPr>
        <p:spPr>
          <a:xfrm>
            <a:off x="6358128" y="2194560"/>
            <a:ext cx="2191512"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The model reasons</a:t>
            </a:r>
            <a:endParaRPr lang="en-US" sz="1500" dirty="0"/>
          </a:p>
        </p:txBody>
      </p:sp>
      <p:sp>
        <p:nvSpPr>
          <p:cNvPr id="20" name="Text 15"/>
          <p:cNvSpPr txBox="1"/>
          <p:nvPr/>
        </p:nvSpPr>
        <p:spPr>
          <a:xfrm>
            <a:off x="6358128" y="2606040"/>
            <a:ext cx="2191512" cy="52120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What text makes its next decision a good one?</a:t>
            </a:r>
            <a:endParaRPr lang="en-US" sz="1200" dirty="0"/>
          </a:p>
        </p:txBody>
      </p:sp>
      <p:sp>
        <p:nvSpPr>
          <p:cNvPr id="21" name="Text 16"/>
          <p:cNvSpPr txBox="1"/>
          <p:nvPr/>
        </p:nvSpPr>
        <p:spPr>
          <a:xfrm>
            <a:off x="457200" y="3538728"/>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So these tools return strings. The design question is what the model reads.</a:t>
            </a:r>
            <a:endParaRPr lang="en-US" sz="1400" dirty="0"/>
          </a:p>
        </p:txBody>
      </p:sp>
      <p:sp>
        <p:nvSpPr>
          <p:cNvPr id="22"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5b — Reading Files</a:t>
            </a:r>
            <a:endParaRPr lang="en-US" sz="900" dirty="0"/>
          </a:p>
        </p:txBody>
      </p:sp>
      <p:sp>
        <p:nvSpPr>
          <p:cNvPr id="23"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projects, two jobs</a:t>
            </a:r>
            <a:endParaRPr lang="en-US" sz="280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MiniCode.Workspace: legal</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Resolves paths; filters bin, obj, .git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Numbers lines; caps entries and lines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Writes read_file's truncation notice</a:t>
            </a:r>
            <a:endParaRPr lang="en-US" sz="1300" dirty="0"/>
          </a:p>
        </p:txBody>
      </p:sp>
      <p:sp>
        <p:nvSpPr>
          <p:cNvPr id="9" name="Shape 6"/>
          <p:cNvSpPr/>
          <p:nvPr/>
        </p:nvSpPr>
        <p:spPr>
          <a:xfrm>
            <a:off x="4754880" y="1371600"/>
            <a:ext cx="39319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MiniCode.Tools: visible</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Descriptions that teach the model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Writes list_files' truncation notice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Takes IFileSystemService, never IWorkspace</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sandbox does double duty: gatekeeper on the way in, filter on the way out.</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5b — Reading Files</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Line numbers earn their place</a:t>
            </a:r>
            <a:endParaRPr lang="en-US" sz="2800" dirty="0"/>
          </a:p>
        </p:txBody>
      </p:sp>
      <p:sp>
        <p:nvSpPr>
          <p:cNvPr id="4" name="Shape 2"/>
          <p:cNvSpPr/>
          <p:nvPr/>
        </p:nvSpPr>
        <p:spPr>
          <a:xfrm>
            <a:off x="457200" y="1325880"/>
            <a:ext cx="5257800" cy="1463040"/>
          </a:xfrm>
          <a:prstGeom prst="roundRect">
            <a:avLst>
              <a:gd name="adj" fmla="val 5000"/>
            </a:avLst>
          </a:prstGeom>
          <a:solidFill>
            <a:srgbClr val="0F1420"/>
          </a:solidFill>
          <a:ln w="12700">
            <a:solidFill>
              <a:srgbClr val="0F1420"/>
            </a:solidFill>
            <a:prstDash val="solid"/>
          </a:ln>
        </p:spPr>
      </p:sp>
      <p:sp>
        <p:nvSpPr>
          <p:cNvPr id="5" name="Text 3"/>
          <p:cNvSpPr txBox="1"/>
          <p:nvPr/>
        </p:nvSpPr>
        <p:spPr>
          <a:xfrm>
            <a:off x="640080" y="1463040"/>
            <a:ext cx="4892040" cy="1188720"/>
          </a:xfrm>
          <a:prstGeom prst="rect">
            <a:avLst/>
          </a:prstGeom>
          <a:noFill/>
          <a:ln/>
        </p:spPr>
        <p:txBody>
          <a:bodyPr wrap="square" lIns="0" tIns="0" rIns="0" bIns="0" rtlCol="0" anchor="t"/>
          <a:lstStyle/>
          <a:p>
            <a:pPr indent="0" marL="0">
              <a:buNone/>
            </a:pPr>
            <a:r>
              <a:rPr lang="en-US" sz="1400" dirty="0">
                <a:solidFill>
                  <a:srgbClr val="D7E3F4"/>
                </a:solidFill>
                <a:latin typeface="Courier New" pitchFamily="34" charset="0"/>
                <a:ea typeface="Courier New" pitchFamily="34" charset="-122"/>
                <a:cs typeface="Courier New" pitchFamily="34" charset="-120"/>
              </a:rPr>
              <a:t># read_file returns numbered lines, not bare source</a:t>
            </a:r>
            <a:endParaRPr lang="en-US" sz="1400" dirty="0"/>
          </a:p>
          <a:p>
            <a:pPr indent="0" marL="0">
              <a:buNone/>
            </a:pPr>
            <a:r>
              <a:rPr lang="en-US" sz="1400" dirty="0">
                <a:solidFill>
                  <a:srgbClr val="D7E3F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9FE6B8"/>
                </a:solidFill>
                <a:latin typeface="Courier New" pitchFamily="34" charset="0"/>
                <a:ea typeface="Courier New" pitchFamily="34" charset="-122"/>
                <a:cs typeface="Courier New" pitchFamily="34" charset="-120"/>
              </a:rPr>
              <a:t>    42  public void Save()</a:t>
            </a:r>
            <a:endParaRPr lang="en-US" sz="14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 few tokens</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cost, per line returned</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"Line 42"</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What it buys: the model can cite an exact location</a:t>
            </a:r>
            <a:endParaRPr lang="en-US" sz="12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5b — Reading Files</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Everything is capped, and says so</a:t>
            </a:r>
            <a:endParaRPr lang="en-US" sz="2800" dirty="0"/>
          </a:p>
        </p:txBody>
      </p:sp>
      <p:sp>
        <p:nvSpPr>
          <p:cNvPr id="4" name="Shape 2"/>
          <p:cNvSpPr/>
          <p:nvPr/>
        </p:nvSpPr>
        <p:spPr>
          <a:xfrm>
            <a:off x="457200" y="1371600"/>
            <a:ext cx="2560320" cy="2103120"/>
          </a:xfrm>
          <a:prstGeom prst="roundRect">
            <a:avLst>
              <a:gd name="adj" fmla="val 3478"/>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list_files: 200</a:t>
            </a:r>
            <a:endParaRPr lang="en-US" sz="1500" dirty="0"/>
          </a:p>
        </p:txBody>
      </p:sp>
      <p:sp>
        <p:nvSpPr>
          <p:cNvPr id="8" name="Text 5"/>
          <p:cNvSpPr txBox="1"/>
          <p:nvPr/>
        </p:nvSpPr>
        <p:spPr>
          <a:xfrm>
            <a:off x="640080" y="2057400"/>
            <a:ext cx="2194560" cy="1325880"/>
          </a:xfrm>
          <a:prstGeom prst="rect">
            <a:avLst/>
          </a:prstGeom>
          <a:noFill/>
          <a:ln/>
        </p:spPr>
        <p:txBody>
          <a:bodyPr wrap="square" lIns="0" tIns="0" rIns="0" bIns="0" rtlCol="0" anchor="t"/>
          <a:lstStyle/>
          <a:p>
            <a:pPr indent="0" marL="0">
              <a:buNone/>
            </a:pPr>
            <a:r>
              <a:rPr lang="en-US" sz="1050" dirty="0">
                <a:solidFill>
                  <a:srgbClr val="6B7280"/>
                </a:solidFill>
                <a:latin typeface="Courier New" pitchFamily="34" charset="0"/>
                <a:ea typeface="Courier New" pitchFamily="34" charset="-122"/>
                <a:cs typeface="Courier New" pitchFamily="34" charset="-120"/>
              </a:rPr>
              <a:t>... 200 entries shown. List a subdirectory to narrow the results.</a:t>
            </a:r>
            <a:endParaRPr lang="en-US" sz="1050" dirty="0"/>
          </a:p>
        </p:txBody>
      </p:sp>
      <p:sp>
        <p:nvSpPr>
          <p:cNvPr id="9" name="Shape 6"/>
          <p:cNvSpPr/>
          <p:nvPr/>
        </p:nvSpPr>
        <p:spPr>
          <a:xfrm>
            <a:off x="3291840" y="1371600"/>
            <a:ext cx="2560320" cy="2103120"/>
          </a:xfrm>
          <a:prstGeom prst="roundRect">
            <a:avLst>
              <a:gd name="adj" fmla="val 3478"/>
            </a:avLst>
          </a:prstGeom>
          <a:solidFill>
            <a:srgbClr val="512BD4"/>
          </a:solidFill>
          <a:ln w="12700">
            <a:solidFill>
              <a:srgbClr val="512BD4"/>
            </a:solidFill>
            <a:prstDash val="solid"/>
          </a:ln>
        </p:spPr>
      </p:sp>
      <p:sp>
        <p:nvSpPr>
          <p:cNvPr id="10" name="Shape 7"/>
          <p:cNvSpPr/>
          <p:nvPr/>
        </p:nvSpPr>
        <p:spPr>
          <a:xfrm>
            <a:off x="3474720" y="1554480"/>
            <a:ext cx="384048" cy="38404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read_file: 400</a:t>
            </a:r>
            <a:endParaRPr lang="en-US" sz="1500" dirty="0"/>
          </a:p>
        </p:txBody>
      </p:sp>
      <p:sp>
        <p:nvSpPr>
          <p:cNvPr id="13" name="Text 9"/>
          <p:cNvSpPr txBox="1"/>
          <p:nvPr/>
        </p:nvSpPr>
        <p:spPr>
          <a:xfrm>
            <a:off x="3474720" y="2057400"/>
            <a:ext cx="2194560" cy="1325880"/>
          </a:xfrm>
          <a:prstGeom prst="rect">
            <a:avLst/>
          </a:prstGeom>
          <a:noFill/>
          <a:ln/>
        </p:spPr>
        <p:txBody>
          <a:bodyPr wrap="square" lIns="0" tIns="0" rIns="0" bIns="0" rtlCol="0" anchor="t"/>
          <a:lstStyle/>
          <a:p>
            <a:pPr indent="0" marL="0">
              <a:buNone/>
            </a:pPr>
            <a:r>
              <a:rPr lang="en-US" sz="1050" dirty="0">
                <a:solidFill>
                  <a:srgbClr val="FFFFFF"/>
                </a:solidFill>
                <a:latin typeface="Courier New" pitchFamily="34" charset="0"/>
                <a:ea typeface="Courier New" pitchFamily="34" charset="-122"/>
                <a:cs typeface="Courier New" pitchFamily="34" charset="-120"/>
              </a:rPr>
              <a:t>... 812 more lines. Call again with startLine 401.</a:t>
            </a:r>
            <a:endParaRPr lang="en-US" sz="1050" dirty="0"/>
          </a:p>
        </p:txBody>
      </p:sp>
      <p:sp>
        <p:nvSpPr>
          <p:cNvPr id="14" name="Shape 10"/>
          <p:cNvSpPr/>
          <p:nvPr/>
        </p:nvSpPr>
        <p:spPr>
          <a:xfrm>
            <a:off x="6126480" y="1371600"/>
            <a:ext cx="2560320" cy="2103120"/>
          </a:xfrm>
          <a:prstGeom prst="roundRect">
            <a:avLst>
              <a:gd name="adj" fmla="val 3478"/>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startLine clamps</a:t>
            </a:r>
            <a:endParaRPr lang="en-US" sz="1500" dirty="0"/>
          </a:p>
        </p:txBody>
      </p:sp>
      <p:sp>
        <p:nvSpPr>
          <p:cNvPr id="18" name="Text 13"/>
          <p:cNvSpPr txBox="1"/>
          <p:nvPr/>
        </p:nvSpPr>
        <p:spPr>
          <a:xfrm>
            <a:off x="6309360" y="2057400"/>
            <a:ext cx="219456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Line 5,000 of a 40-line file returns line 40. A wrong argument doesn't cost a turn.</a:t>
            </a:r>
            <a:endParaRPr lang="en-US" sz="1200" dirty="0"/>
          </a:p>
        </p:txBody>
      </p:sp>
      <p:sp>
        <p:nvSpPr>
          <p:cNvPr id="19" name="Text 14"/>
          <p:cNvSpPr txBox="1"/>
          <p:nvPr/>
        </p:nvSpPr>
        <p:spPr>
          <a:xfrm>
            <a:off x="457200" y="37033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silent truncation is worse than a refusal: the model reasons from half a file.</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5b — Reading Files</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Refusals come free from Module 5a</a:t>
            </a:r>
            <a:endParaRPr lang="en-US" sz="2800" dirty="0"/>
          </a:p>
        </p:txBody>
      </p:sp>
      <p:sp>
        <p:nvSpPr>
          <p:cNvPr id="4" name="Shape 2"/>
          <p:cNvSpPr/>
          <p:nvPr/>
        </p:nvSpPr>
        <p:spPr>
          <a:xfrm>
            <a:off x="457200" y="1417320"/>
            <a:ext cx="2511552" cy="1993392"/>
          </a:xfrm>
          <a:prstGeom prst="roundRect">
            <a:avLst>
              <a:gd name="adj" fmla="val 3670"/>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2191512" cy="4114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ResolvePath throws</a:t>
            </a:r>
            <a:endParaRPr lang="en-US" sz="1400" dirty="0"/>
          </a:p>
        </p:txBody>
      </p:sp>
      <p:sp>
        <p:nvSpPr>
          <p:cNvPr id="8" name="Text 5"/>
          <p:cNvSpPr txBox="1"/>
          <p:nvPr/>
        </p:nvSpPr>
        <p:spPr>
          <a:xfrm>
            <a:off x="640080" y="2606040"/>
            <a:ext cx="219151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With the sandbox's reason</a:t>
            </a:r>
            <a:endParaRPr lang="en-US" sz="1200" dirty="0"/>
          </a:p>
        </p:txBody>
      </p:sp>
      <p:sp>
        <p:nvSpPr>
          <p:cNvPr id="9" name="Shape 6"/>
          <p:cNvSpPr/>
          <p:nvPr/>
        </p:nvSpPr>
        <p:spPr>
          <a:xfrm>
            <a:off x="3032760"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3316224" y="1417320"/>
            <a:ext cx="2511552" cy="1993392"/>
          </a:xfrm>
          <a:prstGeom prst="roundRect">
            <a:avLst>
              <a:gd name="adj" fmla="val 3670"/>
            </a:avLst>
          </a:prstGeom>
          <a:solidFill>
            <a:srgbClr val="EFEBFC"/>
          </a:solidFill>
          <a:ln w="12700">
            <a:solidFill>
              <a:srgbClr val="EFEBFC"/>
            </a:solidFill>
            <a:prstDash val="solid"/>
          </a:ln>
        </p:spPr>
      </p:sp>
      <p:sp>
        <p:nvSpPr>
          <p:cNvPr id="11" name="Shape 8"/>
          <p:cNvSpPr/>
          <p:nvPr/>
        </p:nvSpPr>
        <p:spPr>
          <a:xfrm>
            <a:off x="349910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17976" y="1737360"/>
            <a:ext cx="219456" cy="219456"/>
          </a:xfrm>
          <a:prstGeom prst="rect">
            <a:avLst/>
          </a:prstGeom>
        </p:spPr>
      </p:pic>
      <p:sp>
        <p:nvSpPr>
          <p:cNvPr id="13" name="Text 9"/>
          <p:cNvSpPr txBox="1"/>
          <p:nvPr/>
        </p:nvSpPr>
        <p:spPr>
          <a:xfrm>
            <a:off x="3499104" y="2194560"/>
            <a:ext cx="2191512" cy="4114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DirectToolInvoker</a:t>
            </a:r>
            <a:endParaRPr lang="en-US" sz="1400" dirty="0"/>
          </a:p>
        </p:txBody>
      </p:sp>
      <p:sp>
        <p:nvSpPr>
          <p:cNvPr id="14" name="Text 10"/>
          <p:cNvSpPr txBox="1"/>
          <p:nvPr/>
        </p:nvSpPr>
        <p:spPr>
          <a:xfrm>
            <a:off x="3499104" y="2606040"/>
            <a:ext cx="219151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Catches it. The seam never throws.</a:t>
            </a:r>
            <a:endParaRPr lang="en-US" sz="1200" dirty="0"/>
          </a:p>
        </p:txBody>
      </p:sp>
      <p:sp>
        <p:nvSpPr>
          <p:cNvPr id="15" name="Shape 11"/>
          <p:cNvSpPr/>
          <p:nvPr/>
        </p:nvSpPr>
        <p:spPr>
          <a:xfrm>
            <a:off x="5891784"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6175248" y="1417320"/>
            <a:ext cx="2511552" cy="1993392"/>
          </a:xfrm>
          <a:prstGeom prst="roundRect">
            <a:avLst>
              <a:gd name="adj" fmla="val 3670"/>
            </a:avLst>
          </a:prstGeom>
          <a:solidFill>
            <a:srgbClr val="512BD4"/>
          </a:solidFill>
          <a:ln w="12700">
            <a:solidFill>
              <a:srgbClr val="512BD4"/>
            </a:solidFill>
            <a:prstDash val="solid"/>
          </a:ln>
        </p:spPr>
      </p:sp>
      <p:sp>
        <p:nvSpPr>
          <p:cNvPr id="17" name="Shape 13"/>
          <p:cNvSpPr/>
          <p:nvPr/>
        </p:nvSpPr>
        <p:spPr>
          <a:xfrm>
            <a:off x="6358128"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6477000" y="1737360"/>
            <a:ext cx="219456" cy="219456"/>
          </a:xfrm>
          <a:prstGeom prst="rect">
            <a:avLst/>
          </a:prstGeom>
        </p:spPr>
      </p:pic>
      <p:sp>
        <p:nvSpPr>
          <p:cNvPr id="19" name="Text 14"/>
          <p:cNvSpPr txBox="1"/>
          <p:nvPr/>
        </p:nvSpPr>
        <p:spPr>
          <a:xfrm>
            <a:off x="6358128" y="2194560"/>
            <a:ext cx="2191512"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The model reads</a:t>
            </a:r>
            <a:endParaRPr lang="en-US" sz="1500" dirty="0"/>
          </a:p>
        </p:txBody>
      </p:sp>
      <p:sp>
        <p:nvSpPr>
          <p:cNvPr id="20" name="Text 15"/>
          <p:cNvSpPr txBox="1"/>
          <p:nvPr/>
        </p:nvSpPr>
        <p:spPr>
          <a:xfrm>
            <a:off x="6358128" y="2606040"/>
            <a:ext cx="2191512"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read_file failed: Path '../secrets' was refused: OutsideWorkspace.</a:t>
            </a:r>
            <a:endParaRPr lang="en-US" sz="1200" dirty="0"/>
          </a:p>
        </p:txBody>
      </p:sp>
      <p:sp>
        <p:nvSpPr>
          <p:cNvPr id="21" name="Text 16"/>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Neither tool contains a try. The seam's never-throw rule did the work.</a:t>
            </a:r>
            <a:endParaRPr lang="en-US" sz="1400" dirty="0"/>
          </a:p>
        </p:txBody>
      </p:sp>
      <p:sp>
        <p:nvSpPr>
          <p:cNvPr id="22"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5b — Reading Files</a:t>
            </a:r>
            <a:endParaRPr lang="en-US" sz="900" dirty="0"/>
          </a:p>
        </p:txBody>
      </p:sp>
      <p:sp>
        <p:nvSpPr>
          <p:cNvPr id="23"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Descriptions are behaviour</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68580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What the model is taught</a:t>
            </a:r>
            <a:endParaRPr lang="en-US" sz="1600" dirty="0"/>
          </a:p>
        </p:txBody>
      </p:sp>
      <p:sp>
        <p:nvSpPr>
          <p:cNvPr id="8" name="Text 5"/>
          <p:cNvSpPr txBox="1"/>
          <p:nvPr/>
        </p:nvSpPr>
        <p:spPr>
          <a:xfrm>
            <a:off x="685800" y="2990088"/>
            <a:ext cx="2057400"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only place it learns search-before-read. Parameter descriptions go into the JSON schema.</a:t>
            </a:r>
            <a:endParaRPr lang="en-US" sz="12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list_files</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"Start here rather than guessing paths."</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read_file</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"Prefer reading one file you have located over listing everything."</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startLine</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"First line to return. Use this to page through a long file."</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Without parameter descriptions the model guesses. With them, it pages unprompted.</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5b — Reading Files</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Implement SearchFiles</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The third tool the syllabus names. Case-insensitive plain text is enough. The finished version is in this Module's folder: write yours, then compare.</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IFileSystemService, FileSystemService, FileTools, ToolCatalog</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466344"/>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Returns matches as path:line: text, so one result says where to read next</a:t>
            </a:r>
            <a:endParaRPr lang="en-US" sz="1300" dirty="0"/>
          </a:p>
        </p:txBody>
      </p:sp>
      <p:sp>
        <p:nvSpPr>
          <p:cNvPr id="13" name="Shape 9"/>
          <p:cNvSpPr/>
          <p:nvPr/>
        </p:nvSpPr>
        <p:spPr>
          <a:xfrm>
            <a:off x="3931920" y="2313432"/>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389510"/>
            <a:ext cx="140452" cy="140452"/>
          </a:xfrm>
          <a:prstGeom prst="rect">
            <a:avLst/>
          </a:prstGeom>
        </p:spPr>
      </p:pic>
      <p:sp>
        <p:nvSpPr>
          <p:cNvPr id="15" name="Text 10"/>
          <p:cNvSpPr txBox="1"/>
          <p:nvPr/>
        </p:nvSpPr>
        <p:spPr>
          <a:xfrm>
            <a:off x="4361688" y="2295144"/>
            <a:ext cx="4325112" cy="466344"/>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Searches only files the sandbox allows, skipping refused ones without failing</a:t>
            </a:r>
            <a:endParaRPr lang="en-US" sz="1300" dirty="0"/>
          </a:p>
        </p:txBody>
      </p:sp>
      <p:sp>
        <p:nvSpPr>
          <p:cNvPr id="16" name="Shape 11"/>
          <p:cNvSpPr/>
          <p:nvPr/>
        </p:nvSpPr>
        <p:spPr>
          <a:xfrm>
            <a:off x="3931920" y="2825496"/>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2901574"/>
            <a:ext cx="140452" cy="140452"/>
          </a:xfrm>
          <a:prstGeom prst="rect">
            <a:avLst/>
          </a:prstGeom>
        </p:spPr>
      </p:pic>
      <p:sp>
        <p:nvSpPr>
          <p:cNvPr id="18" name="Text 12"/>
          <p:cNvSpPr txBox="1"/>
          <p:nvPr/>
        </p:nvSpPr>
        <p:spPr>
          <a:xfrm>
            <a:off x="4361688" y="2807208"/>
            <a:ext cx="4325112" cy="466344"/>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Capped like the others, and says so when it truncates</a:t>
            </a:r>
            <a:endParaRPr lang="en-US" sz="1300" dirty="0"/>
          </a:p>
        </p:txBody>
      </p:sp>
      <p:sp>
        <p:nvSpPr>
          <p:cNvPr id="19" name="Shape 13"/>
          <p:cNvSpPr/>
          <p:nvPr/>
        </p:nvSpPr>
        <p:spPr>
          <a:xfrm>
            <a:off x="3931920" y="3337560"/>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413638"/>
            <a:ext cx="140452" cy="140452"/>
          </a:xfrm>
          <a:prstGeom prst="rect">
            <a:avLst/>
          </a:prstGeom>
        </p:spPr>
      </p:pic>
      <p:sp>
        <p:nvSpPr>
          <p:cNvPr id="21" name="Text 14"/>
          <p:cNvSpPr txBox="1"/>
          <p:nvPr/>
        </p:nvSpPr>
        <p:spPr>
          <a:xfrm>
            <a:off x="4361688" y="3319272"/>
            <a:ext cx="4325112" cy="466344"/>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No match returns a sentence, not an empty string</a:t>
            </a:r>
            <a:endParaRPr lang="en-US" sz="1300" dirty="0"/>
          </a:p>
        </p:txBody>
      </p:sp>
      <p:sp>
        <p:nvSpPr>
          <p:cNvPr id="22" name="Shape 15"/>
          <p:cNvSpPr/>
          <p:nvPr/>
        </p:nvSpPr>
        <p:spPr>
          <a:xfrm>
            <a:off x="3931920" y="3849624"/>
            <a:ext cx="292608" cy="292608"/>
          </a:xfrm>
          <a:prstGeom prst="ellipse">
            <a:avLst/>
          </a:prstGeom>
          <a:solidFill>
            <a:srgbClr val="F5A623"/>
          </a:solidFill>
          <a:ln w="12700">
            <a:solidFill>
              <a:srgbClr val="F5A623"/>
            </a:solidFill>
            <a:prstDash val="solid"/>
          </a:ln>
        </p:spPr>
      </p:sp>
      <p:pic>
        <p:nvPicPr>
          <p:cNvPr id="23" name="Image 5" descr="preencoded.png">    </p:cNvPr>
          <p:cNvPicPr>
            <a:picLocks noChangeAspect="1"/>
          </p:cNvPicPr>
          <p:nvPr/>
        </p:nvPicPr>
        <p:blipFill>
          <a:blip r:embed="rId6"/>
          <a:stretch>
            <a:fillRect/>
          </a:stretch>
        </p:blipFill>
        <p:spPr>
          <a:xfrm>
            <a:off x="4007998" y="3925702"/>
            <a:ext cx="140452" cy="140452"/>
          </a:xfrm>
          <a:prstGeom prst="rect">
            <a:avLst/>
          </a:prstGeom>
        </p:spPr>
      </p:pic>
      <p:sp>
        <p:nvSpPr>
          <p:cNvPr id="24" name="Text 16"/>
          <p:cNvSpPr txBox="1"/>
          <p:nvPr/>
        </p:nvSpPr>
        <p:spPr>
          <a:xfrm>
            <a:off x="4361688" y="3831336"/>
            <a:ext cx="4325112" cy="466344"/>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Its description tells the model to search before reading</a:t>
            </a:r>
            <a:endParaRPr lang="en-US" sz="1300" dirty="0"/>
          </a:p>
        </p:txBody>
      </p:sp>
      <p:sp>
        <p:nvSpPr>
          <p:cNvPr id="25"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5b — Reading Files</a:t>
            </a:r>
            <a:endParaRPr lang="en-US" sz="900" dirty="0"/>
          </a:p>
        </p:txBody>
      </p:sp>
      <p:sp>
        <p:nvSpPr>
          <p:cNvPr id="26"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Answering questions about a repository</a:t>
            </a:r>
            <a:endParaRPr lang="en-US" sz="2800" dirty="0"/>
          </a:p>
        </p:txBody>
      </p:sp>
      <p:sp>
        <p:nvSpPr>
          <p:cNvPr id="4" name="Shape 2"/>
          <p:cNvSpPr/>
          <p:nvPr/>
        </p:nvSpPr>
        <p:spPr>
          <a:xfrm>
            <a:off x="457200" y="1325880"/>
            <a:ext cx="5257800" cy="2651760"/>
          </a:xfrm>
          <a:prstGeom prst="roundRect">
            <a:avLst>
              <a:gd name="adj" fmla="val 2759"/>
            </a:avLst>
          </a:prstGeom>
          <a:solidFill>
            <a:srgbClr val="0F1420"/>
          </a:solidFill>
          <a:ln w="12700">
            <a:solidFill>
              <a:srgbClr val="0F1420"/>
            </a:solidFill>
            <a:prstDash val="solid"/>
          </a:ln>
        </p:spPr>
      </p:sp>
      <p:sp>
        <p:nvSpPr>
          <p:cNvPr id="5" name="Text 3"/>
          <p:cNvSpPr txBox="1"/>
          <p:nvPr/>
        </p:nvSpPr>
        <p:spPr>
          <a:xfrm>
            <a:off x="640080" y="1463040"/>
            <a:ext cx="4892040" cy="237744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&gt; dotnet run --project src/MiniCode.Cli -- D:\Repos\CustomerPortal</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Workspace: D:\Repos\CustomerPortal</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MiniCode. Type 'exit' to quit.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&gt; What kind of project is this, and where does it start?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It's a .NET solution. The entry point is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src/CustomerPortal.Web/Program.cs, which builds a</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WebApplication, registers services, and maps controllers.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There are three projects: CustomerPortal.Web,</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CustomerPortal.Core, and CustomerPortal.Data.</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One listing</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list_files with no arguments, then one read_file</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No bin, obj, .git</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Filtered before the model spent a token on them</a:t>
            </a:r>
            <a:endParaRPr lang="en-US" sz="12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5b — Reading Files</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search_files and read_file</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8a  </a:t>
            </a:r>
            <a:pPr indent="0" marL="0">
              <a:buNone/>
            </a:pPr>
            <a:r>
              <a:rPr lang="en-US" sz="1250" dirty="0">
                <a:solidFill>
                  <a:srgbClr val="FFFFFF"/>
                </a:solidFill>
                <a:latin typeface="Calibri" pitchFamily="34" charset="0"/>
                <a:ea typeface="Calibri" pitchFamily="34" charset="-122"/>
                <a:cs typeface="Calibri" pitchFamily="34" charset="-120"/>
              </a:rPr>
              <a:t>Search-before-read builds its reading plans on these two tools</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Visible truncation notices</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8a  </a:t>
            </a:r>
            <a:pPr indent="0" marL="0">
              <a:buNone/>
            </a:pPr>
            <a:r>
              <a:rPr lang="en-US" sz="1250" dirty="0">
                <a:solidFill>
                  <a:srgbClr val="FFFFFF"/>
                </a:solidFill>
                <a:latin typeface="Calibri" pitchFamily="34" charset="0"/>
                <a:ea typeface="Calibri" pitchFamily="34" charset="-122"/>
                <a:cs typeface="Calibri" pitchFamily="34" charset="-120"/>
              </a:rPr>
              <a:t>A capped plan admits it was capped: the same principle, one level up</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Capped tool output</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11a  </a:t>
            </a:r>
            <a:pPr indent="0" marL="0">
              <a:buNone/>
            </a:pPr>
            <a:r>
              <a:rPr lang="en-US" sz="1250" dirty="0">
                <a:solidFill>
                  <a:srgbClr val="FFFFFF"/>
                </a:solidFill>
                <a:latin typeface="Calibri" pitchFamily="34" charset="0"/>
                <a:ea typeface="Calibri" pitchFamily="34" charset="-122"/>
                <a:cs typeface="Calibri" pitchFamily="34" charset="-120"/>
              </a:rPr>
              <a:t>run_command caps stdout and stderr with a truncation notice too</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Line numbers in results</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10  </a:t>
            </a:r>
            <a:pPr indent="0" marL="0">
              <a:buNone/>
            </a:pPr>
            <a:r>
              <a:rPr lang="en-US" sz="1250" dirty="0">
                <a:solidFill>
                  <a:srgbClr val="FFFFFF"/>
                </a:solidFill>
                <a:latin typeface="Calibri" pitchFamily="34" charset="0"/>
                <a:ea typeface="Calibri" pitchFamily="34" charset="-122"/>
                <a:cs typeface="Calibri" pitchFamily="34" charset="-120"/>
              </a:rPr>
              <a:t>Every edit reports the line it changed, so the model can cite it</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Read-only tools</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15  </a:t>
            </a:r>
            <a:pPr indent="0" marL="0">
              <a:buNone/>
            </a:pPr>
            <a:r>
              <a:rPr lang="en-US" sz="1250" dirty="0">
                <a:solidFill>
                  <a:srgbClr val="FFFFFF"/>
                </a:solidFill>
                <a:latin typeface="Calibri" pitchFamily="34" charset="0"/>
                <a:ea typeface="Calibri" pitchFamily="34" charset="-122"/>
                <a:cs typeface="Calibri" pitchFamily="34" charset="-120"/>
              </a:rPr>
              <a:t>Classed as safe: they never prompt for approval</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Phase 1 Capstone — Repository Explorer (v0.1)</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5b — Reading Files</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5b — Giving the Agent Read Access: Reading Files</dc:title>
  <dc:subject>PptxGenJS Presentation</dc:subject>
  <dc:creator>MiniCode Course</dc:creator>
  <cp:lastModifiedBy>MiniCode Course</cp:lastModifiedBy>
  <cp:revision>1</cp:revision>
  <dcterms:created xsi:type="dcterms:W3CDTF">2026-10-01T23:15:02Z</dcterms:created>
  <dcterms:modified xsi:type="dcterms:W3CDTF">2026-10-01T23:15:02Z</dcterms:modified>
</cp:coreProperties>
</file>