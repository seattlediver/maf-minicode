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narrow, read a little: reading that is why the instructions name the order explicitly, and Module 8 will build the machinery to enforce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PHASE 1 CAPSTONE · V0.1</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Repository Explorer</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MiniCode can now be pointed at a .NET repository it has never seen and asked about it. This Capstone stamps that state as v0.1, tightens the joints between the six Modules that built it, and is honest about the one thing it deliberately cannot do: change anything.</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Module06-RepositoryDiscovery/ — all of Phase 1: the agent and session (2), the five-project layout (3), the sandbox (4), the interception point and read tools (5a, 5b), discovery (6).</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No package changes, and MiniCode.Workspace still has zero package references.</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 Capstone</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five tools, one system</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workspace_root</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describe_repository</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search_files</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list_files</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read_file</a:t>
            </a:r>
            <a:endParaRPr lang="en-US" sz="1050" dirty="0"/>
          </a:p>
        </p:txBody>
      </p:sp>
      <p:sp>
        <p:nvSpPr>
          <p:cNvPr id="14" name="Shape 12"/>
          <p:cNvSpPr/>
          <p:nvPr/>
        </p:nvSpPr>
        <p:spPr>
          <a:xfrm>
            <a:off x="7342632" y="3264408"/>
            <a:ext cx="4014216" cy="0"/>
          </a:xfrm>
          <a:prstGeom prst="line">
            <a:avLst/>
          </a:prstGeom>
          <a:noFill/>
          <a:ln w="9525">
            <a:solidFill>
              <a:srgbClr val="6B7280"/>
            </a:solidFill>
            <a:prstDash val="sysDot"/>
          </a:ln>
        </p:spPr>
      </p:sp>
      <p:sp>
        <p:nvSpPr>
          <p:cNvPr id="15" name="Text 13"/>
          <p:cNvSpPr txBox="1"/>
          <p:nvPr/>
        </p:nvSpPr>
        <p:spPr>
          <a:xfrm>
            <a:off x="7342632" y="3429000"/>
            <a:ext cx="4014216" cy="749808"/>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one file added,</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two changed, twenty-four</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byte-for-byte</a:t>
            </a:r>
            <a:endParaRPr lang="en-US" sz="1050" dirty="0"/>
          </a:p>
        </p:txBody>
      </p:sp>
      <p:sp>
        <p:nvSpPr>
          <p:cNvPr id="16" name="Text 14"/>
          <p:cNvSpPr txBox="1"/>
          <p:nvPr/>
        </p:nvSpPr>
        <p:spPr>
          <a:xfrm>
            <a:off x="7342632" y="4288536"/>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It reads and explains. Nothing else.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 Capstone Consolidates; It Does Not Accumulate</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Module 6 Already Contained Every Project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This folder adds one small file, changes two, and spends the rest of its time proving the whole thing works together.</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If a Capstone needs to introduce a concept, something went wrong earlier.</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Version Numbers Move at Capstones and Nowhere Else</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A Module is a step; a Capstone is a state worth naming. v0.1 is Repository Explorer — MiniCode reads and explains, and does nothing else.</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The number will move four more times, and each time it will mean the tool crossed a line worth marking.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Five Tools Is a System, Not a List</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Each one's description points at the next, which is how the model learns the order without being given a script.</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548640" y="1965960"/>
            <a:ext cx="11064240" cy="411480"/>
          </a:xfrm>
          <a:prstGeom prst="rect">
            <a:avLst/>
          </a:prstGeom>
          <a:solidFill>
            <a:srgbClr val="1E2761"/>
          </a:solidFill>
          <a:ln/>
        </p:spPr>
      </p:sp>
      <p:sp>
        <p:nvSpPr>
          <p:cNvPr id="8" name="Text 6"/>
          <p:cNvSpPr txBox="1"/>
          <p:nvPr/>
        </p:nvSpPr>
        <p:spPr>
          <a:xfrm>
            <a:off x="676656" y="1965960"/>
            <a:ext cx="248716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Tool</a:t>
            </a:r>
            <a:endParaRPr lang="en-US" sz="1150" dirty="0"/>
          </a:p>
        </p:txBody>
      </p:sp>
      <p:sp>
        <p:nvSpPr>
          <p:cNvPr id="9" name="Text 7"/>
          <p:cNvSpPr txBox="1"/>
          <p:nvPr/>
        </p:nvSpPr>
        <p:spPr>
          <a:xfrm>
            <a:off x="3419856" y="1965960"/>
            <a:ext cx="303580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What it says</a:t>
            </a:r>
            <a:endParaRPr lang="en-US" sz="1150" dirty="0"/>
          </a:p>
        </p:txBody>
      </p:sp>
      <p:sp>
        <p:nvSpPr>
          <p:cNvPr id="10" name="Text 8"/>
          <p:cNvSpPr txBox="1"/>
          <p:nvPr/>
        </p:nvSpPr>
        <p:spPr>
          <a:xfrm>
            <a:off x="6711696" y="1965960"/>
            <a:ext cx="477316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Where it sends the model next</a:t>
            </a:r>
            <a:endParaRPr lang="en-US" sz="1150" dirty="0"/>
          </a:p>
        </p:txBody>
      </p:sp>
      <p:sp>
        <p:nvSpPr>
          <p:cNvPr id="11" name="Shape 9"/>
          <p:cNvSpPr/>
          <p:nvPr/>
        </p:nvSpPr>
        <p:spPr>
          <a:xfrm>
            <a:off x="548640" y="2377440"/>
            <a:ext cx="11064240" cy="566928"/>
          </a:xfrm>
          <a:prstGeom prst="rect">
            <a:avLst/>
          </a:prstGeom>
          <a:solidFill>
            <a:srgbClr val="F4F6FB"/>
          </a:solidFill>
          <a:ln/>
        </p:spPr>
      </p:sp>
      <p:sp>
        <p:nvSpPr>
          <p:cNvPr id="12" name="Text 10"/>
          <p:cNvSpPr txBox="1"/>
          <p:nvPr/>
        </p:nvSpPr>
        <p:spPr>
          <a:xfrm>
            <a:off x="676656" y="2377440"/>
            <a:ext cx="2487168" cy="566928"/>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workspace_root</a:t>
            </a:r>
            <a:endParaRPr lang="en-US" sz="950" dirty="0"/>
          </a:p>
        </p:txBody>
      </p:sp>
      <p:sp>
        <p:nvSpPr>
          <p:cNvPr id="13" name="Text 11"/>
          <p:cNvSpPr txBox="1"/>
          <p:nvPr/>
        </p:nvSpPr>
        <p:spPr>
          <a:xfrm>
            <a:off x="3419856" y="2377440"/>
            <a:ext cx="303580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where we are</a:t>
            </a:r>
            <a:endParaRPr lang="en-US" sz="1100" dirty="0"/>
          </a:p>
        </p:txBody>
      </p:sp>
      <p:sp>
        <p:nvSpPr>
          <p:cNvPr id="14" name="Text 12"/>
          <p:cNvSpPr txBox="1"/>
          <p:nvPr/>
        </p:nvSpPr>
        <p:spPr>
          <a:xfrm>
            <a:off x="6711696" y="2377440"/>
            <a:ext cx="477316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every other path is relative to this root</a:t>
            </a:r>
            <a:endParaRPr lang="en-US" sz="1100" dirty="0"/>
          </a:p>
        </p:txBody>
      </p:sp>
      <p:sp>
        <p:nvSpPr>
          <p:cNvPr id="15" name="Shape 13"/>
          <p:cNvSpPr/>
          <p:nvPr/>
        </p:nvSpPr>
        <p:spPr>
          <a:xfrm>
            <a:off x="548640" y="2944368"/>
            <a:ext cx="11064240" cy="566928"/>
          </a:xfrm>
          <a:prstGeom prst="rect">
            <a:avLst/>
          </a:prstGeom>
          <a:solidFill>
            <a:srgbClr val="FFFFFF"/>
          </a:solidFill>
          <a:ln/>
        </p:spPr>
      </p:sp>
      <p:sp>
        <p:nvSpPr>
          <p:cNvPr id="16" name="Text 14"/>
          <p:cNvSpPr txBox="1"/>
          <p:nvPr/>
        </p:nvSpPr>
        <p:spPr>
          <a:xfrm>
            <a:off x="676656" y="2944368"/>
            <a:ext cx="2487168" cy="566928"/>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describe_repository</a:t>
            </a:r>
            <a:endParaRPr lang="en-US" sz="950" dirty="0"/>
          </a:p>
        </p:txBody>
      </p:sp>
      <p:sp>
        <p:nvSpPr>
          <p:cNvPr id="17" name="Text 15"/>
          <p:cNvSpPr txBox="1"/>
          <p:nvPr/>
        </p:nvSpPr>
        <p:spPr>
          <a:xfrm>
            <a:off x="3419856" y="2944368"/>
            <a:ext cx="303580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what the solution is</a:t>
            </a:r>
            <a:endParaRPr lang="en-US" sz="1100" dirty="0"/>
          </a:p>
        </p:txBody>
      </p:sp>
      <p:sp>
        <p:nvSpPr>
          <p:cNvPr id="18" name="Text 16"/>
          <p:cNvSpPr txBox="1"/>
          <p:nvPr/>
        </p:nvSpPr>
        <p:spPr>
          <a:xfrm>
            <a:off x="6711696" y="2944368"/>
            <a:ext cx="477316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call this first on an unfamiliar solution</a:t>
            </a:r>
            <a:endParaRPr lang="en-US" sz="1100" dirty="0"/>
          </a:p>
        </p:txBody>
      </p:sp>
      <p:sp>
        <p:nvSpPr>
          <p:cNvPr id="19" name="Shape 17"/>
          <p:cNvSpPr/>
          <p:nvPr/>
        </p:nvSpPr>
        <p:spPr>
          <a:xfrm>
            <a:off x="548640" y="3511296"/>
            <a:ext cx="11064240" cy="566928"/>
          </a:xfrm>
          <a:prstGeom prst="rect">
            <a:avLst/>
          </a:prstGeom>
          <a:solidFill>
            <a:srgbClr val="F4F6FB"/>
          </a:solidFill>
          <a:ln/>
        </p:spPr>
      </p:sp>
      <p:sp>
        <p:nvSpPr>
          <p:cNvPr id="20" name="Text 18"/>
          <p:cNvSpPr txBox="1"/>
          <p:nvPr/>
        </p:nvSpPr>
        <p:spPr>
          <a:xfrm>
            <a:off x="676656" y="3511296"/>
            <a:ext cx="2487168" cy="566928"/>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search_files</a:t>
            </a:r>
            <a:endParaRPr lang="en-US" sz="950" dirty="0"/>
          </a:p>
        </p:txBody>
      </p:sp>
      <p:sp>
        <p:nvSpPr>
          <p:cNvPr id="21" name="Text 19"/>
          <p:cNvSpPr txBox="1"/>
          <p:nvPr/>
        </p:nvSpPr>
        <p:spPr>
          <a:xfrm>
            <a:off x="3419856" y="3511296"/>
            <a:ext cx="303580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which files mention a thing</a:t>
            </a:r>
            <a:endParaRPr lang="en-US" sz="1100" dirty="0"/>
          </a:p>
        </p:txBody>
      </p:sp>
      <p:sp>
        <p:nvSpPr>
          <p:cNvPr id="22" name="Text 20"/>
          <p:cNvSpPr txBox="1"/>
          <p:nvPr/>
        </p:nvSpPr>
        <p:spPr>
          <a:xfrm>
            <a:off x="6711696" y="3511296"/>
            <a:ext cx="477316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read the ones that actually matched</a:t>
            </a:r>
            <a:endParaRPr lang="en-US" sz="1100" dirty="0"/>
          </a:p>
        </p:txBody>
      </p:sp>
      <p:sp>
        <p:nvSpPr>
          <p:cNvPr id="23" name="Shape 21"/>
          <p:cNvSpPr/>
          <p:nvPr/>
        </p:nvSpPr>
        <p:spPr>
          <a:xfrm>
            <a:off x="548640" y="4078224"/>
            <a:ext cx="11064240" cy="566928"/>
          </a:xfrm>
          <a:prstGeom prst="rect">
            <a:avLst/>
          </a:prstGeom>
          <a:solidFill>
            <a:srgbClr val="FFFFFF"/>
          </a:solidFill>
          <a:ln/>
        </p:spPr>
      </p:sp>
      <p:sp>
        <p:nvSpPr>
          <p:cNvPr id="24" name="Text 22"/>
          <p:cNvSpPr txBox="1"/>
          <p:nvPr/>
        </p:nvSpPr>
        <p:spPr>
          <a:xfrm>
            <a:off x="676656" y="4078224"/>
            <a:ext cx="2487168" cy="566928"/>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list_files</a:t>
            </a:r>
            <a:endParaRPr lang="en-US" sz="950" dirty="0"/>
          </a:p>
        </p:txBody>
      </p:sp>
      <p:sp>
        <p:nvSpPr>
          <p:cNvPr id="25" name="Text 23"/>
          <p:cNvSpPr txBox="1"/>
          <p:nvPr/>
        </p:nvSpPr>
        <p:spPr>
          <a:xfrm>
            <a:off x="3419856" y="4078224"/>
            <a:ext cx="303580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what is there</a:t>
            </a:r>
            <a:endParaRPr lang="en-US" sz="1100" dirty="0"/>
          </a:p>
        </p:txBody>
      </p:sp>
      <p:sp>
        <p:nvSpPr>
          <p:cNvPr id="26" name="Text 24"/>
          <p:cNvSpPr txBox="1"/>
          <p:nvPr/>
        </p:nvSpPr>
        <p:spPr>
          <a:xfrm>
            <a:off x="6711696" y="4078224"/>
            <a:ext cx="477316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narrow it by listing a subdirectory</a:t>
            </a:r>
            <a:endParaRPr lang="en-US" sz="1100" dirty="0"/>
          </a:p>
        </p:txBody>
      </p:sp>
      <p:sp>
        <p:nvSpPr>
          <p:cNvPr id="27" name="Shape 25"/>
          <p:cNvSpPr/>
          <p:nvPr/>
        </p:nvSpPr>
        <p:spPr>
          <a:xfrm>
            <a:off x="548640" y="4645152"/>
            <a:ext cx="11064240" cy="566928"/>
          </a:xfrm>
          <a:prstGeom prst="rect">
            <a:avLst/>
          </a:prstGeom>
          <a:solidFill>
            <a:srgbClr val="F4F6FB"/>
          </a:solidFill>
          <a:ln/>
        </p:spPr>
      </p:sp>
      <p:sp>
        <p:nvSpPr>
          <p:cNvPr id="28" name="Text 26"/>
          <p:cNvSpPr txBox="1"/>
          <p:nvPr/>
        </p:nvSpPr>
        <p:spPr>
          <a:xfrm>
            <a:off x="676656" y="4645152"/>
            <a:ext cx="2487168" cy="566928"/>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read_file</a:t>
            </a:r>
            <a:endParaRPr lang="en-US" sz="950" dirty="0"/>
          </a:p>
        </p:txBody>
      </p:sp>
      <p:sp>
        <p:nvSpPr>
          <p:cNvPr id="29" name="Text 27"/>
          <p:cNvSpPr txBox="1"/>
          <p:nvPr/>
        </p:nvSpPr>
        <p:spPr>
          <a:xfrm>
            <a:off x="3419856" y="4645152"/>
            <a:ext cx="303580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the few that matter</a:t>
            </a:r>
            <a:endParaRPr lang="en-US" sz="1100" dirty="0"/>
          </a:p>
        </p:txBody>
      </p:sp>
      <p:sp>
        <p:nvSpPr>
          <p:cNvPr id="30" name="Text 28"/>
          <p:cNvSpPr txBox="1"/>
          <p:nvPr/>
        </p:nvSpPr>
        <p:spPr>
          <a:xfrm>
            <a:off x="6711696" y="4645152"/>
            <a:ext cx="4773168" cy="566928"/>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page on with startLine when truncated</a:t>
            </a:r>
            <a:endParaRPr lang="en-US" sz="1100" dirty="0"/>
          </a:p>
        </p:txBody>
      </p:sp>
      <p:sp>
        <p:nvSpPr>
          <p:cNvPr id="31" name="Shape 29"/>
          <p:cNvSpPr/>
          <p:nvPr/>
        </p:nvSpPr>
        <p:spPr>
          <a:xfrm>
            <a:off x="548640" y="5349240"/>
            <a:ext cx="11064240" cy="1005840"/>
          </a:xfrm>
          <a:prstGeom prst="roundRect">
            <a:avLst>
              <a:gd name="adj" fmla="val 9091"/>
            </a:avLst>
          </a:prstGeom>
          <a:solidFill>
            <a:srgbClr val="141B49"/>
          </a:solidFill>
          <a:ln w="12700">
            <a:solidFill>
              <a:srgbClr val="3FBFB0"/>
            </a:solidFill>
            <a:prstDash val="solid"/>
          </a:ln>
        </p:spPr>
      </p:sp>
      <p:sp>
        <p:nvSpPr>
          <p:cNvPr id="32" name="Text 30"/>
          <p:cNvSpPr txBox="1"/>
          <p:nvPr/>
        </p:nvSpPr>
        <p:spPr>
          <a:xfrm>
            <a:off x="877824" y="5605272"/>
            <a:ext cx="10405872" cy="4287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Search before read is a budget decision, not a style preference: reading a repository into</a:t>
            </a:r>
            <a:endParaRPr lang="en-US" sz="950" dirty="0"/>
          </a:p>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the window costs tokens the model then has less room to think with. Module 8 builds the machinery.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the Consolidation Pass Actually Found</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3017520"/>
          </a:xfrm>
          <a:prstGeom prst="roundRect">
            <a:avLst>
              <a:gd name="adj" fmla="val 3030"/>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Sandbox Has Quietly Done Four Jobs</a:t>
            </a:r>
            <a:endParaRPr lang="en-US" sz="1550" dirty="0"/>
          </a:p>
        </p:txBody>
      </p:sp>
      <p:sp>
        <p:nvSpPr>
          <p:cNvPr id="10" name="Text 7"/>
          <p:cNvSpPr txBox="1"/>
          <p:nvPr/>
        </p:nvSpPr>
        <p:spPr>
          <a:xfrm>
            <a:off x="868680" y="2606040"/>
            <a:ext cx="4709160" cy="146304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It gate-keeps reads, filters listings, filters discovery, and refuses with a reason a model can act on. It is 78 lines and has not changed since Module 4 — which is the argument for putting a boundary in before the capability that needs it.</a:t>
            </a:r>
            <a:endParaRPr lang="en-US" sz="1350" dirty="0"/>
          </a:p>
        </p:txBody>
      </p:sp>
      <p:sp>
        <p:nvSpPr>
          <p:cNvPr id="11" name="Shape 8"/>
          <p:cNvSpPr/>
          <p:nvPr/>
        </p:nvSpPr>
        <p:spPr>
          <a:xfrm>
            <a:off x="6309360" y="1417320"/>
            <a:ext cx="5349240" cy="3017520"/>
          </a:xfrm>
          <a:prstGeom prst="roundRect">
            <a:avLst>
              <a:gd name="adj" fmla="val 3030"/>
            </a:avLst>
          </a:prstGeom>
          <a:solidFill>
            <a:srgbClr val="3FBFB0"/>
          </a:solidFill>
          <a:ln/>
        </p:spPr>
      </p:sp>
      <p:sp>
        <p:nvSpPr>
          <p:cNvPr id="12" name="Shape 9"/>
          <p:cNvSpPr/>
          <p:nvPr/>
        </p:nvSpPr>
        <p:spPr>
          <a:xfrm>
            <a:off x="6629400" y="1737360"/>
            <a:ext cx="640080" cy="64008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Silent Truncation Is Worse Than a Refusal</a:t>
            </a:r>
            <a:endParaRPr lang="en-US" sz="1550" dirty="0"/>
          </a:p>
        </p:txBody>
      </p:sp>
      <p:sp>
        <p:nvSpPr>
          <p:cNvPr id="15" name="Text 11"/>
          <p:cNvSpPr txBox="1"/>
          <p:nvPr/>
        </p:nvSpPr>
        <p:spPr>
          <a:xfrm>
            <a:off x="6629400" y="2606040"/>
            <a:ext cx="4709160" cy="146304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A refused call tells the model to try something else. A silently shortened one tells it nothing, and it reasons confidently from a partial answer. Both read tools now say when they have held something back — which they did not, until this Capstone checked the claim.</a:t>
            </a:r>
            <a:endParaRPr lang="en-US" sz="1350" dirty="0"/>
          </a:p>
        </p:txBody>
      </p:sp>
      <p:sp>
        <p:nvSpPr>
          <p:cNvPr id="16" name="Shape 12"/>
          <p:cNvSpPr/>
          <p:nvPr/>
        </p:nvSpPr>
        <p:spPr>
          <a:xfrm>
            <a:off x="548640" y="4709160"/>
            <a:ext cx="11064240" cy="1371600"/>
          </a:xfrm>
          <a:prstGeom prst="roundRect">
            <a:avLst>
              <a:gd name="adj" fmla="val 6667"/>
            </a:avLst>
          </a:prstGeom>
          <a:solidFill>
            <a:srgbClr val="1E2761"/>
          </a:solidFill>
          <a:ln w="15875">
            <a:solidFill>
              <a:srgbClr val="F87171"/>
            </a:solidFill>
            <a:prstDash val="solid"/>
          </a:ln>
        </p:spPr>
      </p:sp>
      <p:sp>
        <p:nvSpPr>
          <p:cNvPr id="17" name="Shape 13"/>
          <p:cNvSpPr/>
          <p:nvPr/>
        </p:nvSpPr>
        <p:spPr>
          <a:xfrm>
            <a:off x="841248" y="5001768"/>
            <a:ext cx="566928" cy="566928"/>
          </a:xfrm>
          <a:prstGeom prst="ellipse">
            <a:avLst/>
          </a:prstGeom>
          <a:solidFill>
            <a:srgbClr val="F87171"/>
          </a:solidFill>
          <a:ln/>
        </p:spPr>
      </p:sp>
      <p:pic>
        <p:nvPicPr>
          <p:cNvPr id="18" name="Image 2" descr="preencoded.png">    </p:cNvPr>
          <p:cNvPicPr>
            <a:picLocks noChangeAspect="1"/>
          </p:cNvPicPr>
          <p:nvPr/>
        </p:nvPicPr>
        <p:blipFill>
          <a:blip r:embed="rId3"/>
          <a:stretch>
            <a:fillRect/>
          </a:stretch>
        </p:blipFill>
        <p:spPr>
          <a:xfrm>
            <a:off x="987552" y="5148072"/>
            <a:ext cx="274320" cy="274320"/>
          </a:xfrm>
          <a:prstGeom prst="rect">
            <a:avLst/>
          </a:prstGeom>
        </p:spPr>
      </p:pic>
      <p:sp>
        <p:nvSpPr>
          <p:cNvPr id="19" name="Text 14"/>
          <p:cNvSpPr txBox="1"/>
          <p:nvPr/>
        </p:nvSpPr>
        <p:spPr>
          <a:xfrm>
            <a:off x="1554480" y="491032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What v0.1 cannot do, deliberately</a:t>
            </a:r>
            <a:endParaRPr lang="en-US" sz="1450" dirty="0"/>
          </a:p>
        </p:txBody>
      </p:sp>
      <p:sp>
        <p:nvSpPr>
          <p:cNvPr id="20" name="Text 15"/>
          <p:cNvSpPr txBox="1"/>
          <p:nvPr/>
        </p:nvSpPr>
        <p:spPr>
          <a:xfrm>
            <a:off x="1554480" y="5349240"/>
            <a:ext cx="9784080" cy="54864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It cannot write a file, run a command, use Git, plan, remember anything across a restart, or ask permission — because it never needs permission for anything it can currently do. Phase 2 adds project instructions, context management and planning; Phase 3 is where it first changes something on your disk.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Constant, One Resolved Root, One Paragraph</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3779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src/MiniCode.Cli/MiniCodeVersion.cs</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It moves at a Phase Capstone and nowhere else.</a:t>
            </a:r>
            <a:endParaRPr lang="en-US" sz="950" dirty="0"/>
          </a:p>
        </p:txBody>
      </p:sp>
      <p:sp>
        <p:nvSpPr>
          <p:cNvPr id="8" name="Text 6"/>
          <p:cNvSpPr txBox="1"/>
          <p:nvPr/>
        </p:nvSpPr>
        <p:spPr>
          <a:xfrm>
            <a:off x="877824" y="21610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internal static class MiniCodeVersion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9" name="Text 7"/>
          <p:cNvSpPr txBox="1"/>
          <p:nvPr/>
        </p:nvSpPr>
        <p:spPr>
          <a:xfrm>
            <a:off x="877824" y="246583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public const string Current = "0.1";</a:t>
            </a:r>
            <a:endParaRPr lang="en-US" sz="950" dirty="0"/>
          </a:p>
        </p:txBody>
      </p:sp>
      <p:sp>
        <p:nvSpPr>
          <p:cNvPr id="10" name="Text 8"/>
          <p:cNvSpPr txBox="1"/>
          <p:nvPr/>
        </p:nvSpPr>
        <p:spPr>
          <a:xfrm>
            <a:off x="877824" y="261823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Text 9"/>
          <p:cNvSpPr txBox="1"/>
          <p:nvPr/>
        </p:nvSpPr>
        <p:spPr>
          <a:xfrm>
            <a:off x="877824" y="27706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src/MiniCode.Cli/Program.cs</a:t>
            </a:r>
            <a:endParaRPr lang="en-US" sz="950" dirty="0"/>
          </a:p>
        </p:txBody>
      </p:sp>
      <p:sp>
        <p:nvSpPr>
          <p:cNvPr id="12" name="Text 10"/>
          <p:cNvSpPr txBox="1"/>
          <p:nvPr/>
        </p:nvSpPr>
        <p:spPr>
          <a:xfrm>
            <a:off x="877824" y="3105912"/>
            <a:ext cx="4690872" cy="15971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string root = Path.GetFullPath(args.Length &gt; 0</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args[0] : Directory.GetCurrentDirectory());</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if (!Directory.Exists(root))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Console.Error.WriteLine(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$"Workspace '{root}' does not exist.");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return 1;</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ICodingAgent agent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await CodingAgentFactory.CreateAsync(root);</a:t>
            </a:r>
            <a:endParaRPr lang="en-US" sz="950" dirty="0"/>
          </a:p>
        </p:txBody>
      </p:sp>
      <p:sp>
        <p:nvSpPr>
          <p:cNvPr id="13" name="Text 11"/>
          <p:cNvSpPr txBox="1"/>
          <p:nvPr/>
        </p:nvSpPr>
        <p:spPr>
          <a:xfrm>
            <a:off x="877824" y="46299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Console.WriteLine(</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$"MiniCode v{MiniCodeVersion.Current}");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Console.WriteLine($"Workspace: {root}");</a:t>
            </a:r>
            <a:endParaRPr lang="en-US" sz="950" dirty="0"/>
          </a:p>
        </p:txBody>
      </p:sp>
      <p:sp>
        <p:nvSpPr>
          <p:cNvPr id="14" name="Text 12"/>
          <p:cNvSpPr txBox="1"/>
          <p:nvPr/>
        </p:nvSpPr>
        <p:spPr>
          <a:xfrm>
            <a:off x="877824" y="50871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await new ConsoleChatLoop(agent).RunAsync();</a:t>
            </a:r>
            <a:endParaRPr lang="en-US" sz="950" dirty="0"/>
          </a:p>
        </p:txBody>
      </p:sp>
      <p:sp>
        <p:nvSpPr>
          <p:cNvPr id="15" name="Shape 13"/>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6" name="Text 14"/>
          <p:cNvSpPr txBox="1"/>
          <p:nvPr/>
        </p:nvSpPr>
        <p:spPr>
          <a:xfrm>
            <a:off x="6638544" y="1673352"/>
            <a:ext cx="4690872" cy="5303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src/MiniCode.Agent/CodingAgentFactory.cs — the</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instructions grow from one generic sentence into</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the order Phase 1's tools are meant to be used in.</a:t>
            </a:r>
            <a:endParaRPr lang="en-US" sz="950" dirty="0"/>
          </a:p>
        </p:txBody>
      </p:sp>
      <p:sp>
        <p:nvSpPr>
          <p:cNvPr id="17" name="Text 15"/>
          <p:cNvSpPr txBox="1"/>
          <p:nvPr/>
        </p:nvSpPr>
        <p:spPr>
          <a:xfrm>
            <a:off x="6638544" y="2313432"/>
            <a:ext cx="4690872" cy="8351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private const string Instructions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"You are MiniCode, a concise assistant for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"software developers. You answer questions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"about the repository you are working in,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"using tools rather than guessing. Call "</a:t>
            </a:r>
            <a:endParaRPr lang="en-US" sz="950" dirty="0"/>
          </a:p>
        </p:txBody>
      </p:sp>
      <p:sp>
        <p:nvSpPr>
          <p:cNvPr id="18" name="Text 16"/>
          <p:cNvSpPr txBox="1"/>
          <p:nvPr/>
        </p:nvSpPr>
        <p:spPr>
          <a:xfrm>
            <a:off x="6638544" y="307543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"describe_repository first on an unfamiliar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"solution, then list_files to locate what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"you need, then read_file on the few files "</a:t>
            </a:r>
            <a:endParaRPr lang="en-US" sz="950" dirty="0"/>
          </a:p>
        </p:txBody>
      </p:sp>
      <p:sp>
        <p:nvSpPr>
          <p:cNvPr id="19" name="Text 17"/>
          <p:cNvSpPr txBox="1"/>
          <p:nvPr/>
        </p:nvSpPr>
        <p:spPr>
          <a:xfrm>
            <a:off x="6638544" y="35326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"that matter. Paths are always relative to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"the workspace root. Cite files by path and "</a:t>
            </a:r>
            <a:endParaRPr lang="en-US" sz="950" dirty="0"/>
          </a:p>
        </p:txBody>
      </p:sp>
      <p:sp>
        <p:nvSpPr>
          <p:cNvPr id="20" name="Text 18"/>
          <p:cNvSpPr txBox="1"/>
          <p:nvPr/>
        </p:nvSpPr>
        <p:spPr>
          <a:xfrm>
            <a:off x="6638544" y="383743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"line number. If a tool refuses a call, read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"the message and correct the request rather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"than retrying it unchanged.";</a:t>
            </a:r>
            <a:endParaRPr lang="en-US" sz="950" dirty="0"/>
          </a:p>
        </p:txBody>
      </p:sp>
      <p:sp>
        <p:nvSpPr>
          <p:cNvPr id="21" name="Text 19"/>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Nothing in the tool layer changed to achieve that — the model’s behaviour is being shaped by a paragraph, which is the cheapest lever available and the first one to reach for.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Four Notes on One File Added and Two Changed</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920240"/>
          </a:xfrm>
          <a:prstGeom prst="roundRect">
            <a:avLst>
              <a:gd name="adj" fmla="val 4762"/>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One constant, in one file, printed above the workspace line</a:t>
            </a:r>
            <a:endParaRPr lang="en-US" sz="1250" dirty="0"/>
          </a:p>
        </p:txBody>
      </p:sp>
      <p:sp>
        <p:nvSpPr>
          <p:cNvPr id="10" name="Text 8"/>
          <p:cNvSpPr txBox="1"/>
          <p:nvPr/>
        </p:nvSpPr>
        <p:spPr>
          <a:xfrm>
            <a:off x="137160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Spelled out in three places, a version string disagrees with itself in two of them. The first two lines of every session now say what is running and where — and Module 18 packages the tool by reading this same constant.</a:t>
            </a:r>
            <a:endParaRPr lang="en-US" sz="1050" dirty="0"/>
          </a:p>
        </p:txBody>
      </p:sp>
      <p:sp>
        <p:nvSpPr>
          <p:cNvPr id="11" name="Shape 9"/>
          <p:cNvSpPr/>
          <p:nvPr/>
        </p:nvSpPr>
        <p:spPr>
          <a:xfrm>
            <a:off x="6286500" y="1417320"/>
            <a:ext cx="5326380" cy="1920240"/>
          </a:xfrm>
          <a:prstGeom prst="roundRect">
            <a:avLst>
              <a:gd name="adj" fmla="val 4762"/>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instructions now name the tool order</a:t>
            </a:r>
            <a:endParaRPr lang="en-US" sz="1250" dirty="0"/>
          </a:p>
        </p:txBody>
      </p:sp>
      <p:sp>
        <p:nvSpPr>
          <p:cNvPr id="15" name="Text 13"/>
          <p:cNvSpPr txBox="1"/>
          <p:nvPr/>
        </p:nvSpPr>
        <p:spPr>
          <a:xfrm>
            <a:off x="710946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Nothing in the tool layer changed to achieve it. The banner beneath those two lines is fixed for the whole series and never advertises capabilities.</a:t>
            </a:r>
            <a:endParaRPr lang="en-US" sz="1050" dirty="0"/>
          </a:p>
        </p:txBody>
      </p:sp>
      <p:sp>
        <p:nvSpPr>
          <p:cNvPr id="16" name="Shape 14"/>
          <p:cNvSpPr/>
          <p:nvPr/>
        </p:nvSpPr>
        <p:spPr>
          <a:xfrm>
            <a:off x="548640" y="3474720"/>
            <a:ext cx="5326380" cy="1920240"/>
          </a:xfrm>
          <a:prstGeom prst="roundRect">
            <a:avLst>
              <a:gd name="adj" fmla="val 4762"/>
            </a:avLst>
          </a:prstGeom>
          <a:solidFill>
            <a:srgbClr val="1E2761"/>
          </a:solidFill>
          <a:ln w="12700">
            <a:solidFill>
              <a:srgbClr val="3FBFB0"/>
            </a:solidFill>
            <a:prstDash val="solid"/>
          </a:ln>
        </p:spPr>
      </p:sp>
      <p:sp>
        <p:nvSpPr>
          <p:cNvPr id="17" name="Shape 15"/>
          <p:cNvSpPr/>
          <p:nvPr/>
        </p:nvSpPr>
        <p:spPr>
          <a:xfrm>
            <a:off x="822960" y="3703320"/>
            <a:ext cx="384048" cy="384048"/>
          </a:xfrm>
          <a:prstGeom prst="ellipse">
            <a:avLst/>
          </a:prstGeom>
          <a:solidFill>
            <a:srgbClr val="3FBFB0"/>
          </a:solidFill>
          <a:ln/>
        </p:spPr>
      </p:sp>
      <p:sp>
        <p:nvSpPr>
          <p:cNvPr id="18" name="Text 16"/>
          <p:cNvSpPr txBox="1"/>
          <p:nvPr/>
        </p:nvSpPr>
        <p:spPr>
          <a:xfrm>
            <a:off x="82296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"Correct the request rather than retrying it unchanged"</a:t>
            </a:r>
            <a:endParaRPr lang="en-US" sz="1250" dirty="0"/>
          </a:p>
        </p:txBody>
      </p:sp>
      <p:sp>
        <p:nvSpPr>
          <p:cNvPr id="20" name="Text 18"/>
          <p:cNvSpPr txBox="1"/>
          <p:nvPr/>
        </p:nvSpPr>
        <p:spPr>
          <a:xfrm>
            <a:off x="137160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Aimed squarely at the refusal path. A sandbox rejection carries a reason; that sentence tells the model the reason is worth reading.</a:t>
            </a:r>
            <a:endParaRPr lang="en-US" sz="1050" dirty="0"/>
          </a:p>
        </p:txBody>
      </p:sp>
      <p:sp>
        <p:nvSpPr>
          <p:cNvPr id="21" name="Shape 19"/>
          <p:cNvSpPr/>
          <p:nvPr/>
        </p:nvSpPr>
        <p:spPr>
          <a:xfrm>
            <a:off x="6286500" y="3474720"/>
            <a:ext cx="5326380" cy="1920240"/>
          </a:xfrm>
          <a:prstGeom prst="roundRect">
            <a:avLst>
              <a:gd name="adj" fmla="val 4762"/>
            </a:avLst>
          </a:prstGeom>
          <a:solidFill>
            <a:srgbClr val="1E2761"/>
          </a:solidFill>
          <a:ln w="12700">
            <a:solidFill>
              <a:srgbClr val="3FBFB0"/>
            </a:solidFill>
            <a:prstDash val="solid"/>
          </a:ln>
        </p:spPr>
      </p:sp>
      <p:sp>
        <p:nvSpPr>
          <p:cNvPr id="22" name="Shape 20"/>
          <p:cNvSpPr/>
          <p:nvPr/>
        </p:nvSpPr>
        <p:spPr>
          <a:xfrm>
            <a:off x="6560820" y="3703320"/>
            <a:ext cx="384048" cy="384048"/>
          </a:xfrm>
          <a:prstGeom prst="ellipse">
            <a:avLst/>
          </a:prstGeom>
          <a:solidFill>
            <a:srgbClr val="3FBFB0"/>
          </a:solidFill>
          <a:ln/>
        </p:spPr>
      </p:sp>
      <p:sp>
        <p:nvSpPr>
          <p:cNvPr id="23" name="Text 21"/>
          <p:cNvSpPr txBox="1"/>
          <p:nvPr/>
        </p:nvSpPr>
        <p:spPr>
          <a:xfrm>
            <a:off x="656082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Nothing else in the solution changed</a:t>
            </a:r>
            <a:endParaRPr lang="en-US" sz="1250" dirty="0"/>
          </a:p>
        </p:txBody>
      </p:sp>
      <p:sp>
        <p:nvSpPr>
          <p:cNvPr id="25" name="Text 23"/>
          <p:cNvSpPr txBox="1"/>
          <p:nvPr/>
        </p:nvSpPr>
        <p:spPr>
          <a:xfrm>
            <a:off x="710946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One file added, two changed, twenty-four carried forward byte-for-byte from Module 6 — which is the claim a Capstone exists to be able to make.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Count the Tools; State the Version</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Pointed at its own folder, MiniCode v0.1 describes itself. The tool output below is real, captured from this solution.</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1 CAPSTONE — REPOSITORY EXPLORER (V0.1)</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two, both in MiniCode.Cli</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One: report the tool count at startup — 5 tools available. — sourced from the catalog rather than hard-coded. Two: add a --version argument that prints the version and exits 0 without contacting OpenAI at all.</a:t>
            </a:r>
            <a:endParaRPr lang="en-US" sz="1350" dirty="0"/>
          </a:p>
        </p:txBody>
      </p:sp>
      <p:sp>
        <p:nvSpPr>
          <p:cNvPr id="12" name="Text 9"/>
          <p:cNvSpPr txBox="1"/>
          <p:nvPr/>
        </p:nvSpPr>
        <p:spPr>
          <a:xfrm>
            <a:off x="868680" y="3977640"/>
            <a:ext cx="4709160" cy="21031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MiniCode.Cli cannot see AITool, so ICodingAgent must expose a count — a small, honest widening of the boundary rather than a hole in it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--version works with no OPENAI_API_KEY set, and does not create an agent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Any other argument is still treated as the workspace path</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Module 18 ships MiniCode as a global tool, and one that cannot state its version without credentials is a nuisance</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MiniCode v0.1</a:t>
            </a:r>
            <a:endParaRPr lang="en-US" sz="950" dirty="0"/>
          </a:p>
        </p:txBody>
      </p:sp>
      <p:sp>
        <p:nvSpPr>
          <p:cNvPr id="15" name="Text 12"/>
          <p:cNvSpPr txBox="1"/>
          <p:nvPr/>
        </p:nvSpPr>
        <p:spPr>
          <a:xfrm>
            <a:off x="6638544" y="229565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Workspace: D:\MAF-SmartAgent\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Phase1-Capstone-RepositoryExplorer</a:t>
            </a:r>
            <a:endParaRPr lang="en-US" sz="950" dirty="0"/>
          </a:p>
        </p:txBody>
      </p:sp>
      <p:sp>
        <p:nvSpPr>
          <p:cNvPr id="16" name="Text 13"/>
          <p:cNvSpPr txBox="1"/>
          <p:nvPr/>
        </p:nvSpPr>
        <p:spPr>
          <a:xfrm>
            <a:off x="6638544" y="2625852"/>
            <a:ext cx="4690872" cy="12288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What is this solution, and where would 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start reading?</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It's a five-project .NET 10 solution called</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MiniCode. ... Start at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src/MiniCode.Cli/Program.cs:17, which resolves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the workspace directory and hands it to</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CodingAgentFactory.</a:t>
            </a:r>
            <a:endParaRPr lang="en-US" sz="950" dirty="0"/>
          </a:p>
        </p:txBody>
      </p:sp>
      <p:sp>
        <p:nvSpPr>
          <p:cNvPr id="17" name="Text 14"/>
          <p:cNvSpPr txBox="1"/>
          <p:nvPr/>
        </p:nvSpPr>
        <p:spPr>
          <a:xfrm>
            <a:off x="6638544" y="3781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reading past the end clamps ===</a:t>
            </a:r>
            <a:endParaRPr lang="en-US" sz="950" dirty="0"/>
          </a:p>
        </p:txBody>
      </p:sp>
      <p:sp>
        <p:nvSpPr>
          <p:cNvPr id="18" name="Text 15"/>
          <p:cNvSpPr txBox="1"/>
          <p:nvPr/>
        </p:nvSpPr>
        <p:spPr>
          <a:xfrm>
            <a:off x="6638544" y="41295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11      public const string Current = "0.1";</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12  }</a:t>
            </a:r>
            <a:endParaRPr lang="en-US" sz="950" dirty="0"/>
          </a:p>
        </p:txBody>
      </p:sp>
      <p:sp>
        <p:nvSpPr>
          <p:cNvPr id="19" name="Text 16"/>
          <p:cNvSpPr txBox="1"/>
          <p:nvPr/>
        </p:nvSpPr>
        <p:spPr>
          <a:xfrm>
            <a:off x="6638544" y="44597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and the sandbox refuses with a reason ===</a:t>
            </a:r>
            <a:endParaRPr lang="en-US" sz="950" dirty="0"/>
          </a:p>
        </p:txBody>
      </p:sp>
      <p:sp>
        <p:nvSpPr>
          <p:cNvPr id="20" name="Text 17"/>
          <p:cNvSpPr txBox="1"/>
          <p:nvPr/>
        </p:nvSpPr>
        <p:spPr>
          <a:xfrm>
            <a:off x="6638544" y="4807712"/>
            <a:ext cx="4690872" cy="403352"/>
          </a:xfrm>
          <a:prstGeom prst="rect">
            <a:avLst/>
          </a:prstGeom>
          <a:noFill/>
          <a:ln/>
        </p:spPr>
        <p:txBody>
          <a:bodyPr wrap="square" lIns="0" tIns="0" rIns="0" bIns="0" rtlCol="0" anchor="t"/>
          <a:lstStyle/>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read_file failed: Path '../secrets.txt' was</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refused: OutsideWorkspace.</a:t>
            </a:r>
            <a:endParaRPr lang="en-US" sz="900" dirty="0"/>
          </a:p>
        </p:txBody>
      </p:sp>
      <p:sp>
        <p:nvSpPr>
          <p:cNvPr id="21" name="Text 18"/>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That is v0.1: it can read a repository it has never seen, explain the architecture, cite a file and a line — and it cannot touch anything.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2026-09-10T20:40:42Z</dcterms:created>
  <dcterms:modified xsi:type="dcterms:W3CDTF">2026-09-10T20:40:42Z</dcterms:modified>
</cp:coreProperties>
</file>