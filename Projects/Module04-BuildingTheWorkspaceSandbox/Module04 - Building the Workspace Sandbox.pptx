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give MiniCode a boundary before we give it hands. MiniCode.Workspace decides whether a path the model supplied is inside the repository, and refuses everything else. This is the class every file operation in the rest of the course goes through, and it is deliberately the smallest, dullest, most testable thing in the solution. We start from Module 3's five projects. MiniCode.Workspace is one of the two leaves, with no package references and no project references, and this Module is what fills it. Setup: nothing new. MiniCode.Workspace needs no packages; everything here comes from System.IO in the base class library. That is not an accident: a dependency you have not read is not a boundary, it is a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Soon the agent gets tools that read files, in Module 5b, and in Module 10 tools that write them. The path those tools receive is a string a language model produced. It may be a mistake, or it may be text a repository's own README told the model to use. Either way, one class has to be the thing that says no, and it has to be small enough that you can read it and believe it. It needs no packages: a dependency you have not read is not a boundary, it is a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workspace root is the only absolute path in the system. Everything the agent says is relative to it. That single convention is what makes the rest checkable: if the agent can only express relative paths, escaping means producing a relative path that resolves outside the root, and there are only a handful of ways to try that. An absolute path inside the workspace is still refused, because the agent's contract is that it speaks in relative paths. Accepting absolute paths when they happen to be inside is how a sandbox acquires a second code path, and a second code path is how it eventually acquires a 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Normalize, then compare. Never compare raw strings. ../../etc/passwd and src/../../../etc/passwd are the same place. Path.GetFullPath is what collapses .. and settles separators, and comparison only means anything afterwards. GetFullPath is wrapped in a try, because a path with illegal characters throws rather than returning something useless; that becomes Malformed, not a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trailing separator is the subtle one. If the root is C:\repo and you check whether a resolved path starts with C:\repo, then C:\repo-evil\secrets.txt passes; it really does start with those characters. Comparing against C:\repo\ closes it. This is a one-character bug that hands over the whole filesystem. The constructor resolves the root once and keeps a second copy with a trailing separator. Two fields, and the second one is the whole prefix defence. The prefix check tests the separator-terminated root, plus an equality case so the root itself is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Rooted input must be refused before it is combined, not after. Path.Combine of C:\repo and \Windows\System32 returns \Windows\System32: it discards the root when the second argument is rooted. So a path like \Windows never looks like traversal at all; there is no .. to catch. It has to be rejected on the way in. Path.IsPathRooted catches \Windows and /etc; the colon check catches Windows drive-relative forms like C:notes.txt.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Refusing is not an error. ValidatePath returns a result carrying the reason, and never throws. Its consumer is IsPathAllowed, which Module 5b uses to filter file listings, so bin, obj and .git never appear. ResolvePath throws instead. In Module 5b the read tools go through ResolvePath, and it is Module 5a's invoker that catches the exception and hands the model a sentence it can act on, rather than costing the agent its turn. ResolvePath and IsPathAllowed are one-liners over ValidatePath. Three public members, one implementation of the decision, which is what makes this class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ValidatePath refuses in the order the attacks arrive. Empty first, then rooted input, then normalization, then the prefix comparison, then the ignore list. Each check is cheap and each one is a different mistake. Each refusal carries a PathRejectionReason: Empty, NotRelative, Malformed, OutsideWorkspace or IgnoredDirectory. A path that survives all of them is allowed, and the result carries its full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directories are inside the root and still off limits: .git, bin, obj, node_modules. .git is the dangerous one: an agent writing there can rewrite history rather than code. The ignore list runs over path segments, not the whole string, so a file legitimately called bind.cs is fine, while src/bin/tool.dll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sensitivity is the platform's business, not ours. Program.cs and program.cs are one file on Windows and two on Linux. Choose the comparison from OperatingSystem.IsWindows() rather than picking one and being wrong half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wire the root into startup. Program.cs currently constructs the agent and nothing else. Take an optional first command-line argument as the workspace root, default to the current directory, construct a Workspace from it, and print Workspace: &lt;root&gt; under the banner. The type is MiniCode.Workspace.Workspace: the class and its namespace share a name, so consumers qualify it. Module 5a is where the workspace is handed to the first tool; compare your version against Module 5a's Program.cs. Two: add binary-file detection. Add bool IsBinaryFile(string? path) to IWorkspace and Workspace. Read the first 8 KB and treat the file as binary if it contains a NUL byte. A .cs file is not binary; a .dll is; a file outside the workspace is refused rather than answered; a file that does not exist is not an exception. Three, a stretch: support .gitignore. Read the file at the workspace root and refuse paths it matches, with a new PathRejectionReason. Handle only leading-slash anchoring, trailing-slash directory patterns, and * within a segment, and say in your own comments which real gitignore features you are not implementing. A pattern build/ refuses build/out.txt but not src/build.cs; a pattern *.tmp refuses notes.tmp at any depth; an empty or missing .gitignore refuses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 loop is untouched, so MiniCode still behaves exactly as it did in Module 3; the sandbox is not wired to anything until Module 5a. What the class does is best seen by checking a handful of paths against a root of D:\Repos\CustomerPortal. src/Program.cs and ./src/../src/Program.cs are allowed. The traversal to the hosts file is OutsideWorkspace. \Windows\System32, the absolute path to Program.cs, and C:notes.txt are NotRelative. .git/config and src/obj/Debug/app.dll are IgnoredDirectory. The empty string is Empty. The slide shows the lesson's results table as rows, path and reason, with the IsAllowed column dropped: None means allowed. The row worth pausing on is the absolute path inside the workspace: it is still refused, because the agent's contract is that it speaks in relative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the sandbox goes. In Module 5a the first tool, workspace_root, tells the model that every other path is relative to the root, which is this lesson's contract. In Module 5b IsPathAllowed filters the file listings, and the read tools call ResolvePath; its refusal reaches the model as a sentence through Module 5a's invoker, with no extra error-handling code. Module 5b also splits the two jobs: MiniCode.Workspace decides what is legal, MiniCode.Tools decides what is visible. And in Module 10, every write goes through ResolvePath exactly as every read does. This ships in the Phase 1 Capstone, Repository Explorer, version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4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Building the Workspace Sandbox</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boundary before the agent gets hands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Module03-DesigningTheMiniCodeSolution/</a:t>
            </a:r>
            <a:endParaRPr lang="en-US" sz="105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Module04-BuildingTheWorkspaceSandbox/</a:t>
            </a:r>
            <a:endParaRPr lang="en-US" sz="105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the boundary has to exist before any file tool</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Treating the workspace root as the only absolute path</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Normalizing paths before comparing them</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trailing-separator and rooted-input traps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Refusing with a result instead of an exception</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4 — Building the Workspace Sandbox</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boundary comes before the capability</a:t>
            </a:r>
            <a:endParaRPr lang="en-US" sz="2800" dirty="0"/>
          </a:p>
        </p:txBody>
      </p:sp>
      <p:sp>
        <p:nvSpPr>
          <p:cNvPr id="4" name="Shape 2"/>
          <p:cNvSpPr/>
          <p:nvPr/>
        </p:nvSpPr>
        <p:spPr>
          <a:xfrm>
            <a:off x="457200" y="1417320"/>
            <a:ext cx="2511552" cy="1801368"/>
          </a:xfrm>
          <a:prstGeom prst="roundRect">
            <a:avLst>
              <a:gd name="adj" fmla="val 406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 model's string</a:t>
            </a:r>
            <a:endParaRPr lang="en-US" sz="1500" dirty="0"/>
          </a:p>
        </p:txBody>
      </p:sp>
      <p:sp>
        <p:nvSpPr>
          <p:cNvPr id="8" name="Text 5"/>
          <p:cNvSpPr txBox="1"/>
          <p:nvPr/>
        </p:nvSpPr>
        <p:spPr>
          <a:xfrm>
            <a:off x="640080"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mistake, or text a README told the model to use</a:t>
            </a:r>
            <a:endParaRPr lang="en-US" sz="1200" dirty="0"/>
          </a:p>
        </p:txBody>
      </p:sp>
      <p:sp>
        <p:nvSpPr>
          <p:cNvPr id="9" name="Shape 6"/>
          <p:cNvSpPr/>
          <p:nvPr/>
        </p:nvSpPr>
        <p:spPr>
          <a:xfrm>
            <a:off x="3032760"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801368"/>
          </a:xfrm>
          <a:prstGeom prst="roundRect">
            <a:avLst>
              <a:gd name="adj" fmla="val 4061"/>
            </a:avLst>
          </a:prstGeom>
          <a:solidFill>
            <a:srgbClr val="512BD4"/>
          </a:solidFill>
          <a:ln w="12700">
            <a:solidFill>
              <a:srgbClr val="512BD4"/>
            </a:solidFill>
            <a:prstDash val="solid"/>
          </a:ln>
        </p:spPr>
      </p:sp>
      <p:sp>
        <p:nvSpPr>
          <p:cNvPr id="11" name="Shape 8"/>
          <p:cNvSpPr/>
          <p:nvPr/>
        </p:nvSpPr>
        <p:spPr>
          <a:xfrm>
            <a:off x="3499104"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Workspace</a:t>
            </a:r>
            <a:endParaRPr lang="en-US" sz="1500" dirty="0"/>
          </a:p>
        </p:txBody>
      </p:sp>
      <p:sp>
        <p:nvSpPr>
          <p:cNvPr id="14" name="Text 10"/>
          <p:cNvSpPr txBox="1"/>
          <p:nvPr/>
        </p:nvSpPr>
        <p:spPr>
          <a:xfrm>
            <a:off x="3499104" y="2606040"/>
            <a:ext cx="2191512"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small class that says no, small enough to believe</a:t>
            </a:r>
            <a:endParaRPr lang="en-US" sz="1200" dirty="0"/>
          </a:p>
        </p:txBody>
      </p:sp>
      <p:sp>
        <p:nvSpPr>
          <p:cNvPr id="15" name="Shape 11"/>
          <p:cNvSpPr/>
          <p:nvPr/>
        </p:nvSpPr>
        <p:spPr>
          <a:xfrm>
            <a:off x="5891784"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801368"/>
          </a:xfrm>
          <a:prstGeom prst="roundRect">
            <a:avLst>
              <a:gd name="adj" fmla="val 4061"/>
            </a:avLst>
          </a:prstGeom>
          <a:solidFill>
            <a:srgbClr val="EFEBFC"/>
          </a:solidFill>
          <a:ln w="12700">
            <a:solidFill>
              <a:srgbClr val="EFEBFC"/>
            </a:solidFill>
            <a:prstDash val="solid"/>
          </a:ln>
        </p:spPr>
      </p:sp>
      <p:sp>
        <p:nvSpPr>
          <p:cNvPr id="17" name="Shape 13"/>
          <p:cNvSpPr/>
          <p:nvPr/>
        </p:nvSpPr>
        <p:spPr>
          <a:xfrm>
            <a:off x="6358128"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File tools</a:t>
            </a:r>
            <a:endParaRPr lang="en-US" sz="1500" dirty="0"/>
          </a:p>
        </p:txBody>
      </p:sp>
      <p:sp>
        <p:nvSpPr>
          <p:cNvPr id="20" name="Text 15"/>
          <p:cNvSpPr txBox="1"/>
          <p:nvPr/>
        </p:nvSpPr>
        <p:spPr>
          <a:xfrm>
            <a:off x="6358128"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Reads arrive in Module 5b, writes in Module 10</a:t>
            </a:r>
            <a:endParaRPr lang="en-US" sz="1200" dirty="0"/>
          </a:p>
        </p:txBody>
      </p:sp>
      <p:sp>
        <p:nvSpPr>
          <p:cNvPr id="21" name="Text 16"/>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package references: everything comes from System.IO.</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4 — Building the Workspace Sandbox</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root is the only absolute path</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Workspace root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Resolved once, in the constructor. Everything else is relative to it.</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Agent speaks</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Relative paths only</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Escaping</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Means a relative path that resolves outside the root</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Absolute input</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Refused, even when it points inside the root</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convention makes the rest checkable: only a handful of ways to escape.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4 — Building the Workspace Sandbox</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Normalize, then compare</a:t>
            </a:r>
            <a:endParaRPr lang="en-US" sz="2800" dirty="0"/>
          </a:p>
        </p:txBody>
      </p:sp>
      <p:sp>
        <p:nvSpPr>
          <p:cNvPr id="4" name="Shape 2"/>
          <p:cNvSpPr/>
          <p:nvPr/>
        </p:nvSpPr>
        <p:spPr>
          <a:xfrm>
            <a:off x="457200" y="1371600"/>
            <a:ext cx="3931920" cy="2103120"/>
          </a:xfrm>
          <a:prstGeom prst="roundRect">
            <a:avLst>
              <a:gd name="adj" fmla="val 3478"/>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Raw strings</a:t>
            </a:r>
            <a:endParaRPr lang="en-US" sz="1700" dirty="0"/>
          </a:p>
        </p:txBody>
      </p:sp>
      <p:sp>
        <p:nvSpPr>
          <p:cNvPr id="8" name="Text 5"/>
          <p:cNvSpPr txBox="1"/>
          <p:nvPr/>
        </p:nvSpPr>
        <p:spPr>
          <a:xfrm>
            <a:off x="685800" y="2194560"/>
            <a:ext cx="3474720" cy="3657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Two spellings look like two places</a:t>
            </a:r>
            <a:endParaRPr lang="en-US" sz="1300" dirty="0"/>
          </a:p>
        </p:txBody>
      </p:sp>
      <p:sp>
        <p:nvSpPr>
          <p:cNvPr id="9" name="Shape 6"/>
          <p:cNvSpPr/>
          <p:nvPr/>
        </p:nvSpPr>
        <p:spPr>
          <a:xfrm>
            <a:off x="685800" y="2633472"/>
            <a:ext cx="3474720" cy="640080"/>
          </a:xfrm>
          <a:prstGeom prst="roundRect">
            <a:avLst>
              <a:gd name="adj" fmla="val 11429"/>
            </a:avLst>
          </a:prstGeom>
          <a:solidFill>
            <a:srgbClr val="0F1420"/>
          </a:solidFill>
          <a:ln w="12700">
            <a:solidFill>
              <a:srgbClr val="0F1420"/>
            </a:solidFill>
            <a:prstDash val="solid"/>
          </a:ln>
        </p:spPr>
      </p:sp>
      <p:sp>
        <p:nvSpPr>
          <p:cNvPr id="10" name="Text 7"/>
          <p:cNvSpPr txBox="1"/>
          <p:nvPr/>
        </p:nvSpPr>
        <p:spPr>
          <a:xfrm>
            <a:off x="868680" y="2770632"/>
            <a:ext cx="3108960" cy="3657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../../etc/passwd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src/../../../etc/passwd</a:t>
            </a:r>
            <a:endParaRPr lang="en-US" sz="1100" dirty="0"/>
          </a:p>
        </p:txBody>
      </p:sp>
      <p:sp>
        <p:nvSpPr>
          <p:cNvPr id="11" name="Shape 8"/>
          <p:cNvSpPr/>
          <p:nvPr/>
        </p:nvSpPr>
        <p:spPr>
          <a:xfrm>
            <a:off x="4754880" y="1371600"/>
            <a:ext cx="3931920" cy="2103120"/>
          </a:xfrm>
          <a:prstGeom prst="roundRect">
            <a:avLst>
              <a:gd name="adj" fmla="val 3478"/>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16A34A"/>
          </a:solidFill>
          <a:ln w="12700">
            <a:solidFill>
              <a:srgbClr val="16A34A"/>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After Path.GetFullPath</a:t>
            </a:r>
            <a:endParaRPr lang="en-US" sz="1700" dirty="0"/>
          </a:p>
        </p:txBody>
      </p:sp>
      <p:sp>
        <p:nvSpPr>
          <p:cNvPr id="15" name="Text 11"/>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 collapsed, separators settled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Both spellings resolve to one full path</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Only now does comparing mean anything</a:t>
            </a:r>
            <a:endParaRPr lang="en-US" sz="1300" dirty="0"/>
          </a:p>
        </p:txBody>
      </p:sp>
      <p:sp>
        <p:nvSpPr>
          <p:cNvPr id="16" name="Text 12"/>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malformed path becomes Malformed, not a crash.</a:t>
            </a:r>
            <a:endParaRPr lang="en-US" sz="1400" dirty="0"/>
          </a:p>
        </p:txBody>
      </p:sp>
      <p:sp>
        <p:nvSpPr>
          <p:cNvPr id="17"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4 — Building the Workspace Sandbox</a:t>
            </a:r>
            <a:endParaRPr lang="en-US" sz="900" dirty="0"/>
          </a:p>
        </p:txBody>
      </p:sp>
      <p:sp>
        <p:nvSpPr>
          <p:cNvPr id="18"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trailing separator is the subtle one</a:t>
            </a:r>
            <a:endParaRPr lang="en-US" sz="2800" dirty="0"/>
          </a:p>
        </p:txBody>
      </p:sp>
      <p:sp>
        <p:nvSpPr>
          <p:cNvPr id="4" name="Shape 2"/>
          <p:cNvSpPr/>
          <p:nvPr/>
        </p:nvSpPr>
        <p:spPr>
          <a:xfrm>
            <a:off x="457200" y="1417320"/>
            <a:ext cx="2511552" cy="1993392"/>
          </a:xfrm>
          <a:prstGeom prst="roundRect">
            <a:avLst>
              <a:gd name="adj" fmla="val 3670"/>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Root C:\repo</a:t>
            </a:r>
            <a:endParaRPr lang="en-US" sz="1500" dirty="0"/>
          </a:p>
        </p:txBody>
      </p:sp>
      <p:sp>
        <p:nvSpPr>
          <p:cNvPr id="8" name="Text 5"/>
          <p:cNvSpPr txBox="1"/>
          <p:nvPr/>
        </p:nvSpPr>
        <p:spPr>
          <a:xfrm>
            <a:off x="640080"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Check: does the path start with it?</a:t>
            </a:r>
            <a:endParaRPr lang="en-US" sz="1200" dirty="0"/>
          </a:p>
        </p:txBody>
      </p:sp>
      <p:sp>
        <p:nvSpPr>
          <p:cNvPr id="9" name="Shape 6"/>
          <p:cNvSpPr/>
          <p:nvPr/>
        </p:nvSpPr>
        <p:spPr>
          <a:xfrm>
            <a:off x="303276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993392"/>
          </a:xfrm>
          <a:prstGeom prst="roundRect">
            <a:avLst>
              <a:gd name="adj" fmla="val 3670"/>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C:\repo-evil\...</a:t>
            </a:r>
            <a:endParaRPr lang="en-US" sz="1400" dirty="0"/>
          </a:p>
        </p:txBody>
      </p:sp>
      <p:sp>
        <p:nvSpPr>
          <p:cNvPr id="14" name="Text 10"/>
          <p:cNvSpPr txBox="1"/>
          <p:nvPr/>
        </p:nvSpPr>
        <p:spPr>
          <a:xfrm>
            <a:off x="3499104" y="2606040"/>
            <a:ext cx="219151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Passes. It really does start with those characters.</a:t>
            </a:r>
            <a:endParaRPr lang="en-US" sz="1200" dirty="0"/>
          </a:p>
        </p:txBody>
      </p:sp>
      <p:sp>
        <p:nvSpPr>
          <p:cNvPr id="15" name="Shape 11"/>
          <p:cNvSpPr/>
          <p:nvPr/>
        </p:nvSpPr>
        <p:spPr>
          <a:xfrm>
            <a:off x="5891784"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993392"/>
          </a:xfrm>
          <a:prstGeom prst="roundRect">
            <a:avLst>
              <a:gd name="adj" fmla="val 3670"/>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Compare C:\repo\</a:t>
            </a:r>
            <a:endParaRPr lang="en-US" sz="1500" dirty="0"/>
          </a:p>
        </p:txBody>
      </p:sp>
      <p:sp>
        <p:nvSpPr>
          <p:cNvPr id="20" name="Text 15"/>
          <p:cNvSpPr txBox="1"/>
          <p:nvPr/>
        </p:nvSpPr>
        <p:spPr>
          <a:xfrm>
            <a:off x="6358128" y="2606040"/>
            <a:ext cx="219151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sibling fails. The root itself is checked by equality.</a:t>
            </a:r>
            <a:endParaRPr lang="en-US" sz="1200" dirty="0"/>
          </a:p>
        </p:txBody>
      </p:sp>
      <p:sp>
        <p:nvSpPr>
          <p:cNvPr id="21" name="Text 1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one-character bug that hands over the whole filesystem.</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4 — Building the Workspace Sandbox</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Refuse rooted input before combining</a:t>
            </a:r>
            <a:endParaRPr lang="en-US" sz="2800" dirty="0"/>
          </a:p>
        </p:txBody>
      </p:sp>
      <p:sp>
        <p:nvSpPr>
          <p:cNvPr id="4" name="Shape 2"/>
          <p:cNvSpPr/>
          <p:nvPr/>
        </p:nvSpPr>
        <p:spPr>
          <a:xfrm>
            <a:off x="457200" y="1371600"/>
            <a:ext cx="2560320" cy="1737360"/>
          </a:xfrm>
          <a:prstGeom prst="roundRect">
            <a:avLst>
              <a:gd name="adj" fmla="val 421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200" b="1" dirty="0">
                <a:solidFill>
                  <a:srgbClr val="1F2937"/>
                </a:solidFill>
                <a:latin typeface="Courier New" pitchFamily="34" charset="0"/>
                <a:ea typeface="Courier New" pitchFamily="34" charset="-122"/>
                <a:cs typeface="Courier New" pitchFamily="34" charset="-120"/>
              </a:rPr>
              <a:t>\Windows\System32</a:t>
            </a:r>
            <a:endParaRPr lang="en-US" sz="1200" dirty="0"/>
          </a:p>
        </p:txBody>
      </p:sp>
      <p:sp>
        <p:nvSpPr>
          <p:cNvPr id="8" name="Text 5"/>
          <p:cNvSpPr txBox="1"/>
          <p:nvPr/>
        </p:nvSpPr>
        <p:spPr>
          <a:xfrm>
            <a:off x="64008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Rooted input from the model</a:t>
            </a:r>
            <a:endParaRPr lang="en-US" sz="1200" dirty="0"/>
          </a:p>
        </p:txBody>
      </p:sp>
      <p:sp>
        <p:nvSpPr>
          <p:cNvPr id="9" name="Shape 6"/>
          <p:cNvSpPr/>
          <p:nvPr/>
        </p:nvSpPr>
        <p:spPr>
          <a:xfrm>
            <a:off x="3291840" y="1371600"/>
            <a:ext cx="2560320" cy="1737360"/>
          </a:xfrm>
          <a:prstGeom prst="roundRect">
            <a:avLst>
              <a:gd name="adj" fmla="val 421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Path.Combine</a:t>
            </a:r>
            <a:endParaRPr lang="en-US" sz="1500" dirty="0"/>
          </a:p>
        </p:txBody>
      </p:sp>
      <p:sp>
        <p:nvSpPr>
          <p:cNvPr id="13" name="Text 9"/>
          <p:cNvSpPr txBox="1"/>
          <p:nvPr/>
        </p:nvSpPr>
        <p:spPr>
          <a:xfrm>
            <a:off x="347472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Discards the root when its second argument is rooted</a:t>
            </a:r>
            <a:endParaRPr lang="en-US" sz="1200" dirty="0"/>
          </a:p>
        </p:txBody>
      </p:sp>
      <p:sp>
        <p:nvSpPr>
          <p:cNvPr id="14" name="Shape 10"/>
          <p:cNvSpPr/>
          <p:nvPr/>
        </p:nvSpPr>
        <p:spPr>
          <a:xfrm>
            <a:off x="6126480" y="1371600"/>
            <a:ext cx="2560320" cy="1737360"/>
          </a:xfrm>
          <a:prstGeom prst="roundRect">
            <a:avLst>
              <a:gd name="adj" fmla="val 4211"/>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Calibri" pitchFamily="34" charset="0"/>
                <a:ea typeface="Calibri" pitchFamily="34" charset="-122"/>
                <a:cs typeface="Calibri" pitchFamily="34" charset="-120"/>
              </a:rPr>
              <a:t>Refuse on the way in</a:t>
            </a:r>
            <a:endParaRPr lang="en-US" sz="1400" dirty="0"/>
          </a:p>
        </p:txBody>
      </p:sp>
      <p:sp>
        <p:nvSpPr>
          <p:cNvPr id="18" name="Text 13"/>
          <p:cNvSpPr txBox="1"/>
          <p:nvPr/>
        </p:nvSpPr>
        <p:spPr>
          <a:xfrm>
            <a:off x="6309360" y="2057400"/>
            <a:ext cx="219456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There is no ".." to catch later</a:t>
            </a:r>
            <a:endParaRPr lang="en-US" sz="1200" dirty="0"/>
          </a:p>
        </p:txBody>
      </p:sp>
      <p:sp>
        <p:nvSpPr>
          <p:cNvPr id="19" name="Text 14"/>
          <p:cNvSpPr txBox="1"/>
          <p:nvPr/>
        </p:nvSpPr>
        <p:spPr>
          <a:xfrm>
            <a:off x="457200" y="33375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 check also catches drive-relative forms like C:notes.txt.</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4 — Building the Workspace Sandbox</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Refusing is not an error</a:t>
            </a:r>
            <a:endParaRPr lang="en-US" sz="2800" dirty="0"/>
          </a:p>
        </p:txBody>
      </p:sp>
      <p:sp>
        <p:nvSpPr>
          <p:cNvPr id="4" name="Shape 2"/>
          <p:cNvSpPr/>
          <p:nvPr/>
        </p:nvSpPr>
        <p:spPr>
          <a:xfrm>
            <a:off x="457200" y="1371600"/>
            <a:ext cx="3931920" cy="1828800"/>
          </a:xfrm>
          <a:prstGeom prst="roundRect">
            <a:avLst>
              <a:gd name="adj" fmla="val 400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ValidatePath</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Returns a reason, never throws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Backs IsPathAllowed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Module 5b filters listings with it</a:t>
            </a:r>
            <a:endParaRPr lang="en-US" sz="1300" dirty="0"/>
          </a:p>
        </p:txBody>
      </p:sp>
      <p:sp>
        <p:nvSpPr>
          <p:cNvPr id="9" name="Shape 6"/>
          <p:cNvSpPr/>
          <p:nvPr/>
        </p:nvSpPr>
        <p:spPr>
          <a:xfrm>
            <a:off x="4754880" y="1371600"/>
            <a:ext cx="3931920" cy="1828800"/>
          </a:xfrm>
          <a:prstGeom prst="roundRect">
            <a:avLst>
              <a:gd name="adj" fmla="val 400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6B7280"/>
          </a:solidFill>
          <a:ln w="12700">
            <a:solidFill>
              <a:srgbClr val="6B7280"/>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ResolvePath</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Throws on refusal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For internal callers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There, a refusal is a bug</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IsPathAllowed and ResolvePath are one-liners over ValidatePath: one decision.</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4 — Building the Workspace Sandbox</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WALKTHROUGH</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Checks in the order the attacks arrive</a:t>
            </a:r>
            <a:endParaRPr lang="en-US" sz="2800" dirty="0"/>
          </a:p>
        </p:txBody>
      </p:sp>
      <p:sp>
        <p:nvSpPr>
          <p:cNvPr id="4" name="Shape 2"/>
          <p:cNvSpPr/>
          <p:nvPr/>
        </p:nvSpPr>
        <p:spPr>
          <a:xfrm>
            <a:off x="457200" y="1371600"/>
            <a:ext cx="256032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Empty</a:t>
            </a:r>
            <a:endParaRPr lang="en-US" sz="1500" dirty="0"/>
          </a:p>
        </p:txBody>
      </p:sp>
      <p:sp>
        <p:nvSpPr>
          <p:cNvPr id="8" name="Text 5"/>
          <p:cNvSpPr txBox="1"/>
          <p:nvPr/>
        </p:nvSpPr>
        <p:spPr>
          <a:xfrm>
            <a:off x="64008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Null, empty or whitespace</a:t>
            </a:r>
            <a:endParaRPr lang="en-US" sz="1200" dirty="0"/>
          </a:p>
        </p:txBody>
      </p:sp>
      <p:sp>
        <p:nvSpPr>
          <p:cNvPr id="9" name="Shape 6"/>
          <p:cNvSpPr/>
          <p:nvPr/>
        </p:nvSpPr>
        <p:spPr>
          <a:xfrm>
            <a:off x="3291840" y="1371600"/>
            <a:ext cx="256032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NotRelative</a:t>
            </a:r>
            <a:endParaRPr lang="en-US" sz="1500" dirty="0"/>
          </a:p>
        </p:txBody>
      </p:sp>
      <p:sp>
        <p:nvSpPr>
          <p:cNvPr id="13" name="Text 9"/>
          <p:cNvSpPr txBox="1"/>
          <p:nvPr/>
        </p:nvSpPr>
        <p:spPr>
          <a:xfrm>
            <a:off x="347472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Rooted, or contains ':'</a:t>
            </a:r>
            <a:endParaRPr lang="en-US" sz="1200" dirty="0"/>
          </a:p>
        </p:txBody>
      </p:sp>
      <p:sp>
        <p:nvSpPr>
          <p:cNvPr id="14" name="Shape 10"/>
          <p:cNvSpPr/>
          <p:nvPr/>
        </p:nvSpPr>
        <p:spPr>
          <a:xfrm>
            <a:off x="6126480" y="1371600"/>
            <a:ext cx="256032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Malformed</a:t>
            </a:r>
            <a:endParaRPr lang="en-US" sz="1500" dirty="0"/>
          </a:p>
        </p:txBody>
      </p:sp>
      <p:sp>
        <p:nvSpPr>
          <p:cNvPr id="18" name="Text 13"/>
          <p:cNvSpPr txBox="1"/>
          <p:nvPr/>
        </p:nvSpPr>
        <p:spPr>
          <a:xfrm>
            <a:off x="630936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Illegal characters, or too long</a:t>
            </a:r>
            <a:endParaRPr lang="en-US" sz="1200" dirty="0"/>
          </a:p>
        </p:txBody>
      </p:sp>
      <p:sp>
        <p:nvSpPr>
          <p:cNvPr id="19" name="Shape 14"/>
          <p:cNvSpPr/>
          <p:nvPr/>
        </p:nvSpPr>
        <p:spPr>
          <a:xfrm>
            <a:off x="457200" y="2994660"/>
            <a:ext cx="256032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64008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39932" y="3277392"/>
            <a:ext cx="184343" cy="184343"/>
          </a:xfrm>
          <a:prstGeom prst="rect">
            <a:avLst/>
          </a:prstGeom>
        </p:spPr>
      </p:pic>
      <p:sp>
        <p:nvSpPr>
          <p:cNvPr id="22" name="Text 16"/>
          <p:cNvSpPr txBox="1"/>
          <p:nvPr/>
        </p:nvSpPr>
        <p:spPr>
          <a:xfrm>
            <a:off x="1143000" y="3177540"/>
            <a:ext cx="173736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OutsideWorkspace</a:t>
            </a:r>
            <a:endParaRPr lang="en-US" sz="1400" dirty="0"/>
          </a:p>
        </p:txBody>
      </p:sp>
      <p:sp>
        <p:nvSpPr>
          <p:cNvPr id="23" name="Text 17"/>
          <p:cNvSpPr txBox="1"/>
          <p:nvPr/>
        </p:nvSpPr>
        <p:spPr>
          <a:xfrm>
            <a:off x="64008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Resolves outside the root</a:t>
            </a:r>
            <a:endParaRPr lang="en-US" sz="1200" dirty="0"/>
          </a:p>
        </p:txBody>
      </p:sp>
      <p:sp>
        <p:nvSpPr>
          <p:cNvPr id="24" name="Shape 18"/>
          <p:cNvSpPr/>
          <p:nvPr/>
        </p:nvSpPr>
        <p:spPr>
          <a:xfrm>
            <a:off x="3291840" y="2994660"/>
            <a:ext cx="2560320" cy="1394460"/>
          </a:xfrm>
          <a:prstGeom prst="roundRect">
            <a:avLst>
              <a:gd name="adj" fmla="val 5246"/>
            </a:avLst>
          </a:prstGeom>
          <a:solidFill>
            <a:srgbClr val="EFEBFC"/>
          </a:solidFill>
          <a:ln w="12700">
            <a:solidFill>
              <a:srgbClr val="EFEBFC"/>
            </a:solidFill>
            <a:prstDash val="solid"/>
          </a:ln>
        </p:spPr>
      </p:sp>
      <p:sp>
        <p:nvSpPr>
          <p:cNvPr id="25" name="Shape 19"/>
          <p:cNvSpPr/>
          <p:nvPr/>
        </p:nvSpPr>
        <p:spPr>
          <a:xfrm>
            <a:off x="3474720" y="3177540"/>
            <a:ext cx="384048" cy="384048"/>
          </a:xfrm>
          <a:prstGeom prst="ellipse">
            <a:avLst/>
          </a:prstGeom>
          <a:solidFill>
            <a:srgbClr val="512BD4"/>
          </a:solidFill>
          <a:ln w="12700">
            <a:solidFill>
              <a:srgbClr val="512BD4"/>
            </a:solidFill>
            <a:prstDash val="solid"/>
          </a:ln>
        </p:spPr>
      </p:sp>
      <p:pic>
        <p:nvPicPr>
          <p:cNvPr id="26" name="Image 4" descr="preencoded.png">    </p:cNvPr>
          <p:cNvPicPr>
            <a:picLocks noChangeAspect="1"/>
          </p:cNvPicPr>
          <p:nvPr/>
        </p:nvPicPr>
        <p:blipFill>
          <a:blip r:embed="rId5"/>
          <a:stretch>
            <a:fillRect/>
          </a:stretch>
        </p:blipFill>
        <p:spPr>
          <a:xfrm>
            <a:off x="3574572" y="3277392"/>
            <a:ext cx="184343" cy="184343"/>
          </a:xfrm>
          <a:prstGeom prst="rect">
            <a:avLst/>
          </a:prstGeom>
        </p:spPr>
      </p:pic>
      <p:sp>
        <p:nvSpPr>
          <p:cNvPr id="27" name="Text 20"/>
          <p:cNvSpPr txBox="1"/>
          <p:nvPr/>
        </p:nvSpPr>
        <p:spPr>
          <a:xfrm>
            <a:off x="3977640" y="3177540"/>
            <a:ext cx="173736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IgnoredDirectory</a:t>
            </a:r>
            <a:endParaRPr lang="en-US" sz="1400" dirty="0"/>
          </a:p>
        </p:txBody>
      </p:sp>
      <p:sp>
        <p:nvSpPr>
          <p:cNvPr id="28" name="Text 21"/>
          <p:cNvSpPr txBox="1"/>
          <p:nvPr/>
        </p:nvSpPr>
        <p:spPr>
          <a:xfrm>
            <a:off x="347472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Inside a directory MiniCode never touches</a:t>
            </a:r>
            <a:endParaRPr lang="en-US" sz="1200" dirty="0"/>
          </a:p>
        </p:txBody>
      </p:sp>
      <p:sp>
        <p:nvSpPr>
          <p:cNvPr id="29" name="Shape 22"/>
          <p:cNvSpPr/>
          <p:nvPr/>
        </p:nvSpPr>
        <p:spPr>
          <a:xfrm>
            <a:off x="6126480" y="2994660"/>
            <a:ext cx="2560320" cy="1394460"/>
          </a:xfrm>
          <a:prstGeom prst="roundRect">
            <a:avLst>
              <a:gd name="adj" fmla="val 5246"/>
            </a:avLst>
          </a:prstGeom>
          <a:solidFill>
            <a:srgbClr val="512BD4"/>
          </a:solidFill>
          <a:ln w="12700">
            <a:solidFill>
              <a:srgbClr val="512BD4"/>
            </a:solidFill>
            <a:prstDash val="solid"/>
          </a:ln>
        </p:spPr>
      </p:sp>
      <p:sp>
        <p:nvSpPr>
          <p:cNvPr id="30" name="Shape 23"/>
          <p:cNvSpPr/>
          <p:nvPr/>
        </p:nvSpPr>
        <p:spPr>
          <a:xfrm>
            <a:off x="6309360" y="3177540"/>
            <a:ext cx="384048" cy="384048"/>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6409212" y="3277392"/>
            <a:ext cx="184343" cy="184343"/>
          </a:xfrm>
          <a:prstGeom prst="rect">
            <a:avLst/>
          </a:prstGeom>
        </p:spPr>
      </p:pic>
      <p:sp>
        <p:nvSpPr>
          <p:cNvPr id="32" name="Text 24"/>
          <p:cNvSpPr txBox="1"/>
          <p:nvPr/>
        </p:nvSpPr>
        <p:spPr>
          <a:xfrm>
            <a:off x="681228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Allowed</a:t>
            </a:r>
            <a:endParaRPr lang="en-US" sz="1500" dirty="0"/>
          </a:p>
        </p:txBody>
      </p:sp>
      <p:sp>
        <p:nvSpPr>
          <p:cNvPr id="33" name="Text 25"/>
          <p:cNvSpPr txBox="1"/>
          <p:nvPr/>
        </p:nvSpPr>
        <p:spPr>
          <a:xfrm>
            <a:off x="6309360" y="3680460"/>
            <a:ext cx="219456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Returns the full path</a:t>
            </a:r>
            <a:endParaRPr lang="en-US" sz="1200" dirty="0"/>
          </a:p>
        </p:txBody>
      </p:sp>
      <p:sp>
        <p:nvSpPr>
          <p:cNvPr id="34"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4 — Building the Workspace Sandbox</a:t>
            </a:r>
            <a:endParaRPr lang="en-US" sz="900" dirty="0"/>
          </a:p>
        </p:txBody>
      </p:sp>
      <p:sp>
        <p:nvSpPr>
          <p:cNvPr id="35"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Inside the root, and still off limits</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Ignored directories</a:t>
            </a:r>
            <a:endParaRPr lang="en-US" sz="1600" dirty="0"/>
          </a:p>
        </p:txBody>
      </p:sp>
      <p:sp>
        <p:nvSpPr>
          <p:cNvPr id="8" name="Text 5"/>
          <p:cNvSpPr txBox="1"/>
          <p:nvPr/>
        </p:nvSpPr>
        <p:spPr>
          <a:xfrm>
            <a:off x="685800" y="2990088"/>
            <a:ext cx="2057400"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Matched per path segment, so bind.cs is fine and src/bin/tool.dll is not.</a:t>
            </a:r>
            <a:endParaRPr lang="en-US" sz="12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.git</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dangerous one: writing here rewrites history, not code</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bin, obj</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Inside the root, still off limits</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node_modules</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Inside the root, still off limits</a:t>
            </a:r>
            <a:endParaRPr lang="en-US" sz="1200" dirty="0"/>
          </a:p>
        </p:txBody>
      </p:sp>
      <p:sp>
        <p:nvSpPr>
          <p:cNvPr id="27" name="Text 2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4 — Building the Workspace Sandbox</a:t>
            </a:r>
            <a:endParaRPr lang="en-US" sz="900" dirty="0"/>
          </a:p>
        </p:txBody>
      </p:sp>
      <p:sp>
        <p:nvSpPr>
          <p:cNvPr id="28" name="Text 2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Case sensitivity is the platform's business</a:t>
            </a:r>
            <a:endParaRPr lang="en-US" sz="2800" dirty="0"/>
          </a:p>
        </p:txBody>
      </p:sp>
      <p:sp>
        <p:nvSpPr>
          <p:cNvPr id="4" name="Shape 2"/>
          <p:cNvSpPr/>
          <p:nvPr/>
        </p:nvSpPr>
        <p:spPr>
          <a:xfrm>
            <a:off x="457200" y="1371600"/>
            <a:ext cx="3931920" cy="1645920"/>
          </a:xfrm>
          <a:prstGeom prst="roundRect">
            <a:avLst>
              <a:gd name="adj" fmla="val 4444"/>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Windows</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Program.cs and program.cs: one file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OrdinalIgnoreCase</a:t>
            </a:r>
            <a:endParaRPr lang="en-US" sz="1300" dirty="0"/>
          </a:p>
        </p:txBody>
      </p:sp>
      <p:sp>
        <p:nvSpPr>
          <p:cNvPr id="9" name="Shape 6"/>
          <p:cNvSpPr/>
          <p:nvPr/>
        </p:nvSpPr>
        <p:spPr>
          <a:xfrm>
            <a:off x="4754880" y="1371600"/>
            <a:ext cx="3931920" cy="1645920"/>
          </a:xfrm>
          <a:prstGeom prst="roundRect">
            <a:avLst>
              <a:gd name="adj" fmla="val 4444"/>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Linux</a:t>
            </a:r>
            <a:endParaRPr lang="en-US" sz="1700" dirty="0"/>
          </a:p>
        </p:txBody>
      </p:sp>
      <p:sp>
        <p:nvSpPr>
          <p:cNvPr id="13" name="Text 9"/>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Program.cs and program.cs: two files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Ordinal</a:t>
            </a:r>
            <a:endParaRPr lang="en-US" sz="1300" dirty="0"/>
          </a:p>
        </p:txBody>
      </p:sp>
      <p:sp>
        <p:nvSpPr>
          <p:cNvPr id="14" name="Text 10"/>
          <p:cNvSpPr txBox="1"/>
          <p:nvPr/>
        </p:nvSpPr>
        <p:spPr>
          <a:xfrm>
            <a:off x="457200" y="32918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Choose from OperatingSystem.IsWindows(), rather than being wrong half the time.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4 — Building the Workspace Sandbox</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Wire it in, then extend it</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Three exercises: wire the root into startup, detect binary files, and, as a stretch, honour .gitignore.</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src/MiniCode.Cli/Program.cs</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src/MiniCode.Workspace/Workspace.cs, IWorkspace.cs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Startup takes an optional root argument, defaults to the current directory, and prints Workspace: &lt;root&gt;</a:t>
            </a:r>
            <a:endParaRPr lang="en-US" sz="1300" dirty="0"/>
          </a:p>
        </p:txBody>
      </p:sp>
      <p:sp>
        <p:nvSpPr>
          <p:cNvPr id="13" name="Shape 9"/>
          <p:cNvSpPr/>
          <p:nvPr/>
        </p:nvSpPr>
        <p:spPr>
          <a:xfrm>
            <a:off x="3931920" y="265480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730886"/>
            <a:ext cx="140452" cy="140452"/>
          </a:xfrm>
          <a:prstGeom prst="rect">
            <a:avLst/>
          </a:prstGeom>
        </p:spPr>
      </p:pic>
      <p:sp>
        <p:nvSpPr>
          <p:cNvPr id="15" name="Text 10"/>
          <p:cNvSpPr txBox="1"/>
          <p:nvPr/>
        </p:nvSpPr>
        <p:spPr>
          <a:xfrm>
            <a:off x="4361688" y="263652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IsBinaryFile: .cs is not binary, .dll is, outside paths are refused, a missing file is not an exception</a:t>
            </a:r>
            <a:endParaRPr lang="en-US" sz="1300" dirty="0"/>
          </a:p>
        </p:txBody>
      </p:sp>
      <p:sp>
        <p:nvSpPr>
          <p:cNvPr id="16" name="Shape 11"/>
          <p:cNvSpPr/>
          <p:nvPr/>
        </p:nvSpPr>
        <p:spPr>
          <a:xfrm>
            <a:off x="3931920" y="350824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584326"/>
            <a:ext cx="140452" cy="140452"/>
          </a:xfrm>
          <a:prstGeom prst="rect">
            <a:avLst/>
          </a:prstGeom>
        </p:spPr>
      </p:pic>
      <p:sp>
        <p:nvSpPr>
          <p:cNvPr id="18" name="Text 12"/>
          <p:cNvSpPr txBox="1"/>
          <p:nvPr/>
        </p:nvSpPr>
        <p:spPr>
          <a:xfrm>
            <a:off x="4361688" y="348996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Stretch: build/ refuses build/out.txt but not src/build.cs; *.tmp matches at any depth; no .gitignore refuses nothing</a:t>
            </a:r>
            <a:endParaRPr lang="en-US" sz="1300" dirty="0"/>
          </a:p>
        </p:txBody>
      </p:sp>
      <p:sp>
        <p:nvSpPr>
          <p:cNvPr id="19"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4 — Building the Workspace Sandbox</a:t>
            </a:r>
            <a:endParaRPr lang="en-US" sz="900" dirty="0"/>
          </a:p>
        </p:txBody>
      </p:sp>
      <p:sp>
        <p:nvSpPr>
          <p:cNvPr id="20"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Nine paths against one root</a:t>
            </a:r>
            <a:endParaRPr lang="en-US" sz="2800" dirty="0"/>
          </a:p>
        </p:txBody>
      </p:sp>
      <p:sp>
        <p:nvSpPr>
          <p:cNvPr id="4" name="Shape 2"/>
          <p:cNvSpPr/>
          <p:nvPr/>
        </p:nvSpPr>
        <p:spPr>
          <a:xfrm>
            <a:off x="457200" y="1325880"/>
            <a:ext cx="5257800" cy="2834640"/>
          </a:xfrm>
          <a:prstGeom prst="roundRect">
            <a:avLst>
              <a:gd name="adj" fmla="val 2581"/>
            </a:avLst>
          </a:prstGeom>
          <a:solidFill>
            <a:srgbClr val="0F1420"/>
          </a:solidFill>
          <a:ln w="12700">
            <a:solidFill>
              <a:srgbClr val="0F1420"/>
            </a:solidFill>
            <a:prstDash val="solid"/>
          </a:ln>
        </p:spPr>
      </p:sp>
      <p:sp>
        <p:nvSpPr>
          <p:cNvPr id="5" name="Text 3"/>
          <p:cNvSpPr txBox="1"/>
          <p:nvPr/>
        </p:nvSpPr>
        <p:spPr>
          <a:xfrm>
            <a:off x="640080" y="1463040"/>
            <a:ext cx="4892040" cy="256032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The lesson's results table, as rows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root: D:\Repos\CustomerPortal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src/Program.cs                            None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./src/../src/Program.cs                   None</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..\..\Windows\System32\drivers\etc\hosts  OutsideWorkspace</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\Windows\System32                         NotRelative</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D:\Repos\CustomerPortal\src\Program.cs    NotRelative</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C:notes.txt                               NotRelative</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.git/config                               IgnoredDirectory</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src/obj/Debug/app.dll                     IgnoredDirectory</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(empty string)                            Empty</a:t>
            </a:r>
            <a:endParaRPr lang="en-US" sz="1000" dirty="0"/>
          </a:p>
        </p:txBody>
      </p:sp>
      <p:sp>
        <p:nvSpPr>
          <p:cNvPr id="6" name="Shape 4"/>
          <p:cNvSpPr/>
          <p:nvPr/>
        </p:nvSpPr>
        <p:spPr>
          <a:xfrm>
            <a:off x="6035040" y="1325880"/>
            <a:ext cx="384048" cy="384048"/>
          </a:xfrm>
          <a:prstGeom prst="ellipse">
            <a:avLst/>
          </a:prstGeom>
          <a:solidFill>
            <a:srgbClr val="16A34A"/>
          </a:solidFill>
          <a:ln w="12700">
            <a:solidFill>
              <a:srgbClr val="16A34A"/>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Allowed</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Traversal that stays inside is fine</a:t>
            </a:r>
            <a:endParaRPr lang="en-US" sz="1200" dirty="0"/>
          </a:p>
        </p:txBody>
      </p:sp>
      <p:sp>
        <p:nvSpPr>
          <p:cNvPr id="10" name="Shape 7"/>
          <p:cNvSpPr/>
          <p:nvPr/>
        </p:nvSpPr>
        <p:spPr>
          <a:xfrm>
            <a:off x="6035040" y="2423160"/>
            <a:ext cx="384048" cy="384048"/>
          </a:xfrm>
          <a:prstGeom prst="ellipse">
            <a:avLst/>
          </a:prstGeom>
          <a:solidFill>
            <a:srgbClr val="DC2626"/>
          </a:solidFill>
          <a:ln w="1270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Refused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with its reason</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Worth a pause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 absolute path inside is still refused</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4 — Building the Workspace Sandbox</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Relative paths only</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5a  </a:t>
            </a:r>
            <a:pPr indent="0" marL="0">
              <a:buNone/>
            </a:pPr>
            <a:r>
              <a:rPr lang="en-US" sz="1250" dirty="0">
                <a:solidFill>
                  <a:srgbClr val="FFFFFF"/>
                </a:solidFill>
                <a:latin typeface="Calibri" pitchFamily="34" charset="0"/>
                <a:ea typeface="Calibri" pitchFamily="34" charset="-122"/>
                <a:cs typeface="Calibri" pitchFamily="34" charset="-120"/>
              </a:rPr>
              <a:t>The workspace_root tool tells the model every other path is relative to it</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ValidatePath never throws</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5b  </a:t>
            </a:r>
            <a:pPr indent="0" marL="0">
              <a:buNone/>
            </a:pPr>
            <a:r>
              <a:rPr lang="en-US" sz="1250" dirty="0">
                <a:solidFill>
                  <a:srgbClr val="FFFFFF"/>
                </a:solidFill>
                <a:latin typeface="Calibri" pitchFamily="34" charset="0"/>
                <a:ea typeface="Calibri" pitchFamily="34" charset="-122"/>
                <a:cs typeface="Calibri" pitchFamily="34" charset="-120"/>
              </a:rPr>
              <a:t>IsPathAllowed filters listings; refusals reach the model via 5a's invoker</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class decides legality</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5b  </a:t>
            </a:r>
            <a:pPr indent="0" marL="0">
              <a:buNone/>
            </a:pPr>
            <a:r>
              <a:rPr lang="en-US" sz="1250" dirty="0">
                <a:solidFill>
                  <a:srgbClr val="FFFFFF"/>
                </a:solidFill>
                <a:latin typeface="Calibri" pitchFamily="34" charset="0"/>
                <a:ea typeface="Calibri" pitchFamily="34" charset="-122"/>
                <a:cs typeface="Calibri" pitchFamily="34" charset="-120"/>
              </a:rPr>
              <a:t>MiniCode.Workspace decides what is legal; MiniCode.Tools what is visible</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ResolvePath guards every path</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10  </a:t>
            </a:r>
            <a:pPr indent="0" marL="0">
              <a:buNone/>
            </a:pPr>
            <a:r>
              <a:rPr lang="en-US" sz="1250" dirty="0">
                <a:solidFill>
                  <a:srgbClr val="FFFFFF"/>
                </a:solidFill>
                <a:latin typeface="Calibri" pitchFamily="34" charset="0"/>
                <a:ea typeface="Calibri" pitchFamily="34" charset="-122"/>
                <a:cs typeface="Calibri" pitchFamily="34" charset="-120"/>
              </a:rPr>
              <a:t>Every write goes through ResolvePath, exactly as every read does</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1 Capstone — Repository Explorer (v0.1)</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4 — Building the Workspace Sandbox</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 Building the Workspace Sandbox</dc:title>
  <dc:subject>PptxGenJS Presentation</dc:subject>
  <dc:creator>MiniCode Course</dc:creator>
  <cp:lastModifiedBy>MiniCode Course</cp:lastModifiedBy>
  <cp:revision>1</cp:revision>
  <dcterms:created xsi:type="dcterms:W3CDTF">2026-10-01T23:15:00Z</dcterms:created>
  <dcterms:modified xsi:type="dcterms:W3CDTF">2026-10-01T23:15:00Z</dcterms:modified>
</cp:coreProperties>
</file>