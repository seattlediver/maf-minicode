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75895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the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Workspace Sandbox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before hands. One small class decides whether a path the model supplied is inside the repository.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1417320"/>
            <a:ext cx="3383280" cy="3703320"/>
          </a:xfrm>
          <a:prstGeom prst="roundRect">
            <a:avLst>
              <a:gd name="adj" fmla="val 324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040" y="1783080"/>
            <a:ext cx="822960" cy="82296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7" name="Image 0" descr="/home/claude/deck4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4" y="1975104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366760" y="2743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IWorkspace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366760" y="3246120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src/Program.cs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0469880" y="324612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366760" y="3611880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\Windows\System32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0469880" y="361188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366760" y="3977640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.git/config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469880" y="397764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366760" y="4343400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D:\Repo\Program.cs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69880" y="434340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Boundary Comes Before the Capability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0876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Modules the agent gets tools that read files, and in Module 10 tools that write them. </a:t>
            </a:r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those tools receive is a string a language model produced.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may be a mistake, or text a repository’s own README told the model to use.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111099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338328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/home/claude/deck4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5387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45920" y="3108960"/>
            <a:ext cx="97840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class has to be the thing that says no — </a:t>
            </a:r>
            <a:pPr indent="0" marL="0">
              <a:lnSpc>
                <a:spcPts val="2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has to be small enough that you can read it and believe it.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MiniCode.Workspace needs no packages — everything comes from System.IO. A dependency you have not read is not a boundary, it is a hope.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5349240"/>
            <a:ext cx="3611880" cy="685800"/>
          </a:xfrm>
          <a:prstGeom prst="roundRect">
            <a:avLst>
              <a:gd name="adj" fmla="val 46667"/>
            </a:avLst>
          </a:prstGeom>
          <a:ln w="15875">
            <a:solidFill>
              <a:srgbClr val="F87171"/>
            </a:solidFill>
            <a:prstDash val="solid"/>
          </a:ln>
        </p:spPr>
      </p:sp>
      <p:pic>
        <p:nvPicPr>
          <p:cNvPr id="12" name="Image 1" descr="/home/claude/deck4/icons/b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553212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3000" y="5349240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Escaping the workspace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297680" y="5349240"/>
            <a:ext cx="3611880" cy="685800"/>
          </a:xfrm>
          <a:prstGeom prst="roundRect">
            <a:avLst>
              <a:gd name="adj" fmla="val 46667"/>
            </a:avLst>
          </a:prstGeom>
          <a:ln w="15875">
            <a:solidFill>
              <a:srgbClr val="F87171"/>
            </a:solidFill>
            <a:prstDash val="solid"/>
          </a:ln>
        </p:spPr>
      </p:sp>
      <p:pic>
        <p:nvPicPr>
          <p:cNvPr id="15" name="Image 2" descr="/home/claude/deck4/icons/b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55321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92040" y="5349240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to .git history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8046720" y="5349240"/>
            <a:ext cx="3611880" cy="685800"/>
          </a:xfrm>
          <a:prstGeom prst="roundRect">
            <a:avLst>
              <a:gd name="adj" fmla="val 46667"/>
            </a:avLst>
          </a:prstGeom>
          <a:ln w="15875">
            <a:solidFill>
              <a:srgbClr val="F87171"/>
            </a:solidFill>
            <a:prstDash val="solid"/>
          </a:ln>
        </p:spPr>
      </p:sp>
      <p:pic>
        <p:nvPicPr>
          <p:cNvPr id="18" name="Image 3" descr="/home/claude/deck4/icons/b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5532120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641080" y="5349240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bin / obj / node_modules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BUILDING THE WORKSPACE SANDBOX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Pitfalls That Look Safe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611880" cy="4709160"/>
          </a:xfrm>
          <a:prstGeom prst="roundRect">
            <a:avLst>
              <a:gd name="adj" fmla="val 2532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6" name="Image 0" descr="/home/claude/deck4/icons/equ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745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76479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raw strings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77240" y="251460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141B49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2514600"/>
            <a:ext cx="293522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"../../etc/passwd" ≠ "src/../../../etc/passwd"?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77240" y="356616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They’re the same place. Path.GetFullPath collapses '..' first — comparison only means anything after.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97680" y="1508760"/>
            <a:ext cx="3611880" cy="4709160"/>
          </a:xfrm>
          <a:prstGeom prst="roundRect">
            <a:avLst>
              <a:gd name="adj" fmla="val 2532"/>
            </a:avLst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4526280" y="1737360"/>
            <a:ext cx="548640" cy="54864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13" name="Image 1" descr="/home/claude/deck4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8745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12080" y="176479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Prefix without separator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4526280" y="251460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141B49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636008" y="2514600"/>
            <a:ext cx="293522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"C:\repo-evil\..." starts with "C:\repo"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4526280" y="356616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against "C:\repo\" (trailing separator) closes it — a one-character bug that hands over the filesystem.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046720" y="1508760"/>
            <a:ext cx="3611880" cy="4709160"/>
          </a:xfrm>
          <a:prstGeom prst="roundRect">
            <a:avLst>
              <a:gd name="adj" fmla="val 2532"/>
            </a:avLst>
          </a:prstGeom>
          <a:solidFill>
            <a:srgbClr val="1E2761"/>
          </a:solidFill>
          <a:ln/>
        </p:spPr>
      </p:sp>
      <p:sp>
        <p:nvSpPr>
          <p:cNvPr id="19" name="Shape 15"/>
          <p:cNvSpPr/>
          <p:nvPr/>
        </p:nvSpPr>
        <p:spPr>
          <a:xfrm>
            <a:off x="8275320" y="1737360"/>
            <a:ext cx="548640" cy="54864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20" name="Image 2" descr="/home/claude/deck4/icons/rou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87452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961120" y="1764792"/>
            <a:ext cx="2514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before checking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8275320" y="251460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141B49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385048" y="2514600"/>
            <a:ext cx="293522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Path.Combine("C:\repo", "\Windows\System32")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8275320" y="356616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"\Windows\System32" — discards the root. Rooted input must be refused before combining, not after.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BUILDING THE WORKSPACE SANDBOX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ValidatePath: Refuse in the Order Attacks Arrive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67512" y="2011680"/>
            <a:ext cx="196596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1431036" y="2176272"/>
            <a:ext cx="438912" cy="438912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6" name="Text 4"/>
          <p:cNvSpPr/>
          <p:nvPr/>
        </p:nvSpPr>
        <p:spPr>
          <a:xfrm>
            <a:off x="1431036" y="21762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0664" y="2724912"/>
            <a:ext cx="1819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58952" y="309067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Null, empty, or whitespace</a:t>
            </a:r>
            <a:endParaRPr lang="en-US" sz="950" dirty="0"/>
          </a:p>
        </p:txBody>
      </p:sp>
      <p:pic>
        <p:nvPicPr>
          <p:cNvPr id="9" name="Image 0" descr="/home/claude/deck4/icons/arrow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2683764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89504" y="2011680"/>
            <a:ext cx="196596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3653028" y="2176272"/>
            <a:ext cx="438912" cy="438912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2" name="Text 9"/>
          <p:cNvSpPr/>
          <p:nvPr/>
        </p:nvSpPr>
        <p:spPr>
          <a:xfrm>
            <a:off x="3653028" y="21762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2962656" y="2724912"/>
            <a:ext cx="1819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Rooted input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980944" y="309067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IsPathRooted or contains ':'</a:t>
            </a:r>
            <a:endParaRPr lang="en-US" sz="950" dirty="0"/>
          </a:p>
        </p:txBody>
      </p:sp>
      <p:pic>
        <p:nvPicPr>
          <p:cNvPr id="15" name="Image 1" descr="/home/claude/deck4/icons/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2683764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111496" y="2011680"/>
            <a:ext cx="196596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17" name="Shape 13"/>
          <p:cNvSpPr/>
          <p:nvPr/>
        </p:nvSpPr>
        <p:spPr>
          <a:xfrm>
            <a:off x="5875020" y="2176272"/>
            <a:ext cx="438912" cy="438912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4"/>
          <p:cNvSpPr/>
          <p:nvPr/>
        </p:nvSpPr>
        <p:spPr>
          <a:xfrm>
            <a:off x="5875020" y="21762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5184648" y="2724912"/>
            <a:ext cx="1819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Normalize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5202936" y="309067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GetFullPath collapses '..'</a:t>
            </a:r>
            <a:endParaRPr lang="en-US" sz="950" dirty="0"/>
          </a:p>
        </p:txBody>
      </p:sp>
      <p:pic>
        <p:nvPicPr>
          <p:cNvPr id="21" name="Image 2" descr="/home/claude/deck4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44" y="2683764"/>
            <a:ext cx="237744" cy="23774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333488" y="2011680"/>
            <a:ext cx="1965960" cy="160020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23" name="Shape 18"/>
          <p:cNvSpPr/>
          <p:nvPr/>
        </p:nvSpPr>
        <p:spPr>
          <a:xfrm>
            <a:off x="8097012" y="2176272"/>
            <a:ext cx="438912" cy="438912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4" name="Text 19"/>
          <p:cNvSpPr/>
          <p:nvPr/>
        </p:nvSpPr>
        <p:spPr>
          <a:xfrm>
            <a:off x="8097012" y="21762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7406640" y="2724912"/>
            <a:ext cx="1819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Prefix check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7424928" y="309067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+ separator, or equals root</a:t>
            </a:r>
            <a:endParaRPr lang="en-US" sz="950" dirty="0"/>
          </a:p>
        </p:txBody>
      </p:sp>
      <p:pic>
        <p:nvPicPr>
          <p:cNvPr id="27" name="Image 3" descr="/home/claude/deck4/icons/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736" y="2683764"/>
            <a:ext cx="237744" cy="237744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9555480" y="2011680"/>
            <a:ext cx="1965960" cy="1600200"/>
          </a:xfrm>
          <a:prstGeom prst="roundRect">
            <a:avLst>
              <a:gd name="adj" fmla="val 5714"/>
            </a:avLst>
          </a:prstGeom>
          <a:solidFill>
            <a:srgbClr val="3FBFB0"/>
          </a:solidFill>
          <a:ln/>
        </p:spPr>
      </p:sp>
      <p:sp>
        <p:nvSpPr>
          <p:cNvPr id="29" name="Shape 23"/>
          <p:cNvSpPr/>
          <p:nvPr/>
        </p:nvSpPr>
        <p:spPr>
          <a:xfrm>
            <a:off x="10319004" y="217627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4"/>
          <p:cNvSpPr/>
          <p:nvPr/>
        </p:nvSpPr>
        <p:spPr>
          <a:xfrm>
            <a:off x="10319004" y="21762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5"/>
          <p:cNvSpPr/>
          <p:nvPr/>
        </p:nvSpPr>
        <p:spPr>
          <a:xfrm>
            <a:off x="9628632" y="2724912"/>
            <a:ext cx="18196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 list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9646920" y="309067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.git, bin, obj, node_modules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548640" y="3931920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check is cheap, and each one is a different mistake.</a:t>
            </a:r>
            <a:endParaRPr lang="en-US" sz="1350" dirty="0"/>
          </a:p>
        </p:txBody>
      </p:sp>
      <p:sp>
        <p:nvSpPr>
          <p:cNvPr id="34" name="Shape 28"/>
          <p:cNvSpPr/>
          <p:nvPr/>
        </p:nvSpPr>
        <p:spPr>
          <a:xfrm>
            <a:off x="548640" y="4709160"/>
            <a:ext cx="11109960" cy="1417320"/>
          </a:xfrm>
          <a:prstGeom prst="roundRect">
            <a:avLst>
              <a:gd name="adj" fmla="val 5161"/>
            </a:avLst>
          </a:prstGeom>
          <a:solidFill>
            <a:srgbClr val="F4F6FB"/>
          </a:solidFill>
          <a:ln/>
        </p:spPr>
      </p:sp>
      <p:sp>
        <p:nvSpPr>
          <p:cNvPr id="35" name="Text 29"/>
          <p:cNvSpPr/>
          <p:nvPr/>
        </p:nvSpPr>
        <p:spPr>
          <a:xfrm>
            <a:off x="822960" y="48463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ignore list runs over path segments, not the whole string —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file legitimately called bind.cs is fine, while src/bin/tool.dll is not.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sensitivity is chosen from OperatingSystem.IsWindows(), not hardcoded.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BUILDING THE WORKSPACE SANDBOX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Refusing Is Not an Error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3FBFB0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4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928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3736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ValidatePath / IsPathAllowed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548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throws. </a:t>
            </a:r>
            <a:endParaRPr lang="en-US" sz="140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 5b the caller is a tool that must hand the model a sentence it can act on.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thrown exception in that position costs the agent its turn and tells it nothing.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68680" y="4892040"/>
            <a:ext cx="4709160" cy="1051560"/>
          </a:xfrm>
          <a:prstGeom prst="roundRect">
            <a:avLst>
              <a:gd name="adj" fmla="val 5217"/>
            </a:avLst>
          </a:prstGeom>
          <a:solidFill>
            <a:srgbClr val="141B49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4956048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PathValidationResult result =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workspace.ValidatePath(path);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result.IsAllowed, result.Reason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13" name="Image 1" descr="/home/claude/deck4/icons/b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89280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06640" y="173736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ResolvePath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629400" y="2606040"/>
            <a:ext cx="47548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Throws. </a:t>
            </a:r>
            <a:endParaRPr lang="en-US" sz="140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callers who treat a refusal as a bug, not a possibility to route around.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InvalidOperationException names the path and the reason.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629400" y="4892040"/>
            <a:ext cx="4709160" cy="1051560"/>
          </a:xfrm>
          <a:prstGeom prst="roundRect">
            <a:avLst>
              <a:gd name="adj" fmla="val 5217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812280" y="4956048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full = workspace.ResolvePath(path);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throws InvalidOperationException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if the path was refused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BUILDING THE WORKSPACE SANDBOX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Moves, One Believable Class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resolved once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261872" y="18745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in the constructor — the second is the whole prefix defence.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31152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Refuses in attack order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931152" y="18745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Empty, then rooted, then normalize, then prefix, then ignore list.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7063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29352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28620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Rooted input caught early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261872" y="322783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IsPathRooted catches \Windows; the ':' check catches C:notes.txt.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77063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29352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1152" y="28620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GetFullPath does normalization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931152" y="322783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 in try — illegal characters throw, becoming Malformed, not a crash.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2394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28853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2885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61872" y="421538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Prefix tests the separator-terminated root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261872" y="4581144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an equality case, so the root itself is allowed.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412394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28853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2885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421538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 list runs over segments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4581144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whole string — bind.cs is fine, src/bin/tool.dll is not.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477256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1520" y="5641848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6418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61872" y="556869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ResolvePath / IsPathAllowed are one-liners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261872" y="5934456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public members, one implementation of the decision.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Exercises, Increasing Depth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81051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4/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9476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1810512"/>
            <a:ext cx="30998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04672" y="2560320"/>
            <a:ext cx="30998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 the root into startup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3246120"/>
            <a:ext cx="309981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CLI arg for the workspace root, default to cwd, print "Workspace: &lt;root&gt;" under the banner.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155448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4F6FB"/>
          </a:solidFill>
          <a:ln/>
        </p:spPr>
      </p:sp>
      <p:sp>
        <p:nvSpPr>
          <p:cNvPr id="11" name="Shape 8"/>
          <p:cNvSpPr/>
          <p:nvPr/>
        </p:nvSpPr>
        <p:spPr>
          <a:xfrm>
            <a:off x="4553712" y="181051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/home/claude/deck4/icons/foldermin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947672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53712" y="1810512"/>
            <a:ext cx="30998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553712" y="2560320"/>
            <a:ext cx="30998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binary-file detection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53712" y="3246120"/>
            <a:ext cx="309981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IsBinaryFile reads the first 8 KB; a NUL byte means binary. Refused paths and missing files never throw.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46720" y="155448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4F6FB"/>
          </a:solidFill>
          <a:ln/>
        </p:spPr>
      </p:sp>
      <p:sp>
        <p:nvSpPr>
          <p:cNvPr id="17" name="Shape 13"/>
          <p:cNvSpPr/>
          <p:nvPr/>
        </p:nvSpPr>
        <p:spPr>
          <a:xfrm>
            <a:off x="8302752" y="181051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/home/claude/deck4/icons/fil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1947672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02752" y="1810512"/>
            <a:ext cx="309981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302752" y="2560320"/>
            <a:ext cx="30998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.gitignore (stretch)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302752" y="3246120"/>
            <a:ext cx="309981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Leading-slash anchors, trailing-slash dirs, and * within a segment. Document what you’re not implementing.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BUILDING THE WORKSPACE SANDBOX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Paths Against D:\Repos\CustomerPortal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420624"/>
          </a:xfrm>
          <a:prstGeom prst="roundRect">
            <a:avLst>
              <a:gd name="adj" fmla="val 1304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223760" y="137160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IsAllowed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0" y="1371600"/>
            <a:ext cx="2194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92224"/>
            <a:ext cx="111099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792224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src/Program.cs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223760" y="1792224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144000" y="1792224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11109960" cy="402336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194560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./src/../src/Program.cs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223760" y="219456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0" y="219456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596896"/>
            <a:ext cx="111099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2596896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..\..\Windows\System32\...\hosts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223760" y="2596896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144000" y="2596896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OutsideWorkspace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2999232"/>
            <a:ext cx="11109960" cy="402336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2999232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\Windows\System32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223760" y="299923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144000" y="2999232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NotRelative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401568"/>
            <a:ext cx="111099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3401568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D:\Repos\CustomerPortal\src\Program.cs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223760" y="3401568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144000" y="340156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NotRelative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803904"/>
            <a:ext cx="11109960" cy="402336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3803904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C:notes.txt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223760" y="3803904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144000" y="3803904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NotRelative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206240"/>
            <a:ext cx="111099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" y="4206240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.git/config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223760" y="42062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144000" y="420624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IgnoredDirectory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" y="4608576"/>
            <a:ext cx="11109960" cy="402336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7" name="Text 35"/>
          <p:cNvSpPr/>
          <p:nvPr/>
        </p:nvSpPr>
        <p:spPr>
          <a:xfrm>
            <a:off x="822960" y="4608576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src/obj/Debug/app.dll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223760" y="4608576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144000" y="4608576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IgnoredDirectory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5010912"/>
            <a:ext cx="111099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822960" y="5010912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(empty string)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223760" y="501091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144000" y="5010912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5550408"/>
            <a:ext cx="11109960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5614416"/>
            <a:ext cx="105613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row worth pausing on: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absolute path inside the workspace is still refused — the agent’s contract is that it speaks in relative paths. Accepting "inside" absolute paths is how a sandbox acquires a second code path, and a hole.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BUILDING THE WORKSPACE SANDBOX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2026-09-08T23:11:26Z</dcterms:created>
  <dcterms:modified xsi:type="dcterms:W3CDTF">2026-09-08T23:11:26Z</dcterms:modified>
</cp:coreProperties>
</file>