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Ships as part of Phase 1 Capstone — Repository Explorer (v0.1).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Walkthrough 6 in full: the ignore list runs over path segments rather than the whole string, so bind.cs is fine and src/bin/tool.dll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 one is delivered in Module 5a, because the first tool is what finally needs the root — compare against Program.cs in Module05a-TheInterceptionSeam/ when you get there. Acceptance criteria for three: build/ refuses build/out.txt but not src/build.cs; *.tmp refuses notes.tmp at any depth; an empty or missing .gitignore refuses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row worth pausing on is the third from bottom. An absolute path inside the workspace is still refused, because the agent's contract is that it speaks in relative paths. Accepting absolute paths "when they happen to be inside" is how a sandbox acquires a second code path — and a second code path is how it eventually acquires a 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598168"/>
            <a:ext cx="5852160" cy="274320"/>
          </a:xfrm>
          <a:prstGeom prst="rect">
            <a:avLst/>
          </a:prstGeom>
          <a:noFill/>
          <a:ln/>
        </p:spPr>
        <p:txBody>
          <a:bodyPr wrap="square" lIns="0" tIns="0" rIns="0" bIns="0" rtlCol="0" anchor="ctr"/>
          <a:lstStyle/>
          <a:p>
            <a:pPr indent="0" marL="0">
              <a:buNone/>
            </a:pPr>
            <a:r>
              <a:rPr lang="en-US" sz="1400" b="1" spc="300" kern="0" dirty="0">
                <a:solidFill>
                  <a:srgbClr val="3FBFB0"/>
                </a:solidFill>
                <a:latin typeface="Calibri" pitchFamily="34" charset="0"/>
                <a:ea typeface="Calibri" pitchFamily="34" charset="-122"/>
                <a:cs typeface="Calibri" pitchFamily="34" charset="-120"/>
              </a:rPr>
              <a:t>MODULE 4 · PHASE 1</a:t>
            </a:r>
            <a:endParaRPr lang="en-US" sz="1400" dirty="0"/>
          </a:p>
        </p:txBody>
      </p:sp>
      <p:sp>
        <p:nvSpPr>
          <p:cNvPr id="3" name="Text 1"/>
          <p:cNvSpPr txBox="1"/>
          <p:nvPr/>
        </p:nvSpPr>
        <p:spPr>
          <a:xfrm>
            <a:off x="548640" y="1982216"/>
            <a:ext cx="6309360" cy="1247648"/>
          </a:xfrm>
          <a:prstGeom prst="rect">
            <a:avLst/>
          </a:prstGeom>
          <a:noFill/>
          <a:ln/>
        </p:spPr>
        <p:txBody>
          <a:bodyPr wrap="square" lIns="0" tIns="0" rIns="0" bIns="0" rtlCol="0" anchor="t"/>
          <a:lstStyle/>
          <a:p>
            <a:pPr indent="0" marL="0">
              <a:lnSpc>
                <a:spcPct val="112000"/>
              </a:lnSpc>
              <a:buNone/>
            </a:pPr>
            <a:r>
              <a:rPr lang="en-US" sz="4000" b="1" dirty="0">
                <a:solidFill>
                  <a:srgbClr val="FFFFFF"/>
                </a:solidFill>
                <a:latin typeface="Cambria" pitchFamily="34" charset="0"/>
                <a:ea typeface="Cambria" pitchFamily="34" charset="-122"/>
                <a:cs typeface="Cambria" pitchFamily="34" charset="-120"/>
              </a:rPr>
              <a:t>Building the</a:t>
            </a:r>
            <a:endParaRPr lang="en-US" sz="4000" dirty="0"/>
          </a:p>
          <a:p>
            <a:pPr indent="0" marL="0">
              <a:lnSpc>
                <a:spcPct val="112000"/>
              </a:lnSpc>
              <a:buNone/>
            </a:pPr>
            <a:r>
              <a:rPr lang="en-US" sz="4000" b="1" dirty="0">
                <a:solidFill>
                  <a:srgbClr val="FFFFFF"/>
                </a:solidFill>
                <a:latin typeface="Cambria" pitchFamily="34" charset="0"/>
                <a:ea typeface="Cambria" pitchFamily="34" charset="-122"/>
                <a:cs typeface="Cambria" pitchFamily="34" charset="-120"/>
              </a:rPr>
              <a:t>Workspace Sandbox</a:t>
            </a:r>
            <a:endParaRPr lang="en-US" sz="4000" dirty="0"/>
          </a:p>
        </p:txBody>
      </p:sp>
      <p:sp>
        <p:nvSpPr>
          <p:cNvPr id="4" name="Text 2"/>
          <p:cNvSpPr txBox="1"/>
          <p:nvPr/>
        </p:nvSpPr>
        <p:spPr>
          <a:xfrm>
            <a:off x="548640" y="3732784"/>
            <a:ext cx="6309360" cy="1097280"/>
          </a:xfrm>
          <a:prstGeom prst="rect">
            <a:avLst/>
          </a:prstGeom>
          <a:noFill/>
          <a:ln/>
        </p:spPr>
        <p:txBody>
          <a:bodyPr wrap="square" lIns="0" tIns="0" rIns="0" bIns="0" rtlCol="0" anchor="t"/>
          <a:lstStyle/>
          <a:p>
            <a:pPr indent="0" marL="0">
              <a:lnSpc>
                <a:spcPct val="125000"/>
              </a:lnSpc>
              <a:buNone/>
            </a:pPr>
            <a:r>
              <a:rPr lang="en-US" sz="1600" dirty="0">
                <a:solidFill>
                  <a:srgbClr val="CADCFC"/>
                </a:solidFill>
                <a:latin typeface="Calibri" pitchFamily="34" charset="0"/>
                <a:ea typeface="Calibri" pitchFamily="34" charset="-122"/>
                <a:cs typeface="Calibri" pitchFamily="34" charset="-120"/>
              </a:rPr>
              <a:t>We give MiniCode a boundary before we give it hands. MiniCode.Workspace decides whether a path the model supplied is inside the repository — and refuses everything else. Deliberately the smallest, dullest, most testable thing in the solution.</a:t>
            </a:r>
            <a:endParaRPr lang="en-US" sz="1600" dirty="0"/>
          </a:p>
        </p:txBody>
      </p:sp>
      <p:sp>
        <p:nvSpPr>
          <p:cNvPr id="5" name="Text 3"/>
          <p:cNvSpPr txBox="1"/>
          <p:nvPr/>
        </p:nvSpPr>
        <p:spPr>
          <a:xfrm>
            <a:off x="548640" y="5029200"/>
            <a:ext cx="6309360" cy="1051560"/>
          </a:xfrm>
          <a:prstGeom prst="rect">
            <a:avLst/>
          </a:prstGeom>
          <a:noFill/>
          <a:ln/>
        </p:spPr>
        <p:txBody>
          <a:bodyPr wrap="square" lIns="0" tIns="0" rIns="0" bIns="0" rtlCol="0" anchor="t"/>
          <a:lstStyle/>
          <a:p>
            <a:pPr indent="0" marL="0">
              <a:lnSpc>
                <a:spcPts val="1300"/>
              </a:lnSpc>
              <a:buNone/>
            </a:pPr>
            <a:r>
              <a:rPr lang="en-US" sz="950" b="1" spc="100" kern="0" dirty="0">
                <a:solidFill>
                  <a:srgbClr val="3FBFB0"/>
                </a:solidFill>
                <a:latin typeface="Courier New" pitchFamily="34" charset="0"/>
                <a:ea typeface="Courier New" pitchFamily="34" charset="-122"/>
                <a:cs typeface="Courier New" pitchFamily="34" charset="-120"/>
              </a:rPr>
              <a:t>START  </a:t>
            </a:r>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Module03-DesigningTheMiniCodeSolution/ — Workspace is one of the two leaves, and this Module is what fills it.</a:t>
            </a:r>
            <a:endParaRPr lang="en-US" sz="950" dirty="0"/>
          </a:p>
          <a:p>
            <a:pPr indent="0" marL="0">
              <a:lnSpc>
                <a:spcPts val="1300"/>
              </a:lnSpc>
              <a:buNone/>
            </a:pPr>
            <a:r>
              <a:rPr lang="en-US" sz="950" b="1" spc="100" kern="0" dirty="0">
                <a:solidFill>
                  <a:srgbClr val="3FBFB0"/>
                </a:solidFill>
                <a:latin typeface="Courier New" pitchFamily="34" charset="0"/>
                <a:ea typeface="Courier New" pitchFamily="34" charset="-122"/>
                <a:cs typeface="Courier New" pitchFamily="34" charset="-120"/>
              </a:rPr>
              <a:t>SETUP  </a:t>
            </a:r>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Nothing new. Everything here comes from System.IO in the base class library — a dependency you have not read is not a boundary, it is a hope.</a:t>
            </a:r>
            <a:endParaRPr lang="en-US" sz="950" dirty="0"/>
          </a:p>
        </p:txBody>
      </p:sp>
      <p:sp>
        <p:nvSpPr>
          <p:cNvPr id="6" name="Text 4"/>
          <p:cNvSpPr txBox="1"/>
          <p:nvPr/>
        </p:nvSpPr>
        <p:spPr>
          <a:xfrm>
            <a:off x="548640" y="6263640"/>
            <a:ext cx="5486400" cy="27432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MiniCode Course · Phase 1</a:t>
            </a:r>
            <a:endParaRPr lang="en-US" sz="1100" dirty="0"/>
          </a:p>
        </p:txBody>
      </p:sp>
      <p:sp>
        <p:nvSpPr>
          <p:cNvPr id="7" name="Shape 5"/>
          <p:cNvSpPr/>
          <p:nvPr/>
        </p:nvSpPr>
        <p:spPr>
          <a:xfrm>
            <a:off x="7086600" y="1143000"/>
            <a:ext cx="4526280" cy="4389120"/>
          </a:xfrm>
          <a:prstGeom prst="roundRect">
            <a:avLst>
              <a:gd name="adj" fmla="val 2500"/>
            </a:avLst>
          </a:prstGeom>
          <a:solidFill>
            <a:srgbClr val="141B49"/>
          </a:solidFill>
          <a:ln w="12700">
            <a:solidFill>
              <a:srgbClr val="3FBFB0"/>
            </a:solidFill>
            <a:prstDash val="solid"/>
          </a:ln>
        </p:spPr>
      </p:sp>
      <p:sp>
        <p:nvSpPr>
          <p:cNvPr id="8" name="Text 6"/>
          <p:cNvSpPr txBox="1"/>
          <p:nvPr/>
        </p:nvSpPr>
        <p:spPr>
          <a:xfrm>
            <a:off x="7342632" y="1344168"/>
            <a:ext cx="4069080" cy="274320"/>
          </a:xfrm>
          <a:prstGeom prst="rect">
            <a:avLst/>
          </a:prstGeom>
          <a:noFill/>
          <a:ln/>
        </p:spPr>
        <p:txBody>
          <a:bodyPr wrap="square" lIns="0" tIns="0" rIns="0" bIns="0" rtlCol="0" anchor="ctr"/>
          <a:lstStyle/>
          <a:p>
            <a:pPr indent="0" marL="0">
              <a:buNone/>
            </a:pPr>
            <a:r>
              <a:rPr lang="en-US" sz="1200" b="1" dirty="0">
                <a:solidFill>
                  <a:srgbClr val="3FBFB0"/>
                </a:solidFill>
                <a:latin typeface="Courier New" pitchFamily="34" charset="0"/>
                <a:ea typeface="Courier New" pitchFamily="34" charset="-122"/>
                <a:cs typeface="Courier New" pitchFamily="34" charset="-120"/>
              </a:rPr>
              <a:t>refuse, in attack order</a:t>
            </a:r>
            <a:endParaRPr lang="en-US" sz="1200" dirty="0"/>
          </a:p>
        </p:txBody>
      </p:sp>
      <p:sp>
        <p:nvSpPr>
          <p:cNvPr id="9" name="Text 7"/>
          <p:cNvSpPr txBox="1"/>
          <p:nvPr/>
        </p:nvSpPr>
        <p:spPr>
          <a:xfrm>
            <a:off x="7360920" y="1783080"/>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1  empty</a:t>
            </a:r>
            <a:endParaRPr lang="en-US" sz="1050" dirty="0"/>
          </a:p>
        </p:txBody>
      </p:sp>
      <p:sp>
        <p:nvSpPr>
          <p:cNvPr id="10" name="Text 8"/>
          <p:cNvSpPr txBox="1"/>
          <p:nvPr/>
        </p:nvSpPr>
        <p:spPr>
          <a:xfrm>
            <a:off x="7360920" y="2039112"/>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2  rooted input</a:t>
            </a:r>
            <a:endParaRPr lang="en-US" sz="1050" dirty="0"/>
          </a:p>
        </p:txBody>
      </p:sp>
      <p:sp>
        <p:nvSpPr>
          <p:cNvPr id="11" name="Text 9"/>
          <p:cNvSpPr txBox="1"/>
          <p:nvPr/>
        </p:nvSpPr>
        <p:spPr>
          <a:xfrm>
            <a:off x="7360920" y="2295144"/>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3  normalize with GetFullPath</a:t>
            </a:r>
            <a:endParaRPr lang="en-US" sz="1050" dirty="0"/>
          </a:p>
        </p:txBody>
      </p:sp>
      <p:sp>
        <p:nvSpPr>
          <p:cNvPr id="12" name="Text 10"/>
          <p:cNvSpPr txBox="1"/>
          <p:nvPr/>
        </p:nvSpPr>
        <p:spPr>
          <a:xfrm>
            <a:off x="7360920" y="2551176"/>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4  prefix, with separator</a:t>
            </a:r>
            <a:endParaRPr lang="en-US" sz="1050" dirty="0"/>
          </a:p>
        </p:txBody>
      </p:sp>
      <p:sp>
        <p:nvSpPr>
          <p:cNvPr id="13" name="Text 11"/>
          <p:cNvSpPr txBox="1"/>
          <p:nvPr/>
        </p:nvSpPr>
        <p:spPr>
          <a:xfrm>
            <a:off x="7360920" y="2807208"/>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5  ignored directory</a:t>
            </a:r>
            <a:endParaRPr lang="en-US" sz="1050" dirty="0"/>
          </a:p>
        </p:txBody>
      </p:sp>
      <p:sp>
        <p:nvSpPr>
          <p:cNvPr id="14" name="Shape 12"/>
          <p:cNvSpPr/>
          <p:nvPr/>
        </p:nvSpPr>
        <p:spPr>
          <a:xfrm>
            <a:off x="7342632" y="3264408"/>
            <a:ext cx="4014216" cy="0"/>
          </a:xfrm>
          <a:prstGeom prst="line">
            <a:avLst/>
          </a:prstGeom>
          <a:noFill/>
          <a:ln w="9525">
            <a:solidFill>
              <a:srgbClr val="6B7280"/>
            </a:solidFill>
            <a:prstDash val="sysDot"/>
          </a:ln>
        </p:spPr>
      </p:sp>
      <p:sp>
        <p:nvSpPr>
          <p:cNvPr id="15" name="Text 13"/>
          <p:cNvSpPr txBox="1"/>
          <p:nvPr/>
        </p:nvSpPr>
        <p:spPr>
          <a:xfrm>
            <a:off x="7342632" y="3429000"/>
            <a:ext cx="4014216" cy="530352"/>
          </a:xfrm>
          <a:prstGeom prst="rect">
            <a:avLst/>
          </a:prstGeom>
          <a:noFill/>
          <a:ln/>
        </p:spPr>
        <p:txBody>
          <a:bodyPr wrap="square" lIns="0" tIns="0" rIns="0" bIns="0" rtlCol="0" anchor="t"/>
          <a:lstStyle/>
          <a:p>
            <a:pPr indent="0" marL="0">
              <a:buNone/>
            </a:pPr>
            <a:r>
              <a:rPr lang="en-US" sz="1050" dirty="0">
                <a:solidFill>
                  <a:srgbClr val="CADCFC"/>
                </a:solidFill>
                <a:latin typeface="Courier New" pitchFamily="34" charset="0"/>
                <a:ea typeface="Courier New" pitchFamily="34" charset="-122"/>
                <a:cs typeface="Courier New" pitchFamily="34" charset="-120"/>
              </a:rPr>
              <a:t>ValidatePath never throws</a:t>
            </a:r>
            <a:endParaRPr lang="en-US" sz="1050" dirty="0"/>
          </a:p>
          <a:p>
            <a:pPr indent="0" marL="0">
              <a:buNone/>
            </a:pPr>
            <a:r>
              <a:rPr lang="en-US" sz="1050" dirty="0">
                <a:solidFill>
                  <a:srgbClr val="CADCFC"/>
                </a:solidFill>
                <a:latin typeface="Courier New" pitchFamily="34" charset="0"/>
                <a:ea typeface="Courier New" pitchFamily="34" charset="-122"/>
                <a:cs typeface="Courier New" pitchFamily="34" charset="-120"/>
              </a:rPr>
              <a:t>ResolvePath does</a:t>
            </a:r>
            <a:endParaRPr lang="en-US" sz="1050" dirty="0"/>
          </a:p>
        </p:txBody>
      </p:sp>
      <p:sp>
        <p:nvSpPr>
          <p:cNvPr id="16" name="Text 14"/>
          <p:cNvSpPr txBox="1"/>
          <p:nvPr/>
        </p:nvSpPr>
        <p:spPr>
          <a:xfrm>
            <a:off x="7342632" y="4069080"/>
            <a:ext cx="4014216" cy="365760"/>
          </a:xfrm>
          <a:prstGeom prst="rect">
            <a:avLst/>
          </a:prstGeom>
          <a:noFill/>
          <a:ln/>
        </p:spPr>
        <p:txBody>
          <a:bodyPr wrap="square" lIns="0" tIns="0" rIns="0" bIns="0" rtlCol="0" anchor="ctr"/>
          <a:lstStyle/>
          <a:p>
            <a:pPr indent="0" marL="0">
              <a:buNone/>
            </a:pPr>
            <a:r>
              <a:rPr lang="en-US" sz="1050" b="1" i="1" dirty="0">
                <a:solidFill>
                  <a:srgbClr val="3FBFB0"/>
                </a:solidFill>
                <a:latin typeface="Calibri" pitchFamily="34" charset="0"/>
                <a:ea typeface="Calibri" pitchFamily="34" charset="-122"/>
                <a:cs typeface="Calibri" pitchFamily="34" charset="-120"/>
              </a:rPr>
              <a:t>One class. Read it and believe it.</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The Boundary Comes Before the Capability</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4 — BUILDING THE WORKSPACE SANDBOX</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548640" y="1417320"/>
            <a:ext cx="5349240" cy="4297680"/>
          </a:xfrm>
          <a:prstGeom prst="roundRect">
            <a:avLst>
              <a:gd name="adj" fmla="val 2128"/>
            </a:avLst>
          </a:prstGeom>
          <a:solidFill>
            <a:srgbClr val="1E2761"/>
          </a:solidFill>
          <a:ln/>
        </p:spPr>
      </p:sp>
      <p:sp>
        <p:nvSpPr>
          <p:cNvPr id="7" name="Shape 5"/>
          <p:cNvSpPr/>
          <p:nvPr/>
        </p:nvSpPr>
        <p:spPr>
          <a:xfrm>
            <a:off x="868680" y="1737360"/>
            <a:ext cx="640080" cy="640080"/>
          </a:xfrm>
          <a:prstGeom prst="ellipse">
            <a:avLst/>
          </a:prstGeom>
          <a:solidFill>
            <a:srgbClr val="3FBFB0"/>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The Path Is a String a Language Model Produced</a:t>
            </a:r>
            <a:endParaRPr lang="en-US" sz="1550" dirty="0"/>
          </a:p>
        </p:txBody>
      </p:sp>
      <p:sp>
        <p:nvSpPr>
          <p:cNvPr id="10" name="Text 7"/>
          <p:cNvSpPr txBox="1"/>
          <p:nvPr/>
        </p:nvSpPr>
        <p:spPr>
          <a:xfrm>
            <a:off x="86868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In two Modules the agent gets tools that read files, and in Module 10 tools that write them. That path may be a mistake, or it may be text a repository's own README told the model to use. Either way, one class has to be the thing that says no.</a:t>
            </a:r>
            <a:endParaRPr lang="en-US" sz="1350" dirty="0"/>
          </a:p>
        </p:txBody>
      </p:sp>
      <p:sp>
        <p:nvSpPr>
          <p:cNvPr id="11" name="Text 8"/>
          <p:cNvSpPr txBox="1"/>
          <p:nvPr/>
        </p:nvSpPr>
        <p:spPr>
          <a:xfrm>
            <a:off x="868680" y="4892040"/>
            <a:ext cx="4709160" cy="594360"/>
          </a:xfrm>
          <a:prstGeom prst="rect">
            <a:avLst/>
          </a:prstGeom>
          <a:noFill/>
          <a:ln/>
        </p:spPr>
        <p:txBody>
          <a:bodyPr wrap="square" lIns="0" tIns="0" rIns="0" bIns="0" rtlCol="0" anchor="t"/>
          <a:lstStyle/>
          <a:p>
            <a:pPr indent="0" marL="0">
              <a:buNone/>
            </a:pPr>
            <a:r>
              <a:rPr lang="en-US" sz="1250" b="1" i="1" dirty="0">
                <a:solidFill>
                  <a:srgbClr val="3FBFB0"/>
                </a:solidFill>
                <a:latin typeface="Calibri" pitchFamily="34" charset="0"/>
                <a:ea typeface="Calibri" pitchFamily="34" charset="-122"/>
                <a:cs typeface="Calibri" pitchFamily="34" charset="-120"/>
              </a:rPr>
              <a:t>And it has to be small enough that you can read it and believe it.</a:t>
            </a:r>
            <a:endParaRPr lang="en-US" sz="1250" dirty="0"/>
          </a:p>
        </p:txBody>
      </p:sp>
      <p:sp>
        <p:nvSpPr>
          <p:cNvPr id="12" name="Shape 9"/>
          <p:cNvSpPr/>
          <p:nvPr/>
        </p:nvSpPr>
        <p:spPr>
          <a:xfrm>
            <a:off x="6309360" y="1417320"/>
            <a:ext cx="5349240" cy="4297680"/>
          </a:xfrm>
          <a:prstGeom prst="roundRect">
            <a:avLst>
              <a:gd name="adj" fmla="val 2128"/>
            </a:avLst>
          </a:prstGeom>
          <a:solidFill>
            <a:srgbClr val="F4F6FB"/>
          </a:solidFill>
          <a:ln/>
        </p:spPr>
      </p:sp>
      <p:sp>
        <p:nvSpPr>
          <p:cNvPr id="13" name="Shape 10"/>
          <p:cNvSpPr/>
          <p:nvPr/>
        </p:nvSpPr>
        <p:spPr>
          <a:xfrm>
            <a:off x="6629400" y="1737360"/>
            <a:ext cx="640080" cy="640080"/>
          </a:xfrm>
          <a:prstGeom prst="ellipse">
            <a:avLst/>
          </a:prstGeom>
          <a:solidFill>
            <a:srgbClr val="1E2761"/>
          </a:solidFill>
          <a:ln/>
        </p:spPr>
      </p:sp>
      <p:pic>
        <p:nvPicPr>
          <p:cNvPr id="14"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5" name="Text 11"/>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2A2F45"/>
                </a:solidFill>
                <a:latin typeface="Cambria" pitchFamily="34" charset="0"/>
                <a:ea typeface="Cambria" pitchFamily="34" charset="-122"/>
                <a:cs typeface="Cambria" pitchFamily="34" charset="-120"/>
              </a:rPr>
              <a:t>The Root Is the Only Absolute Path in the System</a:t>
            </a:r>
            <a:endParaRPr lang="en-US" sz="1550" dirty="0"/>
          </a:p>
        </p:txBody>
      </p:sp>
      <p:sp>
        <p:nvSpPr>
          <p:cNvPr id="16" name="Text 12"/>
          <p:cNvSpPr txBox="1"/>
          <p:nvPr/>
        </p:nvSpPr>
        <p:spPr>
          <a:xfrm>
            <a:off x="662940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2A2F45"/>
                </a:solidFill>
                <a:latin typeface="Calibri" pitchFamily="34" charset="0"/>
                <a:ea typeface="Calibri" pitchFamily="34" charset="-122"/>
                <a:cs typeface="Calibri" pitchFamily="34" charset="-120"/>
              </a:rPr>
              <a:t>Everything the agent says is relative to it. That single convention is what makes the rest checkable: if the agent can only express relative paths, escaping means producing a relative path that resolves outside the root — and there are only a handful of ways to try that.</a:t>
            </a:r>
            <a:endParaRPr lang="en-US" sz="1350" dirty="0"/>
          </a:p>
        </p:txBody>
      </p:sp>
      <p:sp>
        <p:nvSpPr>
          <p:cNvPr id="17" name="Shape 13"/>
          <p:cNvSpPr/>
          <p:nvPr/>
        </p:nvSpPr>
        <p:spPr>
          <a:xfrm>
            <a:off x="6492240" y="4892040"/>
            <a:ext cx="4983480" cy="594360"/>
          </a:xfrm>
          <a:prstGeom prst="roundRect">
            <a:avLst>
              <a:gd name="adj" fmla="val 9231"/>
            </a:avLst>
          </a:prstGeom>
          <a:solidFill>
            <a:srgbClr val="141B49"/>
          </a:solidFill>
          <a:ln/>
        </p:spPr>
      </p:sp>
      <p:sp>
        <p:nvSpPr>
          <p:cNvPr id="18" name="Text 14"/>
          <p:cNvSpPr txBox="1"/>
          <p:nvPr/>
        </p:nvSpPr>
        <p:spPr>
          <a:xfrm>
            <a:off x="6629400" y="4892040"/>
            <a:ext cx="4709160" cy="594360"/>
          </a:xfrm>
          <a:prstGeom prst="rect">
            <a:avLst/>
          </a:prstGeom>
          <a:noFill/>
          <a:ln/>
        </p:spPr>
        <p:txBody>
          <a:bodyPr wrap="square" lIns="0" tIns="0" rIns="0" bIns="0" rtlCol="0" anchor="ctr"/>
          <a:lstStyle/>
          <a:p>
            <a:pPr indent="0" marL="0">
              <a:buNone/>
            </a:pPr>
            <a:r>
              <a:rPr lang="en-US" sz="1200" i="1" dirty="0">
                <a:solidFill>
                  <a:srgbClr val="3FBFB0"/>
                </a:solidFill>
                <a:latin typeface="Calibri" pitchFamily="34" charset="0"/>
                <a:ea typeface="Calibri" pitchFamily="34" charset="-122"/>
                <a:cs typeface="Calibri" pitchFamily="34" charset="-120"/>
              </a:rPr>
              <a:t>A finite set of attacks is a testable set of attacks.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Four Ways a Path Check Goes Wrong</a:t>
            </a:r>
            <a:endParaRPr lang="en-US" sz="28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4 — BUILDING THE WORKSPACE SANDBOX</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
        <p:nvSpPr>
          <p:cNvPr id="6" name="Shape 4"/>
          <p:cNvSpPr/>
          <p:nvPr/>
        </p:nvSpPr>
        <p:spPr>
          <a:xfrm>
            <a:off x="548640" y="1417320"/>
            <a:ext cx="5326380" cy="1920240"/>
          </a:xfrm>
          <a:prstGeom prst="roundRect">
            <a:avLst>
              <a:gd name="adj" fmla="val 4762"/>
            </a:avLst>
          </a:prstGeom>
          <a:solidFill>
            <a:srgbClr val="1E2761"/>
          </a:solidFill>
          <a:ln w="12700">
            <a:solidFill>
              <a:srgbClr val="3FBFB0"/>
            </a:solidFill>
            <a:prstDash val="solid"/>
          </a:ln>
        </p:spPr>
      </p:sp>
      <p:sp>
        <p:nvSpPr>
          <p:cNvPr id="7" name="Shape 5"/>
          <p:cNvSpPr/>
          <p:nvPr/>
        </p:nvSpPr>
        <p:spPr>
          <a:xfrm>
            <a:off x="822960" y="1645920"/>
            <a:ext cx="384048" cy="384048"/>
          </a:xfrm>
          <a:prstGeom prst="ellipse">
            <a:avLst/>
          </a:prstGeom>
          <a:solidFill>
            <a:srgbClr val="3FBFB0"/>
          </a:solidFill>
          <a:ln/>
        </p:spPr>
      </p:sp>
      <p:sp>
        <p:nvSpPr>
          <p:cNvPr id="8" name="Text 6"/>
          <p:cNvSpPr txBox="1"/>
          <p:nvPr/>
        </p:nvSpPr>
        <p:spPr>
          <a:xfrm>
            <a:off x="822960" y="16459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1</a:t>
            </a:r>
            <a:endParaRPr lang="en-US" sz="1100" dirty="0"/>
          </a:p>
        </p:txBody>
      </p:sp>
      <p:sp>
        <p:nvSpPr>
          <p:cNvPr id="9" name="Text 7"/>
          <p:cNvSpPr txBox="1"/>
          <p:nvPr/>
        </p:nvSpPr>
        <p:spPr>
          <a:xfrm>
            <a:off x="1371600" y="1618488"/>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Normalize, then compare. Never compare raw strings.</a:t>
            </a:r>
            <a:endParaRPr lang="en-US" sz="1250" dirty="0"/>
          </a:p>
        </p:txBody>
      </p:sp>
      <p:sp>
        <p:nvSpPr>
          <p:cNvPr id="10" name="Text 8"/>
          <p:cNvSpPr txBox="1"/>
          <p:nvPr/>
        </p:nvSpPr>
        <p:spPr>
          <a:xfrm>
            <a:off x="1371600" y="2130552"/>
            <a:ext cx="4229100" cy="1051560"/>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../../etc/passwd and src/../../../etc/passwd are the same place. Path.GetFullPath collapses .. and settles separators, and comparison only means anything afterwards.</a:t>
            </a:r>
            <a:endParaRPr lang="en-US" sz="1050" dirty="0"/>
          </a:p>
        </p:txBody>
      </p:sp>
      <p:sp>
        <p:nvSpPr>
          <p:cNvPr id="11" name="Shape 9"/>
          <p:cNvSpPr/>
          <p:nvPr/>
        </p:nvSpPr>
        <p:spPr>
          <a:xfrm>
            <a:off x="6286500" y="1417320"/>
            <a:ext cx="5326380" cy="1920240"/>
          </a:xfrm>
          <a:prstGeom prst="roundRect">
            <a:avLst>
              <a:gd name="adj" fmla="val 4762"/>
            </a:avLst>
          </a:prstGeom>
          <a:solidFill>
            <a:srgbClr val="1E2761"/>
          </a:solidFill>
          <a:ln w="12700">
            <a:solidFill>
              <a:srgbClr val="3FBFB0"/>
            </a:solidFill>
            <a:prstDash val="solid"/>
          </a:ln>
        </p:spPr>
      </p:sp>
      <p:sp>
        <p:nvSpPr>
          <p:cNvPr id="12" name="Shape 10"/>
          <p:cNvSpPr/>
          <p:nvPr/>
        </p:nvSpPr>
        <p:spPr>
          <a:xfrm>
            <a:off x="6560820" y="1645920"/>
            <a:ext cx="384048" cy="384048"/>
          </a:xfrm>
          <a:prstGeom prst="ellipse">
            <a:avLst/>
          </a:prstGeom>
          <a:solidFill>
            <a:srgbClr val="3FBFB0"/>
          </a:solidFill>
          <a:ln/>
        </p:spPr>
      </p:sp>
      <p:sp>
        <p:nvSpPr>
          <p:cNvPr id="13" name="Text 11"/>
          <p:cNvSpPr txBox="1"/>
          <p:nvPr/>
        </p:nvSpPr>
        <p:spPr>
          <a:xfrm>
            <a:off x="6560820" y="16459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2</a:t>
            </a:r>
            <a:endParaRPr lang="en-US" sz="1100" dirty="0"/>
          </a:p>
        </p:txBody>
      </p:sp>
      <p:sp>
        <p:nvSpPr>
          <p:cNvPr id="14" name="Text 12"/>
          <p:cNvSpPr txBox="1"/>
          <p:nvPr/>
        </p:nvSpPr>
        <p:spPr>
          <a:xfrm>
            <a:off x="7109460" y="1618488"/>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The trailing separator is the subtle one</a:t>
            </a:r>
            <a:endParaRPr lang="en-US" sz="1250" dirty="0"/>
          </a:p>
        </p:txBody>
      </p:sp>
      <p:sp>
        <p:nvSpPr>
          <p:cNvPr id="15" name="Text 13"/>
          <p:cNvSpPr txBox="1"/>
          <p:nvPr/>
        </p:nvSpPr>
        <p:spPr>
          <a:xfrm>
            <a:off x="7109460" y="2130552"/>
            <a:ext cx="4229100" cy="1051560"/>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If the root is C:\repo, then C:\repo-evil\secrets.txt really does start with those characters. Comparing against C:\repo\ closes it — a one-character bug that hands over the filesystem.</a:t>
            </a:r>
            <a:endParaRPr lang="en-US" sz="1050" dirty="0"/>
          </a:p>
        </p:txBody>
      </p:sp>
      <p:sp>
        <p:nvSpPr>
          <p:cNvPr id="16" name="Shape 14"/>
          <p:cNvSpPr/>
          <p:nvPr/>
        </p:nvSpPr>
        <p:spPr>
          <a:xfrm>
            <a:off x="548640" y="3474720"/>
            <a:ext cx="5326380" cy="1920240"/>
          </a:xfrm>
          <a:prstGeom prst="roundRect">
            <a:avLst>
              <a:gd name="adj" fmla="val 4762"/>
            </a:avLst>
          </a:prstGeom>
          <a:solidFill>
            <a:srgbClr val="1E2761"/>
          </a:solidFill>
          <a:ln w="12700">
            <a:solidFill>
              <a:srgbClr val="3FBFB0"/>
            </a:solidFill>
            <a:prstDash val="solid"/>
          </a:ln>
        </p:spPr>
      </p:sp>
      <p:sp>
        <p:nvSpPr>
          <p:cNvPr id="17" name="Shape 15"/>
          <p:cNvSpPr/>
          <p:nvPr/>
        </p:nvSpPr>
        <p:spPr>
          <a:xfrm>
            <a:off x="822960" y="3703320"/>
            <a:ext cx="384048" cy="384048"/>
          </a:xfrm>
          <a:prstGeom prst="ellipse">
            <a:avLst/>
          </a:prstGeom>
          <a:solidFill>
            <a:srgbClr val="3FBFB0"/>
          </a:solidFill>
          <a:ln/>
        </p:spPr>
      </p:sp>
      <p:sp>
        <p:nvSpPr>
          <p:cNvPr id="18" name="Text 16"/>
          <p:cNvSpPr txBox="1"/>
          <p:nvPr/>
        </p:nvSpPr>
        <p:spPr>
          <a:xfrm>
            <a:off x="822960" y="37033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3</a:t>
            </a:r>
            <a:endParaRPr lang="en-US" sz="1100" dirty="0"/>
          </a:p>
        </p:txBody>
      </p:sp>
      <p:sp>
        <p:nvSpPr>
          <p:cNvPr id="19" name="Text 17"/>
          <p:cNvSpPr txBox="1"/>
          <p:nvPr/>
        </p:nvSpPr>
        <p:spPr>
          <a:xfrm>
            <a:off x="1371600" y="3675888"/>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Rooted input must be refused before it is combined</a:t>
            </a:r>
            <a:endParaRPr lang="en-US" sz="1250" dirty="0"/>
          </a:p>
        </p:txBody>
      </p:sp>
      <p:sp>
        <p:nvSpPr>
          <p:cNvPr id="20" name="Text 18"/>
          <p:cNvSpPr txBox="1"/>
          <p:nvPr/>
        </p:nvSpPr>
        <p:spPr>
          <a:xfrm>
            <a:off x="1371600" y="4187952"/>
            <a:ext cx="4229100" cy="1051560"/>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Path.Combine("C:\repo", "\Windows\System32") returns \Windows\System32 — it discards the root. So \Windows never looks like traversal at all; there is no .. to catch.</a:t>
            </a:r>
            <a:endParaRPr lang="en-US" sz="1050" dirty="0"/>
          </a:p>
        </p:txBody>
      </p:sp>
      <p:sp>
        <p:nvSpPr>
          <p:cNvPr id="21" name="Shape 19"/>
          <p:cNvSpPr/>
          <p:nvPr/>
        </p:nvSpPr>
        <p:spPr>
          <a:xfrm>
            <a:off x="6286500" y="3474720"/>
            <a:ext cx="5326380" cy="1920240"/>
          </a:xfrm>
          <a:prstGeom prst="roundRect">
            <a:avLst>
              <a:gd name="adj" fmla="val 4762"/>
            </a:avLst>
          </a:prstGeom>
          <a:solidFill>
            <a:srgbClr val="1E2761"/>
          </a:solidFill>
          <a:ln w="12700">
            <a:solidFill>
              <a:srgbClr val="3FBFB0"/>
            </a:solidFill>
            <a:prstDash val="solid"/>
          </a:ln>
        </p:spPr>
      </p:sp>
      <p:sp>
        <p:nvSpPr>
          <p:cNvPr id="22" name="Shape 20"/>
          <p:cNvSpPr/>
          <p:nvPr/>
        </p:nvSpPr>
        <p:spPr>
          <a:xfrm>
            <a:off x="6560820" y="3703320"/>
            <a:ext cx="384048" cy="384048"/>
          </a:xfrm>
          <a:prstGeom prst="ellipse">
            <a:avLst/>
          </a:prstGeom>
          <a:solidFill>
            <a:srgbClr val="3FBFB0"/>
          </a:solidFill>
          <a:ln/>
        </p:spPr>
      </p:sp>
      <p:sp>
        <p:nvSpPr>
          <p:cNvPr id="23" name="Text 21"/>
          <p:cNvSpPr txBox="1"/>
          <p:nvPr/>
        </p:nvSpPr>
        <p:spPr>
          <a:xfrm>
            <a:off x="6560820" y="37033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4</a:t>
            </a:r>
            <a:endParaRPr lang="en-US" sz="1100" dirty="0"/>
          </a:p>
        </p:txBody>
      </p:sp>
      <p:sp>
        <p:nvSpPr>
          <p:cNvPr id="24" name="Text 22"/>
          <p:cNvSpPr txBox="1"/>
          <p:nvPr/>
        </p:nvSpPr>
        <p:spPr>
          <a:xfrm>
            <a:off x="7109460" y="3675888"/>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Case sensitivity is the platform’s business, not ours</a:t>
            </a:r>
            <a:endParaRPr lang="en-US" sz="1250" dirty="0"/>
          </a:p>
        </p:txBody>
      </p:sp>
      <p:sp>
        <p:nvSpPr>
          <p:cNvPr id="25" name="Text 23"/>
          <p:cNvSpPr txBox="1"/>
          <p:nvPr/>
        </p:nvSpPr>
        <p:spPr>
          <a:xfrm>
            <a:off x="7109460" y="4187952"/>
            <a:ext cx="4229100" cy="1051560"/>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Program.cs and program.cs are one file on Windows and two on Linux. Choose the comparison from OperatingSystem.IsWindows() rather than picking one and being wrong half the time.</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Refusing Is Not an Error</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4 — BUILDING THE WORKSPACE SANDBOX</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a:t>
            </a:r>
            <a:endParaRPr lang="en-US" sz="900" dirty="0"/>
          </a:p>
        </p:txBody>
      </p:sp>
      <p:sp>
        <p:nvSpPr>
          <p:cNvPr id="6" name="Shape 4"/>
          <p:cNvSpPr/>
          <p:nvPr/>
        </p:nvSpPr>
        <p:spPr>
          <a:xfrm>
            <a:off x="548640" y="1417320"/>
            <a:ext cx="5349240" cy="4297680"/>
          </a:xfrm>
          <a:prstGeom prst="roundRect">
            <a:avLst>
              <a:gd name="adj" fmla="val 2128"/>
            </a:avLst>
          </a:prstGeom>
          <a:solidFill>
            <a:srgbClr val="1E2761"/>
          </a:solidFill>
          <a:ln w="12700">
            <a:solidFill>
              <a:srgbClr val="3FBFB0"/>
            </a:solidFill>
            <a:prstDash val="solid"/>
          </a:ln>
        </p:spPr>
      </p:sp>
      <p:sp>
        <p:nvSpPr>
          <p:cNvPr id="7" name="Shape 5"/>
          <p:cNvSpPr/>
          <p:nvPr/>
        </p:nvSpPr>
        <p:spPr>
          <a:xfrm>
            <a:off x="868680" y="1737360"/>
            <a:ext cx="640080" cy="640080"/>
          </a:xfrm>
          <a:prstGeom prst="ellipse">
            <a:avLst/>
          </a:prstGeom>
          <a:solidFill>
            <a:srgbClr val="3FBFB0"/>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ValidatePath Returns a Result and Never Throws</a:t>
            </a:r>
            <a:endParaRPr lang="en-US" sz="1550" dirty="0"/>
          </a:p>
        </p:txBody>
      </p:sp>
      <p:sp>
        <p:nvSpPr>
          <p:cNvPr id="10" name="Text 7"/>
          <p:cNvSpPr txBox="1"/>
          <p:nvPr/>
        </p:nvSpPr>
        <p:spPr>
          <a:xfrm>
            <a:off x="86868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From Module 5b its caller is a tool that must hand the model a sentence it can act on. A thrown exception in that position costs the agent its turn and tells it nothing. ResolvePath does throw — for the internal callers who treat a refusal as a bug.</a:t>
            </a:r>
            <a:endParaRPr lang="en-US" sz="1350" dirty="0"/>
          </a:p>
        </p:txBody>
      </p:sp>
      <p:sp>
        <p:nvSpPr>
          <p:cNvPr id="11" name="Text 8"/>
          <p:cNvSpPr txBox="1"/>
          <p:nvPr/>
        </p:nvSpPr>
        <p:spPr>
          <a:xfrm>
            <a:off x="868680" y="4892040"/>
            <a:ext cx="4709160" cy="594360"/>
          </a:xfrm>
          <a:prstGeom prst="rect">
            <a:avLst/>
          </a:prstGeom>
          <a:noFill/>
          <a:ln/>
        </p:spPr>
        <p:txBody>
          <a:bodyPr wrap="square" lIns="0" tIns="0" rIns="0" bIns="0" rtlCol="0" anchor="t"/>
          <a:lstStyle/>
          <a:p>
            <a:pPr indent="0" marL="0">
              <a:buNone/>
            </a:pPr>
            <a:r>
              <a:rPr lang="en-US" sz="1250" b="1" i="1" dirty="0">
                <a:solidFill>
                  <a:srgbClr val="3FBFB0"/>
                </a:solidFill>
                <a:latin typeface="Calibri" pitchFamily="34" charset="0"/>
                <a:ea typeface="Calibri" pitchFamily="34" charset="-122"/>
                <a:cs typeface="Calibri" pitchFamily="34" charset="-120"/>
              </a:rPr>
              <a:t>Two members, two audiences, one decision underneath.</a:t>
            </a:r>
            <a:endParaRPr lang="en-US" sz="1250" dirty="0"/>
          </a:p>
        </p:txBody>
      </p:sp>
      <p:sp>
        <p:nvSpPr>
          <p:cNvPr id="12" name="Shape 9"/>
          <p:cNvSpPr/>
          <p:nvPr/>
        </p:nvSpPr>
        <p:spPr>
          <a:xfrm>
            <a:off x="6309360" y="1417320"/>
            <a:ext cx="5349240" cy="4297680"/>
          </a:xfrm>
          <a:prstGeom prst="roundRect">
            <a:avLst>
              <a:gd name="adj" fmla="val 2128"/>
            </a:avLst>
          </a:prstGeom>
          <a:solidFill>
            <a:srgbClr val="3FBFB0"/>
          </a:solidFill>
          <a:ln/>
        </p:spPr>
      </p:sp>
      <p:sp>
        <p:nvSpPr>
          <p:cNvPr id="13" name="Shape 10"/>
          <p:cNvSpPr/>
          <p:nvPr/>
        </p:nvSpPr>
        <p:spPr>
          <a:xfrm>
            <a:off x="6629400" y="1737360"/>
            <a:ext cx="640080" cy="640080"/>
          </a:xfrm>
          <a:prstGeom prst="ellipse">
            <a:avLst/>
          </a:prstGeom>
          <a:solidFill>
            <a:srgbClr val="1E2761"/>
          </a:solidFill>
          <a:ln/>
        </p:spPr>
      </p:sp>
      <p:pic>
        <p:nvPicPr>
          <p:cNvPr id="14"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5" name="Text 11"/>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Some Directories Are Inside the Root and Still Off Limits</a:t>
            </a:r>
            <a:endParaRPr lang="en-US" sz="1550" dirty="0"/>
          </a:p>
        </p:txBody>
      </p:sp>
      <p:sp>
        <p:nvSpPr>
          <p:cNvPr id="16" name="Text 12"/>
          <p:cNvSpPr txBox="1"/>
          <p:nvPr/>
        </p:nvSpPr>
        <p:spPr>
          <a:xfrm>
            <a:off x="6629400" y="2606040"/>
            <a:ext cx="4709160" cy="2743200"/>
          </a:xfrm>
          <a:prstGeom prst="rect">
            <a:avLst/>
          </a:prstGeom>
          <a:noFill/>
          <a:ln/>
        </p:spPr>
        <p:txBody>
          <a:bodyPr wrap="square" lIns="0" tIns="0" rIns="0" bIns="0" rtlCol="0" anchor="t"/>
          <a:lstStyle/>
          <a:p>
            <a:pPr indent="0" marL="0">
              <a:lnSpc>
                <a:spcPct val="125000"/>
              </a:lnSpc>
              <a:buNone/>
            </a:pPr>
            <a:r>
              <a:rPr lang="en-US" sz="1350" dirty="0">
                <a:solidFill>
                  <a:srgbClr val="FFFFFF"/>
                </a:solidFill>
                <a:latin typeface="Calibri" pitchFamily="34" charset="0"/>
                <a:ea typeface="Calibri" pitchFamily="34" charset="-122"/>
                <a:cs typeface="Calibri" pitchFamily="34" charset="-120"/>
              </a:rPr>
              <a:t>.git, bin, obj, node_modules. .git is the dangerous one: an agent writing there can rewrite history rather than code. The list runs over path segments, not the whole string, so a file legitimately called bind.cs is fine while src/bin/tool.dll is not.</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THE CODE</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Three Public Members, One Implementation of the Decision</a:t>
            </a:r>
            <a:endParaRPr lang="en-US" sz="30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4 — BUILDING THE WORKSPACE SANDBOX</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
        <p:nvSpPr>
          <p:cNvPr id="6" name="Shape 4"/>
          <p:cNvSpPr/>
          <p:nvPr/>
        </p:nvSpPr>
        <p:spPr>
          <a:xfrm>
            <a:off x="548640" y="1417320"/>
            <a:ext cx="5349240" cy="4754880"/>
          </a:xfrm>
          <a:prstGeom prst="roundRect">
            <a:avLst>
              <a:gd name="adj" fmla="val 1923"/>
            </a:avLst>
          </a:prstGeom>
          <a:solidFill>
            <a:srgbClr val="141B49"/>
          </a:solidFill>
          <a:ln w="12700">
            <a:solidFill>
              <a:srgbClr val="3FBFB0"/>
            </a:solidFill>
            <a:prstDash val="solid"/>
          </a:ln>
        </p:spPr>
      </p:sp>
      <p:sp>
        <p:nvSpPr>
          <p:cNvPr id="7" name="Text 5"/>
          <p:cNvSpPr txBox="1"/>
          <p:nvPr/>
        </p:nvSpPr>
        <p:spPr>
          <a:xfrm>
            <a:off x="877824" y="1673352"/>
            <a:ext cx="4690872" cy="212852"/>
          </a:xfrm>
          <a:prstGeom prst="rect">
            <a:avLst/>
          </a:prstGeom>
          <a:noFill/>
          <a:ln/>
        </p:spPr>
        <p:txBody>
          <a:bodyPr wrap="square" lIns="0" tIns="0" rIns="0" bIns="0" rtlCol="0" anchor="t"/>
          <a:lstStyle/>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src/MiniCode.Workspace/PathRejectionReason.cs</a:t>
            </a:r>
            <a:endParaRPr lang="en-US" sz="950" dirty="0"/>
          </a:p>
        </p:txBody>
      </p:sp>
      <p:sp>
        <p:nvSpPr>
          <p:cNvPr id="8" name="Text 6"/>
          <p:cNvSpPr txBox="1"/>
          <p:nvPr/>
        </p:nvSpPr>
        <p:spPr>
          <a:xfrm>
            <a:off x="877824" y="1995932"/>
            <a:ext cx="4690872" cy="13304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public enum PathRejectionReason</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None = 0,</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Empty,</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NotRelative,      // rooted where relative expected</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OutsideWorkspace,</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IgnoredDirectory, // .git, bin, obj, node_modules</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Malformed,        // illegal chars, or too long</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p:txBody>
      </p:sp>
      <p:sp>
        <p:nvSpPr>
          <p:cNvPr id="9" name="Text 7"/>
          <p:cNvSpPr txBox="1"/>
          <p:nvPr/>
        </p:nvSpPr>
        <p:spPr>
          <a:xfrm>
            <a:off x="877824" y="3253232"/>
            <a:ext cx="4690872" cy="352552"/>
          </a:xfrm>
          <a:prstGeom prst="rect">
            <a:avLst/>
          </a:prstGeom>
          <a:noFill/>
          <a:ln/>
        </p:spPr>
        <p:txBody>
          <a:bodyPr wrap="square" lIns="0" tIns="0" rIns="0" bIns="0" rtlCol="0" anchor="t"/>
          <a:lstStyle/>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PathValidationResult.cs — never throws, so a tool</a:t>
            </a:r>
            <a:endParaRPr lang="en-US" sz="950" dirty="0"/>
          </a:p>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can turn a refusal into a sentence for the model.</a:t>
            </a:r>
            <a:endParaRPr lang="en-US" sz="950" dirty="0"/>
          </a:p>
        </p:txBody>
      </p:sp>
      <p:sp>
        <p:nvSpPr>
          <p:cNvPr id="10" name="Text 8"/>
          <p:cNvSpPr txBox="1"/>
          <p:nvPr/>
        </p:nvSpPr>
        <p:spPr>
          <a:xfrm>
            <a:off x="877824" y="3715512"/>
            <a:ext cx="4690872" cy="4922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public sealed record PathValidationResult(</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bool IsAllowed, string FullPath,</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PathRejectionReason Reason);</a:t>
            </a:r>
            <a:endParaRPr lang="en-US" sz="950" dirty="0"/>
          </a:p>
        </p:txBody>
      </p:sp>
      <p:sp>
        <p:nvSpPr>
          <p:cNvPr id="11" name="Text 9"/>
          <p:cNvSpPr txBox="1"/>
          <p:nvPr/>
        </p:nvSpPr>
        <p:spPr>
          <a:xfrm>
            <a:off x="877824" y="4134612"/>
            <a:ext cx="4690872" cy="212852"/>
          </a:xfrm>
          <a:prstGeom prst="rect">
            <a:avLst/>
          </a:prstGeom>
          <a:noFill/>
          <a:ln/>
        </p:spPr>
        <p:txBody>
          <a:bodyPr wrap="square" lIns="0" tIns="0" rIns="0" bIns="0" rtlCol="0" anchor="t"/>
          <a:lstStyle/>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IWorkspace.cs</a:t>
            </a:r>
            <a:endParaRPr lang="en-US" sz="950" dirty="0"/>
          </a:p>
        </p:txBody>
      </p:sp>
      <p:sp>
        <p:nvSpPr>
          <p:cNvPr id="12" name="Text 10"/>
          <p:cNvSpPr txBox="1"/>
          <p:nvPr/>
        </p:nvSpPr>
        <p:spPr>
          <a:xfrm>
            <a:off x="877824" y="4457192"/>
            <a:ext cx="4690872" cy="631952"/>
          </a:xfrm>
          <a:prstGeom prst="rect">
            <a:avLst/>
          </a:prstGeom>
          <a:noFill/>
          <a:ln/>
        </p:spPr>
        <p:txBody>
          <a:bodyPr wrap="square" lIns="0" tIns="0" rIns="0" bIns="0" rtlCol="0" anchor="t"/>
          <a:lstStyle/>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string Root { get; }</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PathValidationResult ValidatePath(string? path);</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string ResolvePath(string? path);</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bool IsPathAllowed(string? path);</a:t>
            </a:r>
            <a:endParaRPr lang="en-US" sz="950" dirty="0"/>
          </a:p>
        </p:txBody>
      </p:sp>
      <p:sp>
        <p:nvSpPr>
          <p:cNvPr id="13" name="Text 11"/>
          <p:cNvSpPr txBox="1"/>
          <p:nvPr/>
        </p:nvSpPr>
        <p:spPr>
          <a:xfrm>
            <a:off x="877824" y="5458968"/>
            <a:ext cx="4690872" cy="548640"/>
          </a:xfrm>
          <a:prstGeom prst="rect">
            <a:avLst/>
          </a:prstGeom>
          <a:noFill/>
          <a:ln/>
        </p:spPr>
        <p:txBody>
          <a:bodyPr wrap="square" lIns="0" tIns="0" rIns="0" bIns="0" rtlCol="0" anchor="t"/>
          <a:lstStyle/>
          <a:p>
            <a:pPr indent="0" marL="0">
              <a:buNone/>
            </a:pPr>
            <a:r>
              <a:rPr lang="en-US" sz="1050" i="1" dirty="0">
                <a:solidFill>
                  <a:srgbClr val="CADCFC"/>
                </a:solidFill>
                <a:latin typeface="Calibri" pitchFamily="34" charset="0"/>
                <a:ea typeface="Calibri" pitchFamily="34" charset="-122"/>
                <a:cs typeface="Calibri" pitchFamily="34" charset="-120"/>
              </a:rPr>
              <a:t>Paths are nullable on purpose: from Module 5b these values arrive from a language model and may be anything at all.</a:t>
            </a:r>
            <a:endParaRPr lang="en-US" sz="1050" dirty="0"/>
          </a:p>
        </p:txBody>
      </p:sp>
      <p:sp>
        <p:nvSpPr>
          <p:cNvPr id="14" name="Shape 12"/>
          <p:cNvSpPr/>
          <p:nvPr/>
        </p:nvSpPr>
        <p:spPr>
          <a:xfrm>
            <a:off x="6309360" y="1417320"/>
            <a:ext cx="5349240" cy="4754880"/>
          </a:xfrm>
          <a:prstGeom prst="roundRect">
            <a:avLst>
              <a:gd name="adj" fmla="val 1923"/>
            </a:avLst>
          </a:prstGeom>
          <a:solidFill>
            <a:srgbClr val="141B49"/>
          </a:solidFill>
          <a:ln w="12700">
            <a:solidFill>
              <a:srgbClr val="3FBFB0"/>
            </a:solidFill>
            <a:prstDash val="solid"/>
          </a:ln>
        </p:spPr>
      </p:sp>
      <p:sp>
        <p:nvSpPr>
          <p:cNvPr id="15" name="Text 13"/>
          <p:cNvSpPr txBox="1"/>
          <p:nvPr/>
        </p:nvSpPr>
        <p:spPr>
          <a:xfrm>
            <a:off x="6638544" y="1673352"/>
            <a:ext cx="4690872" cy="212852"/>
          </a:xfrm>
          <a:prstGeom prst="rect">
            <a:avLst/>
          </a:prstGeom>
          <a:noFill/>
          <a:ln/>
        </p:spPr>
        <p:txBody>
          <a:bodyPr wrap="square" lIns="0" tIns="0" rIns="0" bIns="0" rtlCol="0" anchor="t"/>
          <a:lstStyle/>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src/MiniCode.Workspace/Workspace.cs</a:t>
            </a:r>
            <a:endParaRPr lang="en-US" sz="950" dirty="0"/>
          </a:p>
        </p:txBody>
      </p:sp>
      <p:sp>
        <p:nvSpPr>
          <p:cNvPr id="16" name="Text 14"/>
          <p:cNvSpPr txBox="1"/>
          <p:nvPr/>
        </p:nvSpPr>
        <p:spPr>
          <a:xfrm>
            <a:off x="6638544" y="1995932"/>
            <a:ext cx="4690872" cy="3525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if (string.IsNullOrWhiteSpace(path))</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return Refuse(Empty);</a:t>
            </a:r>
            <a:endParaRPr lang="en-US" sz="950" dirty="0"/>
          </a:p>
        </p:txBody>
      </p:sp>
      <p:sp>
        <p:nvSpPr>
          <p:cNvPr id="17" name="Text 15"/>
          <p:cNvSpPr txBox="1"/>
          <p:nvPr/>
        </p:nvSpPr>
        <p:spPr>
          <a:xfrm>
            <a:off x="6638544" y="2275332"/>
            <a:ext cx="4690872" cy="212852"/>
          </a:xfrm>
          <a:prstGeom prst="rect">
            <a:avLst/>
          </a:prstGeom>
          <a:noFill/>
          <a:ln/>
        </p:spPr>
        <p:txBody>
          <a:bodyPr wrap="square" lIns="0" tIns="0" rIns="0" bIns="0" rtlCol="0" anchor="t"/>
          <a:lstStyle/>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Refuse rooted input before combining.</a:t>
            </a:r>
            <a:endParaRPr lang="en-US" sz="950" dirty="0"/>
          </a:p>
        </p:txBody>
      </p:sp>
      <p:sp>
        <p:nvSpPr>
          <p:cNvPr id="18" name="Text 16"/>
          <p:cNvSpPr txBox="1"/>
          <p:nvPr/>
        </p:nvSpPr>
        <p:spPr>
          <a:xfrm>
            <a:off x="6638544" y="2597912"/>
            <a:ext cx="4690872" cy="352552"/>
          </a:xfrm>
          <a:prstGeom prst="rect">
            <a:avLst/>
          </a:prstGeom>
          <a:noFill/>
          <a:ln/>
        </p:spPr>
        <p:txBody>
          <a:bodyPr wrap="square" lIns="0" tIns="0" rIns="0" bIns="0" rtlCol="0" anchor="t"/>
          <a:lstStyle/>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if (Path.IsPathRooted(path) || path.Contains(':'))</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return Refuse(NotRelative);</a:t>
            </a:r>
            <a:endParaRPr lang="en-US" sz="950" dirty="0"/>
          </a:p>
        </p:txBody>
      </p:sp>
      <p:sp>
        <p:nvSpPr>
          <p:cNvPr id="19" name="Text 17"/>
          <p:cNvSpPr txBox="1"/>
          <p:nvPr/>
        </p:nvSpPr>
        <p:spPr>
          <a:xfrm>
            <a:off x="6638544" y="2877312"/>
            <a:ext cx="4690872" cy="3525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try</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p:txBody>
      </p:sp>
      <p:sp>
        <p:nvSpPr>
          <p:cNvPr id="20" name="Text 18"/>
          <p:cNvSpPr txBox="1"/>
          <p:nvPr/>
        </p:nvSpPr>
        <p:spPr>
          <a:xfrm>
            <a:off x="6638544" y="3156712"/>
            <a:ext cx="4690872" cy="352552"/>
          </a:xfrm>
          <a:prstGeom prst="rect">
            <a:avLst/>
          </a:prstGeom>
          <a:noFill/>
          <a:ln/>
        </p:spPr>
        <p:txBody>
          <a:bodyPr wrap="square" lIns="0" tIns="0" rIns="0" bIns="0" rtlCol="0" anchor="t"/>
          <a:lstStyle/>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fullPath = Path.GetFullPath(</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Path.Combine(Root, path));</a:t>
            </a:r>
            <a:endParaRPr lang="en-US" sz="950" dirty="0"/>
          </a:p>
        </p:txBody>
      </p:sp>
      <p:sp>
        <p:nvSpPr>
          <p:cNvPr id="21" name="Text 19"/>
          <p:cNvSpPr txBox="1"/>
          <p:nvPr/>
        </p:nvSpPr>
        <p:spPr>
          <a:xfrm>
            <a:off x="6638544" y="3436112"/>
            <a:ext cx="4690872" cy="9113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catch (Exception ex) when (ex is ArgumentException</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or NotSupportedException or PathTooLongException)</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return Refuse(Malformed);</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p:txBody>
      </p:sp>
      <p:sp>
        <p:nvSpPr>
          <p:cNvPr id="22" name="Text 20"/>
          <p:cNvSpPr txBox="1"/>
          <p:nvPr/>
        </p:nvSpPr>
        <p:spPr>
          <a:xfrm>
            <a:off x="6638544" y="4274312"/>
            <a:ext cx="4690872" cy="212852"/>
          </a:xfrm>
          <a:prstGeom prst="rect">
            <a:avLst/>
          </a:prstGeom>
          <a:noFill/>
          <a:ln/>
        </p:spPr>
        <p:txBody>
          <a:bodyPr wrap="square" lIns="0" tIns="0" rIns="0" bIns="0" rtlCol="0" anchor="t"/>
          <a:lstStyle/>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Compare against the root *with* its separator.</a:t>
            </a:r>
            <a:endParaRPr lang="en-US" sz="950" dirty="0"/>
          </a:p>
        </p:txBody>
      </p:sp>
      <p:sp>
        <p:nvSpPr>
          <p:cNvPr id="23" name="Text 21"/>
          <p:cNvSpPr txBox="1"/>
          <p:nvPr/>
        </p:nvSpPr>
        <p:spPr>
          <a:xfrm>
            <a:off x="6638544" y="4596892"/>
            <a:ext cx="4690872" cy="492252"/>
          </a:xfrm>
          <a:prstGeom prst="rect">
            <a:avLst/>
          </a:prstGeom>
          <a:noFill/>
          <a:ln/>
        </p:spPr>
        <p:txBody>
          <a:bodyPr wrap="square" lIns="0" tIns="0" rIns="0" bIns="0" rtlCol="0" anchor="t"/>
          <a:lstStyle/>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if (!fullPath.StartsWith(_rootWithSeparator, Comparison)</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&amp;&amp; !fullPath.Equals(Root, Comparison))</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return Refuse(OutsideWorkspace);</a:t>
            </a:r>
            <a:endParaRPr lang="en-US" sz="950" dirty="0"/>
          </a:p>
        </p:txBody>
      </p:sp>
      <p:sp>
        <p:nvSpPr>
          <p:cNvPr id="24" name="Text 22"/>
          <p:cNvSpPr txBox="1"/>
          <p:nvPr/>
        </p:nvSpPr>
        <p:spPr>
          <a:xfrm>
            <a:off x="6638544" y="5015992"/>
            <a:ext cx="4690872" cy="212852"/>
          </a:xfrm>
          <a:prstGeom prst="rect">
            <a:avLst/>
          </a:prstGeom>
          <a:noFill/>
          <a:ln/>
        </p:spPr>
        <p:txBody>
          <a:bodyPr wrap="square" lIns="0" tIns="0" rIns="0" bIns="0" rtlCol="0" anchor="t"/>
          <a:lstStyle/>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...then the ignore list, over path segments.</a:t>
            </a:r>
            <a:endParaRPr lang="en-US" sz="950" dirty="0"/>
          </a:p>
        </p:txBody>
      </p:sp>
      <p:sp>
        <p:nvSpPr>
          <p:cNvPr id="25" name="Text 23"/>
          <p:cNvSpPr txBox="1"/>
          <p:nvPr/>
        </p:nvSpPr>
        <p:spPr>
          <a:xfrm>
            <a:off x="6638544" y="5458968"/>
            <a:ext cx="4690872" cy="548640"/>
          </a:xfrm>
          <a:prstGeom prst="rect">
            <a:avLst/>
          </a:prstGeom>
          <a:noFill/>
          <a:ln/>
        </p:spPr>
        <p:txBody>
          <a:bodyPr wrap="square" lIns="0" tIns="0" rIns="0" bIns="0" rtlCol="0" anchor="t"/>
          <a:lstStyle/>
          <a:p>
            <a:pPr indent="0" marL="0">
              <a:buNone/>
            </a:pPr>
            <a:r>
              <a:rPr lang="en-US" sz="1050" i="1" dirty="0">
                <a:solidFill>
                  <a:srgbClr val="CADCFC"/>
                </a:solidFill>
                <a:latin typeface="Calibri" pitchFamily="34" charset="0"/>
                <a:ea typeface="Calibri" pitchFamily="34" charset="-122"/>
                <a:cs typeface="Calibri" pitchFamily="34" charset="-120"/>
              </a:rPr>
              <a:t>Pure path arithmetic — nothing in this class touches the disk.</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WALKTHROUGH</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Seven Reasons This Class Is Believable</a:t>
            </a:r>
            <a:endParaRPr lang="en-US" sz="28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4 — BUILDING THE WORKSPACE SANDBOX</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sp>
        <p:nvSpPr>
          <p:cNvPr id="6" name="Shape 4"/>
          <p:cNvSpPr/>
          <p:nvPr/>
        </p:nvSpPr>
        <p:spPr>
          <a:xfrm>
            <a:off x="548640" y="1417320"/>
            <a:ext cx="5326380" cy="1572768"/>
          </a:xfrm>
          <a:prstGeom prst="roundRect">
            <a:avLst>
              <a:gd name="adj" fmla="val 5814"/>
            </a:avLst>
          </a:prstGeom>
          <a:solidFill>
            <a:srgbClr val="1E2761"/>
          </a:solidFill>
          <a:ln w="12700">
            <a:solidFill>
              <a:srgbClr val="3FBFB0"/>
            </a:solidFill>
            <a:prstDash val="solid"/>
          </a:ln>
        </p:spPr>
      </p:sp>
      <p:sp>
        <p:nvSpPr>
          <p:cNvPr id="7" name="Shape 5"/>
          <p:cNvSpPr/>
          <p:nvPr/>
        </p:nvSpPr>
        <p:spPr>
          <a:xfrm>
            <a:off x="822960" y="1645920"/>
            <a:ext cx="384048" cy="384048"/>
          </a:xfrm>
          <a:prstGeom prst="ellipse">
            <a:avLst/>
          </a:prstGeom>
          <a:solidFill>
            <a:srgbClr val="3FBFB0"/>
          </a:solidFill>
          <a:ln/>
        </p:spPr>
      </p:sp>
      <p:sp>
        <p:nvSpPr>
          <p:cNvPr id="8" name="Text 6"/>
          <p:cNvSpPr txBox="1"/>
          <p:nvPr/>
        </p:nvSpPr>
        <p:spPr>
          <a:xfrm>
            <a:off x="822960" y="16459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1</a:t>
            </a:r>
            <a:endParaRPr lang="en-US" sz="1100" dirty="0"/>
          </a:p>
        </p:txBody>
      </p:sp>
      <p:sp>
        <p:nvSpPr>
          <p:cNvPr id="9" name="Text 7"/>
          <p:cNvSpPr txBox="1"/>
          <p:nvPr/>
        </p:nvSpPr>
        <p:spPr>
          <a:xfrm>
            <a:off x="1371600" y="1618488"/>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The constructor resolves the root once</a:t>
            </a:r>
            <a:endParaRPr lang="en-US" sz="1250" dirty="0"/>
          </a:p>
        </p:txBody>
      </p:sp>
      <p:sp>
        <p:nvSpPr>
          <p:cNvPr id="10" name="Text 8"/>
          <p:cNvSpPr txBox="1"/>
          <p:nvPr/>
        </p:nvSpPr>
        <p:spPr>
          <a:xfrm>
            <a:off x="1371600" y="2130552"/>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And keeps a second copy with a trailing separator. Two fields, and the second one is the whole prefix defence.</a:t>
            </a:r>
            <a:endParaRPr lang="en-US" sz="1050" dirty="0"/>
          </a:p>
        </p:txBody>
      </p:sp>
      <p:sp>
        <p:nvSpPr>
          <p:cNvPr id="11" name="Shape 9"/>
          <p:cNvSpPr/>
          <p:nvPr/>
        </p:nvSpPr>
        <p:spPr>
          <a:xfrm>
            <a:off x="6286500" y="1417320"/>
            <a:ext cx="5326380" cy="1572768"/>
          </a:xfrm>
          <a:prstGeom prst="roundRect">
            <a:avLst>
              <a:gd name="adj" fmla="val 5814"/>
            </a:avLst>
          </a:prstGeom>
          <a:solidFill>
            <a:srgbClr val="1E2761"/>
          </a:solidFill>
          <a:ln w="12700">
            <a:solidFill>
              <a:srgbClr val="3FBFB0"/>
            </a:solidFill>
            <a:prstDash val="solid"/>
          </a:ln>
        </p:spPr>
      </p:sp>
      <p:sp>
        <p:nvSpPr>
          <p:cNvPr id="12" name="Shape 10"/>
          <p:cNvSpPr/>
          <p:nvPr/>
        </p:nvSpPr>
        <p:spPr>
          <a:xfrm>
            <a:off x="6560820" y="1645920"/>
            <a:ext cx="384048" cy="384048"/>
          </a:xfrm>
          <a:prstGeom prst="ellipse">
            <a:avLst/>
          </a:prstGeom>
          <a:solidFill>
            <a:srgbClr val="3FBFB0"/>
          </a:solidFill>
          <a:ln/>
        </p:spPr>
      </p:sp>
      <p:sp>
        <p:nvSpPr>
          <p:cNvPr id="13" name="Text 11"/>
          <p:cNvSpPr txBox="1"/>
          <p:nvPr/>
        </p:nvSpPr>
        <p:spPr>
          <a:xfrm>
            <a:off x="6560820" y="16459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2</a:t>
            </a:r>
            <a:endParaRPr lang="en-US" sz="1100" dirty="0"/>
          </a:p>
        </p:txBody>
      </p:sp>
      <p:sp>
        <p:nvSpPr>
          <p:cNvPr id="14" name="Text 12"/>
          <p:cNvSpPr txBox="1"/>
          <p:nvPr/>
        </p:nvSpPr>
        <p:spPr>
          <a:xfrm>
            <a:off x="7109460" y="1618488"/>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It refuses in the order the attacks arrive</a:t>
            </a:r>
            <a:endParaRPr lang="en-US" sz="1250" dirty="0"/>
          </a:p>
        </p:txBody>
      </p:sp>
      <p:sp>
        <p:nvSpPr>
          <p:cNvPr id="15" name="Text 13"/>
          <p:cNvSpPr txBox="1"/>
          <p:nvPr/>
        </p:nvSpPr>
        <p:spPr>
          <a:xfrm>
            <a:off x="7109460" y="2130552"/>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Empty, rooted, normalization, prefix, ignore list. Each check is cheap and each one is a different mistake.</a:t>
            </a:r>
            <a:endParaRPr lang="en-US" sz="1050" dirty="0"/>
          </a:p>
        </p:txBody>
      </p:sp>
      <p:sp>
        <p:nvSpPr>
          <p:cNvPr id="16" name="Shape 14"/>
          <p:cNvSpPr/>
          <p:nvPr/>
        </p:nvSpPr>
        <p:spPr>
          <a:xfrm>
            <a:off x="548640" y="3118104"/>
            <a:ext cx="5326380" cy="1572768"/>
          </a:xfrm>
          <a:prstGeom prst="roundRect">
            <a:avLst>
              <a:gd name="adj" fmla="val 5814"/>
            </a:avLst>
          </a:prstGeom>
          <a:solidFill>
            <a:srgbClr val="1E2761"/>
          </a:solidFill>
          <a:ln w="12700">
            <a:solidFill>
              <a:srgbClr val="3FBFB0"/>
            </a:solidFill>
            <a:prstDash val="solid"/>
          </a:ln>
        </p:spPr>
      </p:sp>
      <p:sp>
        <p:nvSpPr>
          <p:cNvPr id="17" name="Shape 15"/>
          <p:cNvSpPr/>
          <p:nvPr/>
        </p:nvSpPr>
        <p:spPr>
          <a:xfrm>
            <a:off x="822960" y="3346704"/>
            <a:ext cx="384048" cy="384048"/>
          </a:xfrm>
          <a:prstGeom prst="ellipse">
            <a:avLst/>
          </a:prstGeom>
          <a:solidFill>
            <a:srgbClr val="3FBFB0"/>
          </a:solidFill>
          <a:ln/>
        </p:spPr>
      </p:sp>
      <p:sp>
        <p:nvSpPr>
          <p:cNvPr id="18" name="Text 16"/>
          <p:cNvSpPr txBox="1"/>
          <p:nvPr/>
        </p:nvSpPr>
        <p:spPr>
          <a:xfrm>
            <a:off x="822960" y="3346704"/>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3</a:t>
            </a:r>
            <a:endParaRPr lang="en-US" sz="1100" dirty="0"/>
          </a:p>
        </p:txBody>
      </p:sp>
      <p:sp>
        <p:nvSpPr>
          <p:cNvPr id="19" name="Text 17"/>
          <p:cNvSpPr txBox="1"/>
          <p:nvPr/>
        </p:nvSpPr>
        <p:spPr>
          <a:xfrm>
            <a:off x="1371600" y="3319272"/>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Rooted input is caught before Path.Combine sees it</a:t>
            </a:r>
            <a:endParaRPr lang="en-US" sz="1250" dirty="0"/>
          </a:p>
        </p:txBody>
      </p:sp>
      <p:sp>
        <p:nvSpPr>
          <p:cNvPr id="20" name="Text 18"/>
          <p:cNvSpPr txBox="1"/>
          <p:nvPr/>
        </p:nvSpPr>
        <p:spPr>
          <a:xfrm>
            <a:off x="1371600" y="3831336"/>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IsPathRooted catches \Windows and /etc; the ':' check catches drive-relative forms like C:notes.txt.</a:t>
            </a:r>
            <a:endParaRPr lang="en-US" sz="1050" dirty="0"/>
          </a:p>
        </p:txBody>
      </p:sp>
      <p:sp>
        <p:nvSpPr>
          <p:cNvPr id="21" name="Shape 19"/>
          <p:cNvSpPr/>
          <p:nvPr/>
        </p:nvSpPr>
        <p:spPr>
          <a:xfrm>
            <a:off x="6286500" y="3118104"/>
            <a:ext cx="5326380" cy="1572768"/>
          </a:xfrm>
          <a:prstGeom prst="roundRect">
            <a:avLst>
              <a:gd name="adj" fmla="val 5814"/>
            </a:avLst>
          </a:prstGeom>
          <a:solidFill>
            <a:srgbClr val="1E2761"/>
          </a:solidFill>
          <a:ln w="12700">
            <a:solidFill>
              <a:srgbClr val="3FBFB0"/>
            </a:solidFill>
            <a:prstDash val="solid"/>
          </a:ln>
        </p:spPr>
      </p:sp>
      <p:sp>
        <p:nvSpPr>
          <p:cNvPr id="22" name="Shape 20"/>
          <p:cNvSpPr/>
          <p:nvPr/>
        </p:nvSpPr>
        <p:spPr>
          <a:xfrm>
            <a:off x="6560820" y="3346704"/>
            <a:ext cx="384048" cy="384048"/>
          </a:xfrm>
          <a:prstGeom prst="ellipse">
            <a:avLst/>
          </a:prstGeom>
          <a:solidFill>
            <a:srgbClr val="3FBFB0"/>
          </a:solidFill>
          <a:ln/>
        </p:spPr>
      </p:sp>
      <p:sp>
        <p:nvSpPr>
          <p:cNvPr id="23" name="Text 21"/>
          <p:cNvSpPr txBox="1"/>
          <p:nvPr/>
        </p:nvSpPr>
        <p:spPr>
          <a:xfrm>
            <a:off x="6560820" y="3346704"/>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4</a:t>
            </a:r>
            <a:endParaRPr lang="en-US" sz="1100" dirty="0"/>
          </a:p>
        </p:txBody>
      </p:sp>
      <p:sp>
        <p:nvSpPr>
          <p:cNvPr id="24" name="Text 22"/>
          <p:cNvSpPr txBox="1"/>
          <p:nvPr/>
        </p:nvSpPr>
        <p:spPr>
          <a:xfrm>
            <a:off x="7109460" y="3319272"/>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GetFullPath is wrapped in a try</a:t>
            </a:r>
            <a:endParaRPr lang="en-US" sz="1250" dirty="0"/>
          </a:p>
        </p:txBody>
      </p:sp>
      <p:sp>
        <p:nvSpPr>
          <p:cNvPr id="25" name="Text 23"/>
          <p:cNvSpPr txBox="1"/>
          <p:nvPr/>
        </p:nvSpPr>
        <p:spPr>
          <a:xfrm>
            <a:off x="7109460" y="3831336"/>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A path with illegal characters throws rather than returning something useless. That becomes Malformed, not a crash.</a:t>
            </a:r>
            <a:endParaRPr lang="en-US" sz="1050" dirty="0"/>
          </a:p>
        </p:txBody>
      </p:sp>
      <p:sp>
        <p:nvSpPr>
          <p:cNvPr id="26" name="Shape 24"/>
          <p:cNvSpPr/>
          <p:nvPr/>
        </p:nvSpPr>
        <p:spPr>
          <a:xfrm>
            <a:off x="548640" y="4818888"/>
            <a:ext cx="5326380" cy="1572768"/>
          </a:xfrm>
          <a:prstGeom prst="roundRect">
            <a:avLst>
              <a:gd name="adj" fmla="val 5814"/>
            </a:avLst>
          </a:prstGeom>
          <a:solidFill>
            <a:srgbClr val="1E2761"/>
          </a:solidFill>
          <a:ln w="12700">
            <a:solidFill>
              <a:srgbClr val="3FBFB0"/>
            </a:solidFill>
            <a:prstDash val="solid"/>
          </a:ln>
        </p:spPr>
      </p:sp>
      <p:sp>
        <p:nvSpPr>
          <p:cNvPr id="27" name="Shape 25"/>
          <p:cNvSpPr/>
          <p:nvPr/>
        </p:nvSpPr>
        <p:spPr>
          <a:xfrm>
            <a:off x="822960" y="5047488"/>
            <a:ext cx="384048" cy="384048"/>
          </a:xfrm>
          <a:prstGeom prst="ellipse">
            <a:avLst/>
          </a:prstGeom>
          <a:solidFill>
            <a:srgbClr val="3FBFB0"/>
          </a:solidFill>
          <a:ln/>
        </p:spPr>
      </p:sp>
      <p:sp>
        <p:nvSpPr>
          <p:cNvPr id="28" name="Text 26"/>
          <p:cNvSpPr txBox="1"/>
          <p:nvPr/>
        </p:nvSpPr>
        <p:spPr>
          <a:xfrm>
            <a:off x="822960" y="5047488"/>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5</a:t>
            </a:r>
            <a:endParaRPr lang="en-US" sz="1100" dirty="0"/>
          </a:p>
        </p:txBody>
      </p:sp>
      <p:sp>
        <p:nvSpPr>
          <p:cNvPr id="29" name="Text 27"/>
          <p:cNvSpPr txBox="1"/>
          <p:nvPr/>
        </p:nvSpPr>
        <p:spPr>
          <a:xfrm>
            <a:off x="1371600" y="5020056"/>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The prefix check has an equality case</a:t>
            </a:r>
            <a:endParaRPr lang="en-US" sz="1250" dirty="0"/>
          </a:p>
        </p:txBody>
      </p:sp>
      <p:sp>
        <p:nvSpPr>
          <p:cNvPr id="30" name="Text 28"/>
          <p:cNvSpPr txBox="1"/>
          <p:nvPr/>
        </p:nvSpPr>
        <p:spPr>
          <a:xfrm>
            <a:off x="1371600" y="5532120"/>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So the separator-terminated root is tested, and the root itself is still allowed.</a:t>
            </a:r>
            <a:endParaRPr lang="en-US" sz="1050" dirty="0"/>
          </a:p>
        </p:txBody>
      </p:sp>
      <p:sp>
        <p:nvSpPr>
          <p:cNvPr id="31" name="Shape 29"/>
          <p:cNvSpPr/>
          <p:nvPr/>
        </p:nvSpPr>
        <p:spPr>
          <a:xfrm>
            <a:off x="6286500" y="4818888"/>
            <a:ext cx="5326380" cy="1572768"/>
          </a:xfrm>
          <a:prstGeom prst="roundRect">
            <a:avLst>
              <a:gd name="adj" fmla="val 5814"/>
            </a:avLst>
          </a:prstGeom>
          <a:solidFill>
            <a:srgbClr val="1E2761"/>
          </a:solidFill>
          <a:ln w="12700">
            <a:solidFill>
              <a:srgbClr val="3FBFB0"/>
            </a:solidFill>
            <a:prstDash val="solid"/>
          </a:ln>
        </p:spPr>
      </p:sp>
      <p:sp>
        <p:nvSpPr>
          <p:cNvPr id="32" name="Shape 30"/>
          <p:cNvSpPr/>
          <p:nvPr/>
        </p:nvSpPr>
        <p:spPr>
          <a:xfrm>
            <a:off x="6560820" y="5047488"/>
            <a:ext cx="384048" cy="384048"/>
          </a:xfrm>
          <a:prstGeom prst="ellipse">
            <a:avLst/>
          </a:prstGeom>
          <a:solidFill>
            <a:srgbClr val="3FBFB0"/>
          </a:solidFill>
          <a:ln/>
        </p:spPr>
      </p:sp>
      <p:sp>
        <p:nvSpPr>
          <p:cNvPr id="33" name="Text 31"/>
          <p:cNvSpPr txBox="1"/>
          <p:nvPr/>
        </p:nvSpPr>
        <p:spPr>
          <a:xfrm>
            <a:off x="6560820" y="5047488"/>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6</a:t>
            </a:r>
            <a:endParaRPr lang="en-US" sz="1100" dirty="0"/>
          </a:p>
        </p:txBody>
      </p:sp>
      <p:sp>
        <p:nvSpPr>
          <p:cNvPr id="34" name="Text 32"/>
          <p:cNvSpPr txBox="1"/>
          <p:nvPr/>
        </p:nvSpPr>
        <p:spPr>
          <a:xfrm>
            <a:off x="7109460" y="5020056"/>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Three public members, one implementation</a:t>
            </a:r>
            <a:endParaRPr lang="en-US" sz="1250" dirty="0"/>
          </a:p>
        </p:txBody>
      </p:sp>
      <p:sp>
        <p:nvSpPr>
          <p:cNvPr id="35" name="Text 33"/>
          <p:cNvSpPr txBox="1"/>
          <p:nvPr/>
        </p:nvSpPr>
        <p:spPr>
          <a:xfrm>
            <a:off x="7109460" y="5532120"/>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ResolvePath and IsPathAllowed are one-liners over ValidatePath — which is what makes the whole class checkable.</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EXERCISE</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Three, and the Third Is a Stretch</a:t>
            </a:r>
            <a:endParaRPr lang="en-US" sz="28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4 — BUILDING THE WORKSPACE SANDBOX</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a:t>
            </a:r>
            <a:endParaRPr lang="en-US" sz="900" dirty="0"/>
          </a:p>
        </p:txBody>
      </p:sp>
      <p:sp>
        <p:nvSpPr>
          <p:cNvPr id="6" name="Shape 4"/>
          <p:cNvSpPr/>
          <p:nvPr/>
        </p:nvSpPr>
        <p:spPr>
          <a:xfrm>
            <a:off x="548640" y="2103120"/>
            <a:ext cx="3474720" cy="3108960"/>
          </a:xfrm>
          <a:prstGeom prst="roundRect">
            <a:avLst>
              <a:gd name="adj" fmla="val 2941"/>
            </a:avLst>
          </a:prstGeom>
          <a:solidFill>
            <a:srgbClr val="1E2761"/>
          </a:solidFill>
          <a:ln w="12700">
            <a:solidFill>
              <a:srgbClr val="3FBFB0"/>
            </a:solidFill>
            <a:prstDash val="solid"/>
          </a:ln>
        </p:spPr>
      </p:sp>
      <p:sp>
        <p:nvSpPr>
          <p:cNvPr id="7" name="Shape 5"/>
          <p:cNvSpPr/>
          <p:nvPr/>
        </p:nvSpPr>
        <p:spPr>
          <a:xfrm>
            <a:off x="822960" y="2331720"/>
            <a:ext cx="384048" cy="384048"/>
          </a:xfrm>
          <a:prstGeom prst="ellipse">
            <a:avLst/>
          </a:prstGeom>
          <a:solidFill>
            <a:srgbClr val="3FBFB0"/>
          </a:solidFill>
          <a:ln/>
        </p:spPr>
      </p:sp>
      <p:sp>
        <p:nvSpPr>
          <p:cNvPr id="8" name="Text 6"/>
          <p:cNvSpPr txBox="1"/>
          <p:nvPr/>
        </p:nvSpPr>
        <p:spPr>
          <a:xfrm>
            <a:off x="822960" y="23317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1</a:t>
            </a:r>
            <a:endParaRPr lang="en-US" sz="1100" dirty="0"/>
          </a:p>
        </p:txBody>
      </p:sp>
      <p:sp>
        <p:nvSpPr>
          <p:cNvPr id="9" name="Text 7"/>
          <p:cNvSpPr txBox="1"/>
          <p:nvPr/>
        </p:nvSpPr>
        <p:spPr>
          <a:xfrm>
            <a:off x="1371600" y="2304288"/>
            <a:ext cx="2377440" cy="438912"/>
          </a:xfrm>
          <a:prstGeom prst="rect">
            <a:avLst/>
          </a:prstGeom>
          <a:noFill/>
          <a:ln/>
        </p:spPr>
        <p:txBody>
          <a:bodyPr wrap="square" lIns="0" tIns="0" rIns="0" bIns="0" rtlCol="0" anchor="ctr"/>
          <a:lstStyle/>
          <a:p>
            <a:pPr indent="0" marL="0">
              <a:buNone/>
            </a:pPr>
            <a:r>
              <a:rPr lang="en-US" sz="1200" b="1" dirty="0">
                <a:solidFill>
                  <a:srgbClr val="FFFFFF"/>
                </a:solidFill>
                <a:latin typeface="Cambria" pitchFamily="34" charset="0"/>
                <a:ea typeface="Cambria" pitchFamily="34" charset="-122"/>
                <a:cs typeface="Cambria" pitchFamily="34" charset="-120"/>
              </a:rPr>
              <a:t>Wire the root into startup</a:t>
            </a:r>
            <a:endParaRPr lang="en-US" sz="1200" dirty="0"/>
          </a:p>
        </p:txBody>
      </p:sp>
      <p:sp>
        <p:nvSpPr>
          <p:cNvPr id="10" name="Text 8"/>
          <p:cNvSpPr txBox="1"/>
          <p:nvPr/>
        </p:nvSpPr>
        <p:spPr>
          <a:xfrm>
            <a:off x="1371600" y="2816352"/>
            <a:ext cx="2377440" cy="2240280"/>
          </a:xfrm>
          <a:prstGeom prst="rect">
            <a:avLst/>
          </a:prstGeom>
          <a:noFill/>
          <a:ln/>
        </p:spPr>
        <p:txBody>
          <a:bodyPr wrap="square" lIns="0" tIns="0" rIns="0" bIns="0" rtlCol="0" anchor="t"/>
          <a:lstStyle/>
          <a:p>
            <a:pPr indent="0" marL="0">
              <a:lnSpc>
                <a:spcPct val="120000"/>
              </a:lnSpc>
              <a:buNone/>
            </a:pPr>
            <a:r>
              <a:rPr lang="en-US" sz="950" dirty="0">
                <a:solidFill>
                  <a:srgbClr val="CADCFC"/>
                </a:solidFill>
                <a:latin typeface="Calibri" pitchFamily="34" charset="0"/>
                <a:ea typeface="Calibri" pitchFamily="34" charset="-122"/>
                <a:cs typeface="Calibri" pitchFamily="34" charset="-120"/>
              </a:rPr>
              <a:t>Take an optional first command-line argument as the workspace root, default to the current directory, construct a Workspace and print Workspace: &lt;root&gt; under the banner. Note the type is MiniCode.Workspace.Workspace — class and namespace share a name.</a:t>
            </a:r>
            <a:endParaRPr lang="en-US" sz="950" dirty="0"/>
          </a:p>
        </p:txBody>
      </p:sp>
      <p:sp>
        <p:nvSpPr>
          <p:cNvPr id="11" name="Shape 9"/>
          <p:cNvSpPr/>
          <p:nvPr/>
        </p:nvSpPr>
        <p:spPr>
          <a:xfrm>
            <a:off x="4343400" y="2103120"/>
            <a:ext cx="3474720" cy="3108960"/>
          </a:xfrm>
          <a:prstGeom prst="roundRect">
            <a:avLst>
              <a:gd name="adj" fmla="val 2941"/>
            </a:avLst>
          </a:prstGeom>
          <a:solidFill>
            <a:srgbClr val="1E2761"/>
          </a:solidFill>
          <a:ln w="12700">
            <a:solidFill>
              <a:srgbClr val="3FBFB0"/>
            </a:solidFill>
            <a:prstDash val="solid"/>
          </a:ln>
        </p:spPr>
      </p:sp>
      <p:sp>
        <p:nvSpPr>
          <p:cNvPr id="12" name="Shape 10"/>
          <p:cNvSpPr/>
          <p:nvPr/>
        </p:nvSpPr>
        <p:spPr>
          <a:xfrm>
            <a:off x="4617720" y="2331720"/>
            <a:ext cx="384048" cy="384048"/>
          </a:xfrm>
          <a:prstGeom prst="ellipse">
            <a:avLst/>
          </a:prstGeom>
          <a:solidFill>
            <a:srgbClr val="3FBFB0"/>
          </a:solidFill>
          <a:ln/>
        </p:spPr>
      </p:sp>
      <p:sp>
        <p:nvSpPr>
          <p:cNvPr id="13" name="Text 11"/>
          <p:cNvSpPr txBox="1"/>
          <p:nvPr/>
        </p:nvSpPr>
        <p:spPr>
          <a:xfrm>
            <a:off x="4617720" y="23317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2</a:t>
            </a:r>
            <a:endParaRPr lang="en-US" sz="1100" dirty="0"/>
          </a:p>
        </p:txBody>
      </p:sp>
      <p:sp>
        <p:nvSpPr>
          <p:cNvPr id="14" name="Text 12"/>
          <p:cNvSpPr txBox="1"/>
          <p:nvPr/>
        </p:nvSpPr>
        <p:spPr>
          <a:xfrm>
            <a:off x="5166360" y="2304288"/>
            <a:ext cx="2377440" cy="438912"/>
          </a:xfrm>
          <a:prstGeom prst="rect">
            <a:avLst/>
          </a:prstGeom>
          <a:noFill/>
          <a:ln/>
        </p:spPr>
        <p:txBody>
          <a:bodyPr wrap="square" lIns="0" tIns="0" rIns="0" bIns="0" rtlCol="0" anchor="ctr"/>
          <a:lstStyle/>
          <a:p>
            <a:pPr indent="0" marL="0">
              <a:buNone/>
            </a:pPr>
            <a:r>
              <a:rPr lang="en-US" sz="1200" b="1" dirty="0">
                <a:solidFill>
                  <a:srgbClr val="FFFFFF"/>
                </a:solidFill>
                <a:latin typeface="Cambria" pitchFamily="34" charset="0"/>
                <a:ea typeface="Cambria" pitchFamily="34" charset="-122"/>
                <a:cs typeface="Cambria" pitchFamily="34" charset="-120"/>
              </a:rPr>
              <a:t>Add binary-file detection</a:t>
            </a:r>
            <a:endParaRPr lang="en-US" sz="1200" dirty="0"/>
          </a:p>
        </p:txBody>
      </p:sp>
      <p:sp>
        <p:nvSpPr>
          <p:cNvPr id="15" name="Text 13"/>
          <p:cNvSpPr txBox="1"/>
          <p:nvPr/>
        </p:nvSpPr>
        <p:spPr>
          <a:xfrm>
            <a:off x="5166360" y="2816352"/>
            <a:ext cx="2377440" cy="2240280"/>
          </a:xfrm>
          <a:prstGeom prst="rect">
            <a:avLst/>
          </a:prstGeom>
          <a:noFill/>
          <a:ln/>
        </p:spPr>
        <p:txBody>
          <a:bodyPr wrap="square" lIns="0" tIns="0" rIns="0" bIns="0" rtlCol="0" anchor="t"/>
          <a:lstStyle/>
          <a:p>
            <a:pPr indent="0" marL="0">
              <a:lnSpc>
                <a:spcPct val="120000"/>
              </a:lnSpc>
              <a:buNone/>
            </a:pPr>
            <a:r>
              <a:rPr lang="en-US" sz="950" dirty="0">
                <a:solidFill>
                  <a:srgbClr val="CADCFC"/>
                </a:solidFill>
                <a:latin typeface="Calibri" pitchFamily="34" charset="0"/>
                <a:ea typeface="Calibri" pitchFamily="34" charset="-122"/>
                <a:cs typeface="Calibri" pitchFamily="34" charset="-120"/>
              </a:rPr>
              <a:t>bool IsBinaryFile(string? path) on IWorkspace and Workspace: read the first 8 KB, treat a NUL byte as binary. A .cs file is not binary; a .dll is; a file outside the workspace is refused rather than answered; a missing file is not an exception.</a:t>
            </a:r>
            <a:endParaRPr lang="en-US" sz="950" dirty="0"/>
          </a:p>
        </p:txBody>
      </p:sp>
      <p:sp>
        <p:nvSpPr>
          <p:cNvPr id="16" name="Shape 14"/>
          <p:cNvSpPr/>
          <p:nvPr/>
        </p:nvSpPr>
        <p:spPr>
          <a:xfrm>
            <a:off x="8138160" y="2103120"/>
            <a:ext cx="3474720" cy="3108960"/>
          </a:xfrm>
          <a:prstGeom prst="roundRect">
            <a:avLst>
              <a:gd name="adj" fmla="val 2941"/>
            </a:avLst>
          </a:prstGeom>
          <a:solidFill>
            <a:srgbClr val="1E2761"/>
          </a:solidFill>
          <a:ln w="12700">
            <a:solidFill>
              <a:srgbClr val="3FBFB0"/>
            </a:solidFill>
            <a:prstDash val="solid"/>
          </a:ln>
        </p:spPr>
      </p:sp>
      <p:sp>
        <p:nvSpPr>
          <p:cNvPr id="17" name="Shape 15"/>
          <p:cNvSpPr/>
          <p:nvPr/>
        </p:nvSpPr>
        <p:spPr>
          <a:xfrm>
            <a:off x="8412480" y="2331720"/>
            <a:ext cx="384048" cy="384048"/>
          </a:xfrm>
          <a:prstGeom prst="ellipse">
            <a:avLst/>
          </a:prstGeom>
          <a:solidFill>
            <a:srgbClr val="3FBFB0"/>
          </a:solidFill>
          <a:ln/>
        </p:spPr>
      </p:sp>
      <p:sp>
        <p:nvSpPr>
          <p:cNvPr id="18" name="Text 16"/>
          <p:cNvSpPr txBox="1"/>
          <p:nvPr/>
        </p:nvSpPr>
        <p:spPr>
          <a:xfrm>
            <a:off x="8412480" y="23317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3</a:t>
            </a:r>
            <a:endParaRPr lang="en-US" sz="1100" dirty="0"/>
          </a:p>
        </p:txBody>
      </p:sp>
      <p:sp>
        <p:nvSpPr>
          <p:cNvPr id="19" name="Text 17"/>
          <p:cNvSpPr txBox="1"/>
          <p:nvPr/>
        </p:nvSpPr>
        <p:spPr>
          <a:xfrm>
            <a:off x="8961120" y="2304288"/>
            <a:ext cx="2377440" cy="438912"/>
          </a:xfrm>
          <a:prstGeom prst="rect">
            <a:avLst/>
          </a:prstGeom>
          <a:noFill/>
          <a:ln/>
        </p:spPr>
        <p:txBody>
          <a:bodyPr wrap="square" lIns="0" tIns="0" rIns="0" bIns="0" rtlCol="0" anchor="ctr"/>
          <a:lstStyle/>
          <a:p>
            <a:pPr indent="0" marL="0">
              <a:buNone/>
            </a:pPr>
            <a:r>
              <a:rPr lang="en-US" sz="1200" b="1" dirty="0">
                <a:solidFill>
                  <a:srgbClr val="FFFFFF"/>
                </a:solidFill>
                <a:latin typeface="Cambria" pitchFamily="34" charset="0"/>
                <a:ea typeface="Cambria" pitchFamily="34" charset="-122"/>
                <a:cs typeface="Cambria" pitchFamily="34" charset="-120"/>
              </a:rPr>
              <a:t>Stretch: support .gitignore</a:t>
            </a:r>
            <a:endParaRPr lang="en-US" sz="1200" dirty="0"/>
          </a:p>
        </p:txBody>
      </p:sp>
      <p:sp>
        <p:nvSpPr>
          <p:cNvPr id="20" name="Text 18"/>
          <p:cNvSpPr txBox="1"/>
          <p:nvPr/>
        </p:nvSpPr>
        <p:spPr>
          <a:xfrm>
            <a:off x="8961120" y="2816352"/>
            <a:ext cx="2377440" cy="2240280"/>
          </a:xfrm>
          <a:prstGeom prst="rect">
            <a:avLst/>
          </a:prstGeom>
          <a:noFill/>
          <a:ln/>
        </p:spPr>
        <p:txBody>
          <a:bodyPr wrap="square" lIns="0" tIns="0" rIns="0" bIns="0" rtlCol="0" anchor="t"/>
          <a:lstStyle/>
          <a:p>
            <a:pPr indent="0" marL="0">
              <a:lnSpc>
                <a:spcPct val="120000"/>
              </a:lnSpc>
              <a:buNone/>
            </a:pPr>
            <a:r>
              <a:rPr lang="en-US" sz="950" dirty="0">
                <a:solidFill>
                  <a:srgbClr val="CADCFC"/>
                </a:solidFill>
                <a:latin typeface="Calibri" pitchFamily="34" charset="0"/>
                <a:ea typeface="Calibri" pitchFamily="34" charset="-122"/>
                <a:cs typeface="Calibri" pitchFamily="34" charset="-120"/>
              </a:rPr>
              <a:t>Refuse paths the root .gitignore matches, with a new PathRejectionReason. Handle leading-slash anchoring, trailing-slash directories and * within a segment — and say in your comments which real features you are not implementing.</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EXPECTED OUTPUT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Nine Paths Against a Root of D:\Repos\CustomerPortal</a:t>
            </a:r>
            <a:endParaRPr lang="en-US" sz="3000" dirty="0"/>
          </a:p>
        </p:txBody>
      </p:sp>
      <p:sp>
        <p:nvSpPr>
          <p:cNvPr id="4" name="Text 2"/>
          <p:cNvSpPr txBox="1"/>
          <p:nvPr/>
        </p:nvSpPr>
        <p:spPr>
          <a:xfrm>
            <a:off x="548640" y="1207008"/>
            <a:ext cx="11064240" cy="365760"/>
          </a:xfrm>
          <a:prstGeom prst="rect">
            <a:avLst/>
          </a:prstGeom>
          <a:noFill/>
          <a:ln/>
        </p:spPr>
        <p:txBody>
          <a:bodyPr wrap="square" lIns="0" tIns="0" rIns="0" bIns="0" rtlCol="0" anchor="t"/>
          <a:lstStyle/>
          <a:p>
            <a:pPr indent="0" marL="0">
              <a:buNone/>
            </a:pPr>
            <a:r>
              <a:rPr lang="en-US" sz="1250" i="1" dirty="0">
                <a:solidFill>
                  <a:srgbClr val="2A2F45"/>
                </a:solidFill>
                <a:latin typeface="Calibri" pitchFamily="34" charset="0"/>
                <a:ea typeface="Calibri" pitchFamily="34" charset="-122"/>
                <a:cs typeface="Calibri" pitchFamily="34" charset="-120"/>
              </a:rPr>
              <a:t>The chat loop is untouched — the sandbox is not wired to anything until Module 5a. What the class does is best seen by checking paths.</a:t>
            </a:r>
            <a:endParaRPr lang="en-US" sz="1250" dirty="0"/>
          </a:p>
        </p:txBody>
      </p:sp>
      <p:sp>
        <p:nvSpPr>
          <p:cNvPr id="5" name="Text 3"/>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4 — BUILDING THE WORKSPACE SANDBOX</a:t>
            </a:r>
            <a:endParaRPr lang="en-US" sz="900" dirty="0"/>
          </a:p>
        </p:txBody>
      </p:sp>
      <p:sp>
        <p:nvSpPr>
          <p:cNvPr id="6" name="Text 4"/>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548640" y="1965960"/>
            <a:ext cx="11064240" cy="384048"/>
          </a:xfrm>
          <a:prstGeom prst="rect">
            <a:avLst/>
          </a:prstGeom>
          <a:solidFill>
            <a:srgbClr val="1E2761"/>
          </a:solidFill>
          <a:ln/>
        </p:spPr>
      </p:sp>
      <p:sp>
        <p:nvSpPr>
          <p:cNvPr id="8" name="Text 6"/>
          <p:cNvSpPr txBox="1"/>
          <p:nvPr/>
        </p:nvSpPr>
        <p:spPr>
          <a:xfrm>
            <a:off x="676656" y="1965960"/>
            <a:ext cx="5779008" cy="384048"/>
          </a:xfrm>
          <a:prstGeom prst="rect">
            <a:avLst/>
          </a:prstGeom>
          <a:noFill/>
          <a:ln/>
        </p:spPr>
        <p:txBody>
          <a:bodyPr wrap="square" lIns="0" tIns="0" rIns="0" bIns="0" rtlCol="0" anchor="ctr"/>
          <a:lstStyle/>
          <a:p>
            <a:pPr indent="0" marL="0">
              <a:buNone/>
            </a:pPr>
            <a:r>
              <a:rPr lang="en-US" sz="1150" b="1" dirty="0">
                <a:solidFill>
                  <a:srgbClr val="FFFFFF"/>
                </a:solidFill>
                <a:latin typeface="Cambria" pitchFamily="34" charset="0"/>
                <a:ea typeface="Cambria" pitchFamily="34" charset="-122"/>
                <a:cs typeface="Cambria" pitchFamily="34" charset="-120"/>
              </a:rPr>
              <a:t>path</a:t>
            </a:r>
            <a:endParaRPr lang="en-US" sz="1150" dirty="0"/>
          </a:p>
        </p:txBody>
      </p:sp>
      <p:sp>
        <p:nvSpPr>
          <p:cNvPr id="9" name="Text 7"/>
          <p:cNvSpPr txBox="1"/>
          <p:nvPr/>
        </p:nvSpPr>
        <p:spPr>
          <a:xfrm>
            <a:off x="6711696" y="1965960"/>
            <a:ext cx="1481328" cy="384048"/>
          </a:xfrm>
          <a:prstGeom prst="rect">
            <a:avLst/>
          </a:prstGeom>
          <a:noFill/>
          <a:ln/>
        </p:spPr>
        <p:txBody>
          <a:bodyPr wrap="square" lIns="0" tIns="0" rIns="0" bIns="0" rtlCol="0" anchor="ctr"/>
          <a:lstStyle/>
          <a:p>
            <a:pPr indent="0" marL="0">
              <a:buNone/>
            </a:pPr>
            <a:r>
              <a:rPr lang="en-US" sz="1150" b="1" dirty="0">
                <a:solidFill>
                  <a:srgbClr val="FFFFFF"/>
                </a:solidFill>
                <a:latin typeface="Cambria" pitchFamily="34" charset="0"/>
                <a:ea typeface="Cambria" pitchFamily="34" charset="-122"/>
                <a:cs typeface="Cambria" pitchFamily="34" charset="-120"/>
              </a:rPr>
              <a:t>IsAllowed</a:t>
            </a:r>
            <a:endParaRPr lang="en-US" sz="1150" dirty="0"/>
          </a:p>
        </p:txBody>
      </p:sp>
      <p:sp>
        <p:nvSpPr>
          <p:cNvPr id="10" name="Text 8"/>
          <p:cNvSpPr txBox="1"/>
          <p:nvPr/>
        </p:nvSpPr>
        <p:spPr>
          <a:xfrm>
            <a:off x="8449056" y="1965960"/>
            <a:ext cx="3035808" cy="384048"/>
          </a:xfrm>
          <a:prstGeom prst="rect">
            <a:avLst/>
          </a:prstGeom>
          <a:noFill/>
          <a:ln/>
        </p:spPr>
        <p:txBody>
          <a:bodyPr wrap="square" lIns="0" tIns="0" rIns="0" bIns="0" rtlCol="0" anchor="ctr"/>
          <a:lstStyle/>
          <a:p>
            <a:pPr indent="0" marL="0">
              <a:buNone/>
            </a:pPr>
            <a:r>
              <a:rPr lang="en-US" sz="1150" b="1" dirty="0">
                <a:solidFill>
                  <a:srgbClr val="FFFFFF"/>
                </a:solidFill>
                <a:latin typeface="Cambria" pitchFamily="34" charset="0"/>
                <a:ea typeface="Cambria" pitchFamily="34" charset="-122"/>
                <a:cs typeface="Cambria" pitchFamily="34" charset="-120"/>
              </a:rPr>
              <a:t>Reason</a:t>
            </a:r>
            <a:endParaRPr lang="en-US" sz="1150" dirty="0"/>
          </a:p>
        </p:txBody>
      </p:sp>
      <p:sp>
        <p:nvSpPr>
          <p:cNvPr id="11" name="Shape 9"/>
          <p:cNvSpPr/>
          <p:nvPr/>
        </p:nvSpPr>
        <p:spPr>
          <a:xfrm>
            <a:off x="548640" y="2350008"/>
            <a:ext cx="11064240" cy="438912"/>
          </a:xfrm>
          <a:prstGeom prst="rect">
            <a:avLst/>
          </a:prstGeom>
          <a:solidFill>
            <a:srgbClr val="F4F6FB"/>
          </a:solidFill>
          <a:ln/>
        </p:spPr>
      </p:sp>
      <p:sp>
        <p:nvSpPr>
          <p:cNvPr id="12" name="Text 10"/>
          <p:cNvSpPr txBox="1"/>
          <p:nvPr/>
        </p:nvSpPr>
        <p:spPr>
          <a:xfrm>
            <a:off x="676656" y="2350008"/>
            <a:ext cx="5779008" cy="438912"/>
          </a:xfrm>
          <a:prstGeom prst="rect">
            <a:avLst/>
          </a:prstGeom>
          <a:noFill/>
          <a:ln/>
        </p:spPr>
        <p:txBody>
          <a:bodyPr wrap="square" lIns="0" tIns="0" rIns="0" bIns="0" rtlCol="0" anchor="ctr"/>
          <a:lstStyle/>
          <a:p>
            <a:pPr indent="0" marL="0">
              <a:buNone/>
            </a:pPr>
            <a:r>
              <a:rPr lang="en-US" sz="950" dirty="0">
                <a:solidFill>
                  <a:srgbClr val="3FBFB0"/>
                </a:solidFill>
                <a:latin typeface="Courier New" pitchFamily="34" charset="0"/>
                <a:ea typeface="Courier New" pitchFamily="34" charset="-122"/>
                <a:cs typeface="Courier New" pitchFamily="34" charset="-120"/>
              </a:rPr>
              <a:t>src/Program.cs</a:t>
            </a:r>
            <a:endParaRPr lang="en-US" sz="950" dirty="0"/>
          </a:p>
        </p:txBody>
      </p:sp>
      <p:sp>
        <p:nvSpPr>
          <p:cNvPr id="13" name="Text 11"/>
          <p:cNvSpPr txBox="1"/>
          <p:nvPr/>
        </p:nvSpPr>
        <p:spPr>
          <a:xfrm>
            <a:off x="6711696" y="2350008"/>
            <a:ext cx="1481328" cy="438912"/>
          </a:xfrm>
          <a:prstGeom prst="rect">
            <a:avLst/>
          </a:prstGeom>
          <a:noFill/>
          <a:ln/>
        </p:spPr>
        <p:txBody>
          <a:bodyPr wrap="square" lIns="0" tIns="0" rIns="0" bIns="0" rtlCol="0" anchor="ctr"/>
          <a:lstStyle/>
          <a:p>
            <a:pPr indent="0" marL="0">
              <a:buNone/>
            </a:pPr>
            <a:r>
              <a:rPr lang="en-US" sz="1100" dirty="0">
                <a:solidFill>
                  <a:srgbClr val="2A2F45"/>
                </a:solidFill>
                <a:latin typeface="Calibri" pitchFamily="34" charset="0"/>
                <a:ea typeface="Calibri" pitchFamily="34" charset="-122"/>
                <a:cs typeface="Calibri" pitchFamily="34" charset="-120"/>
              </a:rPr>
              <a:t>true</a:t>
            </a:r>
            <a:endParaRPr lang="en-US" sz="1100" dirty="0"/>
          </a:p>
        </p:txBody>
      </p:sp>
      <p:sp>
        <p:nvSpPr>
          <p:cNvPr id="14" name="Text 12"/>
          <p:cNvSpPr txBox="1"/>
          <p:nvPr/>
        </p:nvSpPr>
        <p:spPr>
          <a:xfrm>
            <a:off x="8449056" y="2350008"/>
            <a:ext cx="3035808" cy="438912"/>
          </a:xfrm>
          <a:prstGeom prst="rect">
            <a:avLst/>
          </a:prstGeom>
          <a:noFill/>
          <a:ln/>
        </p:spPr>
        <p:txBody>
          <a:bodyPr wrap="square" lIns="0" tIns="0" rIns="0" bIns="0" rtlCol="0" anchor="ctr"/>
          <a:lstStyle/>
          <a:p>
            <a:pPr indent="0" marL="0">
              <a:buNone/>
            </a:pPr>
            <a:r>
              <a:rPr lang="en-US" sz="950" dirty="0">
                <a:solidFill>
                  <a:srgbClr val="3FBFB0"/>
                </a:solidFill>
                <a:latin typeface="Courier New" pitchFamily="34" charset="0"/>
                <a:ea typeface="Courier New" pitchFamily="34" charset="-122"/>
                <a:cs typeface="Courier New" pitchFamily="34" charset="-120"/>
              </a:rPr>
              <a:t>None</a:t>
            </a:r>
            <a:endParaRPr lang="en-US" sz="950" dirty="0"/>
          </a:p>
        </p:txBody>
      </p:sp>
      <p:sp>
        <p:nvSpPr>
          <p:cNvPr id="15" name="Shape 13"/>
          <p:cNvSpPr/>
          <p:nvPr/>
        </p:nvSpPr>
        <p:spPr>
          <a:xfrm>
            <a:off x="548640" y="2788920"/>
            <a:ext cx="11064240" cy="438912"/>
          </a:xfrm>
          <a:prstGeom prst="rect">
            <a:avLst/>
          </a:prstGeom>
          <a:solidFill>
            <a:srgbClr val="FFFFFF"/>
          </a:solidFill>
          <a:ln/>
        </p:spPr>
      </p:sp>
      <p:sp>
        <p:nvSpPr>
          <p:cNvPr id="16" name="Text 14"/>
          <p:cNvSpPr txBox="1"/>
          <p:nvPr/>
        </p:nvSpPr>
        <p:spPr>
          <a:xfrm>
            <a:off x="676656" y="2788920"/>
            <a:ext cx="5779008" cy="438912"/>
          </a:xfrm>
          <a:prstGeom prst="rect">
            <a:avLst/>
          </a:prstGeom>
          <a:noFill/>
          <a:ln/>
        </p:spPr>
        <p:txBody>
          <a:bodyPr wrap="square" lIns="0" tIns="0" rIns="0" bIns="0" rtlCol="0" anchor="ctr"/>
          <a:lstStyle/>
          <a:p>
            <a:pPr indent="0" marL="0">
              <a:buNone/>
            </a:pPr>
            <a:r>
              <a:rPr lang="en-US" sz="950" dirty="0">
                <a:solidFill>
                  <a:srgbClr val="3FBFB0"/>
                </a:solidFill>
                <a:latin typeface="Courier New" pitchFamily="34" charset="0"/>
                <a:ea typeface="Courier New" pitchFamily="34" charset="-122"/>
                <a:cs typeface="Courier New" pitchFamily="34" charset="-120"/>
              </a:rPr>
              <a:t>./src/../src/Program.cs</a:t>
            </a:r>
            <a:endParaRPr lang="en-US" sz="950" dirty="0"/>
          </a:p>
        </p:txBody>
      </p:sp>
      <p:sp>
        <p:nvSpPr>
          <p:cNvPr id="17" name="Text 15"/>
          <p:cNvSpPr txBox="1"/>
          <p:nvPr/>
        </p:nvSpPr>
        <p:spPr>
          <a:xfrm>
            <a:off x="6711696" y="2788920"/>
            <a:ext cx="1481328" cy="438912"/>
          </a:xfrm>
          <a:prstGeom prst="rect">
            <a:avLst/>
          </a:prstGeom>
          <a:noFill/>
          <a:ln/>
        </p:spPr>
        <p:txBody>
          <a:bodyPr wrap="square" lIns="0" tIns="0" rIns="0" bIns="0" rtlCol="0" anchor="ctr"/>
          <a:lstStyle/>
          <a:p>
            <a:pPr indent="0" marL="0">
              <a:buNone/>
            </a:pPr>
            <a:r>
              <a:rPr lang="en-US" sz="1100" dirty="0">
                <a:solidFill>
                  <a:srgbClr val="2A2F45"/>
                </a:solidFill>
                <a:latin typeface="Calibri" pitchFamily="34" charset="0"/>
                <a:ea typeface="Calibri" pitchFamily="34" charset="-122"/>
                <a:cs typeface="Calibri" pitchFamily="34" charset="-120"/>
              </a:rPr>
              <a:t>true</a:t>
            </a:r>
            <a:endParaRPr lang="en-US" sz="1100" dirty="0"/>
          </a:p>
        </p:txBody>
      </p:sp>
      <p:sp>
        <p:nvSpPr>
          <p:cNvPr id="18" name="Text 16"/>
          <p:cNvSpPr txBox="1"/>
          <p:nvPr/>
        </p:nvSpPr>
        <p:spPr>
          <a:xfrm>
            <a:off x="8449056" y="2788920"/>
            <a:ext cx="3035808" cy="438912"/>
          </a:xfrm>
          <a:prstGeom prst="rect">
            <a:avLst/>
          </a:prstGeom>
          <a:noFill/>
          <a:ln/>
        </p:spPr>
        <p:txBody>
          <a:bodyPr wrap="square" lIns="0" tIns="0" rIns="0" bIns="0" rtlCol="0" anchor="ctr"/>
          <a:lstStyle/>
          <a:p>
            <a:pPr indent="0" marL="0">
              <a:buNone/>
            </a:pPr>
            <a:r>
              <a:rPr lang="en-US" sz="950" dirty="0">
                <a:solidFill>
                  <a:srgbClr val="3FBFB0"/>
                </a:solidFill>
                <a:latin typeface="Courier New" pitchFamily="34" charset="0"/>
                <a:ea typeface="Courier New" pitchFamily="34" charset="-122"/>
                <a:cs typeface="Courier New" pitchFamily="34" charset="-120"/>
              </a:rPr>
              <a:t>None</a:t>
            </a:r>
            <a:endParaRPr lang="en-US" sz="950" dirty="0"/>
          </a:p>
        </p:txBody>
      </p:sp>
      <p:sp>
        <p:nvSpPr>
          <p:cNvPr id="19" name="Shape 17"/>
          <p:cNvSpPr/>
          <p:nvPr/>
        </p:nvSpPr>
        <p:spPr>
          <a:xfrm>
            <a:off x="548640" y="3227832"/>
            <a:ext cx="11064240" cy="438912"/>
          </a:xfrm>
          <a:prstGeom prst="rect">
            <a:avLst/>
          </a:prstGeom>
          <a:solidFill>
            <a:srgbClr val="F4F6FB"/>
          </a:solidFill>
          <a:ln/>
        </p:spPr>
      </p:sp>
      <p:sp>
        <p:nvSpPr>
          <p:cNvPr id="20" name="Text 18"/>
          <p:cNvSpPr txBox="1"/>
          <p:nvPr/>
        </p:nvSpPr>
        <p:spPr>
          <a:xfrm>
            <a:off x="676656" y="3227832"/>
            <a:ext cx="5779008" cy="438912"/>
          </a:xfrm>
          <a:prstGeom prst="rect">
            <a:avLst/>
          </a:prstGeom>
          <a:noFill/>
          <a:ln/>
        </p:spPr>
        <p:txBody>
          <a:bodyPr wrap="square" lIns="0" tIns="0" rIns="0" bIns="0" rtlCol="0" anchor="ctr"/>
          <a:lstStyle/>
          <a:p>
            <a:pPr indent="0" marL="0">
              <a:buNone/>
            </a:pPr>
            <a:r>
              <a:rPr lang="en-US" sz="950" dirty="0">
                <a:solidFill>
                  <a:srgbClr val="3FBFB0"/>
                </a:solidFill>
                <a:latin typeface="Courier New" pitchFamily="34" charset="0"/>
                <a:ea typeface="Courier New" pitchFamily="34" charset="-122"/>
                <a:cs typeface="Courier New" pitchFamily="34" charset="-120"/>
              </a:rPr>
              <a:t>..\..\Windows\System32\drivers\etc\hosts</a:t>
            </a:r>
            <a:endParaRPr lang="en-US" sz="950" dirty="0"/>
          </a:p>
        </p:txBody>
      </p:sp>
      <p:sp>
        <p:nvSpPr>
          <p:cNvPr id="21" name="Text 19"/>
          <p:cNvSpPr txBox="1"/>
          <p:nvPr/>
        </p:nvSpPr>
        <p:spPr>
          <a:xfrm>
            <a:off x="6711696" y="3227832"/>
            <a:ext cx="1481328" cy="438912"/>
          </a:xfrm>
          <a:prstGeom prst="rect">
            <a:avLst/>
          </a:prstGeom>
          <a:noFill/>
          <a:ln/>
        </p:spPr>
        <p:txBody>
          <a:bodyPr wrap="square" lIns="0" tIns="0" rIns="0" bIns="0" rtlCol="0" anchor="ctr"/>
          <a:lstStyle/>
          <a:p>
            <a:pPr indent="0" marL="0">
              <a:buNone/>
            </a:pPr>
            <a:r>
              <a:rPr lang="en-US" sz="1100" dirty="0">
                <a:solidFill>
                  <a:srgbClr val="2A2F45"/>
                </a:solidFill>
                <a:latin typeface="Calibri" pitchFamily="34" charset="0"/>
                <a:ea typeface="Calibri" pitchFamily="34" charset="-122"/>
                <a:cs typeface="Calibri" pitchFamily="34" charset="-120"/>
              </a:rPr>
              <a:t>false</a:t>
            </a:r>
            <a:endParaRPr lang="en-US" sz="1100" dirty="0"/>
          </a:p>
        </p:txBody>
      </p:sp>
      <p:sp>
        <p:nvSpPr>
          <p:cNvPr id="22" name="Text 20"/>
          <p:cNvSpPr txBox="1"/>
          <p:nvPr/>
        </p:nvSpPr>
        <p:spPr>
          <a:xfrm>
            <a:off x="8449056" y="3227832"/>
            <a:ext cx="3035808" cy="438912"/>
          </a:xfrm>
          <a:prstGeom prst="rect">
            <a:avLst/>
          </a:prstGeom>
          <a:noFill/>
          <a:ln/>
        </p:spPr>
        <p:txBody>
          <a:bodyPr wrap="square" lIns="0" tIns="0" rIns="0" bIns="0" rtlCol="0" anchor="ctr"/>
          <a:lstStyle/>
          <a:p>
            <a:pPr indent="0" marL="0">
              <a:buNone/>
            </a:pPr>
            <a:r>
              <a:rPr lang="en-US" sz="950" dirty="0">
                <a:solidFill>
                  <a:srgbClr val="3FBFB0"/>
                </a:solidFill>
                <a:latin typeface="Courier New" pitchFamily="34" charset="0"/>
                <a:ea typeface="Courier New" pitchFamily="34" charset="-122"/>
                <a:cs typeface="Courier New" pitchFamily="34" charset="-120"/>
              </a:rPr>
              <a:t>OutsideWorkspace</a:t>
            </a:r>
            <a:endParaRPr lang="en-US" sz="950" dirty="0"/>
          </a:p>
        </p:txBody>
      </p:sp>
      <p:sp>
        <p:nvSpPr>
          <p:cNvPr id="23" name="Shape 21"/>
          <p:cNvSpPr/>
          <p:nvPr/>
        </p:nvSpPr>
        <p:spPr>
          <a:xfrm>
            <a:off x="548640" y="3666744"/>
            <a:ext cx="11064240" cy="438912"/>
          </a:xfrm>
          <a:prstGeom prst="rect">
            <a:avLst/>
          </a:prstGeom>
          <a:solidFill>
            <a:srgbClr val="FFFFFF"/>
          </a:solidFill>
          <a:ln/>
        </p:spPr>
      </p:sp>
      <p:sp>
        <p:nvSpPr>
          <p:cNvPr id="24" name="Text 22"/>
          <p:cNvSpPr txBox="1"/>
          <p:nvPr/>
        </p:nvSpPr>
        <p:spPr>
          <a:xfrm>
            <a:off x="676656" y="3666744"/>
            <a:ext cx="5779008" cy="438912"/>
          </a:xfrm>
          <a:prstGeom prst="rect">
            <a:avLst/>
          </a:prstGeom>
          <a:noFill/>
          <a:ln/>
        </p:spPr>
        <p:txBody>
          <a:bodyPr wrap="square" lIns="0" tIns="0" rIns="0" bIns="0" rtlCol="0" anchor="ctr"/>
          <a:lstStyle/>
          <a:p>
            <a:pPr indent="0" marL="0">
              <a:buNone/>
            </a:pPr>
            <a:r>
              <a:rPr lang="en-US" sz="950" dirty="0">
                <a:solidFill>
                  <a:srgbClr val="3FBFB0"/>
                </a:solidFill>
                <a:latin typeface="Courier New" pitchFamily="34" charset="0"/>
                <a:ea typeface="Courier New" pitchFamily="34" charset="-122"/>
                <a:cs typeface="Courier New" pitchFamily="34" charset="-120"/>
              </a:rPr>
              <a:t>\Windows\System32</a:t>
            </a:r>
            <a:endParaRPr lang="en-US" sz="950" dirty="0"/>
          </a:p>
        </p:txBody>
      </p:sp>
      <p:sp>
        <p:nvSpPr>
          <p:cNvPr id="25" name="Text 23"/>
          <p:cNvSpPr txBox="1"/>
          <p:nvPr/>
        </p:nvSpPr>
        <p:spPr>
          <a:xfrm>
            <a:off x="6711696" y="3666744"/>
            <a:ext cx="1481328" cy="438912"/>
          </a:xfrm>
          <a:prstGeom prst="rect">
            <a:avLst/>
          </a:prstGeom>
          <a:noFill/>
          <a:ln/>
        </p:spPr>
        <p:txBody>
          <a:bodyPr wrap="square" lIns="0" tIns="0" rIns="0" bIns="0" rtlCol="0" anchor="ctr"/>
          <a:lstStyle/>
          <a:p>
            <a:pPr indent="0" marL="0">
              <a:buNone/>
            </a:pPr>
            <a:r>
              <a:rPr lang="en-US" sz="1100" dirty="0">
                <a:solidFill>
                  <a:srgbClr val="2A2F45"/>
                </a:solidFill>
                <a:latin typeface="Calibri" pitchFamily="34" charset="0"/>
                <a:ea typeface="Calibri" pitchFamily="34" charset="-122"/>
                <a:cs typeface="Calibri" pitchFamily="34" charset="-120"/>
              </a:rPr>
              <a:t>false</a:t>
            </a:r>
            <a:endParaRPr lang="en-US" sz="1100" dirty="0"/>
          </a:p>
        </p:txBody>
      </p:sp>
      <p:sp>
        <p:nvSpPr>
          <p:cNvPr id="26" name="Text 24"/>
          <p:cNvSpPr txBox="1"/>
          <p:nvPr/>
        </p:nvSpPr>
        <p:spPr>
          <a:xfrm>
            <a:off x="8449056" y="3666744"/>
            <a:ext cx="3035808" cy="438912"/>
          </a:xfrm>
          <a:prstGeom prst="rect">
            <a:avLst/>
          </a:prstGeom>
          <a:noFill/>
          <a:ln/>
        </p:spPr>
        <p:txBody>
          <a:bodyPr wrap="square" lIns="0" tIns="0" rIns="0" bIns="0" rtlCol="0" anchor="ctr"/>
          <a:lstStyle/>
          <a:p>
            <a:pPr indent="0" marL="0">
              <a:buNone/>
            </a:pPr>
            <a:r>
              <a:rPr lang="en-US" sz="950" dirty="0">
                <a:solidFill>
                  <a:srgbClr val="3FBFB0"/>
                </a:solidFill>
                <a:latin typeface="Courier New" pitchFamily="34" charset="0"/>
                <a:ea typeface="Courier New" pitchFamily="34" charset="-122"/>
                <a:cs typeface="Courier New" pitchFamily="34" charset="-120"/>
              </a:rPr>
              <a:t>NotRelative</a:t>
            </a:r>
            <a:endParaRPr lang="en-US" sz="950" dirty="0"/>
          </a:p>
        </p:txBody>
      </p:sp>
      <p:sp>
        <p:nvSpPr>
          <p:cNvPr id="27" name="Shape 25"/>
          <p:cNvSpPr/>
          <p:nvPr/>
        </p:nvSpPr>
        <p:spPr>
          <a:xfrm>
            <a:off x="548640" y="4105656"/>
            <a:ext cx="11064240" cy="438912"/>
          </a:xfrm>
          <a:prstGeom prst="rect">
            <a:avLst/>
          </a:prstGeom>
          <a:solidFill>
            <a:srgbClr val="F4F6FB"/>
          </a:solidFill>
          <a:ln/>
        </p:spPr>
      </p:sp>
      <p:sp>
        <p:nvSpPr>
          <p:cNvPr id="28" name="Text 26"/>
          <p:cNvSpPr txBox="1"/>
          <p:nvPr/>
        </p:nvSpPr>
        <p:spPr>
          <a:xfrm>
            <a:off x="676656" y="4105656"/>
            <a:ext cx="5779008" cy="438912"/>
          </a:xfrm>
          <a:prstGeom prst="rect">
            <a:avLst/>
          </a:prstGeom>
          <a:noFill/>
          <a:ln/>
        </p:spPr>
        <p:txBody>
          <a:bodyPr wrap="square" lIns="0" tIns="0" rIns="0" bIns="0" rtlCol="0" anchor="ctr"/>
          <a:lstStyle/>
          <a:p>
            <a:pPr indent="0" marL="0">
              <a:buNone/>
            </a:pPr>
            <a:r>
              <a:rPr lang="en-US" sz="950" dirty="0">
                <a:solidFill>
                  <a:srgbClr val="3FBFB0"/>
                </a:solidFill>
                <a:latin typeface="Courier New" pitchFamily="34" charset="0"/>
                <a:ea typeface="Courier New" pitchFamily="34" charset="-122"/>
                <a:cs typeface="Courier New" pitchFamily="34" charset="-120"/>
              </a:rPr>
              <a:t>D:\Repos\CustomerPortal\src\Program.cs</a:t>
            </a:r>
            <a:endParaRPr lang="en-US" sz="950" dirty="0"/>
          </a:p>
        </p:txBody>
      </p:sp>
      <p:sp>
        <p:nvSpPr>
          <p:cNvPr id="29" name="Text 27"/>
          <p:cNvSpPr txBox="1"/>
          <p:nvPr/>
        </p:nvSpPr>
        <p:spPr>
          <a:xfrm>
            <a:off x="6711696" y="4105656"/>
            <a:ext cx="1481328" cy="438912"/>
          </a:xfrm>
          <a:prstGeom prst="rect">
            <a:avLst/>
          </a:prstGeom>
          <a:noFill/>
          <a:ln/>
        </p:spPr>
        <p:txBody>
          <a:bodyPr wrap="square" lIns="0" tIns="0" rIns="0" bIns="0" rtlCol="0" anchor="ctr"/>
          <a:lstStyle/>
          <a:p>
            <a:pPr indent="0" marL="0">
              <a:buNone/>
            </a:pPr>
            <a:r>
              <a:rPr lang="en-US" sz="1100" dirty="0">
                <a:solidFill>
                  <a:srgbClr val="2A2F45"/>
                </a:solidFill>
                <a:latin typeface="Calibri" pitchFamily="34" charset="0"/>
                <a:ea typeface="Calibri" pitchFamily="34" charset="-122"/>
                <a:cs typeface="Calibri" pitchFamily="34" charset="-120"/>
              </a:rPr>
              <a:t>false</a:t>
            </a:r>
            <a:endParaRPr lang="en-US" sz="1100" dirty="0"/>
          </a:p>
        </p:txBody>
      </p:sp>
      <p:sp>
        <p:nvSpPr>
          <p:cNvPr id="30" name="Text 28"/>
          <p:cNvSpPr txBox="1"/>
          <p:nvPr/>
        </p:nvSpPr>
        <p:spPr>
          <a:xfrm>
            <a:off x="8449056" y="4105656"/>
            <a:ext cx="3035808" cy="438912"/>
          </a:xfrm>
          <a:prstGeom prst="rect">
            <a:avLst/>
          </a:prstGeom>
          <a:noFill/>
          <a:ln/>
        </p:spPr>
        <p:txBody>
          <a:bodyPr wrap="square" lIns="0" tIns="0" rIns="0" bIns="0" rtlCol="0" anchor="ctr"/>
          <a:lstStyle/>
          <a:p>
            <a:pPr indent="0" marL="0">
              <a:buNone/>
            </a:pPr>
            <a:r>
              <a:rPr lang="en-US" sz="950" dirty="0">
                <a:solidFill>
                  <a:srgbClr val="3FBFB0"/>
                </a:solidFill>
                <a:latin typeface="Courier New" pitchFamily="34" charset="0"/>
                <a:ea typeface="Courier New" pitchFamily="34" charset="-122"/>
                <a:cs typeface="Courier New" pitchFamily="34" charset="-120"/>
              </a:rPr>
              <a:t>NotRelative</a:t>
            </a:r>
            <a:endParaRPr lang="en-US" sz="950" dirty="0"/>
          </a:p>
        </p:txBody>
      </p:sp>
      <p:sp>
        <p:nvSpPr>
          <p:cNvPr id="31" name="Shape 29"/>
          <p:cNvSpPr/>
          <p:nvPr/>
        </p:nvSpPr>
        <p:spPr>
          <a:xfrm>
            <a:off x="548640" y="4544568"/>
            <a:ext cx="11064240" cy="438912"/>
          </a:xfrm>
          <a:prstGeom prst="rect">
            <a:avLst/>
          </a:prstGeom>
          <a:solidFill>
            <a:srgbClr val="FFFFFF"/>
          </a:solidFill>
          <a:ln/>
        </p:spPr>
      </p:sp>
      <p:sp>
        <p:nvSpPr>
          <p:cNvPr id="32" name="Text 30"/>
          <p:cNvSpPr txBox="1"/>
          <p:nvPr/>
        </p:nvSpPr>
        <p:spPr>
          <a:xfrm>
            <a:off x="676656" y="4544568"/>
            <a:ext cx="5779008" cy="438912"/>
          </a:xfrm>
          <a:prstGeom prst="rect">
            <a:avLst/>
          </a:prstGeom>
          <a:noFill/>
          <a:ln/>
        </p:spPr>
        <p:txBody>
          <a:bodyPr wrap="square" lIns="0" tIns="0" rIns="0" bIns="0" rtlCol="0" anchor="ctr"/>
          <a:lstStyle/>
          <a:p>
            <a:pPr indent="0" marL="0">
              <a:buNone/>
            </a:pPr>
            <a:r>
              <a:rPr lang="en-US" sz="950" dirty="0">
                <a:solidFill>
                  <a:srgbClr val="3FBFB0"/>
                </a:solidFill>
                <a:latin typeface="Courier New" pitchFamily="34" charset="0"/>
                <a:ea typeface="Courier New" pitchFamily="34" charset="-122"/>
                <a:cs typeface="Courier New" pitchFamily="34" charset="-120"/>
              </a:rPr>
              <a:t>C:notes.txt</a:t>
            </a:r>
            <a:endParaRPr lang="en-US" sz="950" dirty="0"/>
          </a:p>
        </p:txBody>
      </p:sp>
      <p:sp>
        <p:nvSpPr>
          <p:cNvPr id="33" name="Text 31"/>
          <p:cNvSpPr txBox="1"/>
          <p:nvPr/>
        </p:nvSpPr>
        <p:spPr>
          <a:xfrm>
            <a:off x="6711696" y="4544568"/>
            <a:ext cx="1481328" cy="438912"/>
          </a:xfrm>
          <a:prstGeom prst="rect">
            <a:avLst/>
          </a:prstGeom>
          <a:noFill/>
          <a:ln/>
        </p:spPr>
        <p:txBody>
          <a:bodyPr wrap="square" lIns="0" tIns="0" rIns="0" bIns="0" rtlCol="0" anchor="ctr"/>
          <a:lstStyle/>
          <a:p>
            <a:pPr indent="0" marL="0">
              <a:buNone/>
            </a:pPr>
            <a:r>
              <a:rPr lang="en-US" sz="1100" dirty="0">
                <a:solidFill>
                  <a:srgbClr val="2A2F45"/>
                </a:solidFill>
                <a:latin typeface="Calibri" pitchFamily="34" charset="0"/>
                <a:ea typeface="Calibri" pitchFamily="34" charset="-122"/>
                <a:cs typeface="Calibri" pitchFamily="34" charset="-120"/>
              </a:rPr>
              <a:t>false</a:t>
            </a:r>
            <a:endParaRPr lang="en-US" sz="1100" dirty="0"/>
          </a:p>
        </p:txBody>
      </p:sp>
      <p:sp>
        <p:nvSpPr>
          <p:cNvPr id="34" name="Text 32"/>
          <p:cNvSpPr txBox="1"/>
          <p:nvPr/>
        </p:nvSpPr>
        <p:spPr>
          <a:xfrm>
            <a:off x="8449056" y="4544568"/>
            <a:ext cx="3035808" cy="438912"/>
          </a:xfrm>
          <a:prstGeom prst="rect">
            <a:avLst/>
          </a:prstGeom>
          <a:noFill/>
          <a:ln/>
        </p:spPr>
        <p:txBody>
          <a:bodyPr wrap="square" lIns="0" tIns="0" rIns="0" bIns="0" rtlCol="0" anchor="ctr"/>
          <a:lstStyle/>
          <a:p>
            <a:pPr indent="0" marL="0">
              <a:buNone/>
            </a:pPr>
            <a:r>
              <a:rPr lang="en-US" sz="950" dirty="0">
                <a:solidFill>
                  <a:srgbClr val="3FBFB0"/>
                </a:solidFill>
                <a:latin typeface="Courier New" pitchFamily="34" charset="0"/>
                <a:ea typeface="Courier New" pitchFamily="34" charset="-122"/>
                <a:cs typeface="Courier New" pitchFamily="34" charset="-120"/>
              </a:rPr>
              <a:t>NotRelative</a:t>
            </a:r>
            <a:endParaRPr lang="en-US" sz="950" dirty="0"/>
          </a:p>
        </p:txBody>
      </p:sp>
      <p:sp>
        <p:nvSpPr>
          <p:cNvPr id="35" name="Shape 33"/>
          <p:cNvSpPr/>
          <p:nvPr/>
        </p:nvSpPr>
        <p:spPr>
          <a:xfrm>
            <a:off x="548640" y="4983480"/>
            <a:ext cx="11064240" cy="438912"/>
          </a:xfrm>
          <a:prstGeom prst="rect">
            <a:avLst/>
          </a:prstGeom>
          <a:solidFill>
            <a:srgbClr val="F4F6FB"/>
          </a:solidFill>
          <a:ln/>
        </p:spPr>
      </p:sp>
      <p:sp>
        <p:nvSpPr>
          <p:cNvPr id="36" name="Text 34"/>
          <p:cNvSpPr txBox="1"/>
          <p:nvPr/>
        </p:nvSpPr>
        <p:spPr>
          <a:xfrm>
            <a:off x="676656" y="4983480"/>
            <a:ext cx="5779008" cy="438912"/>
          </a:xfrm>
          <a:prstGeom prst="rect">
            <a:avLst/>
          </a:prstGeom>
          <a:noFill/>
          <a:ln/>
        </p:spPr>
        <p:txBody>
          <a:bodyPr wrap="square" lIns="0" tIns="0" rIns="0" bIns="0" rtlCol="0" anchor="ctr"/>
          <a:lstStyle/>
          <a:p>
            <a:pPr indent="0" marL="0">
              <a:buNone/>
            </a:pPr>
            <a:r>
              <a:rPr lang="en-US" sz="950" dirty="0">
                <a:solidFill>
                  <a:srgbClr val="3FBFB0"/>
                </a:solidFill>
                <a:latin typeface="Courier New" pitchFamily="34" charset="0"/>
                <a:ea typeface="Courier New" pitchFamily="34" charset="-122"/>
                <a:cs typeface="Courier New" pitchFamily="34" charset="-120"/>
              </a:rPr>
              <a:t>.git/config</a:t>
            </a:r>
            <a:endParaRPr lang="en-US" sz="950" dirty="0"/>
          </a:p>
        </p:txBody>
      </p:sp>
      <p:sp>
        <p:nvSpPr>
          <p:cNvPr id="37" name="Text 35"/>
          <p:cNvSpPr txBox="1"/>
          <p:nvPr/>
        </p:nvSpPr>
        <p:spPr>
          <a:xfrm>
            <a:off x="6711696" y="4983480"/>
            <a:ext cx="1481328" cy="438912"/>
          </a:xfrm>
          <a:prstGeom prst="rect">
            <a:avLst/>
          </a:prstGeom>
          <a:noFill/>
          <a:ln/>
        </p:spPr>
        <p:txBody>
          <a:bodyPr wrap="square" lIns="0" tIns="0" rIns="0" bIns="0" rtlCol="0" anchor="ctr"/>
          <a:lstStyle/>
          <a:p>
            <a:pPr indent="0" marL="0">
              <a:buNone/>
            </a:pPr>
            <a:r>
              <a:rPr lang="en-US" sz="1100" dirty="0">
                <a:solidFill>
                  <a:srgbClr val="2A2F45"/>
                </a:solidFill>
                <a:latin typeface="Calibri" pitchFamily="34" charset="0"/>
                <a:ea typeface="Calibri" pitchFamily="34" charset="-122"/>
                <a:cs typeface="Calibri" pitchFamily="34" charset="-120"/>
              </a:rPr>
              <a:t>false</a:t>
            </a:r>
            <a:endParaRPr lang="en-US" sz="1100" dirty="0"/>
          </a:p>
        </p:txBody>
      </p:sp>
      <p:sp>
        <p:nvSpPr>
          <p:cNvPr id="38" name="Text 36"/>
          <p:cNvSpPr txBox="1"/>
          <p:nvPr/>
        </p:nvSpPr>
        <p:spPr>
          <a:xfrm>
            <a:off x="8449056" y="4983480"/>
            <a:ext cx="3035808" cy="438912"/>
          </a:xfrm>
          <a:prstGeom prst="rect">
            <a:avLst/>
          </a:prstGeom>
          <a:noFill/>
          <a:ln/>
        </p:spPr>
        <p:txBody>
          <a:bodyPr wrap="square" lIns="0" tIns="0" rIns="0" bIns="0" rtlCol="0" anchor="ctr"/>
          <a:lstStyle/>
          <a:p>
            <a:pPr indent="0" marL="0">
              <a:buNone/>
            </a:pPr>
            <a:r>
              <a:rPr lang="en-US" sz="950" dirty="0">
                <a:solidFill>
                  <a:srgbClr val="3FBFB0"/>
                </a:solidFill>
                <a:latin typeface="Courier New" pitchFamily="34" charset="0"/>
                <a:ea typeface="Courier New" pitchFamily="34" charset="-122"/>
                <a:cs typeface="Courier New" pitchFamily="34" charset="-120"/>
              </a:rPr>
              <a:t>IgnoredDirectory</a:t>
            </a:r>
            <a:endParaRPr lang="en-US" sz="950" dirty="0"/>
          </a:p>
        </p:txBody>
      </p:sp>
      <p:sp>
        <p:nvSpPr>
          <p:cNvPr id="39" name="Shape 37"/>
          <p:cNvSpPr/>
          <p:nvPr/>
        </p:nvSpPr>
        <p:spPr>
          <a:xfrm>
            <a:off x="548640" y="5422392"/>
            <a:ext cx="11064240" cy="438912"/>
          </a:xfrm>
          <a:prstGeom prst="rect">
            <a:avLst/>
          </a:prstGeom>
          <a:solidFill>
            <a:srgbClr val="FFFFFF"/>
          </a:solidFill>
          <a:ln/>
        </p:spPr>
      </p:sp>
      <p:sp>
        <p:nvSpPr>
          <p:cNvPr id="40" name="Text 38"/>
          <p:cNvSpPr txBox="1"/>
          <p:nvPr/>
        </p:nvSpPr>
        <p:spPr>
          <a:xfrm>
            <a:off x="676656" y="5422392"/>
            <a:ext cx="5779008" cy="438912"/>
          </a:xfrm>
          <a:prstGeom prst="rect">
            <a:avLst/>
          </a:prstGeom>
          <a:noFill/>
          <a:ln/>
        </p:spPr>
        <p:txBody>
          <a:bodyPr wrap="square" lIns="0" tIns="0" rIns="0" bIns="0" rtlCol="0" anchor="ctr"/>
          <a:lstStyle/>
          <a:p>
            <a:pPr indent="0" marL="0">
              <a:buNone/>
            </a:pPr>
            <a:r>
              <a:rPr lang="en-US" sz="950" dirty="0">
                <a:solidFill>
                  <a:srgbClr val="3FBFB0"/>
                </a:solidFill>
                <a:latin typeface="Courier New" pitchFamily="34" charset="0"/>
                <a:ea typeface="Courier New" pitchFamily="34" charset="-122"/>
                <a:cs typeface="Courier New" pitchFamily="34" charset="-120"/>
              </a:rPr>
              <a:t>src/obj/Debug/app.dll</a:t>
            </a:r>
            <a:endParaRPr lang="en-US" sz="950" dirty="0"/>
          </a:p>
        </p:txBody>
      </p:sp>
      <p:sp>
        <p:nvSpPr>
          <p:cNvPr id="41" name="Text 39"/>
          <p:cNvSpPr txBox="1"/>
          <p:nvPr/>
        </p:nvSpPr>
        <p:spPr>
          <a:xfrm>
            <a:off x="6711696" y="5422392"/>
            <a:ext cx="1481328" cy="438912"/>
          </a:xfrm>
          <a:prstGeom prst="rect">
            <a:avLst/>
          </a:prstGeom>
          <a:noFill/>
          <a:ln/>
        </p:spPr>
        <p:txBody>
          <a:bodyPr wrap="square" lIns="0" tIns="0" rIns="0" bIns="0" rtlCol="0" anchor="ctr"/>
          <a:lstStyle/>
          <a:p>
            <a:pPr indent="0" marL="0">
              <a:buNone/>
            </a:pPr>
            <a:r>
              <a:rPr lang="en-US" sz="1100" dirty="0">
                <a:solidFill>
                  <a:srgbClr val="2A2F45"/>
                </a:solidFill>
                <a:latin typeface="Calibri" pitchFamily="34" charset="0"/>
                <a:ea typeface="Calibri" pitchFamily="34" charset="-122"/>
                <a:cs typeface="Calibri" pitchFamily="34" charset="-120"/>
              </a:rPr>
              <a:t>false</a:t>
            </a:r>
            <a:endParaRPr lang="en-US" sz="1100" dirty="0"/>
          </a:p>
        </p:txBody>
      </p:sp>
      <p:sp>
        <p:nvSpPr>
          <p:cNvPr id="42" name="Text 40"/>
          <p:cNvSpPr txBox="1"/>
          <p:nvPr/>
        </p:nvSpPr>
        <p:spPr>
          <a:xfrm>
            <a:off x="8449056" y="5422392"/>
            <a:ext cx="3035808" cy="438912"/>
          </a:xfrm>
          <a:prstGeom prst="rect">
            <a:avLst/>
          </a:prstGeom>
          <a:noFill/>
          <a:ln/>
        </p:spPr>
        <p:txBody>
          <a:bodyPr wrap="square" lIns="0" tIns="0" rIns="0" bIns="0" rtlCol="0" anchor="ctr"/>
          <a:lstStyle/>
          <a:p>
            <a:pPr indent="0" marL="0">
              <a:buNone/>
            </a:pPr>
            <a:r>
              <a:rPr lang="en-US" sz="950" dirty="0">
                <a:solidFill>
                  <a:srgbClr val="3FBFB0"/>
                </a:solidFill>
                <a:latin typeface="Courier New" pitchFamily="34" charset="0"/>
                <a:ea typeface="Courier New" pitchFamily="34" charset="-122"/>
                <a:cs typeface="Courier New" pitchFamily="34" charset="-120"/>
              </a:rPr>
              <a:t>IgnoredDirectory</a:t>
            </a:r>
            <a:endParaRPr lang="en-US" sz="950" dirty="0"/>
          </a:p>
        </p:txBody>
      </p:sp>
      <p:sp>
        <p:nvSpPr>
          <p:cNvPr id="43" name="Shape 41"/>
          <p:cNvSpPr/>
          <p:nvPr/>
        </p:nvSpPr>
        <p:spPr>
          <a:xfrm>
            <a:off x="548640" y="5861304"/>
            <a:ext cx="11064240" cy="438912"/>
          </a:xfrm>
          <a:prstGeom prst="rect">
            <a:avLst/>
          </a:prstGeom>
          <a:solidFill>
            <a:srgbClr val="F4F6FB"/>
          </a:solidFill>
          <a:ln/>
        </p:spPr>
      </p:sp>
      <p:sp>
        <p:nvSpPr>
          <p:cNvPr id="44" name="Text 42"/>
          <p:cNvSpPr txBox="1"/>
          <p:nvPr/>
        </p:nvSpPr>
        <p:spPr>
          <a:xfrm>
            <a:off x="676656" y="5861304"/>
            <a:ext cx="5779008" cy="438912"/>
          </a:xfrm>
          <a:prstGeom prst="rect">
            <a:avLst/>
          </a:prstGeom>
          <a:noFill/>
          <a:ln/>
        </p:spPr>
        <p:txBody>
          <a:bodyPr wrap="square" lIns="0" tIns="0" rIns="0" bIns="0" rtlCol="0" anchor="ctr"/>
          <a:lstStyle/>
          <a:p>
            <a:pPr indent="0" marL="0">
              <a:buNone/>
            </a:pPr>
            <a:r>
              <a:rPr lang="en-US" sz="950" dirty="0">
                <a:solidFill>
                  <a:srgbClr val="3FBFB0"/>
                </a:solidFill>
                <a:latin typeface="Courier New" pitchFamily="34" charset="0"/>
                <a:ea typeface="Courier New" pitchFamily="34" charset="-122"/>
                <a:cs typeface="Courier New" pitchFamily="34" charset="-120"/>
              </a:rPr>
              <a:t>(empty string)</a:t>
            </a:r>
            <a:endParaRPr lang="en-US" sz="950" dirty="0"/>
          </a:p>
        </p:txBody>
      </p:sp>
      <p:sp>
        <p:nvSpPr>
          <p:cNvPr id="45" name="Text 43"/>
          <p:cNvSpPr txBox="1"/>
          <p:nvPr/>
        </p:nvSpPr>
        <p:spPr>
          <a:xfrm>
            <a:off x="6711696" y="5861304"/>
            <a:ext cx="1481328" cy="438912"/>
          </a:xfrm>
          <a:prstGeom prst="rect">
            <a:avLst/>
          </a:prstGeom>
          <a:noFill/>
          <a:ln/>
        </p:spPr>
        <p:txBody>
          <a:bodyPr wrap="square" lIns="0" tIns="0" rIns="0" bIns="0" rtlCol="0" anchor="ctr"/>
          <a:lstStyle/>
          <a:p>
            <a:pPr indent="0" marL="0">
              <a:buNone/>
            </a:pPr>
            <a:r>
              <a:rPr lang="en-US" sz="1100" dirty="0">
                <a:solidFill>
                  <a:srgbClr val="2A2F45"/>
                </a:solidFill>
                <a:latin typeface="Calibri" pitchFamily="34" charset="0"/>
                <a:ea typeface="Calibri" pitchFamily="34" charset="-122"/>
                <a:cs typeface="Calibri" pitchFamily="34" charset="-120"/>
              </a:rPr>
              <a:t>false</a:t>
            </a:r>
            <a:endParaRPr lang="en-US" sz="1100" dirty="0"/>
          </a:p>
        </p:txBody>
      </p:sp>
      <p:sp>
        <p:nvSpPr>
          <p:cNvPr id="46" name="Text 44"/>
          <p:cNvSpPr txBox="1"/>
          <p:nvPr/>
        </p:nvSpPr>
        <p:spPr>
          <a:xfrm>
            <a:off x="8449056" y="5861304"/>
            <a:ext cx="3035808" cy="438912"/>
          </a:xfrm>
          <a:prstGeom prst="rect">
            <a:avLst/>
          </a:prstGeom>
          <a:noFill/>
          <a:ln/>
        </p:spPr>
        <p:txBody>
          <a:bodyPr wrap="square" lIns="0" tIns="0" rIns="0" bIns="0" rtlCol="0" anchor="ctr"/>
          <a:lstStyle/>
          <a:p>
            <a:pPr indent="0" marL="0">
              <a:buNone/>
            </a:pPr>
            <a:r>
              <a:rPr lang="en-US" sz="950" dirty="0">
                <a:solidFill>
                  <a:srgbClr val="3FBFB0"/>
                </a:solidFill>
                <a:latin typeface="Courier New" pitchFamily="34" charset="0"/>
                <a:ea typeface="Courier New" pitchFamily="34" charset="-122"/>
                <a:cs typeface="Courier New" pitchFamily="34" charset="-120"/>
              </a:rPr>
              <a:t>Empty</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MiniCode Course</dc:creator>
  <cp:lastModifiedBy>MiniCode Course</cp:lastModifiedBy>
  <cp:revision>1</cp:revision>
  <dcterms:created xsi:type="dcterms:W3CDTF">2026-09-10T19:52:10Z</dcterms:created>
  <dcterms:modified xsi:type="dcterms:W3CDTF">2026-09-10T19:52:10Z</dcterms:modified>
</cp:coreProperties>
</file>