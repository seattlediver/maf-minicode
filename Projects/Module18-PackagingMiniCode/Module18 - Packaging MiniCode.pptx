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Starting point: Module17-Observability/. Sixth and last Module of Phase 4, shipping as part of the Phase 4 Capstone — Developer CLI (v0.4). Nothing structural: this Module packages what already exists rather than building new capability. Program.cs's existing Directory.GetCurrentDirectory() fallback, unchanged since Module 5a, is what makes running from an arbitrary directory already work. Leave MINICODE_MODEL unset and MiniCode still targets gpt-4.1-mini, exactly as every prior Module has.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Kept in sync by convention, not by code. That is the same discipline that has already governed MiniCodeVersion.Current on its own since it was introduced.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Packaging exposed that Program.cs's workspace resolution — written for dotnet run and never touched since — was already correct, rather than requiring it to become correct.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Walkthrough 5: no file in MiniCode.Cli other than the .csproj changed. Program.cs's workspace resolution is exactly what makes cd CustomerPortal &amp;&amp; minicode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Nothing from these captures is still installed — the tool went into an isolated --tool-path, not the machine's global tools.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p:bgPr>
    </p:bg>
    <p:spTree>
      <p:nvGrpSpPr>
        <p:cNvPr id="1" name=""/>
        <p:cNvGrpSpPr/>
        <p:nvPr/>
      </p:nvGrpSpPr>
      <p:grpSpPr>
        <a:xfrm>
          <a:off x="0" y="0"/>
          <a:ext cx="0" cy="0"/>
          <a:chOff x="0" y="0"/>
          <a:chExt cx="0" cy="0"/>
        </a:xfrm>
      </p:grpSpPr>
      <p:sp>
        <p:nvSpPr>
          <p:cNvPr id="2" name="Text 0"/>
          <p:cNvSpPr txBox="1"/>
          <p:nvPr/>
        </p:nvSpPr>
        <p:spPr>
          <a:xfrm>
            <a:off x="548640" y="1882648"/>
            <a:ext cx="5852160" cy="274320"/>
          </a:xfrm>
          <a:prstGeom prst="rect">
            <a:avLst/>
          </a:prstGeom>
          <a:noFill/>
          <a:ln/>
        </p:spPr>
        <p:txBody>
          <a:bodyPr wrap="square" lIns="0" tIns="0" rIns="0" bIns="0" rtlCol="0" anchor="ctr"/>
          <a:lstStyle/>
          <a:p>
            <a:pPr indent="0" marL="0">
              <a:buNone/>
            </a:pPr>
            <a:r>
              <a:rPr lang="en-US" sz="1400" b="1" spc="300" kern="0" dirty="0">
                <a:solidFill>
                  <a:srgbClr val="3FBFB0"/>
                </a:solidFill>
                <a:latin typeface="Calibri" pitchFamily="34" charset="0"/>
                <a:ea typeface="Calibri" pitchFamily="34" charset="-122"/>
                <a:cs typeface="Calibri" pitchFamily="34" charset="-120"/>
              </a:rPr>
              <a:t>MODULE 18 · PHASE 4</a:t>
            </a:r>
            <a:endParaRPr lang="en-US" sz="1400" dirty="0"/>
          </a:p>
        </p:txBody>
      </p:sp>
      <p:sp>
        <p:nvSpPr>
          <p:cNvPr id="3" name="Text 1"/>
          <p:cNvSpPr txBox="1"/>
          <p:nvPr/>
        </p:nvSpPr>
        <p:spPr>
          <a:xfrm>
            <a:off x="548640" y="2266696"/>
            <a:ext cx="6309360" cy="678688"/>
          </a:xfrm>
          <a:prstGeom prst="rect">
            <a:avLst/>
          </a:prstGeom>
          <a:noFill/>
          <a:ln/>
        </p:spPr>
        <p:txBody>
          <a:bodyPr wrap="square" lIns="0" tIns="0" rIns="0" bIns="0" rtlCol="0" anchor="t"/>
          <a:lstStyle/>
          <a:p>
            <a:pPr indent="0" marL="0">
              <a:lnSpc>
                <a:spcPct val="112000"/>
              </a:lnSpc>
              <a:buNone/>
            </a:pPr>
            <a:r>
              <a:rPr lang="en-US" sz="4000" b="1" dirty="0">
                <a:solidFill>
                  <a:srgbClr val="FFFFFF"/>
                </a:solidFill>
                <a:latin typeface="Cambria" pitchFamily="34" charset="0"/>
                <a:ea typeface="Cambria" pitchFamily="34" charset="-122"/>
                <a:cs typeface="Cambria" pitchFamily="34" charset="-120"/>
              </a:rPr>
              <a:t>Packaging MiniCode</a:t>
            </a:r>
            <a:endParaRPr lang="en-US" sz="4000" dirty="0"/>
          </a:p>
        </p:txBody>
      </p:sp>
      <p:sp>
        <p:nvSpPr>
          <p:cNvPr id="4" name="Text 2"/>
          <p:cNvSpPr txBox="1"/>
          <p:nvPr/>
        </p:nvSpPr>
        <p:spPr>
          <a:xfrm>
            <a:off x="548640" y="3448304"/>
            <a:ext cx="6309360" cy="1097280"/>
          </a:xfrm>
          <a:prstGeom prst="rect">
            <a:avLst/>
          </a:prstGeom>
          <a:noFill/>
          <a:ln/>
        </p:spPr>
        <p:txBody>
          <a:bodyPr wrap="square" lIns="0" tIns="0" rIns="0" bIns="0" rtlCol="0" anchor="t"/>
          <a:lstStyle/>
          <a:p>
            <a:pPr indent="0" marL="0">
              <a:lnSpc>
                <a:spcPct val="125000"/>
              </a:lnSpc>
              <a:buNone/>
            </a:pPr>
            <a:r>
              <a:rPr lang="en-US" sz="1600" dirty="0">
                <a:solidFill>
                  <a:srgbClr val="CADCFC"/>
                </a:solidFill>
                <a:latin typeface="Calibri" pitchFamily="34" charset="0"/>
                <a:ea typeface="Calibri" pitchFamily="34" charset="-122"/>
                <a:cs typeface="Calibri" pitchFamily="34" charset="-120"/>
              </a:rPr>
              <a:t>Every prior Module ran MiniCode with dotnet run --project src/MiniCode.Cli. This Module turns it into something installable: dotnet tool install -g MiniCode, then minicode from inside any repository.</a:t>
            </a:r>
            <a:endParaRPr lang="en-US" sz="1600" dirty="0"/>
          </a:p>
        </p:txBody>
      </p:sp>
      <p:sp>
        <p:nvSpPr>
          <p:cNvPr id="5" name="Text 3"/>
          <p:cNvSpPr txBox="1"/>
          <p:nvPr/>
        </p:nvSpPr>
        <p:spPr>
          <a:xfrm>
            <a:off x="548640" y="5029200"/>
            <a:ext cx="6309360" cy="1051560"/>
          </a:xfrm>
          <a:prstGeom prst="rect">
            <a:avLst/>
          </a:prstGeom>
          <a:noFill/>
          <a:ln/>
        </p:spPr>
        <p:txBody>
          <a:bodyPr wrap="square" lIns="0" tIns="0" rIns="0" bIns="0" rtlCol="0" anchor="t"/>
          <a:lstStyle/>
          <a:p>
            <a:pPr indent="0" marL="0">
              <a:lnSpc>
                <a:spcPts val="1300"/>
              </a:lnSpc>
              <a:buNone/>
            </a:pPr>
            <a:r>
              <a:rPr lang="en-US" sz="950" b="1" spc="100" kern="0" dirty="0">
                <a:solidFill>
                  <a:srgbClr val="3FBFB0"/>
                </a:solidFill>
                <a:latin typeface="Courier New" pitchFamily="34" charset="0"/>
                <a:ea typeface="Courier New" pitchFamily="34" charset="-122"/>
                <a:cs typeface="Courier New" pitchFamily="34" charset="-120"/>
              </a:rPr>
              <a:t>START  </a:t>
            </a:r>
            <a:pPr indent="0" marL="0">
              <a:lnSpc>
                <a:spcPts val="1300"/>
              </a:lnSpc>
              <a:buNone/>
            </a:pPr>
            <a:r>
              <a:rPr lang="en-US" sz="950" dirty="0">
                <a:solidFill>
                  <a:srgbClr val="CADCFC"/>
                </a:solidFill>
                <a:latin typeface="Courier New" pitchFamily="34" charset="0"/>
                <a:ea typeface="Courier New" pitchFamily="34" charset="-122"/>
                <a:cs typeface="Courier New" pitchFamily="34" charset="-120"/>
              </a:rPr>
              <a:t>Module17-Observability/ — sixth and last Module of Phase 4.</a:t>
            </a:r>
            <a:endParaRPr lang="en-US" sz="950" dirty="0"/>
          </a:p>
          <a:p>
            <a:pPr indent="0" marL="0">
              <a:lnSpc>
                <a:spcPts val="1300"/>
              </a:lnSpc>
              <a:buNone/>
            </a:pPr>
            <a:r>
              <a:rPr lang="en-US" sz="950" b="1" spc="100" kern="0" dirty="0">
                <a:solidFill>
                  <a:srgbClr val="3FBFB0"/>
                </a:solidFill>
                <a:latin typeface="Courier New" pitchFamily="34" charset="0"/>
                <a:ea typeface="Courier New" pitchFamily="34" charset="-122"/>
                <a:cs typeface="Courier New" pitchFamily="34" charset="-120"/>
              </a:rPr>
              <a:t>SETUP  </a:t>
            </a:r>
            <a:pPr indent="0" marL="0">
              <a:lnSpc>
                <a:spcPts val="1300"/>
              </a:lnSpc>
              <a:buNone/>
            </a:pPr>
            <a:r>
              <a:rPr lang="en-US" sz="950" dirty="0">
                <a:solidFill>
                  <a:srgbClr val="CADCFC"/>
                </a:solidFill>
                <a:latin typeface="Courier New" pitchFamily="34" charset="0"/>
                <a:ea typeface="Courier New" pitchFamily="34" charset="-122"/>
                <a:cs typeface="Courier New" pitchFamily="34" charset="-120"/>
              </a:rPr>
              <a:t>No new package. MiniCode.Cli.csproj gains a second PropertyGroup. One new, optional variable: MINICODE_MODEL.</a:t>
            </a:r>
            <a:endParaRPr lang="en-US" sz="950" dirty="0"/>
          </a:p>
        </p:txBody>
      </p:sp>
      <p:sp>
        <p:nvSpPr>
          <p:cNvPr id="6" name="Text 4"/>
          <p:cNvSpPr txBox="1"/>
          <p:nvPr/>
        </p:nvSpPr>
        <p:spPr>
          <a:xfrm>
            <a:off x="548640" y="6263640"/>
            <a:ext cx="5486400" cy="274320"/>
          </a:xfrm>
          <a:prstGeom prst="rect">
            <a:avLst/>
          </a:prstGeom>
          <a:noFill/>
          <a:ln/>
        </p:spPr>
        <p:txBody>
          <a:bodyPr wrap="square" lIns="0" tIns="0" rIns="0" bIns="0" rtlCol="0" anchor="ctr"/>
          <a:lstStyle/>
          <a:p>
            <a:pPr indent="0" marL="0">
              <a:buNone/>
            </a:pPr>
            <a:r>
              <a:rPr lang="en-US" sz="1100" dirty="0">
                <a:solidFill>
                  <a:srgbClr val="CADCFC"/>
                </a:solidFill>
                <a:latin typeface="Calibri" pitchFamily="34" charset="0"/>
                <a:ea typeface="Calibri" pitchFamily="34" charset="-122"/>
                <a:cs typeface="Calibri" pitchFamily="34" charset="-120"/>
              </a:rPr>
              <a:t>MiniCode Course · Phase 4</a:t>
            </a:r>
            <a:endParaRPr lang="en-US" sz="1100" dirty="0"/>
          </a:p>
        </p:txBody>
      </p:sp>
      <p:sp>
        <p:nvSpPr>
          <p:cNvPr id="7" name="Shape 5"/>
          <p:cNvSpPr/>
          <p:nvPr/>
        </p:nvSpPr>
        <p:spPr>
          <a:xfrm>
            <a:off x="7086600" y="1143000"/>
            <a:ext cx="4526280" cy="4389120"/>
          </a:xfrm>
          <a:prstGeom prst="roundRect">
            <a:avLst>
              <a:gd name="adj" fmla="val 2500"/>
            </a:avLst>
          </a:prstGeom>
          <a:solidFill>
            <a:srgbClr val="141B49"/>
          </a:solidFill>
          <a:ln w="12700">
            <a:solidFill>
              <a:srgbClr val="3FBFB0"/>
            </a:solidFill>
            <a:prstDash val="solid"/>
          </a:ln>
        </p:spPr>
      </p:sp>
      <p:sp>
        <p:nvSpPr>
          <p:cNvPr id="8" name="Text 6"/>
          <p:cNvSpPr txBox="1"/>
          <p:nvPr/>
        </p:nvSpPr>
        <p:spPr>
          <a:xfrm>
            <a:off x="7342632" y="1344168"/>
            <a:ext cx="4069080" cy="274320"/>
          </a:xfrm>
          <a:prstGeom prst="rect">
            <a:avLst/>
          </a:prstGeom>
          <a:noFill/>
          <a:ln/>
        </p:spPr>
        <p:txBody>
          <a:bodyPr wrap="square" lIns="0" tIns="0" rIns="0" bIns="0" rtlCol="0" anchor="ctr"/>
          <a:lstStyle/>
          <a:p>
            <a:pPr indent="0" marL="0">
              <a:buNone/>
            </a:pPr>
            <a:r>
              <a:rPr lang="en-US" sz="1200" b="1" dirty="0">
                <a:solidFill>
                  <a:srgbClr val="3FBFB0"/>
                </a:solidFill>
                <a:latin typeface="Courier New" pitchFamily="34" charset="0"/>
                <a:ea typeface="Courier New" pitchFamily="34" charset="-122"/>
                <a:cs typeface="Courier New" pitchFamily="34" charset="-120"/>
              </a:rPr>
              <a:t>$ minicode</a:t>
            </a:r>
            <a:endParaRPr lang="en-US" sz="1200" dirty="0"/>
          </a:p>
        </p:txBody>
      </p:sp>
      <p:sp>
        <p:nvSpPr>
          <p:cNvPr id="9" name="Text 7"/>
          <p:cNvSpPr txBox="1"/>
          <p:nvPr/>
        </p:nvSpPr>
        <p:spPr>
          <a:xfrm>
            <a:off x="7360920" y="1783080"/>
            <a:ext cx="3977640" cy="237744"/>
          </a:xfrm>
          <a:prstGeom prst="rect">
            <a:avLst/>
          </a:prstGeom>
          <a:noFill/>
          <a:ln/>
        </p:spPr>
        <p:txBody>
          <a:bodyPr wrap="square" lIns="0" tIns="0" rIns="0" bIns="0" rtlCol="0" anchor="ctr"/>
          <a:lstStyle/>
          <a:p>
            <a:pPr indent="0" marL="0">
              <a:buNone/>
            </a:pPr>
            <a:r>
              <a:rPr lang="en-US" sz="1050" dirty="0">
                <a:solidFill>
                  <a:srgbClr val="CADCFC"/>
                </a:solidFill>
                <a:latin typeface="Courier New" pitchFamily="34" charset="0"/>
                <a:ea typeface="Courier New" pitchFamily="34" charset="-122"/>
                <a:cs typeface="Courier New" pitchFamily="34" charset="-120"/>
              </a:rPr>
              <a:t>dotnet pack src/MiniCode.Cli</a:t>
            </a:r>
            <a:endParaRPr lang="en-US" sz="1050" dirty="0"/>
          </a:p>
        </p:txBody>
      </p:sp>
      <p:sp>
        <p:nvSpPr>
          <p:cNvPr id="10" name="Text 8"/>
          <p:cNvSpPr txBox="1"/>
          <p:nvPr/>
        </p:nvSpPr>
        <p:spPr>
          <a:xfrm>
            <a:off x="7360920" y="2039112"/>
            <a:ext cx="3977640" cy="237744"/>
          </a:xfrm>
          <a:prstGeom prst="rect">
            <a:avLst/>
          </a:prstGeom>
          <a:noFill/>
          <a:ln/>
        </p:spPr>
        <p:txBody>
          <a:bodyPr wrap="square" lIns="0" tIns="0" rIns="0" bIns="0" rtlCol="0" anchor="ctr"/>
          <a:lstStyle/>
          <a:p>
            <a:pPr indent="0" marL="0">
              <a:buNone/>
            </a:pPr>
            <a:r>
              <a:rPr lang="en-US" sz="1050" dirty="0">
                <a:solidFill>
                  <a:srgbClr val="CADCFC"/>
                </a:solidFill>
                <a:latin typeface="Courier New" pitchFamily="34" charset="0"/>
                <a:ea typeface="Courier New" pitchFamily="34" charset="-122"/>
                <a:cs typeface="Courier New" pitchFamily="34" charset="-120"/>
              </a:rPr>
              <a:t>  -&gt; MiniCode.0.3.0.nupkg</a:t>
            </a:r>
            <a:endParaRPr lang="en-US" sz="1050" dirty="0"/>
          </a:p>
        </p:txBody>
      </p:sp>
      <p:sp>
        <p:nvSpPr>
          <p:cNvPr id="11" name="Text 9"/>
          <p:cNvSpPr txBox="1"/>
          <p:nvPr/>
        </p:nvSpPr>
        <p:spPr>
          <a:xfrm>
            <a:off x="7360920" y="2295144"/>
            <a:ext cx="3977640" cy="237744"/>
          </a:xfrm>
          <a:prstGeom prst="rect">
            <a:avLst/>
          </a:prstGeom>
          <a:noFill/>
          <a:ln/>
        </p:spPr>
        <p:txBody>
          <a:bodyPr wrap="square" lIns="0" tIns="0" rIns="0" bIns="0" rtlCol="0" anchor="ctr"/>
          <a:lstStyle/>
          <a:p>
            <a:pPr indent="0" marL="0">
              <a:buNone/>
            </a:pPr>
            <a:r>
              <a:rPr lang="en-US" sz="1050" dirty="0">
                <a:solidFill>
                  <a:srgbClr val="CADCFC"/>
                </a:solidFill>
                <a:latin typeface="Courier New" pitchFamily="34" charset="0"/>
                <a:ea typeface="Courier New" pitchFamily="34" charset="-122"/>
                <a:cs typeface="Courier New" pitchFamily="34" charset="-120"/>
              </a:rPr>
              <a:t>dotnet tool install -g MiniCode</a:t>
            </a:r>
            <a:endParaRPr lang="en-US" sz="1050" dirty="0"/>
          </a:p>
        </p:txBody>
      </p:sp>
      <p:sp>
        <p:nvSpPr>
          <p:cNvPr id="12" name="Text 10"/>
          <p:cNvSpPr txBox="1"/>
          <p:nvPr/>
        </p:nvSpPr>
        <p:spPr>
          <a:xfrm>
            <a:off x="7360920" y="2551176"/>
            <a:ext cx="3977640" cy="237744"/>
          </a:xfrm>
          <a:prstGeom prst="rect">
            <a:avLst/>
          </a:prstGeom>
          <a:noFill/>
          <a:ln/>
        </p:spPr>
        <p:txBody>
          <a:bodyPr wrap="square" lIns="0" tIns="0" rIns="0" bIns="0" rtlCol="0" anchor="ctr"/>
          <a:lstStyle/>
          <a:p>
            <a:pPr indent="0" marL="0">
              <a:buNone/>
            </a:pPr>
            <a:r>
              <a:rPr lang="en-US" sz="1050" dirty="0">
                <a:solidFill>
                  <a:srgbClr val="CADCFC"/>
                </a:solidFill>
                <a:latin typeface="Courier New" pitchFamily="34" charset="0"/>
                <a:ea typeface="Courier New" pitchFamily="34" charset="-122"/>
                <a:cs typeface="Courier New" pitchFamily="34" charset="-120"/>
              </a:rPr>
              <a:t>  -&gt; command: minicode</a:t>
            </a:r>
            <a:endParaRPr lang="en-US" sz="1050" dirty="0"/>
          </a:p>
        </p:txBody>
      </p:sp>
      <p:sp>
        <p:nvSpPr>
          <p:cNvPr id="13" name="Text 11"/>
          <p:cNvSpPr txBox="1"/>
          <p:nvPr/>
        </p:nvSpPr>
        <p:spPr>
          <a:xfrm>
            <a:off x="7360920" y="2807208"/>
            <a:ext cx="3977640" cy="237744"/>
          </a:xfrm>
          <a:prstGeom prst="rect">
            <a:avLst/>
          </a:prstGeom>
          <a:noFill/>
          <a:ln/>
        </p:spPr>
        <p:txBody>
          <a:bodyPr wrap="square" lIns="0" tIns="0" rIns="0" bIns="0" rtlCol="0" anchor="ctr"/>
          <a:lstStyle/>
          <a:p>
            <a:pPr indent="0" marL="0">
              <a:buNone/>
            </a:pPr>
            <a:r>
              <a:rPr lang="en-US" sz="1050" dirty="0">
                <a:solidFill>
                  <a:srgbClr val="CADCFC"/>
                </a:solidFill>
                <a:latin typeface="Courier New" pitchFamily="34" charset="0"/>
                <a:ea typeface="Courier New" pitchFamily="34" charset="-122"/>
                <a:cs typeface="Courier New" pitchFamily="34" charset="-120"/>
              </a:rPr>
              <a:t>cd CustomerPortal</a:t>
            </a:r>
            <a:endParaRPr lang="en-US" sz="1050" dirty="0"/>
          </a:p>
        </p:txBody>
      </p:sp>
      <p:sp>
        <p:nvSpPr>
          <p:cNvPr id="14" name="Text 12"/>
          <p:cNvSpPr txBox="1"/>
          <p:nvPr/>
        </p:nvSpPr>
        <p:spPr>
          <a:xfrm>
            <a:off x="7360920" y="3063240"/>
            <a:ext cx="3977640" cy="237744"/>
          </a:xfrm>
          <a:prstGeom prst="rect">
            <a:avLst/>
          </a:prstGeom>
          <a:noFill/>
          <a:ln/>
        </p:spPr>
        <p:txBody>
          <a:bodyPr wrap="square" lIns="0" tIns="0" rIns="0" bIns="0" rtlCol="0" anchor="ctr"/>
          <a:lstStyle/>
          <a:p>
            <a:pPr indent="0" marL="0">
              <a:buNone/>
            </a:pPr>
            <a:r>
              <a:rPr lang="en-US" sz="1050" dirty="0">
                <a:solidFill>
                  <a:srgbClr val="CADCFC"/>
                </a:solidFill>
                <a:latin typeface="Courier New" pitchFamily="34" charset="0"/>
                <a:ea typeface="Courier New" pitchFamily="34" charset="-122"/>
                <a:cs typeface="Courier New" pitchFamily="34" charset="-120"/>
              </a:rPr>
              <a:t>minicode</a:t>
            </a:r>
            <a:endParaRPr lang="en-US" sz="1050" dirty="0"/>
          </a:p>
        </p:txBody>
      </p:sp>
      <p:sp>
        <p:nvSpPr>
          <p:cNvPr id="15" name="Shape 13"/>
          <p:cNvSpPr/>
          <p:nvPr/>
        </p:nvSpPr>
        <p:spPr>
          <a:xfrm>
            <a:off x="7342632" y="3520440"/>
            <a:ext cx="4014216" cy="0"/>
          </a:xfrm>
          <a:prstGeom prst="line">
            <a:avLst/>
          </a:prstGeom>
          <a:noFill/>
          <a:ln w="9525">
            <a:solidFill>
              <a:srgbClr val="6B7280"/>
            </a:solidFill>
            <a:prstDash val="sysDot"/>
          </a:ln>
        </p:spPr>
      </p:sp>
      <p:sp>
        <p:nvSpPr>
          <p:cNvPr id="16" name="Text 14"/>
          <p:cNvSpPr txBox="1"/>
          <p:nvPr/>
        </p:nvSpPr>
        <p:spPr>
          <a:xfrm>
            <a:off x="7342632" y="3685032"/>
            <a:ext cx="4014216" cy="530352"/>
          </a:xfrm>
          <a:prstGeom prst="rect">
            <a:avLst/>
          </a:prstGeom>
          <a:noFill/>
          <a:ln/>
        </p:spPr>
        <p:txBody>
          <a:bodyPr wrap="square" lIns="0" tIns="0" rIns="0" bIns="0" rtlCol="0" anchor="t"/>
          <a:lstStyle/>
          <a:p>
            <a:pPr indent="0" marL="0">
              <a:buNone/>
            </a:pPr>
            <a:r>
              <a:rPr lang="en-US" sz="1050" dirty="0">
                <a:solidFill>
                  <a:srgbClr val="CADCFC"/>
                </a:solidFill>
                <a:latin typeface="Courier New" pitchFamily="34" charset="0"/>
                <a:ea typeface="Courier New" pitchFamily="34" charset="-122"/>
                <a:cs typeface="Courier New" pitchFamily="34" charset="-120"/>
              </a:rPr>
              <a:t>no project path to remember</a:t>
            </a:r>
            <a:endParaRPr lang="en-US" sz="1050" dirty="0"/>
          </a:p>
          <a:p>
            <a:pPr indent="0" marL="0">
              <a:buNone/>
            </a:pPr>
            <a:r>
              <a:rPr lang="en-US" sz="1050" dirty="0">
                <a:solidFill>
                  <a:srgbClr val="CADCFC"/>
                </a:solidFill>
                <a:latin typeface="Courier New" pitchFamily="34" charset="0"/>
                <a:ea typeface="Courier New" pitchFamily="34" charset="-122"/>
                <a:cs typeface="Courier New" pitchFamily="34" charset="-120"/>
              </a:rPr>
              <a:t>no source checkout required</a:t>
            </a:r>
            <a:endParaRPr lang="en-US" sz="1050" dirty="0"/>
          </a:p>
        </p:txBody>
      </p:sp>
      <p:sp>
        <p:nvSpPr>
          <p:cNvPr id="17" name="Text 15"/>
          <p:cNvSpPr txBox="1"/>
          <p:nvPr/>
        </p:nvSpPr>
        <p:spPr>
          <a:xfrm>
            <a:off x="7342632" y="4325112"/>
            <a:ext cx="4014216" cy="365760"/>
          </a:xfrm>
          <a:prstGeom prst="rect">
            <a:avLst/>
          </a:prstGeom>
          <a:noFill/>
          <a:ln/>
        </p:spPr>
        <p:txBody>
          <a:bodyPr wrap="square" lIns="0" tIns="0" rIns="0" bIns="0" rtlCol="0" anchor="ctr"/>
          <a:lstStyle/>
          <a:p>
            <a:pPr indent="0" marL="0">
              <a:buNone/>
            </a:pPr>
            <a:r>
              <a:rPr lang="en-US" sz="1050" b="1" i="1" dirty="0">
                <a:solidFill>
                  <a:srgbClr val="3FBFB0"/>
                </a:solidFill>
                <a:latin typeface="Calibri" pitchFamily="34" charset="0"/>
                <a:ea typeface="Calibri" pitchFamily="34" charset="-122"/>
                <a:cs typeface="Calibri" pitchFamily="34" charset="-120"/>
              </a:rPr>
              <a:t>Three MSBuild properties. No code changes.</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164592"/>
            <a:ext cx="9144000" cy="274320"/>
          </a:xfrm>
          <a:prstGeom prst="rect">
            <a:avLst/>
          </a:prstGeom>
          <a:noFill/>
          <a:ln/>
        </p:spPr>
        <p:txBody>
          <a:bodyPr wrap="square" lIns="0" tIns="0" rIns="0" bIns="0" rtlCol="0" anchor="ctr"/>
          <a:lstStyle/>
          <a:p>
            <a:pPr indent="0" marL="0">
              <a:buNone/>
            </a:pPr>
            <a:r>
              <a:rPr lang="en-US" sz="1200" b="1" spc="200" kern="0" dirty="0">
                <a:solidFill>
                  <a:srgbClr val="3FBFB0"/>
                </a:solidFill>
                <a:latin typeface="Calibri" pitchFamily="34" charset="0"/>
                <a:ea typeface="Calibri" pitchFamily="34" charset="-122"/>
                <a:cs typeface="Calibri" pitchFamily="34" charset="-120"/>
              </a:rPr>
              <a:t>CORE CONCEPT</a:t>
            </a:r>
            <a:endParaRPr lang="en-US" sz="1200" dirty="0"/>
          </a:p>
        </p:txBody>
      </p:sp>
      <p:sp>
        <p:nvSpPr>
          <p:cNvPr id="3" name="Text 1"/>
          <p:cNvSpPr txBox="1"/>
          <p:nvPr/>
        </p:nvSpPr>
        <p:spPr>
          <a:xfrm>
            <a:off x="548640" y="411480"/>
            <a:ext cx="11064240" cy="731520"/>
          </a:xfrm>
          <a:prstGeom prst="rect">
            <a:avLst/>
          </a:prstGeom>
          <a:noFill/>
          <a:ln/>
        </p:spPr>
        <p:txBody>
          <a:bodyPr wrap="square" lIns="0" tIns="0" rIns="0" bIns="0" rtlCol="0" anchor="t"/>
          <a:lstStyle/>
          <a:p>
            <a:pPr indent="0" marL="0">
              <a:buNone/>
            </a:pPr>
            <a:r>
              <a:rPr lang="en-US" sz="3200" b="1" dirty="0">
                <a:solidFill>
                  <a:srgbClr val="1E2761"/>
                </a:solidFill>
                <a:latin typeface="Cambria" pitchFamily="34" charset="0"/>
                <a:ea typeface="Cambria" pitchFamily="34" charset="-122"/>
                <a:cs typeface="Cambria" pitchFamily="34" charset="-120"/>
              </a:rPr>
              <a:t>Not a Different Kind of Project</a:t>
            </a:r>
            <a:endParaRPr lang="en-US" sz="3200" dirty="0"/>
          </a:p>
        </p:txBody>
      </p:sp>
      <p:sp>
        <p:nvSpPr>
          <p:cNvPr id="4" name="Text 2"/>
          <p:cNvSpPr txBox="1"/>
          <p:nvPr/>
        </p:nvSpPr>
        <p:spPr>
          <a:xfrm>
            <a:off x="457200" y="6510528"/>
            <a:ext cx="86868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MODULE 18 — PACKAGING MINICODE</a:t>
            </a:r>
            <a:endParaRPr lang="en-US" sz="900" dirty="0"/>
          </a:p>
        </p:txBody>
      </p:sp>
      <p:sp>
        <p:nvSpPr>
          <p:cNvPr id="5" name="Text 3"/>
          <p:cNvSpPr txBox="1"/>
          <p:nvPr/>
        </p:nvSpPr>
        <p:spPr>
          <a:xfrm>
            <a:off x="11338560" y="6510528"/>
            <a:ext cx="36576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2</a:t>
            </a:r>
            <a:endParaRPr lang="en-US" sz="900" dirty="0"/>
          </a:p>
        </p:txBody>
      </p:sp>
      <p:sp>
        <p:nvSpPr>
          <p:cNvPr id="6" name="Shape 4"/>
          <p:cNvSpPr/>
          <p:nvPr/>
        </p:nvSpPr>
        <p:spPr>
          <a:xfrm>
            <a:off x="548640" y="1417320"/>
            <a:ext cx="5349240" cy="4297680"/>
          </a:xfrm>
          <a:prstGeom prst="roundRect">
            <a:avLst>
              <a:gd name="adj" fmla="val 2128"/>
            </a:avLst>
          </a:prstGeom>
          <a:solidFill>
            <a:srgbClr val="1E2761"/>
          </a:solidFill>
          <a:ln/>
        </p:spPr>
      </p:sp>
      <p:sp>
        <p:nvSpPr>
          <p:cNvPr id="7" name="Shape 5"/>
          <p:cNvSpPr/>
          <p:nvPr/>
        </p:nvSpPr>
        <p:spPr>
          <a:xfrm>
            <a:off x="868680" y="1737360"/>
            <a:ext cx="640080" cy="640080"/>
          </a:xfrm>
          <a:prstGeom prst="ellipse">
            <a:avLst/>
          </a:prstGeom>
          <a:solidFill>
            <a:srgbClr val="3FBFB0"/>
          </a:solidFill>
          <a:ln/>
        </p:spPr>
      </p:sp>
      <p:pic>
        <p:nvPicPr>
          <p:cNvPr id="8" name="Image 0" descr="preencoded.png">    </p:cNvPr>
          <p:cNvPicPr>
            <a:picLocks noChangeAspect="1"/>
          </p:cNvPicPr>
          <p:nvPr/>
        </p:nvPicPr>
        <p:blipFill>
          <a:blip r:embed="rId1"/>
          <a:stretch>
            <a:fillRect/>
          </a:stretch>
        </p:blipFill>
        <p:spPr>
          <a:xfrm>
            <a:off x="1033272" y="1901952"/>
            <a:ext cx="310896" cy="310896"/>
          </a:xfrm>
          <a:prstGeom prst="rect">
            <a:avLst/>
          </a:prstGeom>
        </p:spPr>
      </p:pic>
      <p:sp>
        <p:nvSpPr>
          <p:cNvPr id="9" name="Text 6"/>
          <p:cNvSpPr txBox="1"/>
          <p:nvPr/>
        </p:nvSpPr>
        <p:spPr>
          <a:xfrm>
            <a:off x="1645920" y="1737360"/>
            <a:ext cx="3931920" cy="640080"/>
          </a:xfrm>
          <a:prstGeom prst="rect">
            <a:avLst/>
          </a:prstGeom>
          <a:noFill/>
          <a:ln/>
        </p:spPr>
        <p:txBody>
          <a:bodyPr wrap="square" lIns="0" tIns="0" rIns="0" bIns="0" rtlCol="0" anchor="ctr"/>
          <a:lstStyle/>
          <a:p>
            <a:pPr indent="0" marL="0">
              <a:buNone/>
            </a:pPr>
            <a:r>
              <a:rPr lang="en-US" sz="1550" b="1" dirty="0">
                <a:solidFill>
                  <a:srgbClr val="FFFFFF"/>
                </a:solidFill>
                <a:latin typeface="Cambria" pitchFamily="34" charset="0"/>
                <a:ea typeface="Cambria" pitchFamily="34" charset="-122"/>
                <a:cs typeface="Cambria" pitchFamily="34" charset="-120"/>
              </a:rPr>
              <a:t>A Global Tool Is a Console App With Three Properties</a:t>
            </a:r>
            <a:endParaRPr lang="en-US" sz="1550" dirty="0"/>
          </a:p>
        </p:txBody>
      </p:sp>
      <p:sp>
        <p:nvSpPr>
          <p:cNvPr id="10" name="Text 7"/>
          <p:cNvSpPr txBox="1"/>
          <p:nvPr/>
        </p:nvSpPr>
        <p:spPr>
          <a:xfrm>
            <a:off x="868680" y="2606040"/>
            <a:ext cx="4709160" cy="2194560"/>
          </a:xfrm>
          <a:prstGeom prst="rect">
            <a:avLst/>
          </a:prstGeom>
          <a:noFill/>
          <a:ln/>
        </p:spPr>
        <p:txBody>
          <a:bodyPr wrap="square" lIns="0" tIns="0" rIns="0" bIns="0" rtlCol="0" anchor="t"/>
          <a:lstStyle/>
          <a:p>
            <a:pPr indent="0" marL="0">
              <a:lnSpc>
                <a:spcPct val="125000"/>
              </a:lnSpc>
              <a:buNone/>
            </a:pPr>
            <a:r>
              <a:rPr lang="en-US" sz="1350" dirty="0">
                <a:solidFill>
                  <a:srgbClr val="CADCFC"/>
                </a:solidFill>
                <a:latin typeface="Calibri" pitchFamily="34" charset="0"/>
                <a:ea typeface="Calibri" pitchFamily="34" charset="-122"/>
                <a:cs typeface="Calibri" pitchFamily="34" charset="-120"/>
              </a:rPr>
              <a:t>MiniCode.Cli has been a plain Exe since Module 3. PackAsTool and ToolCommandName are the only things that turn dotnet pack into something dotnet tool install understands.</a:t>
            </a:r>
            <a:endParaRPr lang="en-US" sz="1350" dirty="0"/>
          </a:p>
        </p:txBody>
      </p:sp>
      <p:sp>
        <p:nvSpPr>
          <p:cNvPr id="11" name="Text 8"/>
          <p:cNvSpPr txBox="1"/>
          <p:nvPr/>
        </p:nvSpPr>
        <p:spPr>
          <a:xfrm>
            <a:off x="868680" y="4892040"/>
            <a:ext cx="4709160" cy="594360"/>
          </a:xfrm>
          <a:prstGeom prst="rect">
            <a:avLst/>
          </a:prstGeom>
          <a:noFill/>
          <a:ln/>
        </p:spPr>
        <p:txBody>
          <a:bodyPr wrap="square" lIns="0" tIns="0" rIns="0" bIns="0" rtlCol="0" anchor="t"/>
          <a:lstStyle/>
          <a:p>
            <a:pPr indent="0" marL="0">
              <a:buNone/>
            </a:pPr>
            <a:r>
              <a:rPr lang="en-US" sz="1250" b="1" i="1" dirty="0">
                <a:solidFill>
                  <a:srgbClr val="3FBFB0"/>
                </a:solidFill>
                <a:latin typeface="Calibri" pitchFamily="34" charset="0"/>
                <a:ea typeface="Calibri" pitchFamily="34" charset="-122"/>
                <a:cs typeface="Calibri" pitchFamily="34" charset="-120"/>
              </a:rPr>
              <a:t>No code changes anywhere in the solution.</a:t>
            </a:r>
            <a:endParaRPr lang="en-US" sz="1250" dirty="0"/>
          </a:p>
        </p:txBody>
      </p:sp>
      <p:sp>
        <p:nvSpPr>
          <p:cNvPr id="12" name="Shape 9"/>
          <p:cNvSpPr/>
          <p:nvPr/>
        </p:nvSpPr>
        <p:spPr>
          <a:xfrm>
            <a:off x="6309360" y="1417320"/>
            <a:ext cx="5349240" cy="4297680"/>
          </a:xfrm>
          <a:prstGeom prst="roundRect">
            <a:avLst>
              <a:gd name="adj" fmla="val 2128"/>
            </a:avLst>
          </a:prstGeom>
          <a:solidFill>
            <a:srgbClr val="F4F6FB"/>
          </a:solidFill>
          <a:ln/>
        </p:spPr>
      </p:sp>
      <p:sp>
        <p:nvSpPr>
          <p:cNvPr id="13" name="Shape 10"/>
          <p:cNvSpPr/>
          <p:nvPr/>
        </p:nvSpPr>
        <p:spPr>
          <a:xfrm>
            <a:off x="6629400" y="1737360"/>
            <a:ext cx="640080" cy="640080"/>
          </a:xfrm>
          <a:prstGeom prst="ellipse">
            <a:avLst/>
          </a:prstGeom>
          <a:solidFill>
            <a:srgbClr val="1E2761"/>
          </a:solidFill>
          <a:ln/>
        </p:spPr>
      </p:sp>
      <p:pic>
        <p:nvPicPr>
          <p:cNvPr id="14" name="Image 1" descr="preencoded.png">    </p:cNvPr>
          <p:cNvPicPr>
            <a:picLocks noChangeAspect="1"/>
          </p:cNvPicPr>
          <p:nvPr/>
        </p:nvPicPr>
        <p:blipFill>
          <a:blip r:embed="rId2"/>
          <a:stretch>
            <a:fillRect/>
          </a:stretch>
        </p:blipFill>
        <p:spPr>
          <a:xfrm>
            <a:off x="6793992" y="1901952"/>
            <a:ext cx="310896" cy="310896"/>
          </a:xfrm>
          <a:prstGeom prst="rect">
            <a:avLst/>
          </a:prstGeom>
        </p:spPr>
      </p:pic>
      <p:sp>
        <p:nvSpPr>
          <p:cNvPr id="15" name="Text 11"/>
          <p:cNvSpPr txBox="1"/>
          <p:nvPr/>
        </p:nvSpPr>
        <p:spPr>
          <a:xfrm>
            <a:off x="7406640" y="1737360"/>
            <a:ext cx="3931920" cy="640080"/>
          </a:xfrm>
          <a:prstGeom prst="rect">
            <a:avLst/>
          </a:prstGeom>
          <a:noFill/>
          <a:ln/>
        </p:spPr>
        <p:txBody>
          <a:bodyPr wrap="square" lIns="0" tIns="0" rIns="0" bIns="0" rtlCol="0" anchor="ctr"/>
          <a:lstStyle/>
          <a:p>
            <a:pPr indent="0" marL="0">
              <a:buNone/>
            </a:pPr>
            <a:r>
              <a:rPr lang="en-US" sz="1550" b="1" dirty="0">
                <a:solidFill>
                  <a:srgbClr val="2A2F45"/>
                </a:solidFill>
                <a:latin typeface="Cambria" pitchFamily="34" charset="0"/>
                <a:ea typeface="Cambria" pitchFamily="34" charset="-122"/>
                <a:cs typeface="Cambria" pitchFamily="34" charset="-120"/>
              </a:rPr>
              <a:t>The Whole Dependency Graph Packs for Free</a:t>
            </a:r>
            <a:endParaRPr lang="en-US" sz="1550" dirty="0"/>
          </a:p>
        </p:txBody>
      </p:sp>
      <p:sp>
        <p:nvSpPr>
          <p:cNvPr id="16" name="Text 12"/>
          <p:cNvSpPr txBox="1"/>
          <p:nvPr/>
        </p:nvSpPr>
        <p:spPr>
          <a:xfrm>
            <a:off x="6629400" y="2606040"/>
            <a:ext cx="4709160" cy="2194560"/>
          </a:xfrm>
          <a:prstGeom prst="rect">
            <a:avLst/>
          </a:prstGeom>
          <a:noFill/>
          <a:ln/>
        </p:spPr>
        <p:txBody>
          <a:bodyPr wrap="square" lIns="0" tIns="0" rIns="0" bIns="0" rtlCol="0" anchor="t"/>
          <a:lstStyle/>
          <a:p>
            <a:pPr indent="0" marL="0">
              <a:lnSpc>
                <a:spcPct val="125000"/>
              </a:lnSpc>
              <a:buNone/>
            </a:pPr>
            <a:r>
              <a:rPr lang="en-US" sz="1350" dirty="0">
                <a:solidFill>
                  <a:srgbClr val="2A2F45"/>
                </a:solidFill>
                <a:latin typeface="Calibri" pitchFamily="34" charset="0"/>
                <a:ea typeface="Calibri" pitchFamily="34" charset="-122"/>
                <a:cs typeface="Calibri" pitchFamily="34" charset="-120"/>
              </a:rPr>
              <a:t>dotnet pack src/MiniCode.Cli pulls in MiniCode.Agent, MiniCode.Tools, MiniCode.Workspace and MiniCode.Infrastructure the same way dotnet run already does.</a:t>
            </a:r>
            <a:endParaRPr lang="en-US" sz="1350" dirty="0"/>
          </a:p>
        </p:txBody>
      </p:sp>
      <p:sp>
        <p:nvSpPr>
          <p:cNvPr id="17" name="Shape 13"/>
          <p:cNvSpPr/>
          <p:nvPr/>
        </p:nvSpPr>
        <p:spPr>
          <a:xfrm>
            <a:off x="6492240" y="4892040"/>
            <a:ext cx="4983480" cy="594360"/>
          </a:xfrm>
          <a:prstGeom prst="roundRect">
            <a:avLst>
              <a:gd name="adj" fmla="val 9231"/>
            </a:avLst>
          </a:prstGeom>
          <a:solidFill>
            <a:srgbClr val="141B49"/>
          </a:solidFill>
          <a:ln/>
        </p:spPr>
      </p:sp>
      <p:sp>
        <p:nvSpPr>
          <p:cNvPr id="18" name="Text 14"/>
          <p:cNvSpPr txBox="1"/>
          <p:nvPr/>
        </p:nvSpPr>
        <p:spPr>
          <a:xfrm>
            <a:off x="6629400" y="4892040"/>
            <a:ext cx="4709160" cy="594360"/>
          </a:xfrm>
          <a:prstGeom prst="rect">
            <a:avLst/>
          </a:prstGeom>
          <a:noFill/>
          <a:ln/>
        </p:spPr>
        <p:txBody>
          <a:bodyPr wrap="square" lIns="0" tIns="0" rIns="0" bIns="0" rtlCol="0" anchor="ctr"/>
          <a:lstStyle/>
          <a:p>
            <a:pPr indent="0" marL="0">
              <a:buNone/>
            </a:pPr>
            <a:r>
              <a:rPr lang="en-US" sz="1200" i="1" dirty="0">
                <a:solidFill>
                  <a:srgbClr val="3FBFB0"/>
                </a:solidFill>
                <a:latin typeface="Calibri" pitchFamily="34" charset="0"/>
                <a:ea typeface="Calibri" pitchFamily="34" charset="-122"/>
                <a:cs typeface="Calibri" pitchFamily="34" charset="-120"/>
              </a:rPr>
              <a:t>Built from the same output, not a separately-maintained bundle.</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E2761"/>
        </a:solidFill>
      </p:bgPr>
    </p:bg>
    <p:spTree>
      <p:nvGrpSpPr>
        <p:cNvPr id="1" name=""/>
        <p:cNvGrpSpPr/>
        <p:nvPr/>
      </p:nvGrpSpPr>
      <p:grpSpPr>
        <a:xfrm>
          <a:off x="0" y="0"/>
          <a:ext cx="0" cy="0"/>
          <a:chOff x="0" y="0"/>
          <a:chExt cx="0" cy="0"/>
        </a:xfrm>
      </p:grpSpPr>
      <p:sp>
        <p:nvSpPr>
          <p:cNvPr id="2" name="Text 0"/>
          <p:cNvSpPr txBox="1"/>
          <p:nvPr/>
        </p:nvSpPr>
        <p:spPr>
          <a:xfrm>
            <a:off x="548640" y="164592"/>
            <a:ext cx="9144000" cy="274320"/>
          </a:xfrm>
          <a:prstGeom prst="rect">
            <a:avLst/>
          </a:prstGeom>
          <a:noFill/>
          <a:ln/>
        </p:spPr>
        <p:txBody>
          <a:bodyPr wrap="square" lIns="0" tIns="0" rIns="0" bIns="0" rtlCol="0" anchor="ctr"/>
          <a:lstStyle/>
          <a:p>
            <a:pPr indent="0" marL="0">
              <a:buNone/>
            </a:pPr>
            <a:r>
              <a:rPr lang="en-US" sz="1200" b="1" spc="200" kern="0" dirty="0">
                <a:solidFill>
                  <a:srgbClr val="3FBFB0"/>
                </a:solidFill>
                <a:latin typeface="Calibri" pitchFamily="34" charset="0"/>
                <a:ea typeface="Calibri" pitchFamily="34" charset="-122"/>
                <a:cs typeface="Calibri" pitchFamily="34" charset="-120"/>
              </a:rPr>
              <a:t>CORE CONCEPT</a:t>
            </a:r>
            <a:endParaRPr lang="en-US" sz="1200" dirty="0"/>
          </a:p>
        </p:txBody>
      </p:sp>
      <p:sp>
        <p:nvSpPr>
          <p:cNvPr id="3" name="Text 1"/>
          <p:cNvSpPr txBox="1"/>
          <p:nvPr/>
        </p:nvSpPr>
        <p:spPr>
          <a:xfrm>
            <a:off x="548640" y="411480"/>
            <a:ext cx="11064240" cy="731520"/>
          </a:xfrm>
          <a:prstGeom prst="rect">
            <a:avLst/>
          </a:prstGeom>
          <a:noFill/>
          <a:ln/>
        </p:spPr>
        <p:txBody>
          <a:bodyPr wrap="square" lIns="0" tIns="0" rIns="0" bIns="0" rtlCol="0" anchor="t"/>
          <a:lstStyle/>
          <a:p>
            <a:pPr indent="0" marL="0">
              <a:buNone/>
            </a:pPr>
            <a:r>
              <a:rPr lang="en-US" sz="3000" b="1" dirty="0">
                <a:solidFill>
                  <a:srgbClr val="FFFFFF"/>
                </a:solidFill>
                <a:latin typeface="Cambria" pitchFamily="34" charset="0"/>
                <a:ea typeface="Cambria" pitchFamily="34" charset="-122"/>
                <a:cs typeface="Cambria" pitchFamily="34" charset="-120"/>
              </a:rPr>
              <a:t>One Reader for the Environment, Two Numbers for the Version</a:t>
            </a:r>
            <a:endParaRPr lang="en-US" sz="3000" dirty="0"/>
          </a:p>
        </p:txBody>
      </p:sp>
      <p:sp>
        <p:nvSpPr>
          <p:cNvPr id="4" name="Text 2"/>
          <p:cNvSpPr txBox="1"/>
          <p:nvPr/>
        </p:nvSpPr>
        <p:spPr>
          <a:xfrm>
            <a:off x="457200" y="6510528"/>
            <a:ext cx="86868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MODULE 18 — PACKAGING MINICODE</a:t>
            </a:r>
            <a:endParaRPr lang="en-US" sz="900" dirty="0"/>
          </a:p>
        </p:txBody>
      </p:sp>
      <p:sp>
        <p:nvSpPr>
          <p:cNvPr id="5" name="Text 3"/>
          <p:cNvSpPr txBox="1"/>
          <p:nvPr/>
        </p:nvSpPr>
        <p:spPr>
          <a:xfrm>
            <a:off x="11338560" y="6510528"/>
            <a:ext cx="36576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3</a:t>
            </a:r>
            <a:endParaRPr lang="en-US" sz="900" dirty="0"/>
          </a:p>
        </p:txBody>
      </p:sp>
      <p:sp>
        <p:nvSpPr>
          <p:cNvPr id="6" name="Shape 4"/>
          <p:cNvSpPr/>
          <p:nvPr/>
        </p:nvSpPr>
        <p:spPr>
          <a:xfrm>
            <a:off x="548640" y="1417320"/>
            <a:ext cx="5349240" cy="4297680"/>
          </a:xfrm>
          <a:prstGeom prst="roundRect">
            <a:avLst>
              <a:gd name="adj" fmla="val 2128"/>
            </a:avLst>
          </a:prstGeom>
          <a:solidFill>
            <a:srgbClr val="1E2761"/>
          </a:solidFill>
          <a:ln w="12700">
            <a:solidFill>
              <a:srgbClr val="3FBFB0"/>
            </a:solidFill>
            <a:prstDash val="solid"/>
          </a:ln>
        </p:spPr>
      </p:sp>
      <p:sp>
        <p:nvSpPr>
          <p:cNvPr id="7" name="Shape 5"/>
          <p:cNvSpPr/>
          <p:nvPr/>
        </p:nvSpPr>
        <p:spPr>
          <a:xfrm>
            <a:off x="868680" y="1737360"/>
            <a:ext cx="640080" cy="640080"/>
          </a:xfrm>
          <a:prstGeom prst="ellipse">
            <a:avLst/>
          </a:prstGeom>
          <a:solidFill>
            <a:srgbClr val="3FBFB0"/>
          </a:solidFill>
          <a:ln/>
        </p:spPr>
      </p:sp>
      <p:pic>
        <p:nvPicPr>
          <p:cNvPr id="8" name="Image 0" descr="preencoded.png">    </p:cNvPr>
          <p:cNvPicPr>
            <a:picLocks noChangeAspect="1"/>
          </p:cNvPicPr>
          <p:nvPr/>
        </p:nvPicPr>
        <p:blipFill>
          <a:blip r:embed="rId1"/>
          <a:stretch>
            <a:fillRect/>
          </a:stretch>
        </p:blipFill>
        <p:spPr>
          <a:xfrm>
            <a:off x="1033272" y="1901952"/>
            <a:ext cx="310896" cy="310896"/>
          </a:xfrm>
          <a:prstGeom prst="rect">
            <a:avLst/>
          </a:prstGeom>
        </p:spPr>
      </p:pic>
      <p:sp>
        <p:nvSpPr>
          <p:cNvPr id="9" name="Text 6"/>
          <p:cNvSpPr txBox="1"/>
          <p:nvPr/>
        </p:nvSpPr>
        <p:spPr>
          <a:xfrm>
            <a:off x="1645920" y="1737360"/>
            <a:ext cx="3931920" cy="640080"/>
          </a:xfrm>
          <a:prstGeom prst="rect">
            <a:avLst/>
          </a:prstGeom>
          <a:noFill/>
          <a:ln/>
        </p:spPr>
        <p:txBody>
          <a:bodyPr wrap="square" lIns="0" tIns="0" rIns="0" bIns="0" rtlCol="0" anchor="ctr"/>
          <a:lstStyle/>
          <a:p>
            <a:pPr indent="0" marL="0">
              <a:buNone/>
            </a:pPr>
            <a:r>
              <a:rPr lang="en-US" sz="1550" b="1" dirty="0">
                <a:solidFill>
                  <a:srgbClr val="FFFFFF"/>
                </a:solidFill>
                <a:latin typeface="Cambria" pitchFamily="34" charset="0"/>
                <a:ea typeface="Cambria" pitchFamily="34" charset="-122"/>
                <a:cs typeface="Cambria" pitchFamily="34" charset="-120"/>
              </a:rPr>
              <a:t>Exactly One Type Reads the Environment</a:t>
            </a:r>
            <a:endParaRPr lang="en-US" sz="1550" dirty="0"/>
          </a:p>
        </p:txBody>
      </p:sp>
      <p:sp>
        <p:nvSpPr>
          <p:cNvPr id="10" name="Text 7"/>
          <p:cNvSpPr txBox="1"/>
          <p:nvPr/>
        </p:nvSpPr>
        <p:spPr>
          <a:xfrm>
            <a:off x="868680" y="2606040"/>
            <a:ext cx="4709160" cy="2194560"/>
          </a:xfrm>
          <a:prstGeom prst="rect">
            <a:avLst/>
          </a:prstGeom>
          <a:noFill/>
          <a:ln/>
        </p:spPr>
        <p:txBody>
          <a:bodyPr wrap="square" lIns="0" tIns="0" rIns="0" bIns="0" rtlCol="0" anchor="t"/>
          <a:lstStyle/>
          <a:p>
            <a:pPr indent="0" marL="0">
              <a:lnSpc>
                <a:spcPct val="125000"/>
              </a:lnSpc>
              <a:buNone/>
            </a:pPr>
            <a:r>
              <a:rPr lang="en-US" sz="1350" dirty="0">
                <a:solidFill>
                  <a:srgbClr val="CADCFC"/>
                </a:solidFill>
                <a:latin typeface="Calibri" pitchFamily="34" charset="0"/>
                <a:ea typeface="Calibri" pitchFamily="34" charset="-122"/>
                <a:cs typeface="Calibri" pitchFamily="34" charset="-120"/>
              </a:rPr>
              <a:t>ChatClientFactory has been the only place in the solution that calls Environment.GetEnvironmentVariable since Module 2b — first for the provider's key, now for MINICODE_MODEL too. One more variable, one reader, same rule. DefaultModelId is still the literal "gpt-4.1-mini" this course has used throughout.</a:t>
            </a:r>
            <a:endParaRPr lang="en-US" sz="1350" dirty="0"/>
          </a:p>
        </p:txBody>
      </p:sp>
      <p:sp>
        <p:nvSpPr>
          <p:cNvPr id="11" name="Text 8"/>
          <p:cNvSpPr txBox="1"/>
          <p:nvPr/>
        </p:nvSpPr>
        <p:spPr>
          <a:xfrm>
            <a:off x="868680" y="4892040"/>
            <a:ext cx="4709160" cy="594360"/>
          </a:xfrm>
          <a:prstGeom prst="rect">
            <a:avLst/>
          </a:prstGeom>
          <a:noFill/>
          <a:ln/>
        </p:spPr>
        <p:txBody>
          <a:bodyPr wrap="square" lIns="0" tIns="0" rIns="0" bIns="0" rtlCol="0" anchor="t"/>
          <a:lstStyle/>
          <a:p>
            <a:pPr indent="0" marL="0">
              <a:buNone/>
            </a:pPr>
            <a:r>
              <a:rPr lang="en-US" sz="1250" b="1" i="1" dirty="0">
                <a:solidFill>
                  <a:srgbClr val="3FBFB0"/>
                </a:solidFill>
                <a:latin typeface="Calibri" pitchFamily="34" charset="0"/>
                <a:ea typeface="Calibri" pitchFamily="34" charset="-122"/>
                <a:cs typeface="Calibri" pitchFamily="34" charset="-120"/>
              </a:rPr>
              <a:t>MINICODE_MODEL is something an operator can set, not something MiniCode ever changes on its own.</a:t>
            </a:r>
            <a:endParaRPr lang="en-US" sz="1250" dirty="0"/>
          </a:p>
        </p:txBody>
      </p:sp>
      <p:sp>
        <p:nvSpPr>
          <p:cNvPr id="12" name="Shape 9"/>
          <p:cNvSpPr/>
          <p:nvPr/>
        </p:nvSpPr>
        <p:spPr>
          <a:xfrm>
            <a:off x="6309360" y="1417320"/>
            <a:ext cx="5349240" cy="4297680"/>
          </a:xfrm>
          <a:prstGeom prst="roundRect">
            <a:avLst>
              <a:gd name="adj" fmla="val 2128"/>
            </a:avLst>
          </a:prstGeom>
          <a:solidFill>
            <a:srgbClr val="3FBFB0"/>
          </a:solidFill>
          <a:ln/>
        </p:spPr>
      </p:sp>
      <p:sp>
        <p:nvSpPr>
          <p:cNvPr id="13" name="Shape 10"/>
          <p:cNvSpPr/>
          <p:nvPr/>
        </p:nvSpPr>
        <p:spPr>
          <a:xfrm>
            <a:off x="6629400" y="1737360"/>
            <a:ext cx="640080" cy="640080"/>
          </a:xfrm>
          <a:prstGeom prst="ellipse">
            <a:avLst/>
          </a:prstGeom>
          <a:solidFill>
            <a:srgbClr val="1E2761"/>
          </a:solidFill>
          <a:ln/>
        </p:spPr>
      </p:sp>
      <p:pic>
        <p:nvPicPr>
          <p:cNvPr id="14" name="Image 1" descr="preencoded.png">    </p:cNvPr>
          <p:cNvPicPr>
            <a:picLocks noChangeAspect="1"/>
          </p:cNvPicPr>
          <p:nvPr/>
        </p:nvPicPr>
        <p:blipFill>
          <a:blip r:embed="rId2"/>
          <a:stretch>
            <a:fillRect/>
          </a:stretch>
        </p:blipFill>
        <p:spPr>
          <a:xfrm>
            <a:off x="6793992" y="1901952"/>
            <a:ext cx="310896" cy="310896"/>
          </a:xfrm>
          <a:prstGeom prst="rect">
            <a:avLst/>
          </a:prstGeom>
        </p:spPr>
      </p:pic>
      <p:sp>
        <p:nvSpPr>
          <p:cNvPr id="15" name="Text 11"/>
          <p:cNvSpPr txBox="1"/>
          <p:nvPr/>
        </p:nvSpPr>
        <p:spPr>
          <a:xfrm>
            <a:off x="7406640" y="1737360"/>
            <a:ext cx="3931920" cy="640080"/>
          </a:xfrm>
          <a:prstGeom prst="rect">
            <a:avLst/>
          </a:prstGeom>
          <a:noFill/>
          <a:ln/>
        </p:spPr>
        <p:txBody>
          <a:bodyPr wrap="square" lIns="0" tIns="0" rIns="0" bIns="0" rtlCol="0" anchor="ctr"/>
          <a:lstStyle/>
          <a:p>
            <a:pPr indent="0" marL="0">
              <a:buNone/>
            </a:pPr>
            <a:r>
              <a:rPr lang="en-US" sz="1550" b="1" dirty="0">
                <a:solidFill>
                  <a:srgbClr val="FFFFFF"/>
                </a:solidFill>
                <a:latin typeface="Cambria" pitchFamily="34" charset="0"/>
                <a:ea typeface="Cambria" pitchFamily="34" charset="-122"/>
                <a:cs typeface="Cambria" pitchFamily="34" charset="-120"/>
              </a:rPr>
              <a:t>Two Version Numbers, Kept in Sync by Convention</a:t>
            </a:r>
            <a:endParaRPr lang="en-US" sz="1550" dirty="0"/>
          </a:p>
        </p:txBody>
      </p:sp>
      <p:sp>
        <p:nvSpPr>
          <p:cNvPr id="16" name="Text 12"/>
          <p:cNvSpPr txBox="1"/>
          <p:nvPr/>
        </p:nvSpPr>
        <p:spPr>
          <a:xfrm>
            <a:off x="6629400" y="2606040"/>
            <a:ext cx="4709160" cy="2743200"/>
          </a:xfrm>
          <a:prstGeom prst="rect">
            <a:avLst/>
          </a:prstGeom>
          <a:noFill/>
          <a:ln/>
        </p:spPr>
        <p:txBody>
          <a:bodyPr wrap="square" lIns="0" tIns="0" rIns="0" bIns="0" rtlCol="0" anchor="t"/>
          <a:lstStyle/>
          <a:p>
            <a:pPr indent="0" marL="0">
              <a:lnSpc>
                <a:spcPct val="125000"/>
              </a:lnSpc>
              <a:buNone/>
            </a:pPr>
            <a:r>
              <a:rPr lang="en-US" sz="1350" dirty="0">
                <a:solidFill>
                  <a:srgbClr val="FFFFFF"/>
                </a:solidFill>
                <a:latin typeface="Calibri" pitchFamily="34" charset="0"/>
                <a:ea typeface="Calibri" pitchFamily="34" charset="-122"/>
                <a:cs typeface="Calibri" pitchFamily="34" charset="-120"/>
              </a:rPr>
              <a:t>MiniCodeVersion.Current is what the startup banner prints; &lt;Version&gt; in MiniCode.Cli.csproj is what dotnet pack stamps on the .nupkg. Nothing reads one from the other — they move together because a Phase Capstone is the only place either one is touched, the same discipline that already governs the banner version alone.</a:t>
            </a:r>
            <a:endParaRPr lang="en-US" sz="13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164592"/>
            <a:ext cx="9144000" cy="274320"/>
          </a:xfrm>
          <a:prstGeom prst="rect">
            <a:avLst/>
          </a:prstGeom>
          <a:noFill/>
          <a:ln/>
        </p:spPr>
        <p:txBody>
          <a:bodyPr wrap="square" lIns="0" tIns="0" rIns="0" bIns="0" rtlCol="0" anchor="ctr"/>
          <a:lstStyle/>
          <a:p>
            <a:pPr indent="0" marL="0">
              <a:buNone/>
            </a:pPr>
            <a:r>
              <a:rPr lang="en-US" sz="1200" b="1" spc="200" kern="0" dirty="0">
                <a:solidFill>
                  <a:srgbClr val="3FBFB0"/>
                </a:solidFill>
                <a:latin typeface="Calibri" pitchFamily="34" charset="0"/>
                <a:ea typeface="Calibri" pitchFamily="34" charset="-122"/>
                <a:cs typeface="Calibri" pitchFamily="34" charset="-120"/>
              </a:rPr>
              <a:t>ARCHITECTURE</a:t>
            </a:r>
            <a:endParaRPr lang="en-US" sz="1200" dirty="0"/>
          </a:p>
        </p:txBody>
      </p:sp>
      <p:sp>
        <p:nvSpPr>
          <p:cNvPr id="3" name="Text 1"/>
          <p:cNvSpPr txBox="1"/>
          <p:nvPr/>
        </p:nvSpPr>
        <p:spPr>
          <a:xfrm>
            <a:off x="548640" y="411480"/>
            <a:ext cx="11064240" cy="731520"/>
          </a:xfrm>
          <a:prstGeom prst="rect">
            <a:avLst/>
          </a:prstGeom>
          <a:noFill/>
          <a:ln/>
        </p:spPr>
        <p:txBody>
          <a:bodyPr wrap="square" lIns="0" tIns="0" rIns="0" bIns="0" rtlCol="0" anchor="t"/>
          <a:lstStyle/>
          <a:p>
            <a:pPr indent="0" marL="0">
              <a:buNone/>
            </a:pPr>
            <a:r>
              <a:rPr lang="en-US" sz="3200" b="1" dirty="0">
                <a:solidFill>
                  <a:srgbClr val="1E2761"/>
                </a:solidFill>
                <a:latin typeface="Cambria" pitchFamily="34" charset="0"/>
                <a:ea typeface="Cambria" pitchFamily="34" charset="-122"/>
                <a:cs typeface="Cambria" pitchFamily="34" charset="-120"/>
              </a:rPr>
              <a:t>Pack, Install, Run Anywhere</a:t>
            </a:r>
            <a:endParaRPr lang="en-US" sz="3200" dirty="0"/>
          </a:p>
        </p:txBody>
      </p:sp>
      <p:sp>
        <p:nvSpPr>
          <p:cNvPr id="4" name="Text 2"/>
          <p:cNvSpPr txBox="1"/>
          <p:nvPr/>
        </p:nvSpPr>
        <p:spPr>
          <a:xfrm>
            <a:off x="457200" y="6510528"/>
            <a:ext cx="86868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MODULE 18 — PACKAGING MINICODE</a:t>
            </a:r>
            <a:endParaRPr lang="en-US" sz="900" dirty="0"/>
          </a:p>
        </p:txBody>
      </p:sp>
      <p:sp>
        <p:nvSpPr>
          <p:cNvPr id="5" name="Text 3"/>
          <p:cNvSpPr txBox="1"/>
          <p:nvPr/>
        </p:nvSpPr>
        <p:spPr>
          <a:xfrm>
            <a:off x="11338560" y="6510528"/>
            <a:ext cx="36576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4</a:t>
            </a:r>
            <a:endParaRPr lang="en-US" sz="900" dirty="0"/>
          </a:p>
        </p:txBody>
      </p:sp>
      <p:sp>
        <p:nvSpPr>
          <p:cNvPr id="6" name="Shape 4"/>
          <p:cNvSpPr/>
          <p:nvPr/>
        </p:nvSpPr>
        <p:spPr>
          <a:xfrm>
            <a:off x="2377440" y="1417320"/>
            <a:ext cx="7406640" cy="914400"/>
          </a:xfrm>
          <a:prstGeom prst="roundRect">
            <a:avLst>
              <a:gd name="adj" fmla="val 8000"/>
            </a:avLst>
          </a:prstGeom>
          <a:solidFill>
            <a:srgbClr val="1E2761"/>
          </a:solidFill>
          <a:ln/>
        </p:spPr>
      </p:sp>
      <p:sp>
        <p:nvSpPr>
          <p:cNvPr id="7" name="Shape 5"/>
          <p:cNvSpPr/>
          <p:nvPr/>
        </p:nvSpPr>
        <p:spPr>
          <a:xfrm>
            <a:off x="2578608" y="1636776"/>
            <a:ext cx="512064" cy="512064"/>
          </a:xfrm>
          <a:prstGeom prst="ellipse">
            <a:avLst/>
          </a:prstGeom>
          <a:solidFill>
            <a:srgbClr val="3FBFB0"/>
          </a:solidFill>
          <a:ln/>
        </p:spPr>
      </p:sp>
      <p:pic>
        <p:nvPicPr>
          <p:cNvPr id="8" name="Image 0" descr="preencoded.png">    </p:cNvPr>
          <p:cNvPicPr>
            <a:picLocks noChangeAspect="1"/>
          </p:cNvPicPr>
          <p:nvPr/>
        </p:nvPicPr>
        <p:blipFill>
          <a:blip r:embed="rId1"/>
          <a:stretch>
            <a:fillRect/>
          </a:stretch>
        </p:blipFill>
        <p:spPr>
          <a:xfrm>
            <a:off x="2706624" y="1764792"/>
            <a:ext cx="256032" cy="256032"/>
          </a:xfrm>
          <a:prstGeom prst="rect">
            <a:avLst/>
          </a:prstGeom>
        </p:spPr>
      </p:pic>
      <p:sp>
        <p:nvSpPr>
          <p:cNvPr id="9" name="Text 6"/>
          <p:cNvSpPr txBox="1"/>
          <p:nvPr/>
        </p:nvSpPr>
        <p:spPr>
          <a:xfrm>
            <a:off x="3246120" y="1581912"/>
            <a:ext cx="6309360" cy="365760"/>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dotnet pack src/MiniCode.Cli</a:t>
            </a:r>
            <a:endParaRPr lang="en-US" sz="1400" dirty="0"/>
          </a:p>
        </p:txBody>
      </p:sp>
      <p:sp>
        <p:nvSpPr>
          <p:cNvPr id="10" name="Text 7"/>
          <p:cNvSpPr txBox="1"/>
          <p:nvPr/>
        </p:nvSpPr>
        <p:spPr>
          <a:xfrm>
            <a:off x="3246120" y="1947672"/>
            <a:ext cx="6309360" cy="292608"/>
          </a:xfrm>
          <a:prstGeom prst="rect">
            <a:avLst/>
          </a:prstGeom>
          <a:noFill/>
          <a:ln/>
        </p:spPr>
        <p:txBody>
          <a:bodyPr wrap="square" lIns="0" tIns="0" rIns="0" bIns="0" rtlCol="0" anchor="ctr"/>
          <a:lstStyle/>
          <a:p>
            <a:pPr indent="0" marL="0">
              <a:buNone/>
            </a:pPr>
            <a:r>
              <a:rPr lang="en-US" sz="1050" i="1" dirty="0">
                <a:solidFill>
                  <a:srgbClr val="CADCFC"/>
                </a:solidFill>
                <a:latin typeface="Calibri" pitchFamily="34" charset="0"/>
                <a:ea typeface="Calibri" pitchFamily="34" charset="-122"/>
                <a:cs typeface="Calibri" pitchFamily="34" charset="-120"/>
              </a:rPr>
              <a:t>five projects, one package: MiniCode.0.3.0.nupkg</a:t>
            </a:r>
            <a:endParaRPr lang="en-US" sz="1050" dirty="0"/>
          </a:p>
        </p:txBody>
      </p:sp>
      <p:sp>
        <p:nvSpPr>
          <p:cNvPr id="11" name="Text 8"/>
          <p:cNvSpPr txBox="1"/>
          <p:nvPr/>
        </p:nvSpPr>
        <p:spPr>
          <a:xfrm>
            <a:off x="5852160" y="2350008"/>
            <a:ext cx="457200" cy="283464"/>
          </a:xfrm>
          <a:prstGeom prst="rect">
            <a:avLst/>
          </a:prstGeom>
          <a:noFill/>
          <a:ln/>
        </p:spPr>
        <p:txBody>
          <a:bodyPr wrap="square" lIns="0" tIns="0" rIns="0" bIns="0" rtlCol="0" anchor="ctr"/>
          <a:lstStyle/>
          <a:p>
            <a:pPr algn="ctr" indent="0" marL="0">
              <a:buNone/>
            </a:pPr>
            <a:r>
              <a:rPr lang="en-US" sz="1800" b="1" dirty="0">
                <a:solidFill>
                  <a:srgbClr val="1E2761"/>
                </a:solidFill>
                <a:latin typeface="Calibri" pitchFamily="34" charset="0"/>
                <a:ea typeface="Calibri" pitchFamily="34" charset="-122"/>
                <a:cs typeface="Calibri" pitchFamily="34" charset="-120"/>
              </a:rPr>
              <a:t>↓</a:t>
            </a:r>
            <a:endParaRPr lang="en-US" sz="1800" dirty="0"/>
          </a:p>
        </p:txBody>
      </p:sp>
      <p:sp>
        <p:nvSpPr>
          <p:cNvPr id="12" name="Shape 9"/>
          <p:cNvSpPr/>
          <p:nvPr/>
        </p:nvSpPr>
        <p:spPr>
          <a:xfrm>
            <a:off x="2377440" y="2651760"/>
            <a:ext cx="7406640" cy="914400"/>
          </a:xfrm>
          <a:prstGeom prst="roundRect">
            <a:avLst>
              <a:gd name="adj" fmla="val 8000"/>
            </a:avLst>
          </a:prstGeom>
          <a:solidFill>
            <a:srgbClr val="3FBFB0"/>
          </a:solidFill>
          <a:ln/>
        </p:spPr>
      </p:sp>
      <p:sp>
        <p:nvSpPr>
          <p:cNvPr id="13" name="Shape 10"/>
          <p:cNvSpPr/>
          <p:nvPr/>
        </p:nvSpPr>
        <p:spPr>
          <a:xfrm>
            <a:off x="2578608" y="2871216"/>
            <a:ext cx="512064" cy="512064"/>
          </a:xfrm>
          <a:prstGeom prst="ellipse">
            <a:avLst/>
          </a:prstGeom>
          <a:solidFill>
            <a:srgbClr val="1E2761"/>
          </a:solidFill>
          <a:ln/>
        </p:spPr>
      </p:sp>
      <p:pic>
        <p:nvPicPr>
          <p:cNvPr id="14" name="Image 1" descr="preencoded.png">    </p:cNvPr>
          <p:cNvPicPr>
            <a:picLocks noChangeAspect="1"/>
          </p:cNvPicPr>
          <p:nvPr/>
        </p:nvPicPr>
        <p:blipFill>
          <a:blip r:embed="rId2"/>
          <a:stretch>
            <a:fillRect/>
          </a:stretch>
        </p:blipFill>
        <p:spPr>
          <a:xfrm>
            <a:off x="2706624" y="2999232"/>
            <a:ext cx="256032" cy="256032"/>
          </a:xfrm>
          <a:prstGeom prst="rect">
            <a:avLst/>
          </a:prstGeom>
        </p:spPr>
      </p:pic>
      <p:sp>
        <p:nvSpPr>
          <p:cNvPr id="15" name="Text 11"/>
          <p:cNvSpPr txBox="1"/>
          <p:nvPr/>
        </p:nvSpPr>
        <p:spPr>
          <a:xfrm>
            <a:off x="3246120" y="2816352"/>
            <a:ext cx="6309360" cy="365760"/>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dotnet tool install -g MiniCode</a:t>
            </a:r>
            <a:endParaRPr lang="en-US" sz="1400" dirty="0"/>
          </a:p>
        </p:txBody>
      </p:sp>
      <p:sp>
        <p:nvSpPr>
          <p:cNvPr id="16" name="Text 12"/>
          <p:cNvSpPr txBox="1"/>
          <p:nvPr/>
        </p:nvSpPr>
        <p:spPr>
          <a:xfrm>
            <a:off x="3246120" y="3182112"/>
            <a:ext cx="6309360" cy="292608"/>
          </a:xfrm>
          <a:prstGeom prst="rect">
            <a:avLst/>
          </a:prstGeom>
          <a:noFill/>
          <a:ln/>
        </p:spPr>
        <p:txBody>
          <a:bodyPr wrap="square" lIns="0" tIns="0" rIns="0" bIns="0" rtlCol="0" anchor="ctr"/>
          <a:lstStyle/>
          <a:p>
            <a:pPr indent="0" marL="0">
              <a:buNone/>
            </a:pPr>
            <a:r>
              <a:rPr lang="en-US" sz="1050" i="1" dirty="0">
                <a:solidFill>
                  <a:srgbClr val="FFFFFF"/>
                </a:solidFill>
                <a:latin typeface="Calibri" pitchFamily="34" charset="0"/>
                <a:ea typeface="Calibri" pitchFamily="34" charset="-122"/>
                <a:cs typeface="Calibri" pitchFamily="34" charset="-120"/>
              </a:rPr>
              <a:t>a shim named minicode lands on the PATH</a:t>
            </a:r>
            <a:endParaRPr lang="en-US" sz="1050" dirty="0"/>
          </a:p>
        </p:txBody>
      </p:sp>
      <p:sp>
        <p:nvSpPr>
          <p:cNvPr id="17" name="Text 13"/>
          <p:cNvSpPr txBox="1"/>
          <p:nvPr/>
        </p:nvSpPr>
        <p:spPr>
          <a:xfrm>
            <a:off x="5852160" y="3584448"/>
            <a:ext cx="457200" cy="283464"/>
          </a:xfrm>
          <a:prstGeom prst="rect">
            <a:avLst/>
          </a:prstGeom>
          <a:noFill/>
          <a:ln/>
        </p:spPr>
        <p:txBody>
          <a:bodyPr wrap="square" lIns="0" tIns="0" rIns="0" bIns="0" rtlCol="0" anchor="ctr"/>
          <a:lstStyle/>
          <a:p>
            <a:pPr algn="ctr" indent="0" marL="0">
              <a:buNone/>
            </a:pPr>
            <a:r>
              <a:rPr lang="en-US" sz="1800" b="1" dirty="0">
                <a:solidFill>
                  <a:srgbClr val="1E2761"/>
                </a:solidFill>
                <a:latin typeface="Calibri" pitchFamily="34" charset="0"/>
                <a:ea typeface="Calibri" pitchFamily="34" charset="-122"/>
                <a:cs typeface="Calibri" pitchFamily="34" charset="-120"/>
              </a:rPr>
              <a:t>↓</a:t>
            </a:r>
            <a:endParaRPr lang="en-US" sz="1800" dirty="0"/>
          </a:p>
        </p:txBody>
      </p:sp>
      <p:sp>
        <p:nvSpPr>
          <p:cNvPr id="18" name="Shape 14"/>
          <p:cNvSpPr/>
          <p:nvPr/>
        </p:nvSpPr>
        <p:spPr>
          <a:xfrm>
            <a:off x="2377440" y="3886200"/>
            <a:ext cx="7406640" cy="914400"/>
          </a:xfrm>
          <a:prstGeom prst="roundRect">
            <a:avLst>
              <a:gd name="adj" fmla="val 8000"/>
            </a:avLst>
          </a:prstGeom>
          <a:solidFill>
            <a:srgbClr val="1E2761"/>
          </a:solidFill>
          <a:ln/>
        </p:spPr>
      </p:sp>
      <p:sp>
        <p:nvSpPr>
          <p:cNvPr id="19" name="Shape 15"/>
          <p:cNvSpPr/>
          <p:nvPr/>
        </p:nvSpPr>
        <p:spPr>
          <a:xfrm>
            <a:off x="2578608" y="4105656"/>
            <a:ext cx="512064" cy="512064"/>
          </a:xfrm>
          <a:prstGeom prst="ellipse">
            <a:avLst/>
          </a:prstGeom>
          <a:solidFill>
            <a:srgbClr val="3FBFB0"/>
          </a:solidFill>
          <a:ln/>
        </p:spPr>
      </p:sp>
      <p:pic>
        <p:nvPicPr>
          <p:cNvPr id="20" name="Image 2" descr="preencoded.png">    </p:cNvPr>
          <p:cNvPicPr>
            <a:picLocks noChangeAspect="1"/>
          </p:cNvPicPr>
          <p:nvPr/>
        </p:nvPicPr>
        <p:blipFill>
          <a:blip r:embed="rId3"/>
          <a:stretch>
            <a:fillRect/>
          </a:stretch>
        </p:blipFill>
        <p:spPr>
          <a:xfrm>
            <a:off x="2706624" y="4233672"/>
            <a:ext cx="256032" cy="256032"/>
          </a:xfrm>
          <a:prstGeom prst="rect">
            <a:avLst/>
          </a:prstGeom>
        </p:spPr>
      </p:pic>
      <p:sp>
        <p:nvSpPr>
          <p:cNvPr id="21" name="Text 16"/>
          <p:cNvSpPr txBox="1"/>
          <p:nvPr/>
        </p:nvSpPr>
        <p:spPr>
          <a:xfrm>
            <a:off x="3246120" y="4050792"/>
            <a:ext cx="6309360" cy="365760"/>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cd CustomerPortal  &amp;&amp;  minicode</a:t>
            </a:r>
            <a:endParaRPr lang="en-US" sz="1400" dirty="0"/>
          </a:p>
        </p:txBody>
      </p:sp>
      <p:sp>
        <p:nvSpPr>
          <p:cNvPr id="22" name="Text 17"/>
          <p:cNvSpPr txBox="1"/>
          <p:nvPr/>
        </p:nvSpPr>
        <p:spPr>
          <a:xfrm>
            <a:off x="3246120" y="4416552"/>
            <a:ext cx="6309360" cy="292608"/>
          </a:xfrm>
          <a:prstGeom prst="rect">
            <a:avLst/>
          </a:prstGeom>
          <a:noFill/>
          <a:ln/>
        </p:spPr>
        <p:txBody>
          <a:bodyPr wrap="square" lIns="0" tIns="0" rIns="0" bIns="0" rtlCol="0" anchor="ctr"/>
          <a:lstStyle/>
          <a:p>
            <a:pPr indent="0" marL="0">
              <a:buNone/>
            </a:pPr>
            <a:r>
              <a:rPr lang="en-US" sz="1050" i="1" dirty="0">
                <a:solidFill>
                  <a:srgbClr val="CADCFC"/>
                </a:solidFill>
                <a:latin typeface="Calibri" pitchFamily="34" charset="0"/>
                <a:ea typeface="Calibri" pitchFamily="34" charset="-122"/>
                <a:cs typeface="Calibri" pitchFamily="34" charset="-120"/>
              </a:rPr>
              <a:t>Program.cs's Directory.GetCurrentDirectory() fallback, unchanged since Module 5a</a:t>
            </a:r>
            <a:endParaRPr lang="en-US" sz="1050" dirty="0"/>
          </a:p>
        </p:txBody>
      </p:sp>
      <p:sp>
        <p:nvSpPr>
          <p:cNvPr id="23" name="Shape 18"/>
          <p:cNvSpPr/>
          <p:nvPr/>
        </p:nvSpPr>
        <p:spPr>
          <a:xfrm>
            <a:off x="548640" y="5166360"/>
            <a:ext cx="11064240" cy="1234440"/>
          </a:xfrm>
          <a:prstGeom prst="roundRect">
            <a:avLst>
              <a:gd name="adj" fmla="val 7407"/>
            </a:avLst>
          </a:prstGeom>
          <a:solidFill>
            <a:srgbClr val="1E2761"/>
          </a:solidFill>
          <a:ln w="15875">
            <a:solidFill>
              <a:srgbClr val="F87171"/>
            </a:solidFill>
            <a:prstDash val="solid"/>
          </a:ln>
        </p:spPr>
      </p:sp>
      <p:sp>
        <p:nvSpPr>
          <p:cNvPr id="24" name="Shape 19"/>
          <p:cNvSpPr/>
          <p:nvPr/>
        </p:nvSpPr>
        <p:spPr>
          <a:xfrm>
            <a:off x="841248" y="5458968"/>
            <a:ext cx="566928" cy="566928"/>
          </a:xfrm>
          <a:prstGeom prst="ellipse">
            <a:avLst/>
          </a:prstGeom>
          <a:solidFill>
            <a:srgbClr val="F87171"/>
          </a:solidFill>
          <a:ln/>
        </p:spPr>
      </p:sp>
      <p:pic>
        <p:nvPicPr>
          <p:cNvPr id="25" name="Image 3" descr="preencoded.png">    </p:cNvPr>
          <p:cNvPicPr>
            <a:picLocks noChangeAspect="1"/>
          </p:cNvPicPr>
          <p:nvPr/>
        </p:nvPicPr>
        <p:blipFill>
          <a:blip r:embed="rId4"/>
          <a:stretch>
            <a:fillRect/>
          </a:stretch>
        </p:blipFill>
        <p:spPr>
          <a:xfrm>
            <a:off x="987552" y="5605272"/>
            <a:ext cx="274320" cy="274320"/>
          </a:xfrm>
          <a:prstGeom prst="rect">
            <a:avLst/>
          </a:prstGeom>
        </p:spPr>
      </p:pic>
      <p:sp>
        <p:nvSpPr>
          <p:cNvPr id="26" name="Text 20"/>
          <p:cNvSpPr txBox="1"/>
          <p:nvPr/>
        </p:nvSpPr>
        <p:spPr>
          <a:xfrm>
            <a:off x="1554480" y="5367528"/>
            <a:ext cx="9784080" cy="384048"/>
          </a:xfrm>
          <a:prstGeom prst="rect">
            <a:avLst/>
          </a:prstGeom>
          <a:noFill/>
          <a:ln/>
        </p:spPr>
        <p:txBody>
          <a:bodyPr wrap="square" lIns="0" tIns="0" rIns="0" bIns="0" rtlCol="0" anchor="ctr"/>
          <a:lstStyle/>
          <a:p>
            <a:pPr indent="0" marL="0">
              <a:buNone/>
            </a:pPr>
            <a:r>
              <a:rPr lang="en-US" sz="1450" b="1" dirty="0">
                <a:solidFill>
                  <a:srgbClr val="FFFFFF"/>
                </a:solidFill>
                <a:latin typeface="Cambria" pitchFamily="34" charset="0"/>
                <a:ea typeface="Cambria" pitchFamily="34" charset="-122"/>
                <a:cs typeface="Cambria" pitchFamily="34" charset="-120"/>
              </a:rPr>
              <a:t>There is no "am I a global tool" branch anywhere</a:t>
            </a:r>
            <a:endParaRPr lang="en-US" sz="1450" dirty="0"/>
          </a:p>
        </p:txBody>
      </p:sp>
      <p:sp>
        <p:nvSpPr>
          <p:cNvPr id="27" name="Text 21"/>
          <p:cNvSpPr txBox="1"/>
          <p:nvPr/>
        </p:nvSpPr>
        <p:spPr>
          <a:xfrm>
            <a:off x="1554480" y="5806440"/>
            <a:ext cx="9784080" cy="411480"/>
          </a:xfrm>
          <a:prstGeom prst="rect">
            <a:avLst/>
          </a:prstGeom>
          <a:noFill/>
          <a:ln/>
        </p:spPr>
        <p:txBody>
          <a:bodyPr wrap="square" lIns="0" tIns="0" rIns="0" bIns="0" rtlCol="0" anchor="t"/>
          <a:lstStyle/>
          <a:p>
            <a:pPr indent="0" marL="0">
              <a:buNone/>
            </a:pPr>
            <a:r>
              <a:rPr lang="en-US" sz="1200" dirty="0">
                <a:solidFill>
                  <a:srgbClr val="CADCFC"/>
                </a:solidFill>
                <a:latin typeface="Calibri" pitchFamily="34" charset="0"/>
                <a:ea typeface="Calibri" pitchFamily="34" charset="-122"/>
                <a:cs typeface="Calibri" pitchFamily="34" charset="-120"/>
              </a:rPr>
              <a:t>Environment.CurrentDirectory means the same thing whether dotnet run started the process or the tool shim in ~/.dotnet/tools did — and no file in MiniCode.Cli other than the .csproj changed at all this Module.</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E2761"/>
        </a:solidFill>
      </p:bgPr>
    </p:bg>
    <p:spTree>
      <p:nvGrpSpPr>
        <p:cNvPr id="1" name=""/>
        <p:cNvGrpSpPr/>
        <p:nvPr/>
      </p:nvGrpSpPr>
      <p:grpSpPr>
        <a:xfrm>
          <a:off x="0" y="0"/>
          <a:ext cx="0" cy="0"/>
          <a:chOff x="0" y="0"/>
          <a:chExt cx="0" cy="0"/>
        </a:xfrm>
      </p:grpSpPr>
      <p:sp>
        <p:nvSpPr>
          <p:cNvPr id="2" name="Text 0"/>
          <p:cNvSpPr txBox="1"/>
          <p:nvPr/>
        </p:nvSpPr>
        <p:spPr>
          <a:xfrm>
            <a:off x="548640" y="164592"/>
            <a:ext cx="9144000" cy="274320"/>
          </a:xfrm>
          <a:prstGeom prst="rect">
            <a:avLst/>
          </a:prstGeom>
          <a:noFill/>
          <a:ln/>
        </p:spPr>
        <p:txBody>
          <a:bodyPr wrap="square" lIns="0" tIns="0" rIns="0" bIns="0" rtlCol="0" anchor="ctr"/>
          <a:lstStyle/>
          <a:p>
            <a:pPr indent="0" marL="0">
              <a:buNone/>
            </a:pPr>
            <a:r>
              <a:rPr lang="en-US" sz="1200" b="1" spc="200" kern="0" dirty="0">
                <a:solidFill>
                  <a:srgbClr val="3FBFB0"/>
                </a:solidFill>
                <a:latin typeface="Calibri" pitchFamily="34" charset="0"/>
                <a:ea typeface="Calibri" pitchFamily="34" charset="-122"/>
                <a:cs typeface="Calibri" pitchFamily="34" charset="-120"/>
              </a:rPr>
              <a:t>THE CODE</a:t>
            </a:r>
            <a:endParaRPr lang="en-US" sz="1200" dirty="0"/>
          </a:p>
        </p:txBody>
      </p:sp>
      <p:sp>
        <p:nvSpPr>
          <p:cNvPr id="3" name="Text 1"/>
          <p:cNvSpPr txBox="1"/>
          <p:nvPr/>
        </p:nvSpPr>
        <p:spPr>
          <a:xfrm>
            <a:off x="548640" y="411480"/>
            <a:ext cx="11064240" cy="731520"/>
          </a:xfrm>
          <a:prstGeom prst="rect">
            <a:avLst/>
          </a:prstGeom>
          <a:noFill/>
          <a:ln/>
        </p:spPr>
        <p:txBody>
          <a:bodyPr wrap="square" lIns="0" tIns="0" rIns="0" bIns="0" rtlCol="0" anchor="t"/>
          <a:lstStyle/>
          <a:p>
            <a:pPr indent="0" marL="0">
              <a:buNone/>
            </a:pPr>
            <a:r>
              <a:rPr lang="en-US" sz="3200" b="1" dirty="0">
                <a:solidFill>
                  <a:srgbClr val="FFFFFF"/>
                </a:solidFill>
                <a:latin typeface="Cambria" pitchFamily="34" charset="0"/>
                <a:ea typeface="Cambria" pitchFamily="34" charset="-122"/>
                <a:cs typeface="Cambria" pitchFamily="34" charset="-120"/>
              </a:rPr>
              <a:t>Six Lines of MSBuild, One Resolved Variable</a:t>
            </a:r>
            <a:endParaRPr lang="en-US" sz="3200" dirty="0"/>
          </a:p>
        </p:txBody>
      </p:sp>
      <p:sp>
        <p:nvSpPr>
          <p:cNvPr id="4" name="Text 2"/>
          <p:cNvSpPr txBox="1"/>
          <p:nvPr/>
        </p:nvSpPr>
        <p:spPr>
          <a:xfrm>
            <a:off x="457200" y="6510528"/>
            <a:ext cx="86868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MODULE 18 — PACKAGING MINICODE</a:t>
            </a:r>
            <a:endParaRPr lang="en-US" sz="900" dirty="0"/>
          </a:p>
        </p:txBody>
      </p:sp>
      <p:sp>
        <p:nvSpPr>
          <p:cNvPr id="5" name="Text 3"/>
          <p:cNvSpPr txBox="1"/>
          <p:nvPr/>
        </p:nvSpPr>
        <p:spPr>
          <a:xfrm>
            <a:off x="11338560" y="6510528"/>
            <a:ext cx="36576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5</a:t>
            </a:r>
            <a:endParaRPr lang="en-US" sz="900" dirty="0"/>
          </a:p>
        </p:txBody>
      </p:sp>
      <p:sp>
        <p:nvSpPr>
          <p:cNvPr id="6" name="Shape 4"/>
          <p:cNvSpPr/>
          <p:nvPr/>
        </p:nvSpPr>
        <p:spPr>
          <a:xfrm>
            <a:off x="548640" y="1417320"/>
            <a:ext cx="5349240" cy="4754880"/>
          </a:xfrm>
          <a:prstGeom prst="roundRect">
            <a:avLst>
              <a:gd name="adj" fmla="val 1923"/>
            </a:avLst>
          </a:prstGeom>
          <a:solidFill>
            <a:srgbClr val="141B49"/>
          </a:solidFill>
          <a:ln w="12700">
            <a:solidFill>
              <a:srgbClr val="3FBFB0"/>
            </a:solidFill>
            <a:prstDash val="solid"/>
          </a:ln>
        </p:spPr>
      </p:sp>
      <p:sp>
        <p:nvSpPr>
          <p:cNvPr id="7" name="Text 5"/>
          <p:cNvSpPr txBox="1"/>
          <p:nvPr/>
        </p:nvSpPr>
        <p:spPr>
          <a:xfrm>
            <a:off x="877824" y="1673352"/>
            <a:ext cx="4690872" cy="238252"/>
          </a:xfrm>
          <a:prstGeom prst="rect">
            <a:avLst/>
          </a:prstGeom>
          <a:noFill/>
          <a:ln/>
        </p:spPr>
        <p:txBody>
          <a:bodyPr wrap="square" lIns="0" tIns="0" rIns="0" bIns="0" rtlCol="0" anchor="t"/>
          <a:lstStyle/>
          <a:p>
            <a:pPr indent="0" marL="0">
              <a:lnSpc>
                <a:spcPts val="1300"/>
              </a:lnSpc>
              <a:buNone/>
            </a:pPr>
            <a:r>
              <a:rPr lang="en-US" sz="950" i="1" dirty="0">
                <a:solidFill>
                  <a:srgbClr val="6B7280"/>
                </a:solidFill>
                <a:latin typeface="Courier New" pitchFamily="34" charset="0"/>
                <a:ea typeface="Courier New" pitchFamily="34" charset="-122"/>
                <a:cs typeface="Courier New" pitchFamily="34" charset="-120"/>
              </a:rPr>
              <a:t>&lt;!-- src/MiniCode.Cli/MiniCode.Cli.csproj --&gt;</a:t>
            </a:r>
            <a:endParaRPr lang="en-US" sz="950" dirty="0"/>
          </a:p>
        </p:txBody>
      </p:sp>
      <p:sp>
        <p:nvSpPr>
          <p:cNvPr id="8" name="Text 6"/>
          <p:cNvSpPr txBox="1"/>
          <p:nvPr/>
        </p:nvSpPr>
        <p:spPr>
          <a:xfrm>
            <a:off x="877824" y="2021332"/>
            <a:ext cx="4690872" cy="238252"/>
          </a:xfrm>
          <a:prstGeom prst="rect">
            <a:avLst/>
          </a:prstGeom>
          <a:noFill/>
          <a:ln/>
        </p:spPr>
        <p:txBody>
          <a:bodyPr wrap="square" lIns="0" tIns="0" rIns="0" bIns="0" rtlCol="0" anchor="t"/>
          <a:lstStyle/>
          <a:p>
            <a:pPr indent="0" marL="0">
              <a:lnSpc>
                <a:spcPts val="1300"/>
              </a:lnSpc>
              <a:buNone/>
            </a:pPr>
            <a:r>
              <a:rPr lang="en-US" sz="950" dirty="0">
                <a:solidFill>
                  <a:srgbClr val="CADCFC"/>
                </a:solidFill>
                <a:latin typeface="Courier New" pitchFamily="34" charset="0"/>
                <a:ea typeface="Courier New" pitchFamily="34" charset="-122"/>
                <a:cs typeface="Courier New" pitchFamily="34" charset="-120"/>
              </a:rPr>
              <a:t>&lt;PropertyGroup&gt;</a:t>
            </a:r>
            <a:endParaRPr lang="en-US" sz="950" dirty="0"/>
          </a:p>
        </p:txBody>
      </p:sp>
      <p:sp>
        <p:nvSpPr>
          <p:cNvPr id="9" name="Text 7"/>
          <p:cNvSpPr txBox="1"/>
          <p:nvPr/>
        </p:nvSpPr>
        <p:spPr>
          <a:xfrm>
            <a:off x="877824" y="2186432"/>
            <a:ext cx="4690872" cy="568452"/>
          </a:xfrm>
          <a:prstGeom prst="rect">
            <a:avLst/>
          </a:prstGeom>
          <a:noFill/>
          <a:ln/>
        </p:spPr>
        <p:txBody>
          <a:bodyPr wrap="square" lIns="0" tIns="0" rIns="0" bIns="0" rtlCol="0" anchor="t"/>
          <a:lstStyle/>
          <a:p>
            <a:pPr indent="0" marL="0">
              <a:lnSpc>
                <a:spcPts val="1300"/>
              </a:lnSpc>
              <a:buNone/>
            </a:pPr>
            <a:r>
              <a:rPr lang="en-US" sz="950" dirty="0">
                <a:solidFill>
                  <a:srgbClr val="3FBFB0"/>
                </a:solidFill>
                <a:latin typeface="Courier New" pitchFamily="34" charset="0"/>
                <a:ea typeface="Courier New" pitchFamily="34" charset="-122"/>
                <a:cs typeface="Courier New" pitchFamily="34" charset="-120"/>
              </a:rPr>
              <a:t>  &lt;PackAsTool&gt;true&lt;/PackAsTool&gt;</a:t>
            </a:r>
            <a:endParaRPr lang="en-US" sz="950" dirty="0"/>
          </a:p>
          <a:p>
            <a:pPr indent="0" marL="0">
              <a:lnSpc>
                <a:spcPts val="1300"/>
              </a:lnSpc>
              <a:buNone/>
            </a:pPr>
            <a:r>
              <a:rPr lang="en-US" sz="950" dirty="0">
                <a:solidFill>
                  <a:srgbClr val="3FBFB0"/>
                </a:solidFill>
                <a:latin typeface="Courier New" pitchFamily="34" charset="0"/>
                <a:ea typeface="Courier New" pitchFamily="34" charset="-122"/>
                <a:cs typeface="Courier New" pitchFamily="34" charset="-120"/>
              </a:rPr>
              <a:t>  &lt;ToolCommandName&gt;minicode&lt;/ToolCommandName&gt;</a:t>
            </a:r>
            <a:endParaRPr lang="en-US" sz="950" dirty="0"/>
          </a:p>
          <a:p>
            <a:pPr indent="0" marL="0">
              <a:lnSpc>
                <a:spcPts val="1300"/>
              </a:lnSpc>
              <a:buNone/>
            </a:pPr>
            <a:r>
              <a:rPr lang="en-US" sz="950" dirty="0">
                <a:solidFill>
                  <a:srgbClr val="3FBFB0"/>
                </a:solidFill>
                <a:latin typeface="Courier New" pitchFamily="34" charset="0"/>
                <a:ea typeface="Courier New" pitchFamily="34" charset="-122"/>
                <a:cs typeface="Courier New" pitchFamily="34" charset="-120"/>
              </a:rPr>
              <a:t>  &lt;PackageId&gt;MiniCode&lt;/PackageId&gt;</a:t>
            </a:r>
            <a:endParaRPr lang="en-US" sz="950" dirty="0"/>
          </a:p>
        </p:txBody>
      </p:sp>
      <p:sp>
        <p:nvSpPr>
          <p:cNvPr id="10" name="Text 8"/>
          <p:cNvSpPr txBox="1"/>
          <p:nvPr/>
        </p:nvSpPr>
        <p:spPr>
          <a:xfrm>
            <a:off x="877824" y="2681732"/>
            <a:ext cx="4690872" cy="898652"/>
          </a:xfrm>
          <a:prstGeom prst="rect">
            <a:avLst/>
          </a:prstGeom>
          <a:noFill/>
          <a:ln/>
        </p:spPr>
        <p:txBody>
          <a:bodyPr wrap="square" lIns="0" tIns="0" rIns="0" bIns="0" rtlCol="0" anchor="t"/>
          <a:lstStyle/>
          <a:p>
            <a:pPr indent="0" marL="0">
              <a:lnSpc>
                <a:spcPts val="1300"/>
              </a:lnSpc>
              <a:buNone/>
            </a:pPr>
            <a:r>
              <a:rPr lang="en-US" sz="950" dirty="0">
                <a:solidFill>
                  <a:srgbClr val="CADCFC"/>
                </a:solidFill>
                <a:latin typeface="Courier New" pitchFamily="34" charset="0"/>
                <a:ea typeface="Courier New" pitchFamily="34" charset="-122"/>
                <a:cs typeface="Courier New" pitchFamily="34" charset="-120"/>
              </a:rPr>
              <a:t>  &lt;Version&gt;0.3.0&lt;/Version&gt;</a:t>
            </a:r>
            <a:endParaRPr lang="en-US" sz="950" dirty="0"/>
          </a:p>
          <a:p>
            <a:pPr indent="0" marL="0">
              <a:lnSpc>
                <a:spcPts val="1300"/>
              </a:lnSpc>
              <a:buNone/>
            </a:pPr>
            <a:r>
              <a:rPr lang="en-US" sz="950" dirty="0">
                <a:solidFill>
                  <a:srgbClr val="CADCFC"/>
                </a:solidFill>
                <a:latin typeface="Courier New" pitchFamily="34" charset="0"/>
                <a:ea typeface="Courier New" pitchFamily="34" charset="-122"/>
                <a:cs typeface="Courier New" pitchFamily="34" charset="-120"/>
              </a:rPr>
              <a:t>  &lt;Description&gt;A coding agent for the</a:t>
            </a:r>
            <a:endParaRPr lang="en-US" sz="950" dirty="0"/>
          </a:p>
          <a:p>
            <a:pPr indent="0" marL="0">
              <a:lnSpc>
                <a:spcPts val="1300"/>
              </a:lnSpc>
              <a:buNone/>
            </a:pPr>
            <a:r>
              <a:rPr lang="en-US" sz="950" dirty="0">
                <a:solidFill>
                  <a:srgbClr val="CADCFC"/>
                </a:solidFill>
                <a:latin typeface="Courier New" pitchFamily="34" charset="0"/>
                <a:ea typeface="Courier New" pitchFamily="34" charset="-122"/>
                <a:cs typeface="Courier New" pitchFamily="34" charset="-120"/>
              </a:rPr>
              <a:t>    terminal, built on Microsoft Agent</a:t>
            </a:r>
            <a:endParaRPr lang="en-US" sz="950" dirty="0"/>
          </a:p>
          <a:p>
            <a:pPr indent="0" marL="0">
              <a:lnSpc>
                <a:spcPts val="1300"/>
              </a:lnSpc>
              <a:buNone/>
            </a:pPr>
            <a:r>
              <a:rPr lang="en-US" sz="950" dirty="0">
                <a:solidFill>
                  <a:srgbClr val="CADCFC"/>
                </a:solidFill>
                <a:latin typeface="Courier New" pitchFamily="34" charset="0"/>
                <a:ea typeface="Courier New" pitchFamily="34" charset="-122"/>
                <a:cs typeface="Courier New" pitchFamily="34" charset="-120"/>
              </a:rPr>
              <a:t>    Framework.&lt;/Description&gt;</a:t>
            </a:r>
            <a:endParaRPr lang="en-US" sz="950" dirty="0"/>
          </a:p>
          <a:p>
            <a:pPr indent="0" marL="0">
              <a:lnSpc>
                <a:spcPts val="1300"/>
              </a:lnSpc>
              <a:buNone/>
            </a:pPr>
            <a:r>
              <a:rPr lang="en-US" sz="950" dirty="0">
                <a:solidFill>
                  <a:srgbClr val="CADCFC"/>
                </a:solidFill>
                <a:latin typeface="Courier New" pitchFamily="34" charset="0"/>
                <a:ea typeface="Courier New" pitchFamily="34" charset="-122"/>
                <a:cs typeface="Courier New" pitchFamily="34" charset="-120"/>
              </a:rPr>
              <a:t>&lt;/PropertyGroup&gt;</a:t>
            </a:r>
            <a:endParaRPr lang="en-US" sz="950" dirty="0"/>
          </a:p>
        </p:txBody>
      </p:sp>
      <p:sp>
        <p:nvSpPr>
          <p:cNvPr id="11" name="Text 9"/>
          <p:cNvSpPr txBox="1"/>
          <p:nvPr/>
        </p:nvSpPr>
        <p:spPr>
          <a:xfrm>
            <a:off x="877824" y="5458968"/>
            <a:ext cx="4690872" cy="548640"/>
          </a:xfrm>
          <a:prstGeom prst="rect">
            <a:avLst/>
          </a:prstGeom>
          <a:noFill/>
          <a:ln/>
        </p:spPr>
        <p:txBody>
          <a:bodyPr wrap="square" lIns="0" tIns="0" rIns="0" bIns="0" rtlCol="0" anchor="t"/>
          <a:lstStyle/>
          <a:p>
            <a:pPr indent="0" marL="0">
              <a:buNone/>
            </a:pPr>
            <a:r>
              <a:rPr lang="en-US" sz="1050" i="1" dirty="0">
                <a:solidFill>
                  <a:srgbClr val="CADCFC"/>
                </a:solidFill>
                <a:latin typeface="Calibri" pitchFamily="34" charset="0"/>
                <a:ea typeface="Calibri" pitchFamily="34" charset="-122"/>
                <a:cs typeface="Calibri" pitchFamily="34" charset="-120"/>
              </a:rPr>
              <a:t>A second PropertyGroup, added beside the one that has been there since Module 3.</a:t>
            </a:r>
            <a:endParaRPr lang="en-US" sz="1050" dirty="0"/>
          </a:p>
        </p:txBody>
      </p:sp>
      <p:sp>
        <p:nvSpPr>
          <p:cNvPr id="12" name="Shape 10"/>
          <p:cNvSpPr/>
          <p:nvPr/>
        </p:nvSpPr>
        <p:spPr>
          <a:xfrm>
            <a:off x="6309360" y="1417320"/>
            <a:ext cx="5349240" cy="4754880"/>
          </a:xfrm>
          <a:prstGeom prst="roundRect">
            <a:avLst>
              <a:gd name="adj" fmla="val 1923"/>
            </a:avLst>
          </a:prstGeom>
          <a:solidFill>
            <a:srgbClr val="141B49"/>
          </a:solidFill>
          <a:ln w="12700">
            <a:solidFill>
              <a:srgbClr val="3FBFB0"/>
            </a:solidFill>
            <a:prstDash val="solid"/>
          </a:ln>
        </p:spPr>
      </p:sp>
      <p:sp>
        <p:nvSpPr>
          <p:cNvPr id="13" name="Text 11"/>
          <p:cNvSpPr txBox="1"/>
          <p:nvPr/>
        </p:nvSpPr>
        <p:spPr>
          <a:xfrm>
            <a:off x="6638544" y="1673352"/>
            <a:ext cx="4690872" cy="238252"/>
          </a:xfrm>
          <a:prstGeom prst="rect">
            <a:avLst/>
          </a:prstGeom>
          <a:noFill/>
          <a:ln/>
        </p:spPr>
        <p:txBody>
          <a:bodyPr wrap="square" lIns="0" tIns="0" rIns="0" bIns="0" rtlCol="0" anchor="t"/>
          <a:lstStyle/>
          <a:p>
            <a:pPr indent="0" marL="0">
              <a:lnSpc>
                <a:spcPts val="1300"/>
              </a:lnSpc>
              <a:buNone/>
            </a:pPr>
            <a:r>
              <a:rPr lang="en-US" sz="950" i="1" dirty="0">
                <a:solidFill>
                  <a:srgbClr val="6B7280"/>
                </a:solidFill>
                <a:latin typeface="Courier New" pitchFamily="34" charset="0"/>
                <a:ea typeface="Courier New" pitchFamily="34" charset="-122"/>
                <a:cs typeface="Courier New" pitchFamily="34" charset="-120"/>
              </a:rPr>
              <a:t>// src/MiniCode.Agent/ChatClientFactory.cs</a:t>
            </a:r>
            <a:endParaRPr lang="en-US" sz="950" dirty="0"/>
          </a:p>
        </p:txBody>
      </p:sp>
      <p:sp>
        <p:nvSpPr>
          <p:cNvPr id="14" name="Text 12"/>
          <p:cNvSpPr txBox="1"/>
          <p:nvPr/>
        </p:nvSpPr>
        <p:spPr>
          <a:xfrm>
            <a:off x="6638544" y="2021332"/>
            <a:ext cx="4690872" cy="403352"/>
          </a:xfrm>
          <a:prstGeom prst="rect">
            <a:avLst/>
          </a:prstGeom>
          <a:noFill/>
          <a:ln/>
        </p:spPr>
        <p:txBody>
          <a:bodyPr wrap="square" lIns="0" tIns="0" rIns="0" bIns="0" rtlCol="0" anchor="t"/>
          <a:lstStyle/>
          <a:p>
            <a:pPr indent="0" marL="0">
              <a:lnSpc>
                <a:spcPts val="1300"/>
              </a:lnSpc>
              <a:buNone/>
            </a:pPr>
            <a:r>
              <a:rPr lang="en-US" sz="950" dirty="0">
                <a:solidFill>
                  <a:srgbClr val="CADCFC"/>
                </a:solidFill>
                <a:latin typeface="Courier New" pitchFamily="34" charset="0"/>
                <a:ea typeface="Courier New" pitchFamily="34" charset="-122"/>
                <a:cs typeface="Courier New" pitchFamily="34" charset="-120"/>
              </a:rPr>
              <a:t>private const string DefaultModelId = "gpt-4.1-mini";</a:t>
            </a:r>
            <a:endParaRPr lang="en-US" sz="950" dirty="0"/>
          </a:p>
          <a:p>
            <a:pPr indent="0" marL="0">
              <a:lnSpc>
                <a:spcPts val="1300"/>
              </a:lnSpc>
              <a:buNone/>
            </a:pPr>
            <a:r>
              <a:rPr lang="en-US" sz="950" dirty="0">
                <a:solidFill>
                  <a:srgbClr val="CADCFC"/>
                </a:solidFill>
                <a:latin typeface="Courier New" pitchFamily="34" charset="0"/>
                <a:ea typeface="Courier New" pitchFamily="34" charset="-122"/>
                <a:cs typeface="Courier New" pitchFamily="34" charset="-120"/>
              </a:rPr>
              <a:t>private const string ApiKeyVariable = "OPENAI_API_KEY";</a:t>
            </a:r>
            <a:endParaRPr lang="en-US" sz="950" dirty="0"/>
          </a:p>
        </p:txBody>
      </p:sp>
      <p:sp>
        <p:nvSpPr>
          <p:cNvPr id="15" name="Text 13"/>
          <p:cNvSpPr txBox="1"/>
          <p:nvPr/>
        </p:nvSpPr>
        <p:spPr>
          <a:xfrm>
            <a:off x="6638544" y="2351532"/>
            <a:ext cx="4690872" cy="238252"/>
          </a:xfrm>
          <a:prstGeom prst="rect">
            <a:avLst/>
          </a:prstGeom>
          <a:noFill/>
          <a:ln/>
        </p:spPr>
        <p:txBody>
          <a:bodyPr wrap="square" lIns="0" tIns="0" rIns="0" bIns="0" rtlCol="0" anchor="t"/>
          <a:lstStyle/>
          <a:p>
            <a:pPr indent="0" marL="0">
              <a:lnSpc>
                <a:spcPts val="1300"/>
              </a:lnSpc>
              <a:buNone/>
            </a:pPr>
            <a:r>
              <a:rPr lang="en-US" sz="950" dirty="0">
                <a:solidFill>
                  <a:srgbClr val="3FBFB0"/>
                </a:solidFill>
                <a:latin typeface="Courier New" pitchFamily="34" charset="0"/>
                <a:ea typeface="Courier New" pitchFamily="34" charset="-122"/>
                <a:cs typeface="Courier New" pitchFamily="34" charset="-120"/>
              </a:rPr>
              <a:t>private const string ModelVariable = "MINICODE_MODEL";</a:t>
            </a:r>
            <a:endParaRPr lang="en-US" sz="950" dirty="0"/>
          </a:p>
        </p:txBody>
      </p:sp>
      <p:sp>
        <p:nvSpPr>
          <p:cNvPr id="16" name="Text 14"/>
          <p:cNvSpPr txBox="1"/>
          <p:nvPr/>
        </p:nvSpPr>
        <p:spPr>
          <a:xfrm>
            <a:off x="6638544" y="2516632"/>
            <a:ext cx="4690872" cy="504952"/>
          </a:xfrm>
          <a:prstGeom prst="rect">
            <a:avLst/>
          </a:prstGeom>
          <a:noFill/>
          <a:ln/>
        </p:spPr>
        <p:txBody>
          <a:bodyPr wrap="square" lIns="0" tIns="0" rIns="0" bIns="0" rtlCol="0" anchor="t"/>
          <a:lstStyle/>
          <a:p>
            <a:pPr indent="0" marL="0">
              <a:lnSpc>
                <a:spcPts val="1300"/>
              </a:lnSpc>
              <a:buNone/>
            </a:pPr>
            <a:r>
              <a:rPr lang="en-US" sz="950" dirty="0">
                <a:solidFill>
                  <a:srgbClr val="CADCFC"/>
                </a:solidFill>
                <a:latin typeface="Courier New" pitchFamily="34" charset="0"/>
                <a:ea typeface="Courier New" pitchFamily="34" charset="-122"/>
                <a:cs typeface="Courier New" pitchFamily="34" charset="-120"/>
              </a:rPr>
              <a:t>public static IChatClient Create()</a:t>
            </a:r>
            <a:endParaRPr lang="en-US" sz="950" dirty="0"/>
          </a:p>
          <a:p>
            <a:pPr indent="0" marL="0">
              <a:lnSpc>
                <a:spcPts val="1300"/>
              </a:lnSpc>
              <a:buNone/>
            </a:pPr>
            <a:r>
              <a:rPr lang="en-US" sz="950" dirty="0">
                <a:solidFill>
                  <a:srgbClr val="CADCFC"/>
                </a:solidFill>
                <a:latin typeface="Courier New" pitchFamily="34" charset="0"/>
                <a:ea typeface="Courier New" pitchFamily="34" charset="-122"/>
                <a:cs typeface="Courier New" pitchFamily="34" charset="-120"/>
              </a:rPr>
              <a:t>{</a:t>
            </a:r>
            <a:endParaRPr lang="en-US" sz="950" dirty="0"/>
          </a:p>
        </p:txBody>
      </p:sp>
      <p:sp>
        <p:nvSpPr>
          <p:cNvPr id="17" name="Text 15"/>
          <p:cNvSpPr txBox="1"/>
          <p:nvPr/>
        </p:nvSpPr>
        <p:spPr>
          <a:xfrm>
            <a:off x="6638544" y="2948432"/>
            <a:ext cx="4690872" cy="898652"/>
          </a:xfrm>
          <a:prstGeom prst="rect">
            <a:avLst/>
          </a:prstGeom>
          <a:noFill/>
          <a:ln/>
        </p:spPr>
        <p:txBody>
          <a:bodyPr wrap="square" lIns="0" tIns="0" rIns="0" bIns="0" rtlCol="0" anchor="t"/>
          <a:lstStyle/>
          <a:p>
            <a:pPr indent="0" marL="0">
              <a:lnSpc>
                <a:spcPts val="1300"/>
              </a:lnSpc>
              <a:buNone/>
            </a:pPr>
            <a:r>
              <a:rPr lang="en-US" sz="950" dirty="0">
                <a:solidFill>
                  <a:srgbClr val="3FBFB0"/>
                </a:solidFill>
                <a:latin typeface="Courier New" pitchFamily="34" charset="0"/>
                <a:ea typeface="Courier New" pitchFamily="34" charset="-122"/>
                <a:cs typeface="Courier New" pitchFamily="34" charset="-120"/>
              </a:rPr>
              <a:t>    string modelId =</a:t>
            </a:r>
            <a:endParaRPr lang="en-US" sz="950" dirty="0"/>
          </a:p>
          <a:p>
            <a:pPr indent="0" marL="0">
              <a:lnSpc>
                <a:spcPts val="1300"/>
              </a:lnSpc>
              <a:buNone/>
            </a:pPr>
            <a:r>
              <a:rPr lang="en-US" sz="950" dirty="0">
                <a:solidFill>
                  <a:srgbClr val="3FBFB0"/>
                </a:solidFill>
                <a:latin typeface="Courier New" pitchFamily="34" charset="0"/>
                <a:ea typeface="Courier New" pitchFamily="34" charset="-122"/>
                <a:cs typeface="Courier New" pitchFamily="34" charset="-120"/>
              </a:rPr>
              <a:t>        Environment.GetEnvironmentVariable(ModelVariable)</a:t>
            </a:r>
            <a:endParaRPr lang="en-US" sz="950" dirty="0"/>
          </a:p>
          <a:p>
            <a:pPr indent="0" marL="0">
              <a:lnSpc>
                <a:spcPts val="1300"/>
              </a:lnSpc>
              <a:buNone/>
            </a:pPr>
            <a:r>
              <a:rPr lang="en-US" sz="950" dirty="0">
                <a:solidFill>
                  <a:srgbClr val="3FBFB0"/>
                </a:solidFill>
                <a:latin typeface="Courier New" pitchFamily="34" charset="0"/>
                <a:ea typeface="Courier New" pitchFamily="34" charset="-122"/>
                <a:cs typeface="Courier New" pitchFamily="34" charset="-120"/>
              </a:rPr>
              <a:t>            is { Length: &gt; 0 } configured</a:t>
            </a:r>
            <a:endParaRPr lang="en-US" sz="950" dirty="0"/>
          </a:p>
          <a:p>
            <a:pPr indent="0" marL="0">
              <a:lnSpc>
                <a:spcPts val="1300"/>
              </a:lnSpc>
              <a:buNone/>
            </a:pPr>
            <a:r>
              <a:rPr lang="en-US" sz="950" dirty="0">
                <a:solidFill>
                  <a:srgbClr val="3FBFB0"/>
                </a:solidFill>
                <a:latin typeface="Courier New" pitchFamily="34" charset="0"/>
                <a:ea typeface="Courier New" pitchFamily="34" charset="-122"/>
                <a:cs typeface="Courier New" pitchFamily="34" charset="-120"/>
              </a:rPr>
              <a:t>        ? configured</a:t>
            </a:r>
            <a:endParaRPr lang="en-US" sz="950" dirty="0"/>
          </a:p>
          <a:p>
            <a:pPr indent="0" marL="0">
              <a:lnSpc>
                <a:spcPts val="1300"/>
              </a:lnSpc>
              <a:buNone/>
            </a:pPr>
            <a:r>
              <a:rPr lang="en-US" sz="950" dirty="0">
                <a:solidFill>
                  <a:srgbClr val="3FBFB0"/>
                </a:solidFill>
                <a:latin typeface="Courier New" pitchFamily="34" charset="0"/>
                <a:ea typeface="Courier New" pitchFamily="34" charset="-122"/>
                <a:cs typeface="Courier New" pitchFamily="34" charset="-120"/>
              </a:rPr>
              <a:t>        : DefaultModelId;</a:t>
            </a:r>
            <a:endParaRPr lang="en-US" sz="950" dirty="0"/>
          </a:p>
        </p:txBody>
      </p:sp>
      <p:sp>
        <p:nvSpPr>
          <p:cNvPr id="18" name="Text 16"/>
          <p:cNvSpPr txBox="1"/>
          <p:nvPr/>
        </p:nvSpPr>
        <p:spPr>
          <a:xfrm>
            <a:off x="6638544" y="5458968"/>
            <a:ext cx="4690872" cy="548640"/>
          </a:xfrm>
          <a:prstGeom prst="rect">
            <a:avLst/>
          </a:prstGeom>
          <a:noFill/>
          <a:ln/>
        </p:spPr>
        <p:txBody>
          <a:bodyPr wrap="square" lIns="0" tIns="0" rIns="0" bIns="0" rtlCol="0" anchor="t"/>
          <a:lstStyle/>
          <a:p>
            <a:pPr indent="0" marL="0">
              <a:buNone/>
            </a:pPr>
            <a:r>
              <a:rPr lang="en-US" sz="1050" i="1" dirty="0">
                <a:solidFill>
                  <a:srgbClr val="CADCFC"/>
                </a:solidFill>
                <a:latin typeface="Calibri" pitchFamily="34" charset="0"/>
                <a:ea typeface="Calibri" pitchFamily="34" charset="-122"/>
                <a:cs typeface="Calibri" pitchFamily="34" charset="-120"/>
              </a:rPr>
              <a:t>GetChatClient(ModelId) becomes GetChatClient(modelId). CodingAgentFactory does not change at all.</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E2761"/>
        </a:solidFill>
      </p:bgPr>
    </p:bg>
    <p:spTree>
      <p:nvGrpSpPr>
        <p:cNvPr id="1" name=""/>
        <p:cNvGrpSpPr/>
        <p:nvPr/>
      </p:nvGrpSpPr>
      <p:grpSpPr>
        <a:xfrm>
          <a:off x="0" y="0"/>
          <a:ext cx="0" cy="0"/>
          <a:chOff x="0" y="0"/>
          <a:chExt cx="0" cy="0"/>
        </a:xfrm>
      </p:grpSpPr>
      <p:sp>
        <p:nvSpPr>
          <p:cNvPr id="2" name="Text 0"/>
          <p:cNvSpPr txBox="1"/>
          <p:nvPr/>
        </p:nvSpPr>
        <p:spPr>
          <a:xfrm>
            <a:off x="548640" y="164592"/>
            <a:ext cx="9144000" cy="274320"/>
          </a:xfrm>
          <a:prstGeom prst="rect">
            <a:avLst/>
          </a:prstGeom>
          <a:noFill/>
          <a:ln/>
        </p:spPr>
        <p:txBody>
          <a:bodyPr wrap="square" lIns="0" tIns="0" rIns="0" bIns="0" rtlCol="0" anchor="ctr"/>
          <a:lstStyle/>
          <a:p>
            <a:pPr indent="0" marL="0">
              <a:buNone/>
            </a:pPr>
            <a:r>
              <a:rPr lang="en-US" sz="1200" b="1" spc="200" kern="0" dirty="0">
                <a:solidFill>
                  <a:srgbClr val="3FBFB0"/>
                </a:solidFill>
                <a:latin typeface="Calibri" pitchFamily="34" charset="0"/>
                <a:ea typeface="Calibri" pitchFamily="34" charset="-122"/>
                <a:cs typeface="Calibri" pitchFamily="34" charset="-120"/>
              </a:rPr>
              <a:t>WALKTHROUGH</a:t>
            </a:r>
            <a:endParaRPr lang="en-US" sz="1200" dirty="0"/>
          </a:p>
        </p:txBody>
      </p:sp>
      <p:sp>
        <p:nvSpPr>
          <p:cNvPr id="3" name="Text 1"/>
          <p:cNvSpPr txBox="1"/>
          <p:nvPr/>
        </p:nvSpPr>
        <p:spPr>
          <a:xfrm>
            <a:off x="548640" y="411480"/>
            <a:ext cx="11064240" cy="731520"/>
          </a:xfrm>
          <a:prstGeom prst="rect">
            <a:avLst/>
          </a:prstGeom>
          <a:noFill/>
          <a:ln/>
        </p:spPr>
        <p:txBody>
          <a:bodyPr wrap="square" lIns="0" tIns="0" rIns="0" bIns="0" rtlCol="0" anchor="t"/>
          <a:lstStyle/>
          <a:p>
            <a:pPr indent="0" marL="0">
              <a:buNone/>
            </a:pPr>
            <a:r>
              <a:rPr lang="en-US" sz="2800" b="1" dirty="0">
                <a:solidFill>
                  <a:srgbClr val="FFFFFF"/>
                </a:solidFill>
                <a:latin typeface="Cambria" pitchFamily="34" charset="0"/>
                <a:ea typeface="Cambria" pitchFamily="34" charset="-122"/>
                <a:cs typeface="Cambria" pitchFamily="34" charset="-120"/>
              </a:rPr>
              <a:t>Four Decisions Inside Those Lines</a:t>
            </a:r>
            <a:endParaRPr lang="en-US" sz="2800" dirty="0"/>
          </a:p>
        </p:txBody>
      </p:sp>
      <p:sp>
        <p:nvSpPr>
          <p:cNvPr id="4" name="Text 2"/>
          <p:cNvSpPr txBox="1"/>
          <p:nvPr/>
        </p:nvSpPr>
        <p:spPr>
          <a:xfrm>
            <a:off x="457200" y="6510528"/>
            <a:ext cx="86868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MODULE 18 — PACKAGING MINICODE</a:t>
            </a:r>
            <a:endParaRPr lang="en-US" sz="900" dirty="0"/>
          </a:p>
        </p:txBody>
      </p:sp>
      <p:sp>
        <p:nvSpPr>
          <p:cNvPr id="5" name="Text 3"/>
          <p:cNvSpPr txBox="1"/>
          <p:nvPr/>
        </p:nvSpPr>
        <p:spPr>
          <a:xfrm>
            <a:off x="11338560" y="6510528"/>
            <a:ext cx="36576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6</a:t>
            </a:r>
            <a:endParaRPr lang="en-US" sz="900" dirty="0"/>
          </a:p>
        </p:txBody>
      </p:sp>
      <p:sp>
        <p:nvSpPr>
          <p:cNvPr id="6" name="Shape 4"/>
          <p:cNvSpPr/>
          <p:nvPr/>
        </p:nvSpPr>
        <p:spPr>
          <a:xfrm>
            <a:off x="548640" y="1417320"/>
            <a:ext cx="5326380" cy="1920240"/>
          </a:xfrm>
          <a:prstGeom prst="roundRect">
            <a:avLst>
              <a:gd name="adj" fmla="val 4762"/>
            </a:avLst>
          </a:prstGeom>
          <a:solidFill>
            <a:srgbClr val="1E2761"/>
          </a:solidFill>
          <a:ln w="12700">
            <a:solidFill>
              <a:srgbClr val="3FBFB0"/>
            </a:solidFill>
            <a:prstDash val="solid"/>
          </a:ln>
        </p:spPr>
      </p:sp>
      <p:sp>
        <p:nvSpPr>
          <p:cNvPr id="7" name="Shape 5"/>
          <p:cNvSpPr/>
          <p:nvPr/>
        </p:nvSpPr>
        <p:spPr>
          <a:xfrm>
            <a:off x="822960" y="1645920"/>
            <a:ext cx="384048" cy="384048"/>
          </a:xfrm>
          <a:prstGeom prst="ellipse">
            <a:avLst/>
          </a:prstGeom>
          <a:solidFill>
            <a:srgbClr val="3FBFB0"/>
          </a:solidFill>
          <a:ln/>
        </p:spPr>
      </p:sp>
      <p:sp>
        <p:nvSpPr>
          <p:cNvPr id="8" name="Text 6"/>
          <p:cNvSpPr txBox="1"/>
          <p:nvPr/>
        </p:nvSpPr>
        <p:spPr>
          <a:xfrm>
            <a:off x="822960" y="1645920"/>
            <a:ext cx="384048" cy="384048"/>
          </a:xfrm>
          <a:prstGeom prst="rect">
            <a:avLst/>
          </a:prstGeom>
          <a:noFill/>
          <a:ln/>
        </p:spPr>
        <p:txBody>
          <a:bodyPr wrap="square" lIns="0" tIns="0" rIns="0" bIns="0" rtlCol="0" anchor="ctr"/>
          <a:lstStyle/>
          <a:p>
            <a:pPr algn="ctr" indent="0" marL="0">
              <a:buNone/>
            </a:pPr>
            <a:r>
              <a:rPr lang="en-US" sz="1100" b="1" dirty="0">
                <a:solidFill>
                  <a:srgbClr val="141B49"/>
                </a:solidFill>
                <a:latin typeface="Cambria" pitchFamily="34" charset="0"/>
                <a:ea typeface="Cambria" pitchFamily="34" charset="-122"/>
                <a:cs typeface="Cambria" pitchFamily="34" charset="-120"/>
              </a:rPr>
              <a:t>1</a:t>
            </a:r>
            <a:endParaRPr lang="en-US" sz="1100" dirty="0"/>
          </a:p>
        </p:txBody>
      </p:sp>
      <p:sp>
        <p:nvSpPr>
          <p:cNvPr id="9" name="Text 7"/>
          <p:cNvSpPr txBox="1"/>
          <p:nvPr/>
        </p:nvSpPr>
        <p:spPr>
          <a:xfrm>
            <a:off x="1371600" y="1618488"/>
            <a:ext cx="4229100" cy="438912"/>
          </a:xfrm>
          <a:prstGeom prst="rect">
            <a:avLst/>
          </a:prstGeom>
          <a:noFill/>
          <a:ln/>
        </p:spPr>
        <p:txBody>
          <a:bodyPr wrap="square" lIns="0" tIns="0" rIns="0" bIns="0" rtlCol="0" anchor="ctr"/>
          <a:lstStyle/>
          <a:p>
            <a:pPr indent="0" marL="0">
              <a:buNone/>
            </a:pPr>
            <a:r>
              <a:rPr lang="en-US" sz="1250" b="1" dirty="0">
                <a:solidFill>
                  <a:srgbClr val="FFFFFF"/>
                </a:solidFill>
                <a:latin typeface="Cambria" pitchFamily="34" charset="0"/>
                <a:ea typeface="Cambria" pitchFamily="34" charset="-122"/>
                <a:cs typeface="Cambria" pitchFamily="34" charset="-120"/>
              </a:rPr>
              <a:t>PackAsTool needs an Exe and a ToolCommandName</a:t>
            </a:r>
            <a:endParaRPr lang="en-US" sz="1250" dirty="0"/>
          </a:p>
        </p:txBody>
      </p:sp>
      <p:sp>
        <p:nvSpPr>
          <p:cNvPr id="10" name="Text 8"/>
          <p:cNvSpPr txBox="1"/>
          <p:nvPr/>
        </p:nvSpPr>
        <p:spPr>
          <a:xfrm>
            <a:off x="1371600" y="2130552"/>
            <a:ext cx="4229100" cy="1051560"/>
          </a:xfrm>
          <a:prstGeom prst="rect">
            <a:avLst/>
          </a:prstGeom>
          <a:noFill/>
          <a:ln/>
        </p:spPr>
        <p:txBody>
          <a:bodyPr wrap="square" lIns="0" tIns="0" rIns="0" bIns="0" rtlCol="0" anchor="t"/>
          <a:lstStyle/>
          <a:p>
            <a:pPr indent="0" marL="0">
              <a:lnSpc>
                <a:spcPct val="120000"/>
              </a:lnSpc>
              <a:buNone/>
            </a:pPr>
            <a:r>
              <a:rPr lang="en-US" sz="1050" dirty="0">
                <a:solidFill>
                  <a:srgbClr val="CADCFC"/>
                </a:solidFill>
                <a:latin typeface="Calibri" pitchFamily="34" charset="0"/>
                <a:ea typeface="Calibri" pitchFamily="34" charset="-122"/>
                <a:cs typeface="Calibri" pitchFamily="34" charset="-120"/>
              </a:rPr>
              <a:t>MiniCode already had the first. The second is the only new decision this Module makes — minicode, lowercase, matching the syllabus's own example exactly.</a:t>
            </a:r>
            <a:endParaRPr lang="en-US" sz="1050" dirty="0"/>
          </a:p>
        </p:txBody>
      </p:sp>
      <p:sp>
        <p:nvSpPr>
          <p:cNvPr id="11" name="Shape 9"/>
          <p:cNvSpPr/>
          <p:nvPr/>
        </p:nvSpPr>
        <p:spPr>
          <a:xfrm>
            <a:off x="6286500" y="1417320"/>
            <a:ext cx="5326380" cy="1920240"/>
          </a:xfrm>
          <a:prstGeom prst="roundRect">
            <a:avLst>
              <a:gd name="adj" fmla="val 4762"/>
            </a:avLst>
          </a:prstGeom>
          <a:solidFill>
            <a:srgbClr val="1E2761"/>
          </a:solidFill>
          <a:ln w="12700">
            <a:solidFill>
              <a:srgbClr val="3FBFB0"/>
            </a:solidFill>
            <a:prstDash val="solid"/>
          </a:ln>
        </p:spPr>
      </p:sp>
      <p:sp>
        <p:nvSpPr>
          <p:cNvPr id="12" name="Shape 10"/>
          <p:cNvSpPr/>
          <p:nvPr/>
        </p:nvSpPr>
        <p:spPr>
          <a:xfrm>
            <a:off x="6560820" y="1645920"/>
            <a:ext cx="384048" cy="384048"/>
          </a:xfrm>
          <a:prstGeom prst="ellipse">
            <a:avLst/>
          </a:prstGeom>
          <a:solidFill>
            <a:srgbClr val="3FBFB0"/>
          </a:solidFill>
          <a:ln/>
        </p:spPr>
      </p:sp>
      <p:sp>
        <p:nvSpPr>
          <p:cNvPr id="13" name="Text 11"/>
          <p:cNvSpPr txBox="1"/>
          <p:nvPr/>
        </p:nvSpPr>
        <p:spPr>
          <a:xfrm>
            <a:off x="6560820" y="1645920"/>
            <a:ext cx="384048" cy="384048"/>
          </a:xfrm>
          <a:prstGeom prst="rect">
            <a:avLst/>
          </a:prstGeom>
          <a:noFill/>
          <a:ln/>
        </p:spPr>
        <p:txBody>
          <a:bodyPr wrap="square" lIns="0" tIns="0" rIns="0" bIns="0" rtlCol="0" anchor="ctr"/>
          <a:lstStyle/>
          <a:p>
            <a:pPr algn="ctr" indent="0" marL="0">
              <a:buNone/>
            </a:pPr>
            <a:r>
              <a:rPr lang="en-US" sz="1100" b="1" dirty="0">
                <a:solidFill>
                  <a:srgbClr val="141B49"/>
                </a:solidFill>
                <a:latin typeface="Cambria" pitchFamily="34" charset="0"/>
                <a:ea typeface="Cambria" pitchFamily="34" charset="-122"/>
                <a:cs typeface="Cambria" pitchFamily="34" charset="-120"/>
              </a:rPr>
              <a:t>2</a:t>
            </a:r>
            <a:endParaRPr lang="en-US" sz="1100" dirty="0"/>
          </a:p>
        </p:txBody>
      </p:sp>
      <p:sp>
        <p:nvSpPr>
          <p:cNvPr id="14" name="Text 12"/>
          <p:cNvSpPr txBox="1"/>
          <p:nvPr/>
        </p:nvSpPr>
        <p:spPr>
          <a:xfrm>
            <a:off x="7109460" y="1618488"/>
            <a:ext cx="4229100" cy="438912"/>
          </a:xfrm>
          <a:prstGeom prst="rect">
            <a:avLst/>
          </a:prstGeom>
          <a:noFill/>
          <a:ln/>
        </p:spPr>
        <p:txBody>
          <a:bodyPr wrap="square" lIns="0" tIns="0" rIns="0" bIns="0" rtlCol="0" anchor="ctr"/>
          <a:lstStyle/>
          <a:p>
            <a:pPr indent="0" marL="0">
              <a:buNone/>
            </a:pPr>
            <a:r>
              <a:rPr lang="en-US" sz="1250" b="1" dirty="0">
                <a:solidFill>
                  <a:srgbClr val="FFFFFF"/>
                </a:solidFill>
                <a:latin typeface="Cambria" pitchFamily="34" charset="0"/>
                <a:ea typeface="Cambria" pitchFamily="34" charset="-122"/>
                <a:cs typeface="Cambria" pitchFamily="34" charset="-120"/>
              </a:rPr>
              <a:t>PackageId is independent of AssemblyName</a:t>
            </a:r>
            <a:endParaRPr lang="en-US" sz="1250" dirty="0"/>
          </a:p>
        </p:txBody>
      </p:sp>
      <p:sp>
        <p:nvSpPr>
          <p:cNvPr id="15" name="Text 13"/>
          <p:cNvSpPr txBox="1"/>
          <p:nvPr/>
        </p:nvSpPr>
        <p:spPr>
          <a:xfrm>
            <a:off x="7109460" y="2130552"/>
            <a:ext cx="4229100" cy="1051560"/>
          </a:xfrm>
          <a:prstGeom prst="rect">
            <a:avLst/>
          </a:prstGeom>
          <a:noFill/>
          <a:ln/>
        </p:spPr>
        <p:txBody>
          <a:bodyPr wrap="square" lIns="0" tIns="0" rIns="0" bIns="0" rtlCol="0" anchor="t"/>
          <a:lstStyle/>
          <a:p>
            <a:pPr indent="0" marL="0">
              <a:lnSpc>
                <a:spcPct val="120000"/>
              </a:lnSpc>
              <a:buNone/>
            </a:pPr>
            <a:r>
              <a:rPr lang="en-US" sz="1050" dirty="0">
                <a:solidFill>
                  <a:srgbClr val="CADCFC"/>
                </a:solidFill>
                <a:latin typeface="Calibri" pitchFamily="34" charset="0"/>
                <a:ea typeface="Calibri" pitchFamily="34" charset="-122"/>
                <a:cs typeface="Calibri" pitchFamily="34" charset="-120"/>
              </a:rPr>
              <a:t>The assembly is still MiniCode.Cli.dll, the installable package is MiniCode, and the command typed is minicode — three names, three separate properties, none inferred from the others.</a:t>
            </a:r>
            <a:endParaRPr lang="en-US" sz="1050" dirty="0"/>
          </a:p>
        </p:txBody>
      </p:sp>
      <p:sp>
        <p:nvSpPr>
          <p:cNvPr id="16" name="Shape 14"/>
          <p:cNvSpPr/>
          <p:nvPr/>
        </p:nvSpPr>
        <p:spPr>
          <a:xfrm>
            <a:off x="548640" y="3474720"/>
            <a:ext cx="5326380" cy="1920240"/>
          </a:xfrm>
          <a:prstGeom prst="roundRect">
            <a:avLst>
              <a:gd name="adj" fmla="val 4762"/>
            </a:avLst>
          </a:prstGeom>
          <a:solidFill>
            <a:srgbClr val="1E2761"/>
          </a:solidFill>
          <a:ln w="12700">
            <a:solidFill>
              <a:srgbClr val="3FBFB0"/>
            </a:solidFill>
            <a:prstDash val="solid"/>
          </a:ln>
        </p:spPr>
      </p:sp>
      <p:sp>
        <p:nvSpPr>
          <p:cNvPr id="17" name="Shape 15"/>
          <p:cNvSpPr/>
          <p:nvPr/>
        </p:nvSpPr>
        <p:spPr>
          <a:xfrm>
            <a:off x="822960" y="3703320"/>
            <a:ext cx="384048" cy="384048"/>
          </a:xfrm>
          <a:prstGeom prst="ellipse">
            <a:avLst/>
          </a:prstGeom>
          <a:solidFill>
            <a:srgbClr val="3FBFB0"/>
          </a:solidFill>
          <a:ln/>
        </p:spPr>
      </p:sp>
      <p:sp>
        <p:nvSpPr>
          <p:cNvPr id="18" name="Text 16"/>
          <p:cNvSpPr txBox="1"/>
          <p:nvPr/>
        </p:nvSpPr>
        <p:spPr>
          <a:xfrm>
            <a:off x="822960" y="3703320"/>
            <a:ext cx="384048" cy="384048"/>
          </a:xfrm>
          <a:prstGeom prst="rect">
            <a:avLst/>
          </a:prstGeom>
          <a:noFill/>
          <a:ln/>
        </p:spPr>
        <p:txBody>
          <a:bodyPr wrap="square" lIns="0" tIns="0" rIns="0" bIns="0" rtlCol="0" anchor="ctr"/>
          <a:lstStyle/>
          <a:p>
            <a:pPr algn="ctr" indent="0" marL="0">
              <a:buNone/>
            </a:pPr>
            <a:r>
              <a:rPr lang="en-US" sz="1100" b="1" dirty="0">
                <a:solidFill>
                  <a:srgbClr val="141B49"/>
                </a:solidFill>
                <a:latin typeface="Cambria" pitchFamily="34" charset="0"/>
                <a:ea typeface="Cambria" pitchFamily="34" charset="-122"/>
                <a:cs typeface="Cambria" pitchFamily="34" charset="-120"/>
              </a:rPr>
              <a:t>3</a:t>
            </a:r>
            <a:endParaRPr lang="en-US" sz="1100" dirty="0"/>
          </a:p>
        </p:txBody>
      </p:sp>
      <p:sp>
        <p:nvSpPr>
          <p:cNvPr id="19" name="Text 17"/>
          <p:cNvSpPr txBox="1"/>
          <p:nvPr/>
        </p:nvSpPr>
        <p:spPr>
          <a:xfrm>
            <a:off x="1371600" y="3675888"/>
            <a:ext cx="4229100" cy="438912"/>
          </a:xfrm>
          <a:prstGeom prst="rect">
            <a:avLst/>
          </a:prstGeom>
          <a:noFill/>
          <a:ln/>
        </p:spPr>
        <p:txBody>
          <a:bodyPr wrap="square" lIns="0" tIns="0" rIns="0" bIns="0" rtlCol="0" anchor="ctr"/>
          <a:lstStyle/>
          <a:p>
            <a:pPr indent="0" marL="0">
              <a:buNone/>
            </a:pPr>
            <a:r>
              <a:rPr lang="en-US" sz="1250" b="1" dirty="0">
                <a:solidFill>
                  <a:srgbClr val="FFFFFF"/>
                </a:solidFill>
                <a:latin typeface="Cambria" pitchFamily="34" charset="0"/>
                <a:ea typeface="Cambria" pitchFamily="34" charset="-122"/>
                <a:cs typeface="Cambria" pitchFamily="34" charset="-120"/>
              </a:rPr>
              <a:t>is { Length: &gt; 0 } treats empty as unset</a:t>
            </a:r>
            <a:endParaRPr lang="en-US" sz="1250" dirty="0"/>
          </a:p>
        </p:txBody>
      </p:sp>
      <p:sp>
        <p:nvSpPr>
          <p:cNvPr id="20" name="Text 18"/>
          <p:cNvSpPr txBox="1"/>
          <p:nvPr/>
        </p:nvSpPr>
        <p:spPr>
          <a:xfrm>
            <a:off x="1371600" y="4187952"/>
            <a:ext cx="4229100" cy="1051560"/>
          </a:xfrm>
          <a:prstGeom prst="rect">
            <a:avLst/>
          </a:prstGeom>
          <a:noFill/>
          <a:ln/>
        </p:spPr>
        <p:txBody>
          <a:bodyPr wrap="square" lIns="0" tIns="0" rIns="0" bIns="0" rtlCol="0" anchor="t"/>
          <a:lstStyle/>
          <a:p>
            <a:pPr indent="0" marL="0">
              <a:lnSpc>
                <a:spcPct val="120000"/>
              </a:lnSpc>
              <a:buNone/>
            </a:pPr>
            <a:r>
              <a:rPr lang="en-US" sz="1050" dirty="0">
                <a:solidFill>
                  <a:srgbClr val="CADCFC"/>
                </a:solidFill>
                <a:latin typeface="Calibri" pitchFamily="34" charset="0"/>
                <a:ea typeface="Calibri" pitchFamily="34" charset="-122"/>
                <a:cs typeface="Calibri" pitchFamily="34" charset="-120"/>
              </a:rPr>
              <a:t>Setting MINICODE_MODEL= in a shell should not silently ask OpenAI for a model named "".</a:t>
            </a:r>
            <a:endParaRPr lang="en-US" sz="1050" dirty="0"/>
          </a:p>
        </p:txBody>
      </p:sp>
      <p:sp>
        <p:nvSpPr>
          <p:cNvPr id="21" name="Shape 19"/>
          <p:cNvSpPr/>
          <p:nvPr/>
        </p:nvSpPr>
        <p:spPr>
          <a:xfrm>
            <a:off x="6286500" y="3474720"/>
            <a:ext cx="5326380" cy="1920240"/>
          </a:xfrm>
          <a:prstGeom prst="roundRect">
            <a:avLst>
              <a:gd name="adj" fmla="val 4762"/>
            </a:avLst>
          </a:prstGeom>
          <a:solidFill>
            <a:srgbClr val="1E2761"/>
          </a:solidFill>
          <a:ln w="12700">
            <a:solidFill>
              <a:srgbClr val="3FBFB0"/>
            </a:solidFill>
            <a:prstDash val="solid"/>
          </a:ln>
        </p:spPr>
      </p:sp>
      <p:sp>
        <p:nvSpPr>
          <p:cNvPr id="22" name="Shape 20"/>
          <p:cNvSpPr/>
          <p:nvPr/>
        </p:nvSpPr>
        <p:spPr>
          <a:xfrm>
            <a:off x="6560820" y="3703320"/>
            <a:ext cx="384048" cy="384048"/>
          </a:xfrm>
          <a:prstGeom prst="ellipse">
            <a:avLst/>
          </a:prstGeom>
          <a:solidFill>
            <a:srgbClr val="3FBFB0"/>
          </a:solidFill>
          <a:ln/>
        </p:spPr>
      </p:sp>
      <p:sp>
        <p:nvSpPr>
          <p:cNvPr id="23" name="Text 21"/>
          <p:cNvSpPr txBox="1"/>
          <p:nvPr/>
        </p:nvSpPr>
        <p:spPr>
          <a:xfrm>
            <a:off x="6560820" y="3703320"/>
            <a:ext cx="384048" cy="384048"/>
          </a:xfrm>
          <a:prstGeom prst="rect">
            <a:avLst/>
          </a:prstGeom>
          <a:noFill/>
          <a:ln/>
        </p:spPr>
        <p:txBody>
          <a:bodyPr wrap="square" lIns="0" tIns="0" rIns="0" bIns="0" rtlCol="0" anchor="ctr"/>
          <a:lstStyle/>
          <a:p>
            <a:pPr algn="ctr" indent="0" marL="0">
              <a:buNone/>
            </a:pPr>
            <a:r>
              <a:rPr lang="en-US" sz="1100" b="1" dirty="0">
                <a:solidFill>
                  <a:srgbClr val="141B49"/>
                </a:solidFill>
                <a:latin typeface="Cambria" pitchFamily="34" charset="0"/>
                <a:ea typeface="Cambria" pitchFamily="34" charset="-122"/>
                <a:cs typeface="Cambria" pitchFamily="34" charset="-120"/>
              </a:rPr>
              <a:t>4</a:t>
            </a:r>
            <a:endParaRPr lang="en-US" sz="1100" dirty="0"/>
          </a:p>
        </p:txBody>
      </p:sp>
      <p:sp>
        <p:nvSpPr>
          <p:cNvPr id="24" name="Text 22"/>
          <p:cNvSpPr txBox="1"/>
          <p:nvPr/>
        </p:nvSpPr>
        <p:spPr>
          <a:xfrm>
            <a:off x="7109460" y="3675888"/>
            <a:ext cx="4229100" cy="438912"/>
          </a:xfrm>
          <a:prstGeom prst="rect">
            <a:avLst/>
          </a:prstGeom>
          <a:noFill/>
          <a:ln/>
        </p:spPr>
        <p:txBody>
          <a:bodyPr wrap="square" lIns="0" tIns="0" rIns="0" bIns="0" rtlCol="0" anchor="ctr"/>
          <a:lstStyle/>
          <a:p>
            <a:pPr indent="0" marL="0">
              <a:buNone/>
            </a:pPr>
            <a:r>
              <a:rPr lang="en-US" sz="1250" b="1" dirty="0">
                <a:solidFill>
                  <a:srgbClr val="FFFFFF"/>
                </a:solidFill>
                <a:latin typeface="Cambria" pitchFamily="34" charset="0"/>
                <a:ea typeface="Cambria" pitchFamily="34" charset="-122"/>
                <a:cs typeface="Cambria" pitchFamily="34" charset="-120"/>
              </a:rPr>
              <a:t>?? throw and is { } ? : read differently on purpose</a:t>
            </a:r>
            <a:endParaRPr lang="en-US" sz="1250" dirty="0"/>
          </a:p>
        </p:txBody>
      </p:sp>
      <p:sp>
        <p:nvSpPr>
          <p:cNvPr id="25" name="Text 23"/>
          <p:cNvSpPr txBox="1"/>
          <p:nvPr/>
        </p:nvSpPr>
        <p:spPr>
          <a:xfrm>
            <a:off x="7109460" y="4187952"/>
            <a:ext cx="4229100" cy="1051560"/>
          </a:xfrm>
          <a:prstGeom prst="rect">
            <a:avLst/>
          </a:prstGeom>
          <a:noFill/>
          <a:ln/>
        </p:spPr>
        <p:txBody>
          <a:bodyPr wrap="square" lIns="0" tIns="0" rIns="0" bIns="0" rtlCol="0" anchor="t"/>
          <a:lstStyle/>
          <a:p>
            <a:pPr indent="0" marL="0">
              <a:lnSpc>
                <a:spcPct val="120000"/>
              </a:lnSpc>
              <a:buNone/>
            </a:pPr>
            <a:r>
              <a:rPr lang="en-US" sz="1050" dirty="0">
                <a:solidFill>
                  <a:srgbClr val="CADCFC"/>
                </a:solidFill>
                <a:latin typeface="Calibri" pitchFamily="34" charset="0"/>
                <a:ea typeface="Calibri" pitchFamily="34" charset="-122"/>
                <a:cs typeface="Calibri" pitchFamily="34" charset="-120"/>
              </a:rPr>
              <a:t>One is required and fails loudly; the other is optional and falls back quietly. The shape of each expression matches which behaviour it is.</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164592"/>
            <a:ext cx="9144000" cy="274320"/>
          </a:xfrm>
          <a:prstGeom prst="rect">
            <a:avLst/>
          </a:prstGeom>
          <a:noFill/>
          <a:ln/>
        </p:spPr>
        <p:txBody>
          <a:bodyPr wrap="square" lIns="0" tIns="0" rIns="0" bIns="0" rtlCol="0" anchor="ctr"/>
          <a:lstStyle/>
          <a:p>
            <a:pPr indent="0" marL="0">
              <a:buNone/>
            </a:pPr>
            <a:r>
              <a:rPr lang="en-US" sz="1200" b="1" spc="200" kern="0" dirty="0">
                <a:solidFill>
                  <a:srgbClr val="3FBFB0"/>
                </a:solidFill>
                <a:latin typeface="Calibri" pitchFamily="34" charset="0"/>
                <a:ea typeface="Calibri" pitchFamily="34" charset="-122"/>
                <a:cs typeface="Calibri" pitchFamily="34" charset="-120"/>
              </a:rPr>
              <a:t>EXERCISE &amp; EXPECTED OUTPUT</a:t>
            </a:r>
            <a:endParaRPr lang="en-US" sz="1200" dirty="0"/>
          </a:p>
        </p:txBody>
      </p:sp>
      <p:sp>
        <p:nvSpPr>
          <p:cNvPr id="3" name="Text 1"/>
          <p:cNvSpPr txBox="1"/>
          <p:nvPr/>
        </p:nvSpPr>
        <p:spPr>
          <a:xfrm>
            <a:off x="548640" y="411480"/>
            <a:ext cx="11064240" cy="731520"/>
          </a:xfrm>
          <a:prstGeom prst="rect">
            <a:avLst/>
          </a:prstGeom>
          <a:noFill/>
          <a:ln/>
        </p:spPr>
        <p:txBody>
          <a:bodyPr wrap="square" lIns="0" tIns="0" rIns="0" bIns="0" rtlCol="0" anchor="t"/>
          <a:lstStyle/>
          <a:p>
            <a:pPr indent="0" marL="0">
              <a:buNone/>
            </a:pPr>
            <a:r>
              <a:rPr lang="en-US" sz="3200" b="1" dirty="0">
                <a:solidFill>
                  <a:srgbClr val="1E2761"/>
                </a:solidFill>
                <a:latin typeface="Cambria" pitchFamily="34" charset="0"/>
                <a:ea typeface="Cambria" pitchFamily="34" charset="-122"/>
                <a:cs typeface="Cambria" pitchFamily="34" charset="-120"/>
              </a:rPr>
              <a:t>Add a --version Flag</a:t>
            </a:r>
            <a:endParaRPr lang="en-US" sz="3200" dirty="0"/>
          </a:p>
        </p:txBody>
      </p:sp>
      <p:sp>
        <p:nvSpPr>
          <p:cNvPr id="4" name="Text 2"/>
          <p:cNvSpPr txBox="1"/>
          <p:nvPr/>
        </p:nvSpPr>
        <p:spPr>
          <a:xfrm>
            <a:off x="548640" y="1207008"/>
            <a:ext cx="11064240" cy="365760"/>
          </a:xfrm>
          <a:prstGeom prst="rect">
            <a:avLst/>
          </a:prstGeom>
          <a:noFill/>
          <a:ln/>
        </p:spPr>
        <p:txBody>
          <a:bodyPr wrap="square" lIns="0" tIns="0" rIns="0" bIns="0" rtlCol="0" anchor="t"/>
          <a:lstStyle/>
          <a:p>
            <a:pPr indent="0" marL="0">
              <a:buNone/>
            </a:pPr>
            <a:r>
              <a:rPr lang="en-US" sz="1250" i="1" dirty="0">
                <a:solidFill>
                  <a:srgbClr val="2A2F45"/>
                </a:solidFill>
                <a:latin typeface="Calibri" pitchFamily="34" charset="0"/>
                <a:ea typeface="Calibri" pitchFamily="34" charset="-122"/>
                <a:cs typeface="Calibri" pitchFamily="34" charset="-120"/>
              </a:rPr>
              <a:t>Every capture below is real: this Module’s own MiniCode.Cli was packed, installed into an isolated tool path, and run from a directory outside the repository entirely.</a:t>
            </a:r>
            <a:endParaRPr lang="en-US" sz="1250" dirty="0"/>
          </a:p>
        </p:txBody>
      </p:sp>
      <p:sp>
        <p:nvSpPr>
          <p:cNvPr id="5" name="Text 3"/>
          <p:cNvSpPr txBox="1"/>
          <p:nvPr/>
        </p:nvSpPr>
        <p:spPr>
          <a:xfrm>
            <a:off x="457200" y="6510528"/>
            <a:ext cx="86868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MODULE 18 — PACKAGING MINICODE</a:t>
            </a:r>
            <a:endParaRPr lang="en-US" sz="900" dirty="0"/>
          </a:p>
        </p:txBody>
      </p:sp>
      <p:sp>
        <p:nvSpPr>
          <p:cNvPr id="6" name="Text 4"/>
          <p:cNvSpPr txBox="1"/>
          <p:nvPr/>
        </p:nvSpPr>
        <p:spPr>
          <a:xfrm>
            <a:off x="11338560" y="6510528"/>
            <a:ext cx="36576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7</a:t>
            </a:r>
            <a:endParaRPr lang="en-US" sz="900" dirty="0"/>
          </a:p>
        </p:txBody>
      </p:sp>
      <p:sp>
        <p:nvSpPr>
          <p:cNvPr id="7" name="Shape 5"/>
          <p:cNvSpPr/>
          <p:nvPr/>
        </p:nvSpPr>
        <p:spPr>
          <a:xfrm>
            <a:off x="548640" y="1874520"/>
            <a:ext cx="5349240" cy="4297680"/>
          </a:xfrm>
          <a:prstGeom prst="roundRect">
            <a:avLst>
              <a:gd name="adj" fmla="val 2128"/>
            </a:avLst>
          </a:prstGeom>
          <a:solidFill>
            <a:srgbClr val="F4F6FB"/>
          </a:solidFill>
          <a:ln/>
        </p:spPr>
      </p:sp>
      <p:sp>
        <p:nvSpPr>
          <p:cNvPr id="8" name="Shape 6"/>
          <p:cNvSpPr/>
          <p:nvPr/>
        </p:nvSpPr>
        <p:spPr>
          <a:xfrm>
            <a:off x="868680" y="2194560"/>
            <a:ext cx="640080" cy="640080"/>
          </a:xfrm>
          <a:prstGeom prst="ellipse">
            <a:avLst/>
          </a:prstGeom>
          <a:solidFill>
            <a:srgbClr val="1E2761"/>
          </a:solidFill>
          <a:ln/>
        </p:spPr>
      </p:sp>
      <p:pic>
        <p:nvPicPr>
          <p:cNvPr id="9" name="Image 0" descr="preencoded.png">    </p:cNvPr>
          <p:cNvPicPr>
            <a:picLocks noChangeAspect="1"/>
          </p:cNvPicPr>
          <p:nvPr/>
        </p:nvPicPr>
        <p:blipFill>
          <a:blip r:embed="rId1"/>
          <a:stretch>
            <a:fillRect/>
          </a:stretch>
        </p:blipFill>
        <p:spPr>
          <a:xfrm>
            <a:off x="1033272" y="2359152"/>
            <a:ext cx="310896" cy="310896"/>
          </a:xfrm>
          <a:prstGeom prst="rect">
            <a:avLst/>
          </a:prstGeom>
        </p:spPr>
      </p:pic>
      <p:sp>
        <p:nvSpPr>
          <p:cNvPr id="10" name="Text 7"/>
          <p:cNvSpPr txBox="1"/>
          <p:nvPr/>
        </p:nvSpPr>
        <p:spPr>
          <a:xfrm>
            <a:off x="1645920" y="2194560"/>
            <a:ext cx="3931920" cy="640080"/>
          </a:xfrm>
          <a:prstGeom prst="rect">
            <a:avLst/>
          </a:prstGeom>
          <a:noFill/>
          <a:ln/>
        </p:spPr>
        <p:txBody>
          <a:bodyPr wrap="square" lIns="0" tIns="0" rIns="0" bIns="0" rtlCol="0" anchor="ctr"/>
          <a:lstStyle/>
          <a:p>
            <a:pPr indent="0" marL="0">
              <a:buNone/>
            </a:pPr>
            <a:r>
              <a:rPr lang="en-US" sz="1550" b="1" dirty="0">
                <a:solidFill>
                  <a:srgbClr val="2A2F45"/>
                </a:solidFill>
                <a:latin typeface="Cambria" pitchFamily="34" charset="0"/>
                <a:ea typeface="Cambria" pitchFamily="34" charset="-122"/>
                <a:cs typeface="Cambria" pitchFamily="34" charset="-120"/>
              </a:rPr>
              <a:t>Exercise: report the installed version</a:t>
            </a:r>
            <a:endParaRPr lang="en-US" sz="1550" dirty="0"/>
          </a:p>
        </p:txBody>
      </p:sp>
      <p:sp>
        <p:nvSpPr>
          <p:cNvPr id="11" name="Text 8"/>
          <p:cNvSpPr txBox="1"/>
          <p:nvPr/>
        </p:nvSpPr>
        <p:spPr>
          <a:xfrm>
            <a:off x="868680" y="3063240"/>
            <a:ext cx="4709160" cy="2743200"/>
          </a:xfrm>
          <a:prstGeom prst="rect">
            <a:avLst/>
          </a:prstGeom>
          <a:noFill/>
          <a:ln/>
        </p:spPr>
        <p:txBody>
          <a:bodyPr wrap="square" lIns="0" tIns="0" rIns="0" bIns="0" rtlCol="0" anchor="t"/>
          <a:lstStyle/>
          <a:p>
            <a:pPr indent="0" marL="0">
              <a:lnSpc>
                <a:spcPct val="125000"/>
              </a:lnSpc>
              <a:buNone/>
            </a:pPr>
            <a:r>
              <a:rPr lang="en-US" sz="1350" dirty="0">
                <a:solidFill>
                  <a:srgbClr val="2A2F45"/>
                </a:solidFill>
                <a:latin typeface="Calibri" pitchFamily="34" charset="0"/>
                <a:ea typeface="Calibri" pitchFamily="34" charset="-122"/>
                <a:cs typeface="Calibri" pitchFamily="34" charset="-120"/>
              </a:rPr>
              <a:t>Handle --version in src/MiniCode.Cli/Program.cs before the workspace is resolved: minicode --version prints MiniCodeVersion.Current and exits 0.</a:t>
            </a:r>
            <a:endParaRPr lang="en-US" sz="1350" dirty="0"/>
          </a:p>
        </p:txBody>
      </p:sp>
      <p:sp>
        <p:nvSpPr>
          <p:cNvPr id="12" name="Text 9"/>
          <p:cNvSpPr txBox="1"/>
          <p:nvPr/>
        </p:nvSpPr>
        <p:spPr>
          <a:xfrm>
            <a:off x="868680" y="4251960"/>
            <a:ext cx="4709160" cy="1737360"/>
          </a:xfrm>
          <a:prstGeom prst="rect">
            <a:avLst/>
          </a:prstGeom>
          <a:noFill/>
          <a:ln/>
        </p:spPr>
        <p:txBody>
          <a:bodyPr wrap="square" lIns="0" tIns="0" rIns="0" bIns="0" rtlCol="0" anchor="t"/>
          <a:lstStyle/>
          <a:p>
            <a:pPr marL="342900" indent="-342900">
              <a:spcAft>
                <a:spcPts val="800"/>
              </a:spcAft>
              <a:buSzPct val="100000"/>
              <a:buChar char="•"/>
            </a:pPr>
            <a:r>
              <a:rPr lang="en-US" sz="1200" dirty="0">
                <a:solidFill>
                  <a:srgbClr val="1E2761"/>
                </a:solidFill>
                <a:latin typeface="Calibri" pitchFamily="34" charset="0"/>
                <a:ea typeface="Calibri" pitchFamily="34" charset="-122"/>
                <a:cs typeface="Calibri" pitchFamily="34" charset="-120"/>
              </a:rPr>
              <a:t>minicode --version succeeds even with no key configured</a:t>
            </a:r>
            <a:endParaRPr lang="en-US" sz="1200" dirty="0"/>
          </a:p>
          <a:p>
            <a:pPr marL="342900" indent="-342900">
              <a:spcAft>
                <a:spcPts val="800"/>
              </a:spcAft>
              <a:buSzPct val="100000"/>
              <a:buChar char="•"/>
            </a:pPr>
            <a:r>
              <a:rPr lang="en-US" sz="1200" dirty="0">
                <a:solidFill>
                  <a:srgbClr val="1E2761"/>
                </a:solidFill>
                <a:latin typeface="Calibri" pitchFamily="34" charset="0"/>
                <a:ea typeface="Calibri" pitchFamily="34" charset="-122"/>
                <a:cs typeface="Calibri" pitchFamily="34" charset="-120"/>
              </a:rPr>
              <a:t>Any other arguments, or none, behave exactly as they do today</a:t>
            </a:r>
            <a:endParaRPr lang="en-US" sz="1200" dirty="0"/>
          </a:p>
          <a:p>
            <a:pPr marL="342900" indent="-342900">
              <a:spcAft>
                <a:spcPts val="800"/>
              </a:spcAft>
              <a:buSzPct val="100000"/>
              <a:buChar char="•"/>
            </a:pPr>
            <a:r>
              <a:rPr lang="en-US" sz="1200" dirty="0">
                <a:solidFill>
                  <a:srgbClr val="1E2761"/>
                </a:solidFill>
                <a:latin typeface="Calibri" pitchFamily="34" charset="0"/>
                <a:ea typeface="Calibri" pitchFamily="34" charset="-122"/>
                <a:cs typeface="Calibri" pitchFamily="34" charset="-120"/>
              </a:rPr>
              <a:t>The printed version matches MiniCodeVersion.Current exactly, with no v prefix, so a script can consume it</a:t>
            </a:r>
            <a:endParaRPr lang="en-US" sz="1200" dirty="0"/>
          </a:p>
          <a:p>
            <a:pPr marL="342900" indent="-342900">
              <a:spcAft>
                <a:spcPts val="800"/>
              </a:spcAft>
              <a:buSzPct val="100000"/>
              <a:buChar char="•"/>
            </a:pPr>
            <a:r>
              <a:rPr lang="en-US" sz="1200" dirty="0">
                <a:solidFill>
                  <a:srgbClr val="1E2761"/>
                </a:solidFill>
                <a:latin typeface="Calibri" pitchFamily="34" charset="0"/>
                <a:ea typeface="Calibri" pitchFamily="34" charset="-122"/>
                <a:cs typeface="Calibri" pitchFamily="34" charset="-120"/>
              </a:rPr>
              <a:t>No reference implementation ships in a later Module folder</a:t>
            </a:r>
            <a:endParaRPr lang="en-US" sz="1200" dirty="0"/>
          </a:p>
        </p:txBody>
      </p:sp>
      <p:sp>
        <p:nvSpPr>
          <p:cNvPr id="13" name="Shape 10"/>
          <p:cNvSpPr/>
          <p:nvPr/>
        </p:nvSpPr>
        <p:spPr>
          <a:xfrm>
            <a:off x="6309360" y="1874520"/>
            <a:ext cx="5349240" cy="4297680"/>
          </a:xfrm>
          <a:prstGeom prst="roundRect">
            <a:avLst>
              <a:gd name="adj" fmla="val 2128"/>
            </a:avLst>
          </a:prstGeom>
          <a:solidFill>
            <a:srgbClr val="141B49"/>
          </a:solidFill>
          <a:ln w="12700">
            <a:solidFill>
              <a:srgbClr val="3FBFB0"/>
            </a:solidFill>
            <a:prstDash val="solid"/>
          </a:ln>
        </p:spPr>
      </p:sp>
      <p:sp>
        <p:nvSpPr>
          <p:cNvPr id="14" name="Text 11"/>
          <p:cNvSpPr txBox="1"/>
          <p:nvPr/>
        </p:nvSpPr>
        <p:spPr>
          <a:xfrm>
            <a:off x="6638544" y="2130552"/>
            <a:ext cx="4690872" cy="212852"/>
          </a:xfrm>
          <a:prstGeom prst="rect">
            <a:avLst/>
          </a:prstGeom>
          <a:noFill/>
          <a:ln/>
        </p:spPr>
        <p:txBody>
          <a:bodyPr wrap="square" lIns="0" tIns="0" rIns="0" bIns="0" rtlCol="0" anchor="t"/>
          <a:lstStyle/>
          <a:p>
            <a:pPr indent="0" marL="0">
              <a:lnSpc>
                <a:spcPts val="1100"/>
              </a:lnSpc>
              <a:buNone/>
            </a:pPr>
            <a:r>
              <a:rPr lang="en-US" sz="950" i="1" dirty="0">
                <a:solidFill>
                  <a:srgbClr val="6B7280"/>
                </a:solidFill>
                <a:latin typeface="Courier New" pitchFamily="34" charset="0"/>
                <a:ea typeface="Courier New" pitchFamily="34" charset="-122"/>
                <a:cs typeface="Courier New" pitchFamily="34" charset="-120"/>
              </a:rPr>
              <a:t>=== dotnet pack -c Release -o ./nupkg ===</a:t>
            </a:r>
            <a:endParaRPr lang="en-US" sz="950" dirty="0"/>
          </a:p>
        </p:txBody>
      </p:sp>
      <p:sp>
        <p:nvSpPr>
          <p:cNvPr id="15" name="Text 12"/>
          <p:cNvSpPr txBox="1"/>
          <p:nvPr/>
        </p:nvSpPr>
        <p:spPr>
          <a:xfrm>
            <a:off x="6638544" y="2453132"/>
            <a:ext cx="4690872" cy="212852"/>
          </a:xfrm>
          <a:prstGeom prst="rect">
            <a:avLst/>
          </a:prstGeom>
          <a:noFill/>
          <a:ln/>
        </p:spPr>
        <p:txBody>
          <a:bodyPr wrap="square" lIns="0" tIns="0" rIns="0" bIns="0" rtlCol="0" anchor="t"/>
          <a:lstStyle/>
          <a:p>
            <a:pPr indent="0" marL="0">
              <a:lnSpc>
                <a:spcPts val="1100"/>
              </a:lnSpc>
              <a:buNone/>
            </a:pPr>
            <a:r>
              <a:rPr lang="en-US" sz="950" dirty="0">
                <a:solidFill>
                  <a:srgbClr val="CADCFC"/>
                </a:solidFill>
                <a:latin typeface="Courier New" pitchFamily="34" charset="0"/>
                <a:ea typeface="Courier New" pitchFamily="34" charset="-122"/>
                <a:cs typeface="Courier New" pitchFamily="34" charset="-120"/>
              </a:rPr>
              <a:t>  MiniCode.Cli -&gt; ...\publish\</a:t>
            </a:r>
            <a:endParaRPr lang="en-US" sz="950" dirty="0"/>
          </a:p>
        </p:txBody>
      </p:sp>
      <p:sp>
        <p:nvSpPr>
          <p:cNvPr id="16" name="Text 13"/>
          <p:cNvSpPr txBox="1"/>
          <p:nvPr/>
        </p:nvSpPr>
        <p:spPr>
          <a:xfrm>
            <a:off x="6638544" y="2592832"/>
            <a:ext cx="4690872" cy="352552"/>
          </a:xfrm>
          <a:prstGeom prst="rect">
            <a:avLst/>
          </a:prstGeom>
          <a:noFill/>
          <a:ln/>
        </p:spPr>
        <p:txBody>
          <a:bodyPr wrap="square" lIns="0" tIns="0" rIns="0" bIns="0" rtlCol="0" anchor="t"/>
          <a:lstStyle/>
          <a:p>
            <a:pPr indent="0" marL="0">
              <a:lnSpc>
                <a:spcPts val="1100"/>
              </a:lnSpc>
              <a:buNone/>
            </a:pPr>
            <a:r>
              <a:rPr lang="en-US" sz="950" dirty="0">
                <a:solidFill>
                  <a:srgbClr val="4ADE80"/>
                </a:solidFill>
                <a:latin typeface="Courier New" pitchFamily="34" charset="0"/>
                <a:ea typeface="Courier New" pitchFamily="34" charset="-122"/>
                <a:cs typeface="Courier New" pitchFamily="34" charset="-120"/>
              </a:rPr>
              <a:t>Successfully created package</a:t>
            </a:r>
            <a:endParaRPr lang="en-US" sz="950" dirty="0"/>
          </a:p>
          <a:p>
            <a:pPr indent="0" marL="0">
              <a:lnSpc>
                <a:spcPts val="1100"/>
              </a:lnSpc>
              <a:buNone/>
            </a:pPr>
            <a:r>
              <a:rPr lang="en-US" sz="950" dirty="0">
                <a:solidFill>
                  <a:srgbClr val="4ADE80"/>
                </a:solidFill>
                <a:latin typeface="Courier New" pitchFamily="34" charset="0"/>
                <a:ea typeface="Courier New" pitchFamily="34" charset="-122"/>
                <a:cs typeface="Courier New" pitchFamily="34" charset="-120"/>
              </a:rPr>
              <a:t>'...\nupkg\MiniCode.0.3.0.nupkg'.</a:t>
            </a:r>
            <a:endParaRPr lang="en-US" sz="950" dirty="0"/>
          </a:p>
        </p:txBody>
      </p:sp>
      <p:sp>
        <p:nvSpPr>
          <p:cNvPr id="17" name="Text 14"/>
          <p:cNvSpPr txBox="1"/>
          <p:nvPr/>
        </p:nvSpPr>
        <p:spPr>
          <a:xfrm>
            <a:off x="6638544" y="2872232"/>
            <a:ext cx="4690872" cy="212852"/>
          </a:xfrm>
          <a:prstGeom prst="rect">
            <a:avLst/>
          </a:prstGeom>
          <a:noFill/>
          <a:ln/>
        </p:spPr>
        <p:txBody>
          <a:bodyPr wrap="square" lIns="0" tIns="0" rIns="0" bIns="0" rtlCol="0" anchor="t"/>
          <a:lstStyle/>
          <a:p>
            <a:pPr indent="0" marL="0">
              <a:lnSpc>
                <a:spcPts val="1100"/>
              </a:lnSpc>
              <a:buNone/>
            </a:pPr>
            <a:r>
              <a:rPr lang="en-US" sz="950" i="1" dirty="0">
                <a:solidFill>
                  <a:srgbClr val="6B7280"/>
                </a:solidFill>
                <a:latin typeface="Courier New" pitchFamily="34" charset="0"/>
                <a:ea typeface="Courier New" pitchFamily="34" charset="-122"/>
                <a:cs typeface="Courier New" pitchFamily="34" charset="-120"/>
              </a:rPr>
              <a:t>=== dotnet tool install --tool-path ===</a:t>
            </a:r>
            <a:endParaRPr lang="en-US" sz="950" dirty="0"/>
          </a:p>
        </p:txBody>
      </p:sp>
      <p:sp>
        <p:nvSpPr>
          <p:cNvPr id="18" name="Text 15"/>
          <p:cNvSpPr txBox="1"/>
          <p:nvPr/>
        </p:nvSpPr>
        <p:spPr>
          <a:xfrm>
            <a:off x="6638544" y="3194812"/>
            <a:ext cx="4690872" cy="352552"/>
          </a:xfrm>
          <a:prstGeom prst="rect">
            <a:avLst/>
          </a:prstGeom>
          <a:noFill/>
          <a:ln/>
        </p:spPr>
        <p:txBody>
          <a:bodyPr wrap="square" lIns="0" tIns="0" rIns="0" bIns="0" rtlCol="0" anchor="t"/>
          <a:lstStyle/>
          <a:p>
            <a:pPr indent="0" marL="0">
              <a:lnSpc>
                <a:spcPts val="1100"/>
              </a:lnSpc>
              <a:buNone/>
            </a:pPr>
            <a:r>
              <a:rPr lang="en-US" sz="950" dirty="0">
                <a:solidFill>
                  <a:srgbClr val="CADCFC"/>
                </a:solidFill>
                <a:latin typeface="Courier New" pitchFamily="34" charset="0"/>
                <a:ea typeface="Courier New" pitchFamily="34" charset="-122"/>
                <a:cs typeface="Courier New" pitchFamily="34" charset="-120"/>
              </a:rPr>
              <a:t>You can invoke the tool using the</a:t>
            </a:r>
            <a:endParaRPr lang="en-US" sz="950" dirty="0"/>
          </a:p>
          <a:p>
            <a:pPr indent="0" marL="0">
              <a:lnSpc>
                <a:spcPts val="1100"/>
              </a:lnSpc>
              <a:buNone/>
            </a:pPr>
            <a:r>
              <a:rPr lang="en-US" sz="950" dirty="0">
                <a:solidFill>
                  <a:srgbClr val="CADCFC"/>
                </a:solidFill>
                <a:latin typeface="Courier New" pitchFamily="34" charset="0"/>
                <a:ea typeface="Courier New" pitchFamily="34" charset="-122"/>
                <a:cs typeface="Courier New" pitchFamily="34" charset="-120"/>
              </a:rPr>
              <a:t>following command: minicode</a:t>
            </a:r>
            <a:endParaRPr lang="en-US" sz="950" dirty="0"/>
          </a:p>
        </p:txBody>
      </p:sp>
      <p:sp>
        <p:nvSpPr>
          <p:cNvPr id="19" name="Text 16"/>
          <p:cNvSpPr txBox="1"/>
          <p:nvPr/>
        </p:nvSpPr>
        <p:spPr>
          <a:xfrm>
            <a:off x="6638544" y="3474212"/>
            <a:ext cx="4690872" cy="352552"/>
          </a:xfrm>
          <a:prstGeom prst="rect">
            <a:avLst/>
          </a:prstGeom>
          <a:noFill/>
          <a:ln/>
        </p:spPr>
        <p:txBody>
          <a:bodyPr wrap="square" lIns="0" tIns="0" rIns="0" bIns="0" rtlCol="0" anchor="t"/>
          <a:lstStyle/>
          <a:p>
            <a:pPr indent="0" marL="0">
              <a:lnSpc>
                <a:spcPts val="1100"/>
              </a:lnSpc>
              <a:buNone/>
            </a:pPr>
            <a:r>
              <a:rPr lang="en-US" sz="950" dirty="0">
                <a:solidFill>
                  <a:srgbClr val="4ADE80"/>
                </a:solidFill>
                <a:latin typeface="Courier New" pitchFamily="34" charset="0"/>
                <a:ea typeface="Courier New" pitchFamily="34" charset="-122"/>
                <a:cs typeface="Courier New" pitchFamily="34" charset="-120"/>
              </a:rPr>
              <a:t>Tool 'minicode' (version '0.3.0') was</a:t>
            </a:r>
            <a:endParaRPr lang="en-US" sz="950" dirty="0"/>
          </a:p>
          <a:p>
            <a:pPr indent="0" marL="0">
              <a:lnSpc>
                <a:spcPts val="1100"/>
              </a:lnSpc>
              <a:buNone/>
            </a:pPr>
            <a:r>
              <a:rPr lang="en-US" sz="950" dirty="0">
                <a:solidFill>
                  <a:srgbClr val="4ADE80"/>
                </a:solidFill>
                <a:latin typeface="Courier New" pitchFamily="34" charset="0"/>
                <a:ea typeface="Courier New" pitchFamily="34" charset="-122"/>
                <a:cs typeface="Courier New" pitchFamily="34" charset="-120"/>
              </a:rPr>
              <a:t>successfully installed.</a:t>
            </a:r>
            <a:endParaRPr lang="en-US" sz="950" dirty="0"/>
          </a:p>
        </p:txBody>
      </p:sp>
      <p:sp>
        <p:nvSpPr>
          <p:cNvPr id="20" name="Text 17"/>
          <p:cNvSpPr txBox="1"/>
          <p:nvPr/>
        </p:nvSpPr>
        <p:spPr>
          <a:xfrm>
            <a:off x="6638544" y="3753612"/>
            <a:ext cx="4690872" cy="212852"/>
          </a:xfrm>
          <a:prstGeom prst="rect">
            <a:avLst/>
          </a:prstGeom>
          <a:noFill/>
          <a:ln/>
        </p:spPr>
        <p:txBody>
          <a:bodyPr wrap="square" lIns="0" tIns="0" rIns="0" bIns="0" rtlCol="0" anchor="t"/>
          <a:lstStyle/>
          <a:p>
            <a:pPr indent="0" marL="0">
              <a:lnSpc>
                <a:spcPts val="1100"/>
              </a:lnSpc>
              <a:buNone/>
            </a:pPr>
            <a:r>
              <a:rPr lang="en-US" sz="950" i="1" dirty="0">
                <a:solidFill>
                  <a:srgbClr val="6B7280"/>
                </a:solidFill>
                <a:latin typeface="Courier New" pitchFamily="34" charset="0"/>
                <a:ea typeface="Courier New" pitchFamily="34" charset="-122"/>
                <a:cs typeface="Courier New" pitchFamily="34" charset="-120"/>
              </a:rPr>
              <a:t>=== cd CustomerPortal, then minicode ===</a:t>
            </a:r>
            <a:endParaRPr lang="en-US" sz="950" dirty="0"/>
          </a:p>
        </p:txBody>
      </p:sp>
      <p:sp>
        <p:nvSpPr>
          <p:cNvPr id="21" name="Text 18"/>
          <p:cNvSpPr txBox="1"/>
          <p:nvPr/>
        </p:nvSpPr>
        <p:spPr>
          <a:xfrm>
            <a:off x="6638544" y="4076192"/>
            <a:ext cx="4690872" cy="352552"/>
          </a:xfrm>
          <a:prstGeom prst="rect">
            <a:avLst/>
          </a:prstGeom>
          <a:noFill/>
          <a:ln/>
        </p:spPr>
        <p:txBody>
          <a:bodyPr wrap="square" lIns="0" tIns="0" rIns="0" bIns="0" rtlCol="0" anchor="t"/>
          <a:lstStyle/>
          <a:p>
            <a:pPr indent="0" marL="0">
              <a:lnSpc>
                <a:spcPts val="1100"/>
              </a:lnSpc>
              <a:buNone/>
            </a:pPr>
            <a:r>
              <a:rPr lang="en-US" sz="900" dirty="0">
                <a:solidFill>
                  <a:srgbClr val="F87171"/>
                </a:solidFill>
                <a:latin typeface="Courier New" pitchFamily="34" charset="0"/>
                <a:ea typeface="Courier New" pitchFamily="34" charset="-122"/>
                <a:cs typeface="Courier New" pitchFamily="34" charset="-120"/>
              </a:rPr>
              <a:t>OPENAI_API_KEY is not set. Set it before</a:t>
            </a:r>
            <a:endParaRPr lang="en-US" sz="900" dirty="0"/>
          </a:p>
          <a:p>
            <a:pPr indent="0" marL="0">
              <a:lnSpc>
                <a:spcPts val="1100"/>
              </a:lnSpc>
              <a:buNone/>
            </a:pPr>
            <a:r>
              <a:rPr lang="en-US" sz="900" dirty="0">
                <a:solidFill>
                  <a:srgbClr val="F87171"/>
                </a:solidFill>
                <a:latin typeface="Courier New" pitchFamily="34" charset="0"/>
                <a:ea typeface="Courier New" pitchFamily="34" charset="-122"/>
                <a:cs typeface="Courier New" pitchFamily="34" charset="-120"/>
              </a:rPr>
              <a:t>running MiniCode.</a:t>
            </a:r>
            <a:endParaRPr lang="en-US" sz="900" dirty="0"/>
          </a:p>
        </p:txBody>
      </p:sp>
      <p:sp>
        <p:nvSpPr>
          <p:cNvPr id="22" name="Text 19"/>
          <p:cNvSpPr txBox="1"/>
          <p:nvPr/>
        </p:nvSpPr>
        <p:spPr>
          <a:xfrm>
            <a:off x="6638544" y="4355592"/>
            <a:ext cx="4690872" cy="212852"/>
          </a:xfrm>
          <a:prstGeom prst="rect">
            <a:avLst/>
          </a:prstGeom>
          <a:noFill/>
          <a:ln/>
        </p:spPr>
        <p:txBody>
          <a:bodyPr wrap="square" lIns="0" tIns="0" rIns="0" bIns="0" rtlCol="0" anchor="t"/>
          <a:lstStyle/>
          <a:p>
            <a:pPr indent="0" marL="0">
              <a:lnSpc>
                <a:spcPts val="1100"/>
              </a:lnSpc>
              <a:buNone/>
            </a:pPr>
            <a:r>
              <a:rPr lang="en-US" sz="950" i="1" dirty="0">
                <a:solidFill>
                  <a:srgbClr val="6B7280"/>
                </a:solidFill>
                <a:latin typeface="Courier New" pitchFamily="34" charset="0"/>
                <a:ea typeface="Courier New" pitchFamily="34" charset="-122"/>
                <a:cs typeface="Courier New" pitchFamily="34" charset="-120"/>
              </a:rPr>
              <a:t>=== and with a key set ===</a:t>
            </a:r>
            <a:endParaRPr lang="en-US" sz="950" dirty="0"/>
          </a:p>
        </p:txBody>
      </p:sp>
      <p:sp>
        <p:nvSpPr>
          <p:cNvPr id="23" name="Text 20"/>
          <p:cNvSpPr txBox="1"/>
          <p:nvPr/>
        </p:nvSpPr>
        <p:spPr>
          <a:xfrm>
            <a:off x="6638544" y="4678172"/>
            <a:ext cx="4690872" cy="212852"/>
          </a:xfrm>
          <a:prstGeom prst="rect">
            <a:avLst/>
          </a:prstGeom>
          <a:noFill/>
          <a:ln/>
        </p:spPr>
        <p:txBody>
          <a:bodyPr wrap="square" lIns="0" tIns="0" rIns="0" bIns="0" rtlCol="0" anchor="t"/>
          <a:lstStyle/>
          <a:p>
            <a:pPr indent="0" marL="0">
              <a:lnSpc>
                <a:spcPts val="1100"/>
              </a:lnSpc>
              <a:buNone/>
            </a:pPr>
            <a:r>
              <a:rPr lang="en-US" sz="950" dirty="0">
                <a:solidFill>
                  <a:srgbClr val="CADCFC"/>
                </a:solidFill>
                <a:latin typeface="Courier New" pitchFamily="34" charset="0"/>
                <a:ea typeface="Courier New" pitchFamily="34" charset="-122"/>
                <a:cs typeface="Courier New" pitchFamily="34" charset="-120"/>
              </a:rPr>
              <a:t>MiniCode v0.3</a:t>
            </a:r>
            <a:endParaRPr lang="en-US" sz="950" dirty="0"/>
          </a:p>
        </p:txBody>
      </p:sp>
      <p:sp>
        <p:nvSpPr>
          <p:cNvPr id="24" name="Text 21"/>
          <p:cNvSpPr txBox="1"/>
          <p:nvPr/>
        </p:nvSpPr>
        <p:spPr>
          <a:xfrm>
            <a:off x="6638544" y="4817872"/>
            <a:ext cx="4690872" cy="212852"/>
          </a:xfrm>
          <a:prstGeom prst="rect">
            <a:avLst/>
          </a:prstGeom>
          <a:noFill/>
          <a:ln/>
        </p:spPr>
        <p:txBody>
          <a:bodyPr wrap="square" lIns="0" tIns="0" rIns="0" bIns="0" rtlCol="0" anchor="t"/>
          <a:lstStyle/>
          <a:p>
            <a:pPr indent="0" marL="0">
              <a:lnSpc>
                <a:spcPts val="1100"/>
              </a:lnSpc>
              <a:buNone/>
            </a:pPr>
            <a:r>
              <a:rPr lang="en-US" sz="950" dirty="0">
                <a:solidFill>
                  <a:srgbClr val="3FBFB0"/>
                </a:solidFill>
                <a:latin typeface="Courier New" pitchFamily="34" charset="0"/>
                <a:ea typeface="Courier New" pitchFamily="34" charset="-122"/>
                <a:cs typeface="Courier New" pitchFamily="34" charset="-120"/>
              </a:rPr>
              <a:t>Workspace: C:\Users\...\CustomerPortal</a:t>
            </a:r>
            <a:endParaRPr lang="en-US" sz="950" dirty="0"/>
          </a:p>
        </p:txBody>
      </p:sp>
      <p:sp>
        <p:nvSpPr>
          <p:cNvPr id="25" name="Text 22"/>
          <p:cNvSpPr txBox="1"/>
          <p:nvPr/>
        </p:nvSpPr>
        <p:spPr>
          <a:xfrm>
            <a:off x="6638544" y="4957572"/>
            <a:ext cx="4690872" cy="352552"/>
          </a:xfrm>
          <a:prstGeom prst="rect">
            <a:avLst/>
          </a:prstGeom>
          <a:noFill/>
          <a:ln/>
        </p:spPr>
        <p:txBody>
          <a:bodyPr wrap="square" lIns="0" tIns="0" rIns="0" bIns="0" rtlCol="0" anchor="t"/>
          <a:lstStyle/>
          <a:p>
            <a:pPr indent="0" marL="0">
              <a:lnSpc>
                <a:spcPts val="1100"/>
              </a:lnSpc>
              <a:buNone/>
            </a:pPr>
            <a:r>
              <a:rPr lang="en-US" sz="950" dirty="0">
                <a:solidFill>
                  <a:srgbClr val="CADCFC"/>
                </a:solidFill>
                <a:latin typeface="Courier New" pitchFamily="34" charset="0"/>
                <a:ea typeface="Courier New" pitchFamily="34" charset="-122"/>
                <a:cs typeface="Courier New" pitchFamily="34" charset="-120"/>
              </a:rPr>
              <a:t>MiniCode. Type 'exit' to quit, or /help</a:t>
            </a:r>
            <a:endParaRPr lang="en-US" sz="950" dirty="0"/>
          </a:p>
          <a:p>
            <a:pPr indent="0" marL="0">
              <a:lnSpc>
                <a:spcPts val="1100"/>
              </a:lnSpc>
              <a:buNone/>
            </a:pPr>
            <a:r>
              <a:rPr lang="en-US" sz="950" dirty="0">
                <a:solidFill>
                  <a:srgbClr val="CADCFC"/>
                </a:solidFill>
                <a:latin typeface="Courier New" pitchFamily="34" charset="0"/>
                <a:ea typeface="Courier New" pitchFamily="34" charset="-122"/>
                <a:cs typeface="Courier New" pitchFamily="34" charset="-120"/>
              </a:rPr>
              <a:t>for commands.</a:t>
            </a:r>
            <a:endParaRPr lang="en-US" sz="950" dirty="0"/>
          </a:p>
        </p:txBody>
      </p:sp>
      <p:sp>
        <p:nvSpPr>
          <p:cNvPr id="26" name="Text 23"/>
          <p:cNvSpPr txBox="1"/>
          <p:nvPr/>
        </p:nvSpPr>
        <p:spPr>
          <a:xfrm>
            <a:off x="6638544" y="5458968"/>
            <a:ext cx="4690872" cy="548640"/>
          </a:xfrm>
          <a:prstGeom prst="rect">
            <a:avLst/>
          </a:prstGeom>
          <a:noFill/>
          <a:ln/>
        </p:spPr>
        <p:txBody>
          <a:bodyPr wrap="square" lIns="0" tIns="0" rIns="0" bIns="0" rtlCol="0" anchor="t"/>
          <a:lstStyle/>
          <a:p>
            <a:pPr indent="0" marL="0">
              <a:buNone/>
            </a:pPr>
            <a:r>
              <a:rPr lang="en-US" sz="1050" i="1" dirty="0">
                <a:solidFill>
                  <a:srgbClr val="CADCFC"/>
                </a:solidFill>
                <a:latin typeface="Calibri" pitchFamily="34" charset="0"/>
                <a:ea typeface="Calibri" pitchFamily="34" charset="-122"/>
                <a:cs typeface="Calibri" pitchFamily="34" charset="-120"/>
              </a:rPr>
              <a:t>The workspace line names CustomerPortal, not this course’s own repository — the whole point of a global tool is that it never has to.</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MiniCode Course</dc:creator>
  <cp:lastModifiedBy>MiniCode Course</cp:lastModifiedBy>
  <cp:revision>1</cp:revision>
  <dcterms:created xsi:type="dcterms:W3CDTF">2026-09-10T18:44:16Z</dcterms:created>
  <dcterms:modified xsi:type="dcterms:W3CDTF">2026-09-10T18:44:16Z</dcterms:modified>
</cp:coreProperties>
</file>