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8a decided when a session is too full. This Module decides what to do about it: rewrite the conversation, replacing everything old with a short statement of what MiniCode learned from it. The interesting question is not how to delete messages; it is which facts must survive. We start from the Module 8a folder, and build on its TokenEstimator and ContextBudget.ShouldCompact, and on Module 3's decision that CodingAgent owns the AgentSession, which is the only reason the history can be rewritten from here at all. Setup: nothing new. Currency note: AgentSession does not expose its messages as a property; it has StateBag and GetService, and nothing else. History is reached through the extension methods TryGetInMemoryChatHistory and SetInMemoryChatHistory in Microsoft.Agents.AI. MAF 1.22.0 also ships a Microsoft.Agents.AI.Compaction namespace with ready-made strategies. MiniCode does not use it, because its index type requires a Microsoft.ML.Tokenizers dependency, and because configuring a strategy would teach configuration rather than the decision this Module is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long session dies quietly. It does not error; it fills, and the model starts losing the beginning. Compaction is what you do before that, on purpose, so that what is lost is chosen rather than whatever fell off the front.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question is not 'what can I delete' but 'what must survive'. Invert it and the design follows. Three things must survive a compaction, and everything else in the conversation is expendable. What was asked: a request the operator made and MiniCode has not finished is the single worst thing to forget. It will confidently do something else. What was established: the conclusions reached, including any decision MiniCode explained. The reasoning is gone, but the answer stays. Which files have been examined: otherwise the agent re-reads what it already read, which is the exact cost compaction exists to reclaim. These are the three WorkingNoteKind values: OpenTask, CompletedWork and FileState. Add de-duplicates and clips each note to 160 characters, because the state block must stay small or compaction just moves the problem. Render groups them in that order, so the block always reads asked, established, examined.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Tool output is the bulkiest thing in the window and the most disposable. A four-hundred-line read_file result dwarfs the question that asked for it. It is also the thing least worth keeping: the fact that the file was read survives as a note; the four hundred lines do not. WorkingState.From reads file paths off the function call before it decides anything else, so a tool call contributes a FileState note even though its result is about to be discarded. Then tool-role messages are skipped outright. Getting this wrong is easy: a first draft of this Module summarised tool results into 'what was established', which turned eight thousand characters of file content into a nonsense fact. That skip is the line that fixes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Compaction here is deterministic: no model call. A summarising request costs a round trip, can fail, and can itself be too large to send at exactly the moment you have run out of room. Scanning the messages and keeping a few kinds of thing is arithmetic, and arithmetic cannot fail when the window is full. Recent turns are kept verbatim. The model is usually mid-thought, and a summary of the last exchange is strictly worse than the exchange, so the newest six messages are never touched. And the cut must land on a user message. Slice the history at an arbitrary index and you can separate a tool call from the result that answers it, leaving the model with a question it asked and no reply. Walking backwards to the nearest user message costs four lines and removes the whole class of bug. The replacement message is authored as a user message: it is context handed to the model, not something the model said, and attributing it to the assistant would invite it to treat its own summary as a prior claim. Compact returns zero three separate times: no history, nothing old enough, nothing worth keeping. A compaction that would achieve nothing does not happen. CodingAgent closes the loop in four lines: after a turn finishes streaming, if ShouldCompact is true it compacts the session and subtracts what came back from its running tally.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Exercise one: keep a note that a task is still open. OpenTask currently collects every question the operator ever asked, so a long session accumulates a list of things that are mostly finished. Give WorkingState a way to retire a request once MiniCode has clearly answered it, and be careful about the failure mode: forgetting an unfinished task is far worse than carrying a finished one, so when in doubt, keep it. Acceptance criteria: a request followed by an answer that addresses it stops appearing after the next compaction; a request the agent never got to still appears; nothing is retired on the strength of the model merely having replied. Exercise two: compact tool results instead of discarding them. Rather than dropping a read_file result entirely, replace it with one line, read src/Foo.cs (412 lines), so the model knows the shape of what it saw. This is SessionCompactor's territory, and it changes what expendable means: the result becomes small rather than absent. Acceptance criteria: a compacted history contains one line per tool call rather than the full output; the reclaimed-token count still reflects a real saving; the cut still lands on a user message. Neither has a reference implementation in a later Module folder.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ten-message session, compacted. These numbers are real, produced by this Module's code against a scripted history containing two file reads of 8,000 and 6,000 characters. The history starts at about 3,620 tokens and ends at about 1,649, reclaiming about 1,971. Fifty-four percent of the session reclaimed, and read what survived: the question, the answer, and the fact that one file has already been opened. The eight thousand characters of file content are gone, and nothing that mattered went with them. In a real session the effect is invisible until it fires, which is the point: the context line from Module 8a simply stops climbing. Set ContextBudget.Default to a window of a few thousand tokens and you can watch that number rise, drop, and carry on, with MiniCode still able to answer a follow-up about the file it read before the 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where this goes. WorkingState already keeps what was asked across a compaction; in Module 9, a task plan is the structured version of that. FileState notes record which files were examined; in Module 10, an edit records the file as modified, and that note supersedes the read note, so a compaction never leaves the agent thinking it only looked at a file it actually changed. And because compaction can throw away the conversation's memory of what changed, Module 14 gives MiniCode read-only Git tools so it can ask Git directly instead of trusting its own recollection. This ships in the Phase 2 Capstone, Planning Agent, version 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B2D"/>
        </a:solidFill>
      </p:bgPr>
    </p:bg>
    <p:spTree>
      <p:nvGrpSpPr>
        <p:cNvPr id="1" name=""/>
        <p:cNvGrpSpPr/>
        <p:nvPr/>
      </p:nvGrpSpPr>
      <p:grpSpPr>
        <a:xfrm>
          <a:off x="0" y="0"/>
          <a:ext cx="0" cy="0"/>
          <a:chOff x="0" y="0"/>
          <a:chExt cx="0" cy="0"/>
        </a:xfrm>
      </p:grpSpPr>
      <p:sp>
        <p:nvSpPr>
          <p:cNvPr id="2" name="Text 0"/>
          <p:cNvSpPr txBox="1"/>
          <p:nvPr/>
        </p:nvSpPr>
        <p:spPr>
          <a:xfrm>
            <a:off x="457200" y="502920"/>
            <a:ext cx="4206240" cy="457200"/>
          </a:xfrm>
          <a:prstGeom prst="rect">
            <a:avLst/>
          </a:prstGeom>
          <a:noFill/>
          <a:ln/>
        </p:spPr>
        <p:txBody>
          <a:bodyPr wrap="square" lIns="0" tIns="0" rIns="0" bIns="0" rtlCol="0" anchor="t"/>
          <a:lstStyle/>
          <a:p>
            <a:pPr indent="0" marL="0">
              <a:buNone/>
            </a:pPr>
            <a:r>
              <a:rPr lang="en-US" sz="1100" b="1" spc="200" kern="0" dirty="0">
                <a:solidFill>
                  <a:srgbClr val="F5A623"/>
                </a:solidFill>
                <a:latin typeface="Calibri" pitchFamily="34" charset="0"/>
                <a:ea typeface="Calibri" pitchFamily="34" charset="-122"/>
                <a:cs typeface="Calibri" pitchFamily="34" charset="-120"/>
              </a:rPr>
              <a:t>MODULE 8B  ·  PHASE 2</a:t>
            </a:r>
            <a:endParaRPr lang="en-US" sz="1100" dirty="0"/>
          </a:p>
        </p:txBody>
      </p:sp>
      <p:sp>
        <p:nvSpPr>
          <p:cNvPr id="3" name="Text 1"/>
          <p:cNvSpPr txBox="1"/>
          <p:nvPr/>
        </p:nvSpPr>
        <p:spPr>
          <a:xfrm>
            <a:off x="457200" y="1005840"/>
            <a:ext cx="4206240" cy="1371600"/>
          </a:xfrm>
          <a:prstGeom prst="rect">
            <a:avLst/>
          </a:prstGeom>
          <a:noFill/>
          <a:ln/>
        </p:spPr>
        <p:txBody>
          <a:bodyPr wrap="square" lIns="0" tIns="0" rIns="0" bIns="0" rtlCol="0" anchor="b"/>
          <a:lstStyle/>
          <a:p>
            <a:pPr indent="0" marL="0">
              <a:buNone/>
            </a:pPr>
            <a:r>
              <a:rPr lang="en-US" sz="4000" b="1" dirty="0">
                <a:solidFill>
                  <a:srgbClr val="FFFFFF"/>
                </a:solidFill>
                <a:latin typeface="Cambria" pitchFamily="34" charset="0"/>
                <a:ea typeface="Cambria" pitchFamily="34" charset="-122"/>
                <a:cs typeface="Cambria" pitchFamily="34" charset="-120"/>
              </a:rPr>
              <a:t>Working State and Compaction</a:t>
            </a:r>
            <a:endParaRPr lang="en-US" sz="4000" dirty="0"/>
          </a:p>
        </p:txBody>
      </p:sp>
      <p:sp>
        <p:nvSpPr>
          <p:cNvPr id="4" name="Text 2"/>
          <p:cNvSpPr txBox="1"/>
          <p:nvPr/>
        </p:nvSpPr>
        <p:spPr>
          <a:xfrm>
            <a:off x="457200" y="2468880"/>
            <a:ext cx="4206240" cy="640080"/>
          </a:xfrm>
          <a:prstGeom prst="rect">
            <a:avLst/>
          </a:prstGeom>
          <a:noFill/>
          <a:ln/>
        </p:spPr>
        <p:txBody>
          <a:bodyPr wrap="square" lIns="0" tIns="0" rIns="0" bIns="0" rtlCol="0" anchor="t"/>
          <a:lstStyle/>
          <a:p>
            <a:pPr indent="0" marL="0">
              <a:buNone/>
            </a:pPr>
            <a:r>
              <a:rPr lang="en-US" sz="1600" dirty="0">
                <a:solidFill>
                  <a:srgbClr val="B8B2E6"/>
                </a:solidFill>
                <a:latin typeface="Calibri" pitchFamily="34" charset="0"/>
                <a:ea typeface="Calibri" pitchFamily="34" charset="-122"/>
                <a:cs typeface="Calibri" pitchFamily="34" charset="-120"/>
              </a:rPr>
              <a:t>Context Management</a:t>
            </a:r>
            <a:endParaRPr lang="en-US" sz="1600" dirty="0"/>
          </a:p>
        </p:txBody>
      </p:sp>
      <p:sp>
        <p:nvSpPr>
          <p:cNvPr id="5" name="Text 3"/>
          <p:cNvSpPr txBox="1"/>
          <p:nvPr/>
        </p:nvSpPr>
        <p:spPr>
          <a:xfrm>
            <a:off x="457200" y="3346704"/>
            <a:ext cx="1097280" cy="274320"/>
          </a:xfrm>
          <a:prstGeom prst="rect">
            <a:avLst/>
          </a:prstGeom>
          <a:noFill/>
          <a:ln/>
        </p:spPr>
        <p:txBody>
          <a:bodyPr wrap="square" lIns="0" tIns="0" rIns="0" bIns="0" rtlCol="0" anchor="t"/>
          <a:lstStyle/>
          <a:p>
            <a:pPr indent="0" marL="0">
              <a:buNone/>
            </a:pPr>
            <a:r>
              <a:rPr lang="en-US" sz="900" b="1" spc="100" kern="0" dirty="0">
                <a:solidFill>
                  <a:srgbClr val="B8B2E6"/>
                </a:solidFill>
                <a:latin typeface="Calibri" pitchFamily="34" charset="0"/>
                <a:ea typeface="Calibri" pitchFamily="34" charset="-122"/>
                <a:cs typeface="Calibri" pitchFamily="34" charset="-120"/>
              </a:rPr>
              <a:t>STARTS FROM</a:t>
            </a:r>
            <a:endParaRPr lang="en-US" sz="900" dirty="0"/>
          </a:p>
        </p:txBody>
      </p:sp>
      <p:sp>
        <p:nvSpPr>
          <p:cNvPr id="6" name="Text 4"/>
          <p:cNvSpPr txBox="1"/>
          <p:nvPr/>
        </p:nvSpPr>
        <p:spPr>
          <a:xfrm>
            <a:off x="1554480" y="3291840"/>
            <a:ext cx="3291840" cy="365760"/>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Module08a-BudgetAndSearchBeforeRead/</a:t>
            </a:r>
            <a:endParaRPr lang="en-US" sz="1100" dirty="0"/>
          </a:p>
        </p:txBody>
      </p:sp>
      <p:sp>
        <p:nvSpPr>
          <p:cNvPr id="7" name="Text 5"/>
          <p:cNvSpPr txBox="1"/>
          <p:nvPr/>
        </p:nvSpPr>
        <p:spPr>
          <a:xfrm>
            <a:off x="457200" y="3803904"/>
            <a:ext cx="1097280" cy="274320"/>
          </a:xfrm>
          <a:prstGeom prst="rect">
            <a:avLst/>
          </a:prstGeom>
          <a:noFill/>
          <a:ln/>
        </p:spPr>
        <p:txBody>
          <a:bodyPr wrap="square" lIns="0" tIns="0" rIns="0" bIns="0" rtlCol="0" anchor="t"/>
          <a:lstStyle/>
          <a:p>
            <a:pPr indent="0" marL="0">
              <a:buNone/>
            </a:pPr>
            <a:r>
              <a:rPr lang="en-US" sz="900" b="1" spc="100" kern="0" dirty="0">
                <a:solidFill>
                  <a:srgbClr val="B8B2E6"/>
                </a:solidFill>
                <a:latin typeface="Calibri" pitchFamily="34" charset="0"/>
                <a:ea typeface="Calibri" pitchFamily="34" charset="-122"/>
                <a:cs typeface="Calibri" pitchFamily="34" charset="-120"/>
              </a:rPr>
              <a:t>FINISHES AS</a:t>
            </a:r>
            <a:endParaRPr lang="en-US" sz="900" dirty="0"/>
          </a:p>
        </p:txBody>
      </p:sp>
      <p:sp>
        <p:nvSpPr>
          <p:cNvPr id="8" name="Text 6"/>
          <p:cNvSpPr txBox="1"/>
          <p:nvPr/>
        </p:nvSpPr>
        <p:spPr>
          <a:xfrm>
            <a:off x="1554480" y="3749040"/>
            <a:ext cx="3291840" cy="365760"/>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Module08b-WorkingStateAndCompaction/</a:t>
            </a:r>
            <a:endParaRPr lang="en-US" sz="1100" dirty="0"/>
          </a:p>
        </p:txBody>
      </p:sp>
      <p:sp>
        <p:nvSpPr>
          <p:cNvPr id="9" name="Shape 7"/>
          <p:cNvSpPr/>
          <p:nvPr/>
        </p:nvSpPr>
        <p:spPr>
          <a:xfrm>
            <a:off x="4983480" y="502920"/>
            <a:ext cx="3703320" cy="4069080"/>
          </a:xfrm>
          <a:prstGeom prst="roundRect">
            <a:avLst>
              <a:gd name="adj" fmla="val 1975"/>
            </a:avLst>
          </a:prstGeom>
          <a:solidFill>
            <a:srgbClr val="1F2943"/>
          </a:solidFill>
          <a:ln w="12700">
            <a:solidFill>
              <a:srgbClr val="1F2943"/>
            </a:solidFill>
            <a:prstDash val="solid"/>
          </a:ln>
        </p:spPr>
      </p:sp>
      <p:sp>
        <p:nvSpPr>
          <p:cNvPr id="10" name="Text 8"/>
          <p:cNvSpPr txBox="1"/>
          <p:nvPr/>
        </p:nvSpPr>
        <p:spPr>
          <a:xfrm>
            <a:off x="5257800" y="731520"/>
            <a:ext cx="3200400" cy="365760"/>
          </a:xfrm>
          <a:prstGeom prst="rect">
            <a:avLst/>
          </a:prstGeom>
          <a:noFill/>
          <a:ln/>
        </p:spPr>
        <p:txBody>
          <a:bodyPr wrap="square" lIns="0" tIns="0" rIns="0" bIns="0" rtlCol="0" anchor="t"/>
          <a:lstStyle/>
          <a:p>
            <a:pPr indent="0" marL="0">
              <a:buNone/>
            </a:pPr>
            <a:r>
              <a:rPr lang="en-US" sz="1600" b="1" dirty="0">
                <a:solidFill>
                  <a:srgbClr val="FFFFFF"/>
                </a:solidFill>
                <a:latin typeface="Cambria" pitchFamily="34" charset="0"/>
                <a:ea typeface="Cambria" pitchFamily="34" charset="-122"/>
                <a:cs typeface="Cambria" pitchFamily="34" charset="-120"/>
              </a:rPr>
              <a:t>In this lesson you'll learn</a:t>
            </a:r>
            <a:endParaRPr lang="en-US" sz="1600" dirty="0"/>
          </a:p>
        </p:txBody>
      </p:sp>
      <p:sp>
        <p:nvSpPr>
          <p:cNvPr id="11" name="Shape 9"/>
          <p:cNvSpPr/>
          <p:nvPr/>
        </p:nvSpPr>
        <p:spPr>
          <a:xfrm>
            <a:off x="5257800" y="1252728"/>
            <a:ext cx="310896" cy="310896"/>
          </a:xfrm>
          <a:prstGeom prst="ellipse">
            <a:avLst/>
          </a:prstGeom>
          <a:solidFill>
            <a:srgbClr val="512BD4"/>
          </a:solidFill>
          <a:ln w="12700">
            <a:solidFill>
              <a:srgbClr val="512BD4"/>
            </a:solidFill>
            <a:prstDash val="solid"/>
          </a:ln>
        </p:spPr>
      </p:sp>
      <p:pic>
        <p:nvPicPr>
          <p:cNvPr id="12" name="Image 0" descr="preencoded.png">    </p:cNvPr>
          <p:cNvPicPr>
            <a:picLocks noChangeAspect="1"/>
          </p:cNvPicPr>
          <p:nvPr/>
        </p:nvPicPr>
        <p:blipFill>
          <a:blip r:embed="rId1"/>
          <a:stretch>
            <a:fillRect/>
          </a:stretch>
        </p:blipFill>
        <p:spPr>
          <a:xfrm>
            <a:off x="5338633" y="1333561"/>
            <a:ext cx="149230" cy="149230"/>
          </a:xfrm>
          <a:prstGeom prst="rect">
            <a:avLst/>
          </a:prstGeom>
        </p:spPr>
      </p:pic>
      <p:sp>
        <p:nvSpPr>
          <p:cNvPr id="13" name="Text 10"/>
          <p:cNvSpPr txBox="1"/>
          <p:nvPr/>
        </p:nvSpPr>
        <p:spPr>
          <a:xfrm>
            <a:off x="5715000" y="1234440"/>
            <a:ext cx="2743200" cy="75438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Why a long session fails quietly, and what to do first</a:t>
            </a:r>
            <a:endParaRPr lang="en-US" sz="1300" dirty="0"/>
          </a:p>
        </p:txBody>
      </p:sp>
      <p:sp>
        <p:nvSpPr>
          <p:cNvPr id="14" name="Shape 11"/>
          <p:cNvSpPr/>
          <p:nvPr/>
        </p:nvSpPr>
        <p:spPr>
          <a:xfrm>
            <a:off x="5257800" y="2052828"/>
            <a:ext cx="310896" cy="310896"/>
          </a:xfrm>
          <a:prstGeom prst="ellipse">
            <a:avLst/>
          </a:prstGeom>
          <a:solidFill>
            <a:srgbClr val="512BD4"/>
          </a:solidFill>
          <a:ln w="12700">
            <a:solidFill>
              <a:srgbClr val="512BD4"/>
            </a:solidFill>
            <a:prstDash val="solid"/>
          </a:ln>
        </p:spPr>
      </p:sp>
      <p:pic>
        <p:nvPicPr>
          <p:cNvPr id="15" name="Image 1" descr="preencoded.png">    </p:cNvPr>
          <p:cNvPicPr>
            <a:picLocks noChangeAspect="1"/>
          </p:cNvPicPr>
          <p:nvPr/>
        </p:nvPicPr>
        <p:blipFill>
          <a:blip r:embed="rId2"/>
          <a:stretch>
            <a:fillRect/>
          </a:stretch>
        </p:blipFill>
        <p:spPr>
          <a:xfrm>
            <a:off x="5338633" y="2133661"/>
            <a:ext cx="149230" cy="149230"/>
          </a:xfrm>
          <a:prstGeom prst="rect">
            <a:avLst/>
          </a:prstGeom>
        </p:spPr>
      </p:pic>
      <p:sp>
        <p:nvSpPr>
          <p:cNvPr id="16" name="Text 12"/>
          <p:cNvSpPr txBox="1"/>
          <p:nvPr/>
        </p:nvSpPr>
        <p:spPr>
          <a:xfrm>
            <a:off x="5715000" y="2034540"/>
            <a:ext cx="2743200" cy="75438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The three facts that must survive a compaction</a:t>
            </a:r>
            <a:endParaRPr lang="en-US" sz="1300" dirty="0"/>
          </a:p>
        </p:txBody>
      </p:sp>
      <p:sp>
        <p:nvSpPr>
          <p:cNvPr id="17" name="Shape 13"/>
          <p:cNvSpPr/>
          <p:nvPr/>
        </p:nvSpPr>
        <p:spPr>
          <a:xfrm>
            <a:off x="5257800" y="2852928"/>
            <a:ext cx="310896" cy="310896"/>
          </a:xfrm>
          <a:prstGeom prst="ellipse">
            <a:avLst/>
          </a:prstGeom>
          <a:solidFill>
            <a:srgbClr val="512BD4"/>
          </a:solidFill>
          <a:ln w="12700">
            <a:solidFill>
              <a:srgbClr val="512BD4"/>
            </a:solidFill>
            <a:prstDash val="solid"/>
          </a:ln>
        </p:spPr>
      </p:sp>
      <p:pic>
        <p:nvPicPr>
          <p:cNvPr id="18" name="Image 2" descr="preencoded.png">    </p:cNvPr>
          <p:cNvPicPr>
            <a:picLocks noChangeAspect="1"/>
          </p:cNvPicPr>
          <p:nvPr/>
        </p:nvPicPr>
        <p:blipFill>
          <a:blip r:embed="rId3"/>
          <a:stretch>
            <a:fillRect/>
          </a:stretch>
        </p:blipFill>
        <p:spPr>
          <a:xfrm>
            <a:off x="5338633" y="2933761"/>
            <a:ext cx="149230" cy="149230"/>
          </a:xfrm>
          <a:prstGeom prst="rect">
            <a:avLst/>
          </a:prstGeom>
        </p:spPr>
      </p:pic>
      <p:sp>
        <p:nvSpPr>
          <p:cNvPr id="19" name="Text 14"/>
          <p:cNvSpPr txBox="1"/>
          <p:nvPr/>
        </p:nvSpPr>
        <p:spPr>
          <a:xfrm>
            <a:off x="5715000" y="2834640"/>
            <a:ext cx="2743200" cy="75438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Why tool output is the first thing to throw away</a:t>
            </a:r>
            <a:endParaRPr lang="en-US" sz="1300" dirty="0"/>
          </a:p>
        </p:txBody>
      </p:sp>
      <p:sp>
        <p:nvSpPr>
          <p:cNvPr id="20" name="Shape 15"/>
          <p:cNvSpPr/>
          <p:nvPr/>
        </p:nvSpPr>
        <p:spPr>
          <a:xfrm>
            <a:off x="5257800" y="3653028"/>
            <a:ext cx="310896" cy="310896"/>
          </a:xfrm>
          <a:prstGeom prst="ellipse">
            <a:avLst/>
          </a:prstGeom>
          <a:solidFill>
            <a:srgbClr val="512BD4"/>
          </a:solidFill>
          <a:ln w="12700">
            <a:solidFill>
              <a:srgbClr val="512BD4"/>
            </a:solidFill>
            <a:prstDash val="solid"/>
          </a:ln>
        </p:spPr>
      </p:sp>
      <p:pic>
        <p:nvPicPr>
          <p:cNvPr id="21" name="Image 3" descr="preencoded.png">    </p:cNvPr>
          <p:cNvPicPr>
            <a:picLocks noChangeAspect="1"/>
          </p:cNvPicPr>
          <p:nvPr/>
        </p:nvPicPr>
        <p:blipFill>
          <a:blip r:embed="rId4"/>
          <a:stretch>
            <a:fillRect/>
          </a:stretch>
        </p:blipFill>
        <p:spPr>
          <a:xfrm>
            <a:off x="5338633" y="3733861"/>
            <a:ext cx="149230" cy="149230"/>
          </a:xfrm>
          <a:prstGeom prst="rect">
            <a:avLst/>
          </a:prstGeom>
        </p:spPr>
      </p:pic>
      <p:sp>
        <p:nvSpPr>
          <p:cNvPr id="22" name="Text 16"/>
          <p:cNvSpPr txBox="1"/>
          <p:nvPr/>
        </p:nvSpPr>
        <p:spPr>
          <a:xfrm>
            <a:off x="5715000" y="3634740"/>
            <a:ext cx="2743200" cy="75438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Compacting deterministically, without cutting a tool call in half</a:t>
            </a:r>
            <a:endParaRPr lang="en-US" sz="1300" dirty="0"/>
          </a:p>
        </p:txBody>
      </p:sp>
      <p:sp>
        <p:nvSpPr>
          <p:cNvPr id="23" name="Text 17"/>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B8B2E6"/>
                </a:solidFill>
                <a:latin typeface="Calibri" pitchFamily="34" charset="0"/>
                <a:ea typeface="Calibri" pitchFamily="34" charset="-122"/>
                <a:cs typeface="Calibri" pitchFamily="34" charset="-120"/>
              </a:rPr>
              <a:t>MiniCode  ·  Module 8b — Working State and Compaction</a:t>
            </a:r>
            <a:endParaRPr lang="en-US" sz="900" dirty="0"/>
          </a:p>
        </p:txBody>
      </p:sp>
      <p:sp>
        <p:nvSpPr>
          <p:cNvPr id="24" name="Text 18"/>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B8B2E6"/>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CORE CONCEPT</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A long session dies quietly</a:t>
            </a:r>
            <a:endParaRPr lang="en-US" sz="2800" dirty="0"/>
          </a:p>
        </p:txBody>
      </p:sp>
      <p:sp>
        <p:nvSpPr>
          <p:cNvPr id="4" name="Shape 2"/>
          <p:cNvSpPr/>
          <p:nvPr/>
        </p:nvSpPr>
        <p:spPr>
          <a:xfrm>
            <a:off x="457200" y="1417320"/>
            <a:ext cx="2511552" cy="1801368"/>
          </a:xfrm>
          <a:prstGeom prst="roundRect">
            <a:avLst>
              <a:gd name="adj" fmla="val 4061"/>
            </a:avLst>
          </a:prstGeom>
          <a:solidFill>
            <a:srgbClr val="EFEBFC"/>
          </a:solidFill>
          <a:ln w="12700">
            <a:solidFill>
              <a:srgbClr val="EFEBFC"/>
            </a:solidFill>
            <a:prstDash val="solid"/>
          </a:ln>
        </p:spPr>
      </p:sp>
      <p:sp>
        <p:nvSpPr>
          <p:cNvPr id="5" name="Shape 3"/>
          <p:cNvSpPr/>
          <p:nvPr/>
        </p:nvSpPr>
        <p:spPr>
          <a:xfrm>
            <a:off x="640080" y="1618488"/>
            <a:ext cx="457200" cy="457200"/>
          </a:xfrm>
          <a:prstGeom prst="ellipse">
            <a:avLst/>
          </a:prstGeom>
          <a:solidFill>
            <a:srgbClr val="512BD4"/>
          </a:solidFill>
          <a:ln w="12700">
            <a:solidFill>
              <a:srgbClr val="512BD4"/>
            </a:solidFill>
            <a:prstDash val="solid"/>
          </a:ln>
        </p:spPr>
      </p:sp>
      <p:pic>
        <p:nvPicPr>
          <p:cNvPr id="6" name="Image 0" descr="preencoded.png">    </p:cNvPr>
          <p:cNvPicPr>
            <a:picLocks noChangeAspect="1"/>
          </p:cNvPicPr>
          <p:nvPr/>
        </p:nvPicPr>
        <p:blipFill>
          <a:blip r:embed="rId1"/>
          <a:stretch>
            <a:fillRect/>
          </a:stretch>
        </p:blipFill>
        <p:spPr>
          <a:xfrm>
            <a:off x="758952" y="1737360"/>
            <a:ext cx="219456" cy="219456"/>
          </a:xfrm>
          <a:prstGeom prst="rect">
            <a:avLst/>
          </a:prstGeom>
        </p:spPr>
      </p:pic>
      <p:sp>
        <p:nvSpPr>
          <p:cNvPr id="7" name="Text 4"/>
          <p:cNvSpPr txBox="1"/>
          <p:nvPr/>
        </p:nvSpPr>
        <p:spPr>
          <a:xfrm>
            <a:off x="640080" y="2194560"/>
            <a:ext cx="2191512" cy="411480"/>
          </a:xfrm>
          <a:prstGeom prst="rect">
            <a:avLst/>
          </a:prstGeom>
          <a:noFill/>
          <a:ln/>
        </p:spPr>
        <p:txBody>
          <a:bodyPr wrap="square" lIns="0" tIns="0" rIns="0" bIns="0" rtlCol="0" anchor="t"/>
          <a:lstStyle/>
          <a:p>
            <a:pPr indent="0" marL="0">
              <a:buNone/>
            </a:pPr>
            <a:r>
              <a:rPr lang="en-US" sz="1500" b="1" dirty="0">
                <a:solidFill>
                  <a:srgbClr val="1F2937"/>
                </a:solidFill>
                <a:latin typeface="Calibri" pitchFamily="34" charset="0"/>
                <a:ea typeface="Calibri" pitchFamily="34" charset="-122"/>
                <a:cs typeface="Calibri" pitchFamily="34" charset="-120"/>
              </a:rPr>
              <a:t>It fills</a:t>
            </a:r>
            <a:endParaRPr lang="en-US" sz="1500" dirty="0"/>
          </a:p>
        </p:txBody>
      </p:sp>
      <p:sp>
        <p:nvSpPr>
          <p:cNvPr id="8" name="Text 5"/>
          <p:cNvSpPr txBox="1"/>
          <p:nvPr/>
        </p:nvSpPr>
        <p:spPr>
          <a:xfrm>
            <a:off x="640080" y="2606040"/>
            <a:ext cx="2191512" cy="52120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No error, no warning</a:t>
            </a:r>
            <a:endParaRPr lang="en-US" sz="1200" dirty="0"/>
          </a:p>
        </p:txBody>
      </p:sp>
      <p:sp>
        <p:nvSpPr>
          <p:cNvPr id="9" name="Shape 6"/>
          <p:cNvSpPr/>
          <p:nvPr/>
        </p:nvSpPr>
        <p:spPr>
          <a:xfrm>
            <a:off x="3032760" y="2208276"/>
            <a:ext cx="219456" cy="219456"/>
          </a:xfrm>
          <a:prstGeom prst="rightArrow">
            <a:avLst/>
          </a:prstGeom>
          <a:solidFill>
            <a:srgbClr val="F5A623"/>
          </a:solidFill>
          <a:ln w="12700">
            <a:solidFill>
              <a:srgbClr val="F5A623"/>
            </a:solidFill>
            <a:prstDash val="solid"/>
          </a:ln>
        </p:spPr>
      </p:sp>
      <p:sp>
        <p:nvSpPr>
          <p:cNvPr id="10" name="Shape 7"/>
          <p:cNvSpPr/>
          <p:nvPr/>
        </p:nvSpPr>
        <p:spPr>
          <a:xfrm>
            <a:off x="3316224" y="1417320"/>
            <a:ext cx="2511552" cy="1801368"/>
          </a:xfrm>
          <a:prstGeom prst="roundRect">
            <a:avLst>
              <a:gd name="adj" fmla="val 4061"/>
            </a:avLst>
          </a:prstGeom>
          <a:solidFill>
            <a:srgbClr val="EFEBFC"/>
          </a:solidFill>
          <a:ln w="12700">
            <a:solidFill>
              <a:srgbClr val="EFEBFC"/>
            </a:solidFill>
            <a:prstDash val="solid"/>
          </a:ln>
        </p:spPr>
      </p:sp>
      <p:sp>
        <p:nvSpPr>
          <p:cNvPr id="11" name="Shape 8"/>
          <p:cNvSpPr/>
          <p:nvPr/>
        </p:nvSpPr>
        <p:spPr>
          <a:xfrm>
            <a:off x="3499104" y="1618488"/>
            <a:ext cx="457200" cy="457200"/>
          </a:xfrm>
          <a:prstGeom prst="ellipse">
            <a:avLst/>
          </a:prstGeom>
          <a:solidFill>
            <a:srgbClr val="512BD4"/>
          </a:solidFill>
          <a:ln w="12700">
            <a:solidFill>
              <a:srgbClr val="512BD4"/>
            </a:solidFill>
            <a:prstDash val="solid"/>
          </a:ln>
        </p:spPr>
      </p:sp>
      <p:pic>
        <p:nvPicPr>
          <p:cNvPr id="12" name="Image 1" descr="preencoded.png">    </p:cNvPr>
          <p:cNvPicPr>
            <a:picLocks noChangeAspect="1"/>
          </p:cNvPicPr>
          <p:nvPr/>
        </p:nvPicPr>
        <p:blipFill>
          <a:blip r:embed="rId2"/>
          <a:stretch>
            <a:fillRect/>
          </a:stretch>
        </p:blipFill>
        <p:spPr>
          <a:xfrm>
            <a:off x="3617976" y="1737360"/>
            <a:ext cx="219456" cy="219456"/>
          </a:xfrm>
          <a:prstGeom prst="rect">
            <a:avLst/>
          </a:prstGeom>
        </p:spPr>
      </p:pic>
      <p:sp>
        <p:nvSpPr>
          <p:cNvPr id="13" name="Text 9"/>
          <p:cNvSpPr txBox="1"/>
          <p:nvPr/>
        </p:nvSpPr>
        <p:spPr>
          <a:xfrm>
            <a:off x="3499104" y="2194560"/>
            <a:ext cx="2191512" cy="411480"/>
          </a:xfrm>
          <a:prstGeom prst="rect">
            <a:avLst/>
          </a:prstGeom>
          <a:noFill/>
          <a:ln/>
        </p:spPr>
        <p:txBody>
          <a:bodyPr wrap="square" lIns="0" tIns="0" rIns="0" bIns="0" rtlCol="0" anchor="t"/>
          <a:lstStyle/>
          <a:p>
            <a:pPr indent="0" marL="0">
              <a:buNone/>
            </a:pPr>
            <a:r>
              <a:rPr lang="en-US" sz="1500" b="1" dirty="0">
                <a:solidFill>
                  <a:srgbClr val="1F2937"/>
                </a:solidFill>
                <a:latin typeface="Calibri" pitchFamily="34" charset="0"/>
                <a:ea typeface="Calibri" pitchFamily="34" charset="-122"/>
                <a:cs typeface="Calibri" pitchFamily="34" charset="-120"/>
              </a:rPr>
              <a:t>It forgets</a:t>
            </a:r>
            <a:endParaRPr lang="en-US" sz="1500" dirty="0"/>
          </a:p>
        </p:txBody>
      </p:sp>
      <p:sp>
        <p:nvSpPr>
          <p:cNvPr id="14" name="Text 10"/>
          <p:cNvSpPr txBox="1"/>
          <p:nvPr/>
        </p:nvSpPr>
        <p:spPr>
          <a:xfrm>
            <a:off x="3499104" y="2606040"/>
            <a:ext cx="2191512" cy="52120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The model starts losing the beginning</a:t>
            </a:r>
            <a:endParaRPr lang="en-US" sz="1200" dirty="0"/>
          </a:p>
        </p:txBody>
      </p:sp>
      <p:sp>
        <p:nvSpPr>
          <p:cNvPr id="15" name="Shape 11"/>
          <p:cNvSpPr/>
          <p:nvPr/>
        </p:nvSpPr>
        <p:spPr>
          <a:xfrm>
            <a:off x="5891784" y="2208276"/>
            <a:ext cx="219456" cy="219456"/>
          </a:xfrm>
          <a:prstGeom prst="rightArrow">
            <a:avLst/>
          </a:prstGeom>
          <a:solidFill>
            <a:srgbClr val="F5A623"/>
          </a:solidFill>
          <a:ln w="12700">
            <a:solidFill>
              <a:srgbClr val="F5A623"/>
            </a:solidFill>
            <a:prstDash val="solid"/>
          </a:ln>
        </p:spPr>
      </p:sp>
      <p:sp>
        <p:nvSpPr>
          <p:cNvPr id="16" name="Shape 12"/>
          <p:cNvSpPr/>
          <p:nvPr/>
        </p:nvSpPr>
        <p:spPr>
          <a:xfrm>
            <a:off x="6175248" y="1417320"/>
            <a:ext cx="2511552" cy="1801368"/>
          </a:xfrm>
          <a:prstGeom prst="roundRect">
            <a:avLst>
              <a:gd name="adj" fmla="val 4061"/>
            </a:avLst>
          </a:prstGeom>
          <a:solidFill>
            <a:srgbClr val="512BD4"/>
          </a:solidFill>
          <a:ln w="12700">
            <a:solidFill>
              <a:srgbClr val="512BD4"/>
            </a:solidFill>
            <a:prstDash val="solid"/>
          </a:ln>
        </p:spPr>
      </p:sp>
      <p:sp>
        <p:nvSpPr>
          <p:cNvPr id="17" name="Shape 13"/>
          <p:cNvSpPr/>
          <p:nvPr/>
        </p:nvSpPr>
        <p:spPr>
          <a:xfrm>
            <a:off x="6358128" y="1618488"/>
            <a:ext cx="457200" cy="457200"/>
          </a:xfrm>
          <a:prstGeom prst="ellipse">
            <a:avLst/>
          </a:prstGeom>
          <a:solidFill>
            <a:srgbClr val="FFFFFF"/>
          </a:solidFill>
          <a:ln w="12700">
            <a:solidFill>
              <a:srgbClr val="FFFFFF"/>
            </a:solidFill>
            <a:prstDash val="solid"/>
          </a:ln>
        </p:spPr>
      </p:sp>
      <p:pic>
        <p:nvPicPr>
          <p:cNvPr id="18" name="Image 2" descr="preencoded.png">    </p:cNvPr>
          <p:cNvPicPr>
            <a:picLocks noChangeAspect="1"/>
          </p:cNvPicPr>
          <p:nvPr/>
        </p:nvPicPr>
        <p:blipFill>
          <a:blip r:embed="rId3"/>
          <a:stretch>
            <a:fillRect/>
          </a:stretch>
        </p:blipFill>
        <p:spPr>
          <a:xfrm>
            <a:off x="6477000" y="1737360"/>
            <a:ext cx="219456" cy="219456"/>
          </a:xfrm>
          <a:prstGeom prst="rect">
            <a:avLst/>
          </a:prstGeom>
        </p:spPr>
      </p:pic>
      <p:sp>
        <p:nvSpPr>
          <p:cNvPr id="19" name="Text 14"/>
          <p:cNvSpPr txBox="1"/>
          <p:nvPr/>
        </p:nvSpPr>
        <p:spPr>
          <a:xfrm>
            <a:off x="6358128" y="2194560"/>
            <a:ext cx="2191512" cy="41148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Compact first</a:t>
            </a:r>
            <a:endParaRPr lang="en-US" sz="1500" dirty="0"/>
          </a:p>
        </p:txBody>
      </p:sp>
      <p:sp>
        <p:nvSpPr>
          <p:cNvPr id="20" name="Text 15"/>
          <p:cNvSpPr txBox="1"/>
          <p:nvPr/>
        </p:nvSpPr>
        <p:spPr>
          <a:xfrm>
            <a:off x="6358128" y="2606040"/>
            <a:ext cx="2191512" cy="521208"/>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Choose what is lost, on purpose</a:t>
            </a:r>
            <a:endParaRPr lang="en-US" sz="1200" dirty="0"/>
          </a:p>
        </p:txBody>
      </p:sp>
      <p:sp>
        <p:nvSpPr>
          <p:cNvPr id="21" name="Text 16"/>
          <p:cNvSpPr txBox="1"/>
          <p:nvPr/>
        </p:nvSpPr>
        <p:spPr>
          <a:xfrm>
            <a:off x="457200" y="3538728"/>
            <a:ext cx="8229600" cy="365760"/>
          </a:xfrm>
          <a:prstGeom prst="rect">
            <a:avLst/>
          </a:prstGeom>
          <a:noFill/>
          <a:ln/>
        </p:spPr>
        <p:txBody>
          <a:bodyPr wrap="square" lIns="0" tIns="0" rIns="0" bIns="0" rtlCol="0" anchor="t"/>
          <a:lstStyle/>
          <a:p>
            <a:pPr indent="0" marL="0">
              <a:buNone/>
            </a:pPr>
            <a:r>
              <a:rPr lang="en-US" sz="1400" i="1" dirty="0">
                <a:solidFill>
                  <a:srgbClr val="512BD4"/>
                </a:solidFill>
                <a:latin typeface="Calibri" pitchFamily="34" charset="0"/>
                <a:ea typeface="Calibri" pitchFamily="34" charset="-122"/>
                <a:cs typeface="Calibri" pitchFamily="34" charset="-120"/>
              </a:rPr>
              <a:t>What is lost should be chosen, not whatever fell off the front.</a:t>
            </a:r>
            <a:endParaRPr lang="en-US" sz="1400" dirty="0"/>
          </a:p>
        </p:txBody>
      </p:sp>
      <p:sp>
        <p:nvSpPr>
          <p:cNvPr id="22" name="Text 17"/>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MiniCode  ·  Module 8b — Working State and Compaction</a:t>
            </a:r>
            <a:endParaRPr lang="en-US" sz="900" dirty="0"/>
          </a:p>
        </p:txBody>
      </p:sp>
      <p:sp>
        <p:nvSpPr>
          <p:cNvPr id="23" name="Text 18"/>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CORE CONCEPT</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650" b="1" dirty="0">
                <a:solidFill>
                  <a:srgbClr val="1F2937"/>
                </a:solidFill>
                <a:latin typeface="Cambria" pitchFamily="34" charset="0"/>
                <a:ea typeface="Cambria" pitchFamily="34" charset="-122"/>
                <a:cs typeface="Cambria" pitchFamily="34" charset="-120"/>
              </a:rPr>
              <a:t>Not "what can I delete" but "what must survive"</a:t>
            </a:r>
            <a:endParaRPr lang="en-US" sz="2650" dirty="0"/>
          </a:p>
        </p:txBody>
      </p:sp>
      <p:sp>
        <p:nvSpPr>
          <p:cNvPr id="4" name="Shape 2"/>
          <p:cNvSpPr/>
          <p:nvPr/>
        </p:nvSpPr>
        <p:spPr>
          <a:xfrm>
            <a:off x="457200" y="1371600"/>
            <a:ext cx="2560320" cy="1920240"/>
          </a:xfrm>
          <a:prstGeom prst="roundRect">
            <a:avLst>
              <a:gd name="adj" fmla="val 3810"/>
            </a:avLst>
          </a:prstGeom>
          <a:solidFill>
            <a:srgbClr val="512BD4"/>
          </a:solidFill>
          <a:ln w="12700">
            <a:solidFill>
              <a:srgbClr val="512BD4"/>
            </a:solidFill>
            <a:prstDash val="solid"/>
          </a:ln>
        </p:spPr>
      </p:sp>
      <p:sp>
        <p:nvSpPr>
          <p:cNvPr id="5" name="Shape 3"/>
          <p:cNvSpPr/>
          <p:nvPr/>
        </p:nvSpPr>
        <p:spPr>
          <a:xfrm>
            <a:off x="640080" y="1554480"/>
            <a:ext cx="384048" cy="384048"/>
          </a:xfrm>
          <a:prstGeom prst="ellipse">
            <a:avLst/>
          </a:prstGeom>
          <a:solidFill>
            <a:srgbClr val="FFFFFF"/>
          </a:solidFill>
          <a:ln w="1270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739932" y="1654332"/>
            <a:ext cx="184343" cy="184343"/>
          </a:xfrm>
          <a:prstGeom prst="rect">
            <a:avLst/>
          </a:prstGeom>
        </p:spPr>
      </p:pic>
      <p:sp>
        <p:nvSpPr>
          <p:cNvPr id="7" name="Text 4"/>
          <p:cNvSpPr txBox="1"/>
          <p:nvPr/>
        </p:nvSpPr>
        <p:spPr>
          <a:xfrm>
            <a:off x="1143000" y="1554480"/>
            <a:ext cx="1737360" cy="384048"/>
          </a:xfrm>
          <a:prstGeom prst="rect">
            <a:avLst/>
          </a:prstGeom>
          <a:noFill/>
          <a:ln/>
        </p:spPr>
        <p:txBody>
          <a:bodyPr wrap="square" lIns="0" tIns="0" rIns="0" bIns="0" rtlCol="0" anchor="ctr">
            <a:normAutofit/>
          </a:bodyPr>
          <a:lstStyle/>
          <a:p>
            <a:pPr indent="0" marL="0">
              <a:buNone/>
            </a:pPr>
            <a:r>
              <a:rPr lang="en-US" sz="1500" b="1" dirty="0">
                <a:solidFill>
                  <a:srgbClr val="FFFFFF"/>
                </a:solidFill>
                <a:latin typeface="Calibri" pitchFamily="34" charset="0"/>
                <a:ea typeface="Calibri" pitchFamily="34" charset="-122"/>
                <a:cs typeface="Calibri" pitchFamily="34" charset="-120"/>
              </a:rPr>
              <a:t>What was asked</a:t>
            </a:r>
            <a:endParaRPr lang="en-US" sz="1500" dirty="0"/>
          </a:p>
        </p:txBody>
      </p:sp>
      <p:sp>
        <p:nvSpPr>
          <p:cNvPr id="8" name="Text 5"/>
          <p:cNvSpPr txBox="1"/>
          <p:nvPr/>
        </p:nvSpPr>
        <p:spPr>
          <a:xfrm>
            <a:off x="640080" y="2057400"/>
            <a:ext cx="2194560" cy="114300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An unfinished request is the worst thing to forget</a:t>
            </a:r>
            <a:endParaRPr lang="en-US" sz="1200" dirty="0"/>
          </a:p>
        </p:txBody>
      </p:sp>
      <p:sp>
        <p:nvSpPr>
          <p:cNvPr id="9" name="Shape 6"/>
          <p:cNvSpPr/>
          <p:nvPr/>
        </p:nvSpPr>
        <p:spPr>
          <a:xfrm>
            <a:off x="3291840" y="1371600"/>
            <a:ext cx="2560320" cy="1920240"/>
          </a:xfrm>
          <a:prstGeom prst="roundRect">
            <a:avLst>
              <a:gd name="adj" fmla="val 3810"/>
            </a:avLst>
          </a:prstGeom>
          <a:solidFill>
            <a:srgbClr val="EFEBFC"/>
          </a:solidFill>
          <a:ln w="12700">
            <a:solidFill>
              <a:srgbClr val="EFEBFC"/>
            </a:solidFill>
            <a:prstDash val="solid"/>
          </a:ln>
        </p:spPr>
      </p:sp>
      <p:sp>
        <p:nvSpPr>
          <p:cNvPr id="10" name="Shape 7"/>
          <p:cNvSpPr/>
          <p:nvPr/>
        </p:nvSpPr>
        <p:spPr>
          <a:xfrm>
            <a:off x="3474720" y="1554480"/>
            <a:ext cx="384048" cy="384048"/>
          </a:xfrm>
          <a:prstGeom prst="ellipse">
            <a:avLst/>
          </a:prstGeom>
          <a:solidFill>
            <a:srgbClr val="512BD4"/>
          </a:solidFill>
          <a:ln w="12700">
            <a:solidFill>
              <a:srgbClr val="512BD4"/>
            </a:solidFill>
            <a:prstDash val="solid"/>
          </a:ln>
        </p:spPr>
      </p:sp>
      <p:pic>
        <p:nvPicPr>
          <p:cNvPr id="11" name="Image 1" descr="preencoded.png">    </p:cNvPr>
          <p:cNvPicPr>
            <a:picLocks noChangeAspect="1"/>
          </p:cNvPicPr>
          <p:nvPr/>
        </p:nvPicPr>
        <p:blipFill>
          <a:blip r:embed="rId2"/>
          <a:stretch>
            <a:fillRect/>
          </a:stretch>
        </p:blipFill>
        <p:spPr>
          <a:xfrm>
            <a:off x="3574572" y="1654332"/>
            <a:ext cx="184343" cy="184343"/>
          </a:xfrm>
          <a:prstGeom prst="rect">
            <a:avLst/>
          </a:prstGeom>
        </p:spPr>
      </p:pic>
      <p:sp>
        <p:nvSpPr>
          <p:cNvPr id="12" name="Text 8"/>
          <p:cNvSpPr txBox="1"/>
          <p:nvPr/>
        </p:nvSpPr>
        <p:spPr>
          <a:xfrm>
            <a:off x="3977640" y="1554480"/>
            <a:ext cx="173736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alibri" pitchFamily="34" charset="0"/>
                <a:ea typeface="Calibri" pitchFamily="34" charset="-122"/>
                <a:cs typeface="Calibri" pitchFamily="34" charset="-120"/>
              </a:rPr>
              <a:t>What was established</a:t>
            </a:r>
            <a:endParaRPr lang="en-US" sz="1500" dirty="0"/>
          </a:p>
        </p:txBody>
      </p:sp>
      <p:sp>
        <p:nvSpPr>
          <p:cNvPr id="13" name="Text 9"/>
          <p:cNvSpPr txBox="1"/>
          <p:nvPr/>
        </p:nvSpPr>
        <p:spPr>
          <a:xfrm>
            <a:off x="3474720" y="2057400"/>
            <a:ext cx="2194560" cy="114300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Conclusions and explained decisions. The reasoning goes; the answer stays.</a:t>
            </a:r>
            <a:endParaRPr lang="en-US" sz="1200" dirty="0"/>
          </a:p>
        </p:txBody>
      </p:sp>
      <p:sp>
        <p:nvSpPr>
          <p:cNvPr id="14" name="Shape 10"/>
          <p:cNvSpPr/>
          <p:nvPr/>
        </p:nvSpPr>
        <p:spPr>
          <a:xfrm>
            <a:off x="6126480" y="1371600"/>
            <a:ext cx="2560320" cy="1920240"/>
          </a:xfrm>
          <a:prstGeom prst="roundRect">
            <a:avLst>
              <a:gd name="adj" fmla="val 3810"/>
            </a:avLst>
          </a:prstGeom>
          <a:solidFill>
            <a:srgbClr val="EFEBFC"/>
          </a:solidFill>
          <a:ln w="12700">
            <a:solidFill>
              <a:srgbClr val="EFEBFC"/>
            </a:solidFill>
            <a:prstDash val="solid"/>
          </a:ln>
        </p:spPr>
      </p:sp>
      <p:sp>
        <p:nvSpPr>
          <p:cNvPr id="15" name="Shape 11"/>
          <p:cNvSpPr/>
          <p:nvPr/>
        </p:nvSpPr>
        <p:spPr>
          <a:xfrm>
            <a:off x="6309360" y="1554480"/>
            <a:ext cx="384048" cy="384048"/>
          </a:xfrm>
          <a:prstGeom prst="ellipse">
            <a:avLst/>
          </a:prstGeom>
          <a:solidFill>
            <a:srgbClr val="512BD4"/>
          </a:solidFill>
          <a:ln w="12700">
            <a:solidFill>
              <a:srgbClr val="512BD4"/>
            </a:solidFill>
            <a:prstDash val="solid"/>
          </a:ln>
        </p:spPr>
      </p:sp>
      <p:pic>
        <p:nvPicPr>
          <p:cNvPr id="16" name="Image 2" descr="preencoded.png">    </p:cNvPr>
          <p:cNvPicPr>
            <a:picLocks noChangeAspect="1"/>
          </p:cNvPicPr>
          <p:nvPr/>
        </p:nvPicPr>
        <p:blipFill>
          <a:blip r:embed="rId3"/>
          <a:stretch>
            <a:fillRect/>
          </a:stretch>
        </p:blipFill>
        <p:spPr>
          <a:xfrm>
            <a:off x="6409212" y="1654332"/>
            <a:ext cx="184343" cy="184343"/>
          </a:xfrm>
          <a:prstGeom prst="rect">
            <a:avLst/>
          </a:prstGeom>
        </p:spPr>
      </p:pic>
      <p:sp>
        <p:nvSpPr>
          <p:cNvPr id="17" name="Text 12"/>
          <p:cNvSpPr txBox="1"/>
          <p:nvPr/>
        </p:nvSpPr>
        <p:spPr>
          <a:xfrm>
            <a:off x="6812280" y="1554480"/>
            <a:ext cx="173736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alibri" pitchFamily="34" charset="0"/>
                <a:ea typeface="Calibri" pitchFamily="34" charset="-122"/>
                <a:cs typeface="Calibri" pitchFamily="34" charset="-120"/>
              </a:rPr>
              <a:t>Files examined</a:t>
            </a:r>
            <a:endParaRPr lang="en-US" sz="1500" dirty="0"/>
          </a:p>
        </p:txBody>
      </p:sp>
      <p:sp>
        <p:nvSpPr>
          <p:cNvPr id="18" name="Text 13"/>
          <p:cNvSpPr txBox="1"/>
          <p:nvPr/>
        </p:nvSpPr>
        <p:spPr>
          <a:xfrm>
            <a:off x="6309360" y="2057400"/>
            <a:ext cx="2194560" cy="114300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Or the agent re-reads what it already read</a:t>
            </a:r>
            <a:endParaRPr lang="en-US" sz="1200" dirty="0"/>
          </a:p>
        </p:txBody>
      </p:sp>
      <p:sp>
        <p:nvSpPr>
          <p:cNvPr id="19" name="Text 14"/>
          <p:cNvSpPr txBox="1"/>
          <p:nvPr/>
        </p:nvSpPr>
        <p:spPr>
          <a:xfrm>
            <a:off x="457200" y="3520440"/>
            <a:ext cx="8229600" cy="365760"/>
          </a:xfrm>
          <a:prstGeom prst="rect">
            <a:avLst/>
          </a:prstGeom>
          <a:noFill/>
          <a:ln/>
        </p:spPr>
        <p:txBody>
          <a:bodyPr wrap="square" lIns="0" tIns="0" rIns="0" bIns="0" rtlCol="0" anchor="t"/>
          <a:lstStyle/>
          <a:p>
            <a:pPr indent="0" marL="0">
              <a:buNone/>
            </a:pPr>
            <a:r>
              <a:rPr lang="en-US" sz="1400" i="1" dirty="0">
                <a:solidFill>
                  <a:srgbClr val="512BD4"/>
                </a:solidFill>
                <a:latin typeface="Calibri" pitchFamily="34" charset="0"/>
                <a:ea typeface="Calibri" pitchFamily="34" charset="-122"/>
                <a:cs typeface="Calibri" pitchFamily="34" charset="-120"/>
              </a:rPr>
              <a:t>Invert the question and the design follows. Everything else is expendable.</a:t>
            </a:r>
            <a:endParaRPr lang="en-US" sz="1400" dirty="0"/>
          </a:p>
        </p:txBody>
      </p:sp>
      <p:sp>
        <p:nvSpPr>
          <p:cNvPr id="20" name="Text 15"/>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MiniCode  ·  Module 8b — Working State and Compaction</a:t>
            </a:r>
            <a:endParaRPr lang="en-US" sz="900" dirty="0"/>
          </a:p>
        </p:txBody>
      </p:sp>
      <p:sp>
        <p:nvSpPr>
          <p:cNvPr id="21" name="Text 16"/>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CORE CONCEPT</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500" b="1" dirty="0">
                <a:solidFill>
                  <a:srgbClr val="1F2937"/>
                </a:solidFill>
                <a:latin typeface="Cambria" pitchFamily="34" charset="0"/>
                <a:ea typeface="Cambria" pitchFamily="34" charset="-122"/>
                <a:cs typeface="Cambria" pitchFamily="34" charset="-120"/>
              </a:rPr>
              <a:t>Tool output: the biggest, and the most disposable</a:t>
            </a:r>
            <a:endParaRPr lang="en-US" sz="2500" dirty="0"/>
          </a:p>
        </p:txBody>
      </p:sp>
      <p:sp>
        <p:nvSpPr>
          <p:cNvPr id="4" name="Shape 2"/>
          <p:cNvSpPr/>
          <p:nvPr/>
        </p:nvSpPr>
        <p:spPr>
          <a:xfrm>
            <a:off x="457200" y="1371600"/>
            <a:ext cx="3931920" cy="1920240"/>
          </a:xfrm>
          <a:prstGeom prst="roundRect">
            <a:avLst>
              <a:gd name="adj" fmla="val 3810"/>
            </a:avLst>
          </a:prstGeom>
          <a:solidFill>
            <a:srgbClr val="EFEBFC"/>
          </a:solidFill>
          <a:ln w="12700">
            <a:solidFill>
              <a:srgbClr val="EFEBFC"/>
            </a:solidFill>
            <a:prstDash val="solid"/>
          </a:ln>
        </p:spPr>
      </p:sp>
      <p:sp>
        <p:nvSpPr>
          <p:cNvPr id="5" name="Shape 3"/>
          <p:cNvSpPr/>
          <p:nvPr/>
        </p:nvSpPr>
        <p:spPr>
          <a:xfrm>
            <a:off x="685800" y="1600200"/>
            <a:ext cx="438912" cy="438912"/>
          </a:xfrm>
          <a:prstGeom prst="ellipse">
            <a:avLst/>
          </a:prstGeom>
          <a:solidFill>
            <a:srgbClr val="16A34A"/>
          </a:solidFill>
          <a:ln w="12700">
            <a:solidFill>
              <a:srgbClr val="16A34A"/>
            </a:solidFill>
            <a:prstDash val="solid"/>
          </a:ln>
        </p:spPr>
      </p:sp>
      <p:pic>
        <p:nvPicPr>
          <p:cNvPr id="6" name="Image 0" descr="preencoded.png">    </p:cNvPr>
          <p:cNvPicPr>
            <a:picLocks noChangeAspect="1"/>
          </p:cNvPicPr>
          <p:nvPr/>
        </p:nvPicPr>
        <p:blipFill>
          <a:blip r:embed="rId1"/>
          <a:stretch>
            <a:fillRect/>
          </a:stretch>
        </p:blipFill>
        <p:spPr>
          <a:xfrm>
            <a:off x="799917" y="1714317"/>
            <a:ext cx="210678" cy="210678"/>
          </a:xfrm>
          <a:prstGeom prst="rect">
            <a:avLst/>
          </a:prstGeom>
        </p:spPr>
      </p:pic>
      <p:sp>
        <p:nvSpPr>
          <p:cNvPr id="7" name="Text 4"/>
          <p:cNvSpPr txBox="1"/>
          <p:nvPr/>
        </p:nvSpPr>
        <p:spPr>
          <a:xfrm>
            <a:off x="1261872" y="1600200"/>
            <a:ext cx="2926080" cy="438912"/>
          </a:xfrm>
          <a:prstGeom prst="rect">
            <a:avLst/>
          </a:prstGeom>
          <a:noFill/>
          <a:ln/>
        </p:spPr>
        <p:txBody>
          <a:bodyPr wrap="square" lIns="0" tIns="0" rIns="0" bIns="0" rtlCol="0" anchor="ctr"/>
          <a:lstStyle/>
          <a:p>
            <a:pPr indent="0" marL="0">
              <a:buNone/>
            </a:pPr>
            <a:r>
              <a:rPr lang="en-US" sz="1700" b="1" dirty="0">
                <a:solidFill>
                  <a:srgbClr val="1F2937"/>
                </a:solidFill>
                <a:latin typeface="Calibri" pitchFamily="34" charset="0"/>
                <a:ea typeface="Calibri" pitchFamily="34" charset="-122"/>
                <a:cs typeface="Calibri" pitchFamily="34" charset="-120"/>
              </a:rPr>
              <a:t>Keep the fact</a:t>
            </a:r>
            <a:endParaRPr lang="en-US" sz="1700" dirty="0"/>
          </a:p>
        </p:txBody>
      </p:sp>
      <p:sp>
        <p:nvSpPr>
          <p:cNvPr id="8" name="Text 5"/>
          <p:cNvSpPr txBox="1"/>
          <p:nvPr/>
        </p:nvSpPr>
        <p:spPr>
          <a:xfrm>
            <a:off x="685800" y="2194560"/>
            <a:ext cx="3474720" cy="91440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read_file was called on this path</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Taken from the tool call itself</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Survives as one FileState note</a:t>
            </a:r>
            <a:endParaRPr lang="en-US" sz="1300" dirty="0"/>
          </a:p>
        </p:txBody>
      </p:sp>
      <p:sp>
        <p:nvSpPr>
          <p:cNvPr id="9" name="Shape 6"/>
          <p:cNvSpPr/>
          <p:nvPr/>
        </p:nvSpPr>
        <p:spPr>
          <a:xfrm>
            <a:off x="4754880" y="1371600"/>
            <a:ext cx="3931920" cy="1920240"/>
          </a:xfrm>
          <a:prstGeom prst="roundRect">
            <a:avLst>
              <a:gd name="adj" fmla="val 3810"/>
            </a:avLst>
          </a:prstGeom>
          <a:solidFill>
            <a:srgbClr val="F6F4FE"/>
          </a:solidFill>
          <a:ln w="12700">
            <a:solidFill>
              <a:srgbClr val="F6F4FE"/>
            </a:solidFill>
            <a:prstDash val="solid"/>
          </a:ln>
        </p:spPr>
      </p:sp>
      <p:sp>
        <p:nvSpPr>
          <p:cNvPr id="10" name="Shape 7"/>
          <p:cNvSpPr/>
          <p:nvPr/>
        </p:nvSpPr>
        <p:spPr>
          <a:xfrm>
            <a:off x="4983480" y="1600200"/>
            <a:ext cx="438912" cy="438912"/>
          </a:xfrm>
          <a:prstGeom prst="ellipse">
            <a:avLst/>
          </a:prstGeom>
          <a:solidFill>
            <a:srgbClr val="DC2626"/>
          </a:solidFill>
          <a:ln w="12700">
            <a:solidFill>
              <a:srgbClr val="DC2626"/>
            </a:solidFill>
            <a:prstDash val="solid"/>
          </a:ln>
        </p:spPr>
      </p:sp>
      <p:pic>
        <p:nvPicPr>
          <p:cNvPr id="11" name="Image 1" descr="preencoded.png">    </p:cNvPr>
          <p:cNvPicPr>
            <a:picLocks noChangeAspect="1"/>
          </p:cNvPicPr>
          <p:nvPr/>
        </p:nvPicPr>
        <p:blipFill>
          <a:blip r:embed="rId2"/>
          <a:stretch>
            <a:fillRect/>
          </a:stretch>
        </p:blipFill>
        <p:spPr>
          <a:xfrm>
            <a:off x="5097597" y="1714317"/>
            <a:ext cx="210678" cy="210678"/>
          </a:xfrm>
          <a:prstGeom prst="rect">
            <a:avLst/>
          </a:prstGeom>
        </p:spPr>
      </p:pic>
      <p:sp>
        <p:nvSpPr>
          <p:cNvPr id="12" name="Text 8"/>
          <p:cNvSpPr txBox="1"/>
          <p:nvPr/>
        </p:nvSpPr>
        <p:spPr>
          <a:xfrm>
            <a:off x="5559552" y="1600200"/>
            <a:ext cx="2926080" cy="438912"/>
          </a:xfrm>
          <a:prstGeom prst="rect">
            <a:avLst/>
          </a:prstGeom>
          <a:noFill/>
          <a:ln/>
        </p:spPr>
        <p:txBody>
          <a:bodyPr wrap="square" lIns="0" tIns="0" rIns="0" bIns="0" rtlCol="0" anchor="ctr"/>
          <a:lstStyle/>
          <a:p>
            <a:pPr indent="0" marL="0">
              <a:buNone/>
            </a:pPr>
            <a:r>
              <a:rPr lang="en-US" sz="1700" b="1" dirty="0">
                <a:solidFill>
                  <a:srgbClr val="1F2937"/>
                </a:solidFill>
                <a:latin typeface="Calibri" pitchFamily="34" charset="0"/>
                <a:ea typeface="Calibri" pitchFamily="34" charset="-122"/>
                <a:cs typeface="Calibri" pitchFamily="34" charset="-120"/>
              </a:rPr>
              <a:t>Drop the content</a:t>
            </a:r>
            <a:endParaRPr lang="en-US" sz="1700" dirty="0"/>
          </a:p>
        </p:txBody>
      </p:sp>
      <p:sp>
        <p:nvSpPr>
          <p:cNvPr id="13" name="Text 9"/>
          <p:cNvSpPr txBox="1"/>
          <p:nvPr/>
        </p:nvSpPr>
        <p:spPr>
          <a:xfrm>
            <a:off x="4983480" y="2194560"/>
            <a:ext cx="3474720" cy="91440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Four hundred lines of file</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Dwarfs the question that asked</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Tool-role messages are skipped</a:t>
            </a:r>
            <a:endParaRPr lang="en-US" sz="1300" dirty="0"/>
          </a:p>
        </p:txBody>
      </p:sp>
      <p:sp>
        <p:nvSpPr>
          <p:cNvPr id="14" name="Text 10"/>
          <p:cNvSpPr txBox="1"/>
          <p:nvPr/>
        </p:nvSpPr>
        <p:spPr>
          <a:xfrm>
            <a:off x="457200" y="3566160"/>
            <a:ext cx="8229600" cy="365760"/>
          </a:xfrm>
          <a:prstGeom prst="rect">
            <a:avLst/>
          </a:prstGeom>
          <a:noFill/>
          <a:ln/>
        </p:spPr>
        <p:txBody>
          <a:bodyPr wrap="square" lIns="0" tIns="0" rIns="0" bIns="0" rtlCol="0" anchor="t"/>
          <a:lstStyle/>
          <a:p>
            <a:pPr indent="0" marL="0">
              <a:buNone/>
            </a:pPr>
            <a:r>
              <a:rPr lang="en-US" sz="1400" i="1" dirty="0">
                <a:solidFill>
                  <a:srgbClr val="512BD4"/>
                </a:solidFill>
                <a:latin typeface="Calibri" pitchFamily="34" charset="0"/>
                <a:ea typeface="Calibri" pitchFamily="34" charset="-122"/>
                <a:cs typeface="Calibri" pitchFamily="34" charset="-120"/>
              </a:rPr>
              <a:t>A first draft summarised file contents into "what was established". Nonsense.</a:t>
            </a:r>
            <a:endParaRPr lang="en-US" sz="1400" dirty="0"/>
          </a:p>
        </p:txBody>
      </p:sp>
      <p:sp>
        <p:nvSpPr>
          <p:cNvPr id="15" name="Text 11"/>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MiniCode  ·  Module 8b — Working State and Compaction</a:t>
            </a:r>
            <a:endParaRPr lang="en-US" sz="900" dirty="0"/>
          </a:p>
        </p:txBody>
      </p:sp>
      <p:sp>
        <p:nvSpPr>
          <p:cNvPr id="16" name="Text 12"/>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CORE CONCEPT</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Deterministic, and careful where it cuts</a:t>
            </a:r>
            <a:endParaRPr lang="en-US" sz="2800" dirty="0"/>
          </a:p>
        </p:txBody>
      </p:sp>
      <p:sp>
        <p:nvSpPr>
          <p:cNvPr id="4" name="Shape 2"/>
          <p:cNvSpPr/>
          <p:nvPr/>
        </p:nvSpPr>
        <p:spPr>
          <a:xfrm>
            <a:off x="457200" y="1417320"/>
            <a:ext cx="2468880" cy="2377440"/>
          </a:xfrm>
          <a:prstGeom prst="roundRect">
            <a:avLst>
              <a:gd name="adj" fmla="val 3077"/>
            </a:avLst>
          </a:prstGeom>
          <a:solidFill>
            <a:srgbClr val="512BD4"/>
          </a:solidFill>
          <a:ln w="12700">
            <a:solidFill>
              <a:srgbClr val="512BD4"/>
            </a:solidFill>
            <a:prstDash val="solid"/>
          </a:ln>
        </p:spPr>
      </p:sp>
      <p:sp>
        <p:nvSpPr>
          <p:cNvPr id="5" name="Shape 3"/>
          <p:cNvSpPr/>
          <p:nvPr/>
        </p:nvSpPr>
        <p:spPr>
          <a:xfrm>
            <a:off x="685800" y="1645920"/>
            <a:ext cx="502920" cy="502920"/>
          </a:xfrm>
          <a:prstGeom prst="ellipse">
            <a:avLst/>
          </a:prstGeom>
          <a:solidFill>
            <a:srgbClr val="FFFFFF"/>
          </a:solidFill>
          <a:ln w="1270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816559" y="1776679"/>
            <a:ext cx="241402" cy="241402"/>
          </a:xfrm>
          <a:prstGeom prst="rect">
            <a:avLst/>
          </a:prstGeom>
        </p:spPr>
      </p:pic>
      <p:sp>
        <p:nvSpPr>
          <p:cNvPr id="7" name="Text 4"/>
          <p:cNvSpPr txBox="1"/>
          <p:nvPr/>
        </p:nvSpPr>
        <p:spPr>
          <a:xfrm>
            <a:off x="685800" y="2286000"/>
            <a:ext cx="2057400" cy="45720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SessionCompactor</a:t>
            </a:r>
            <a:endParaRPr lang="en-US" sz="1800" dirty="0"/>
          </a:p>
        </p:txBody>
      </p:sp>
      <p:sp>
        <p:nvSpPr>
          <p:cNvPr id="8" name="Text 5"/>
          <p:cNvSpPr txBox="1"/>
          <p:nvPr/>
        </p:nvSpPr>
        <p:spPr>
          <a:xfrm>
            <a:off x="685800" y="2743200"/>
            <a:ext cx="2057400" cy="96012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No model call. Scanning and keeping is arithmetic, and arithmetic cannot fail when the window is full.</a:t>
            </a:r>
            <a:endParaRPr lang="en-US" sz="1300" dirty="0"/>
          </a:p>
        </p:txBody>
      </p:sp>
      <p:sp>
        <p:nvSpPr>
          <p:cNvPr id="9" name="Shape 6"/>
          <p:cNvSpPr/>
          <p:nvPr/>
        </p:nvSpPr>
        <p:spPr>
          <a:xfrm>
            <a:off x="2926080" y="1752600"/>
            <a:ext cx="502920" cy="0"/>
          </a:xfrm>
          <a:prstGeom prst="line">
            <a:avLst/>
          </a:prstGeom>
          <a:noFill/>
          <a:ln w="25400">
            <a:solidFill>
              <a:srgbClr val="F5A623"/>
            </a:solidFill>
            <a:prstDash val="solid"/>
          </a:ln>
        </p:spPr>
      </p:sp>
      <p:sp>
        <p:nvSpPr>
          <p:cNvPr id="10" name="Shape 7"/>
          <p:cNvSpPr/>
          <p:nvPr/>
        </p:nvSpPr>
        <p:spPr>
          <a:xfrm>
            <a:off x="3429000" y="1417320"/>
            <a:ext cx="5257800" cy="670560"/>
          </a:xfrm>
          <a:prstGeom prst="roundRect">
            <a:avLst>
              <a:gd name="adj" fmla="val 10909"/>
            </a:avLst>
          </a:prstGeom>
          <a:solidFill>
            <a:srgbClr val="EFEBFC"/>
          </a:solidFill>
          <a:ln w="12700">
            <a:solidFill>
              <a:srgbClr val="EFEBFC"/>
            </a:solidFill>
            <a:prstDash val="solid"/>
          </a:ln>
        </p:spPr>
      </p:sp>
      <p:sp>
        <p:nvSpPr>
          <p:cNvPr id="11" name="Shape 8"/>
          <p:cNvSpPr/>
          <p:nvPr/>
        </p:nvSpPr>
        <p:spPr>
          <a:xfrm>
            <a:off x="3593592" y="1560576"/>
            <a:ext cx="384048" cy="384048"/>
          </a:xfrm>
          <a:prstGeom prst="ellipse">
            <a:avLst/>
          </a:prstGeom>
          <a:solidFill>
            <a:srgbClr val="512BD4"/>
          </a:solidFill>
          <a:ln w="12700">
            <a:solidFill>
              <a:srgbClr val="512BD4"/>
            </a:solidFill>
            <a:prstDash val="solid"/>
          </a:ln>
        </p:spPr>
      </p:sp>
      <p:pic>
        <p:nvPicPr>
          <p:cNvPr id="12" name="Image 1" descr="preencoded.png">    </p:cNvPr>
          <p:cNvPicPr>
            <a:picLocks noChangeAspect="1"/>
          </p:cNvPicPr>
          <p:nvPr/>
        </p:nvPicPr>
        <p:blipFill>
          <a:blip r:embed="rId2"/>
          <a:stretch>
            <a:fillRect/>
          </a:stretch>
        </p:blipFill>
        <p:spPr>
          <a:xfrm>
            <a:off x="3693444" y="1660428"/>
            <a:ext cx="184343" cy="184343"/>
          </a:xfrm>
          <a:prstGeom prst="rect">
            <a:avLst/>
          </a:prstGeom>
        </p:spPr>
      </p:pic>
      <p:sp>
        <p:nvSpPr>
          <p:cNvPr id="13" name="Text 9"/>
          <p:cNvSpPr txBox="1"/>
          <p:nvPr/>
        </p:nvSpPr>
        <p:spPr>
          <a:xfrm>
            <a:off x="4142232" y="1508760"/>
            <a:ext cx="1463040" cy="48768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Recent turns</a:t>
            </a:r>
            <a:endParaRPr lang="en-US" sz="1500" dirty="0"/>
          </a:p>
        </p:txBody>
      </p:sp>
      <p:sp>
        <p:nvSpPr>
          <p:cNvPr id="14" name="Text 10"/>
          <p:cNvSpPr txBox="1"/>
          <p:nvPr/>
        </p:nvSpPr>
        <p:spPr>
          <a:xfrm>
            <a:off x="5577840" y="1508760"/>
            <a:ext cx="2971800" cy="48768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The last six messages are kept verbatim</a:t>
            </a:r>
            <a:endParaRPr lang="en-US" sz="1200" dirty="0"/>
          </a:p>
        </p:txBody>
      </p:sp>
      <p:sp>
        <p:nvSpPr>
          <p:cNvPr id="15" name="Shape 11"/>
          <p:cNvSpPr/>
          <p:nvPr/>
        </p:nvSpPr>
        <p:spPr>
          <a:xfrm>
            <a:off x="2926080" y="2606040"/>
            <a:ext cx="502920" cy="0"/>
          </a:xfrm>
          <a:prstGeom prst="line">
            <a:avLst/>
          </a:prstGeom>
          <a:noFill/>
          <a:ln w="25400">
            <a:solidFill>
              <a:srgbClr val="F5A623"/>
            </a:solidFill>
            <a:prstDash val="solid"/>
          </a:ln>
        </p:spPr>
      </p:sp>
      <p:sp>
        <p:nvSpPr>
          <p:cNvPr id="16" name="Shape 12"/>
          <p:cNvSpPr/>
          <p:nvPr/>
        </p:nvSpPr>
        <p:spPr>
          <a:xfrm>
            <a:off x="3429000" y="2270760"/>
            <a:ext cx="5257800" cy="670560"/>
          </a:xfrm>
          <a:prstGeom prst="roundRect">
            <a:avLst>
              <a:gd name="adj" fmla="val 10909"/>
            </a:avLst>
          </a:prstGeom>
          <a:solidFill>
            <a:srgbClr val="EFEBFC"/>
          </a:solidFill>
          <a:ln w="12700">
            <a:solidFill>
              <a:srgbClr val="EFEBFC"/>
            </a:solidFill>
            <a:prstDash val="solid"/>
          </a:ln>
        </p:spPr>
      </p:sp>
      <p:sp>
        <p:nvSpPr>
          <p:cNvPr id="17" name="Shape 13"/>
          <p:cNvSpPr/>
          <p:nvPr/>
        </p:nvSpPr>
        <p:spPr>
          <a:xfrm>
            <a:off x="3593592" y="2414016"/>
            <a:ext cx="384048" cy="384048"/>
          </a:xfrm>
          <a:prstGeom prst="ellipse">
            <a:avLst/>
          </a:prstGeom>
          <a:solidFill>
            <a:srgbClr val="512BD4"/>
          </a:solidFill>
          <a:ln w="12700">
            <a:solidFill>
              <a:srgbClr val="512BD4"/>
            </a:solidFill>
            <a:prstDash val="solid"/>
          </a:ln>
        </p:spPr>
      </p:sp>
      <p:pic>
        <p:nvPicPr>
          <p:cNvPr id="18" name="Image 2" descr="preencoded.png">    </p:cNvPr>
          <p:cNvPicPr>
            <a:picLocks noChangeAspect="1"/>
          </p:cNvPicPr>
          <p:nvPr/>
        </p:nvPicPr>
        <p:blipFill>
          <a:blip r:embed="rId3"/>
          <a:stretch>
            <a:fillRect/>
          </a:stretch>
        </p:blipFill>
        <p:spPr>
          <a:xfrm>
            <a:off x="3693444" y="2513868"/>
            <a:ext cx="184343" cy="184343"/>
          </a:xfrm>
          <a:prstGeom prst="rect">
            <a:avLst/>
          </a:prstGeom>
        </p:spPr>
      </p:pic>
      <p:sp>
        <p:nvSpPr>
          <p:cNvPr id="19" name="Text 14"/>
          <p:cNvSpPr txBox="1"/>
          <p:nvPr/>
        </p:nvSpPr>
        <p:spPr>
          <a:xfrm>
            <a:off x="4142232" y="2362200"/>
            <a:ext cx="1463040" cy="48768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Cut on a user</a:t>
            </a:r>
            <a:endParaRPr lang="en-US" sz="1500" dirty="0"/>
          </a:p>
        </p:txBody>
      </p:sp>
      <p:sp>
        <p:nvSpPr>
          <p:cNvPr id="20" name="Text 15"/>
          <p:cNvSpPr txBox="1"/>
          <p:nvPr/>
        </p:nvSpPr>
        <p:spPr>
          <a:xfrm>
            <a:off x="5577840" y="2362200"/>
            <a:ext cx="2971800" cy="48768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A tool call never loses the result that answers it</a:t>
            </a:r>
            <a:endParaRPr lang="en-US" sz="1200" dirty="0"/>
          </a:p>
        </p:txBody>
      </p:sp>
      <p:sp>
        <p:nvSpPr>
          <p:cNvPr id="21" name="Shape 16"/>
          <p:cNvSpPr/>
          <p:nvPr/>
        </p:nvSpPr>
        <p:spPr>
          <a:xfrm>
            <a:off x="2926080" y="3459480"/>
            <a:ext cx="502920" cy="0"/>
          </a:xfrm>
          <a:prstGeom prst="line">
            <a:avLst/>
          </a:prstGeom>
          <a:noFill/>
          <a:ln w="25400">
            <a:solidFill>
              <a:srgbClr val="F5A623"/>
            </a:solidFill>
            <a:prstDash val="solid"/>
          </a:ln>
        </p:spPr>
      </p:sp>
      <p:sp>
        <p:nvSpPr>
          <p:cNvPr id="22" name="Shape 17"/>
          <p:cNvSpPr/>
          <p:nvPr/>
        </p:nvSpPr>
        <p:spPr>
          <a:xfrm>
            <a:off x="3429000" y="3124200"/>
            <a:ext cx="5257800" cy="670560"/>
          </a:xfrm>
          <a:prstGeom prst="roundRect">
            <a:avLst>
              <a:gd name="adj" fmla="val 10909"/>
            </a:avLst>
          </a:prstGeom>
          <a:solidFill>
            <a:srgbClr val="EFEBFC"/>
          </a:solidFill>
          <a:ln w="12700">
            <a:solidFill>
              <a:srgbClr val="EFEBFC"/>
            </a:solidFill>
            <a:prstDash val="solid"/>
          </a:ln>
        </p:spPr>
      </p:sp>
      <p:sp>
        <p:nvSpPr>
          <p:cNvPr id="23" name="Shape 18"/>
          <p:cNvSpPr/>
          <p:nvPr/>
        </p:nvSpPr>
        <p:spPr>
          <a:xfrm>
            <a:off x="3593592" y="3267456"/>
            <a:ext cx="384048" cy="384048"/>
          </a:xfrm>
          <a:prstGeom prst="ellipse">
            <a:avLst/>
          </a:prstGeom>
          <a:solidFill>
            <a:srgbClr val="512BD4"/>
          </a:solidFill>
          <a:ln w="12700">
            <a:solidFill>
              <a:srgbClr val="512BD4"/>
            </a:solidFill>
            <a:prstDash val="solid"/>
          </a:ln>
        </p:spPr>
      </p:sp>
      <p:pic>
        <p:nvPicPr>
          <p:cNvPr id="24" name="Image 3" descr="preencoded.png">    </p:cNvPr>
          <p:cNvPicPr>
            <a:picLocks noChangeAspect="1"/>
          </p:cNvPicPr>
          <p:nvPr/>
        </p:nvPicPr>
        <p:blipFill>
          <a:blip r:embed="rId4"/>
          <a:stretch>
            <a:fillRect/>
          </a:stretch>
        </p:blipFill>
        <p:spPr>
          <a:xfrm>
            <a:off x="3693444" y="3367308"/>
            <a:ext cx="184343" cy="184343"/>
          </a:xfrm>
          <a:prstGeom prst="rect">
            <a:avLst/>
          </a:prstGeom>
        </p:spPr>
      </p:pic>
      <p:sp>
        <p:nvSpPr>
          <p:cNvPr id="25" name="Text 19"/>
          <p:cNvSpPr txBox="1"/>
          <p:nvPr/>
        </p:nvSpPr>
        <p:spPr>
          <a:xfrm>
            <a:off x="4142232" y="3215640"/>
            <a:ext cx="1463040" cy="48768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Authored as user</a:t>
            </a:r>
            <a:endParaRPr lang="en-US" sz="1500" dirty="0"/>
          </a:p>
        </p:txBody>
      </p:sp>
      <p:sp>
        <p:nvSpPr>
          <p:cNvPr id="26" name="Text 20"/>
          <p:cNvSpPr txBox="1"/>
          <p:nvPr/>
        </p:nvSpPr>
        <p:spPr>
          <a:xfrm>
            <a:off x="5577840" y="3215640"/>
            <a:ext cx="2971800" cy="48768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Context handed to the model, not its own prior claim</a:t>
            </a:r>
            <a:endParaRPr lang="en-US" sz="1200" dirty="0"/>
          </a:p>
        </p:txBody>
      </p:sp>
      <p:sp>
        <p:nvSpPr>
          <p:cNvPr id="27" name="Text 21"/>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MiniCode  ·  Module 8b — Working State and Compaction</a:t>
            </a:r>
            <a:endParaRPr lang="en-US" sz="900" dirty="0"/>
          </a:p>
        </p:txBody>
      </p:sp>
      <p:sp>
        <p:nvSpPr>
          <p:cNvPr id="28" name="Text 22"/>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EXERCISE</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Retire finished tasks, shrink tool results</a:t>
            </a:r>
            <a:endParaRPr lang="en-US" sz="2800" dirty="0"/>
          </a:p>
        </p:txBody>
      </p:sp>
      <p:sp>
        <p:nvSpPr>
          <p:cNvPr id="4" name="Shape 2"/>
          <p:cNvSpPr/>
          <p:nvPr/>
        </p:nvSpPr>
        <p:spPr>
          <a:xfrm>
            <a:off x="457200" y="1371600"/>
            <a:ext cx="3108960" cy="3017520"/>
          </a:xfrm>
          <a:prstGeom prst="roundRect">
            <a:avLst>
              <a:gd name="adj" fmla="val 2424"/>
            </a:avLst>
          </a:prstGeom>
          <a:solidFill>
            <a:srgbClr val="512BD4"/>
          </a:solidFill>
          <a:ln w="12700">
            <a:solidFill>
              <a:srgbClr val="512BD4"/>
            </a:solidFill>
            <a:prstDash val="solid"/>
          </a:ln>
        </p:spPr>
      </p:sp>
      <p:sp>
        <p:nvSpPr>
          <p:cNvPr id="5" name="Shape 3"/>
          <p:cNvSpPr/>
          <p:nvPr/>
        </p:nvSpPr>
        <p:spPr>
          <a:xfrm>
            <a:off x="685800" y="1600200"/>
            <a:ext cx="457200" cy="457200"/>
          </a:xfrm>
          <a:prstGeom prst="ellipse">
            <a:avLst/>
          </a:prstGeom>
          <a:solidFill>
            <a:srgbClr val="FFFFFF"/>
          </a:solidFill>
          <a:ln w="1270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804672" y="1719072"/>
            <a:ext cx="219456" cy="219456"/>
          </a:xfrm>
          <a:prstGeom prst="rect">
            <a:avLst/>
          </a:prstGeom>
        </p:spPr>
      </p:pic>
      <p:sp>
        <p:nvSpPr>
          <p:cNvPr id="7" name="Text 4"/>
          <p:cNvSpPr txBox="1"/>
          <p:nvPr/>
        </p:nvSpPr>
        <p:spPr>
          <a:xfrm>
            <a:off x="685800" y="2194560"/>
            <a:ext cx="2651760" cy="1371600"/>
          </a:xfrm>
          <a:prstGeom prst="rect">
            <a:avLst/>
          </a:prstGeom>
          <a:noFill/>
          <a:ln/>
        </p:spPr>
        <p:txBody>
          <a:bodyPr wrap="square" lIns="0" tIns="0" rIns="0" bIns="0" rtlCol="0" anchor="t"/>
          <a:lstStyle/>
          <a:p>
            <a:pPr indent="0" marL="0">
              <a:buNone/>
            </a:pPr>
            <a:r>
              <a:rPr lang="en-US" sz="1400" dirty="0">
                <a:solidFill>
                  <a:srgbClr val="FFFFFF"/>
                </a:solidFill>
                <a:latin typeface="Calibri" pitchFamily="34" charset="0"/>
                <a:ea typeface="Calibri" pitchFamily="34" charset="-122"/>
                <a:cs typeface="Calibri" pitchFamily="34" charset="-120"/>
              </a:rPr>
              <a:t>One: let WorkingState retire a request once it is clearly answered. Two: replace each tool result with one line, such as read src/Foo.cs (412 lines).</a:t>
            </a:r>
            <a:endParaRPr lang="en-US" sz="1400" dirty="0"/>
          </a:p>
        </p:txBody>
      </p:sp>
      <p:sp>
        <p:nvSpPr>
          <p:cNvPr id="8" name="Text 5"/>
          <p:cNvSpPr txBox="1"/>
          <p:nvPr/>
        </p:nvSpPr>
        <p:spPr>
          <a:xfrm>
            <a:off x="685800" y="3611880"/>
            <a:ext cx="2743200" cy="640080"/>
          </a:xfrm>
          <a:prstGeom prst="rect">
            <a:avLst/>
          </a:prstGeom>
          <a:noFill/>
          <a:ln/>
        </p:spPr>
        <p:txBody>
          <a:bodyPr wrap="square" lIns="0" tIns="0" rIns="0" bIns="0" rtlCol="0" anchor="b"/>
          <a:lstStyle/>
          <a:p>
            <a:pPr indent="0" marL="0">
              <a:buNone/>
            </a:pPr>
            <a:r>
              <a:rPr lang="en-US" sz="950" dirty="0">
                <a:solidFill>
                  <a:srgbClr val="B8B2E6"/>
                </a:solidFill>
                <a:latin typeface="Courier New" pitchFamily="34" charset="0"/>
                <a:ea typeface="Courier New" pitchFamily="34" charset="-122"/>
                <a:cs typeface="Courier New" pitchFamily="34" charset="-120"/>
              </a:rPr>
              <a:t>src/MiniCode.Agent/</a:t>
            </a:r>
            <a:endParaRPr lang="en-US" sz="950" dirty="0"/>
          </a:p>
        </p:txBody>
      </p:sp>
      <p:sp>
        <p:nvSpPr>
          <p:cNvPr id="9" name="Text 6"/>
          <p:cNvSpPr txBox="1"/>
          <p:nvPr/>
        </p:nvSpPr>
        <p:spPr>
          <a:xfrm>
            <a:off x="3931920" y="1371600"/>
            <a:ext cx="4754880" cy="320040"/>
          </a:xfrm>
          <a:prstGeom prst="rect">
            <a:avLst/>
          </a:prstGeom>
          <a:noFill/>
          <a:ln/>
        </p:spPr>
        <p:txBody>
          <a:bodyPr wrap="square" lIns="0" tIns="0" rIns="0" bIns="0" rtlCol="0" anchor="t"/>
          <a:lstStyle/>
          <a:p>
            <a:pPr indent="0" marL="0">
              <a:buNone/>
            </a:pPr>
            <a:r>
              <a:rPr lang="en-US" sz="1600" b="1" dirty="0">
                <a:solidFill>
                  <a:srgbClr val="1F2937"/>
                </a:solidFill>
                <a:latin typeface="Cambria" pitchFamily="34" charset="0"/>
                <a:ea typeface="Cambria" pitchFamily="34" charset="-122"/>
                <a:cs typeface="Cambria" pitchFamily="34" charset="-120"/>
              </a:rPr>
              <a:t>Done when</a:t>
            </a:r>
            <a:endParaRPr lang="en-US" sz="1600" dirty="0"/>
          </a:p>
        </p:txBody>
      </p:sp>
      <p:sp>
        <p:nvSpPr>
          <p:cNvPr id="10" name="Shape 7"/>
          <p:cNvSpPr/>
          <p:nvPr/>
        </p:nvSpPr>
        <p:spPr>
          <a:xfrm>
            <a:off x="3931920" y="1801368"/>
            <a:ext cx="292608" cy="292608"/>
          </a:xfrm>
          <a:prstGeom prst="ellipse">
            <a:avLst/>
          </a:prstGeom>
          <a:solidFill>
            <a:srgbClr val="F5A623"/>
          </a:solidFill>
          <a:ln w="12700">
            <a:solidFill>
              <a:srgbClr val="F5A623"/>
            </a:solidFill>
            <a:prstDash val="solid"/>
          </a:ln>
        </p:spPr>
      </p:sp>
      <p:pic>
        <p:nvPicPr>
          <p:cNvPr id="11" name="Image 1" descr="preencoded.png">    </p:cNvPr>
          <p:cNvPicPr>
            <a:picLocks noChangeAspect="1"/>
          </p:cNvPicPr>
          <p:nvPr/>
        </p:nvPicPr>
        <p:blipFill>
          <a:blip r:embed="rId2"/>
          <a:stretch>
            <a:fillRect/>
          </a:stretch>
        </p:blipFill>
        <p:spPr>
          <a:xfrm>
            <a:off x="4007998" y="1877446"/>
            <a:ext cx="140452" cy="140452"/>
          </a:xfrm>
          <a:prstGeom prst="rect">
            <a:avLst/>
          </a:prstGeom>
        </p:spPr>
      </p:pic>
      <p:sp>
        <p:nvSpPr>
          <p:cNvPr id="12" name="Text 8"/>
          <p:cNvSpPr txBox="1"/>
          <p:nvPr/>
        </p:nvSpPr>
        <p:spPr>
          <a:xfrm>
            <a:off x="4361688" y="1783080"/>
            <a:ext cx="4325112" cy="5943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An answered request stops appearing after the next compaction</a:t>
            </a:r>
            <a:endParaRPr lang="en-US" sz="1300" dirty="0"/>
          </a:p>
        </p:txBody>
      </p:sp>
      <p:sp>
        <p:nvSpPr>
          <p:cNvPr id="13" name="Shape 9"/>
          <p:cNvSpPr/>
          <p:nvPr/>
        </p:nvSpPr>
        <p:spPr>
          <a:xfrm>
            <a:off x="3931920" y="2441448"/>
            <a:ext cx="292608" cy="292608"/>
          </a:xfrm>
          <a:prstGeom prst="ellipse">
            <a:avLst/>
          </a:prstGeom>
          <a:solidFill>
            <a:srgbClr val="F5A623"/>
          </a:solidFill>
          <a:ln w="12700">
            <a:solidFill>
              <a:srgbClr val="F5A623"/>
            </a:solidFill>
            <a:prstDash val="solid"/>
          </a:ln>
        </p:spPr>
      </p:sp>
      <p:pic>
        <p:nvPicPr>
          <p:cNvPr id="14" name="Image 2" descr="preencoded.png">    </p:cNvPr>
          <p:cNvPicPr>
            <a:picLocks noChangeAspect="1"/>
          </p:cNvPicPr>
          <p:nvPr/>
        </p:nvPicPr>
        <p:blipFill>
          <a:blip r:embed="rId3"/>
          <a:stretch>
            <a:fillRect/>
          </a:stretch>
        </p:blipFill>
        <p:spPr>
          <a:xfrm>
            <a:off x="4007998" y="2517526"/>
            <a:ext cx="140452" cy="140452"/>
          </a:xfrm>
          <a:prstGeom prst="rect">
            <a:avLst/>
          </a:prstGeom>
        </p:spPr>
      </p:pic>
      <p:sp>
        <p:nvSpPr>
          <p:cNvPr id="15" name="Text 10"/>
          <p:cNvSpPr txBox="1"/>
          <p:nvPr/>
        </p:nvSpPr>
        <p:spPr>
          <a:xfrm>
            <a:off x="4361688" y="2423160"/>
            <a:ext cx="4325112" cy="5943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An unanswered request still appears; a mere reply retires nothing</a:t>
            </a:r>
            <a:endParaRPr lang="en-US" sz="1300" dirty="0"/>
          </a:p>
        </p:txBody>
      </p:sp>
      <p:sp>
        <p:nvSpPr>
          <p:cNvPr id="16" name="Shape 11"/>
          <p:cNvSpPr/>
          <p:nvPr/>
        </p:nvSpPr>
        <p:spPr>
          <a:xfrm>
            <a:off x="3931920" y="3081528"/>
            <a:ext cx="292608" cy="292608"/>
          </a:xfrm>
          <a:prstGeom prst="ellipse">
            <a:avLst/>
          </a:prstGeom>
          <a:solidFill>
            <a:srgbClr val="F5A623"/>
          </a:solidFill>
          <a:ln w="12700">
            <a:solidFill>
              <a:srgbClr val="F5A623"/>
            </a:solidFill>
            <a:prstDash val="solid"/>
          </a:ln>
        </p:spPr>
      </p:sp>
      <p:pic>
        <p:nvPicPr>
          <p:cNvPr id="17" name="Image 3" descr="preencoded.png">    </p:cNvPr>
          <p:cNvPicPr>
            <a:picLocks noChangeAspect="1"/>
          </p:cNvPicPr>
          <p:nvPr/>
        </p:nvPicPr>
        <p:blipFill>
          <a:blip r:embed="rId4"/>
          <a:stretch>
            <a:fillRect/>
          </a:stretch>
        </p:blipFill>
        <p:spPr>
          <a:xfrm>
            <a:off x="4007998" y="3157606"/>
            <a:ext cx="140452" cy="140452"/>
          </a:xfrm>
          <a:prstGeom prst="rect">
            <a:avLst/>
          </a:prstGeom>
        </p:spPr>
      </p:pic>
      <p:sp>
        <p:nvSpPr>
          <p:cNvPr id="18" name="Text 12"/>
          <p:cNvSpPr txBox="1"/>
          <p:nvPr/>
        </p:nvSpPr>
        <p:spPr>
          <a:xfrm>
            <a:off x="4361688" y="3063240"/>
            <a:ext cx="4325112" cy="5943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A compacted history holds one line per tool call, not its output</a:t>
            </a:r>
            <a:endParaRPr lang="en-US" sz="1300" dirty="0"/>
          </a:p>
        </p:txBody>
      </p:sp>
      <p:sp>
        <p:nvSpPr>
          <p:cNvPr id="19" name="Shape 13"/>
          <p:cNvSpPr/>
          <p:nvPr/>
        </p:nvSpPr>
        <p:spPr>
          <a:xfrm>
            <a:off x="3931920" y="3721608"/>
            <a:ext cx="292608" cy="292608"/>
          </a:xfrm>
          <a:prstGeom prst="ellipse">
            <a:avLst/>
          </a:prstGeom>
          <a:solidFill>
            <a:srgbClr val="F5A623"/>
          </a:solidFill>
          <a:ln w="12700">
            <a:solidFill>
              <a:srgbClr val="F5A623"/>
            </a:solidFill>
            <a:prstDash val="solid"/>
          </a:ln>
        </p:spPr>
      </p:sp>
      <p:pic>
        <p:nvPicPr>
          <p:cNvPr id="20" name="Image 4" descr="preencoded.png">    </p:cNvPr>
          <p:cNvPicPr>
            <a:picLocks noChangeAspect="1"/>
          </p:cNvPicPr>
          <p:nvPr/>
        </p:nvPicPr>
        <p:blipFill>
          <a:blip r:embed="rId5"/>
          <a:stretch>
            <a:fillRect/>
          </a:stretch>
        </p:blipFill>
        <p:spPr>
          <a:xfrm>
            <a:off x="4007998" y="3797686"/>
            <a:ext cx="140452" cy="140452"/>
          </a:xfrm>
          <a:prstGeom prst="rect">
            <a:avLst/>
          </a:prstGeom>
        </p:spPr>
      </p:pic>
      <p:sp>
        <p:nvSpPr>
          <p:cNvPr id="21" name="Text 14"/>
          <p:cNvSpPr txBox="1"/>
          <p:nvPr/>
        </p:nvSpPr>
        <p:spPr>
          <a:xfrm>
            <a:off x="4361688" y="3703320"/>
            <a:ext cx="4325112" cy="5943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The saving is still real, and the cut still lands on a user message</a:t>
            </a:r>
            <a:endParaRPr lang="en-US" sz="1300" dirty="0"/>
          </a:p>
        </p:txBody>
      </p:sp>
      <p:sp>
        <p:nvSpPr>
          <p:cNvPr id="22" name="Text 15"/>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MiniCode  ·  Module 8b — Working State and Compaction</a:t>
            </a:r>
            <a:endParaRPr lang="en-US" sz="900" dirty="0"/>
          </a:p>
        </p:txBody>
      </p:sp>
      <p:sp>
        <p:nvSpPr>
          <p:cNvPr id="23" name="Text 16"/>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EXPECTED OUTPUT</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What survived the compaction</a:t>
            </a:r>
            <a:endParaRPr lang="en-US" sz="2800" dirty="0"/>
          </a:p>
        </p:txBody>
      </p:sp>
      <p:sp>
        <p:nvSpPr>
          <p:cNvPr id="4" name="Shape 2"/>
          <p:cNvSpPr/>
          <p:nvPr/>
        </p:nvSpPr>
        <p:spPr>
          <a:xfrm>
            <a:off x="457200" y="1325880"/>
            <a:ext cx="5257800" cy="3108960"/>
          </a:xfrm>
          <a:prstGeom prst="roundRect">
            <a:avLst>
              <a:gd name="adj" fmla="val 2353"/>
            </a:avLst>
          </a:prstGeom>
          <a:solidFill>
            <a:srgbClr val="0F1420"/>
          </a:solidFill>
          <a:ln w="12700">
            <a:solidFill>
              <a:srgbClr val="0F1420"/>
            </a:solidFill>
            <a:prstDash val="solid"/>
          </a:ln>
        </p:spPr>
      </p:sp>
      <p:sp>
        <p:nvSpPr>
          <p:cNvPr id="5" name="Text 3"/>
          <p:cNvSpPr txBox="1"/>
          <p:nvPr/>
        </p:nvSpPr>
        <p:spPr>
          <a:xfrm>
            <a:off x="640080" y="1463040"/>
            <a:ext cx="4892040" cy="2834640"/>
          </a:xfrm>
          <a:prstGeom prst="rect">
            <a:avLst/>
          </a:prstGeom>
          <a:noFill/>
          <a:ln/>
        </p:spPr>
        <p:txBody>
          <a:bodyPr wrap="square" lIns="0" tIns="0" rIns="0" bIns="0" rtlCol="0" anchor="t"/>
          <a:lstStyle/>
          <a:p>
            <a:pPr indent="0" marL="0">
              <a:buNone/>
            </a:pPr>
            <a:r>
              <a:rPr lang="en-US" sz="1000" dirty="0">
                <a:solidFill>
                  <a:srgbClr val="FF9B9B"/>
                </a:solidFill>
                <a:latin typeface="Courier New" pitchFamily="34" charset="0"/>
                <a:ea typeface="Courier New" pitchFamily="34" charset="-122"/>
                <a:cs typeface="Courier New" pitchFamily="34" charset="-120"/>
              </a:rPr>
              <a:t>history: 10 messages, ~3,620 tokens</a:t>
            </a:r>
            <a:endParaRPr lang="en-US" sz="1000" dirty="0"/>
          </a:p>
          <a:p>
            <a:pPr indent="0" marL="0">
              <a:buNone/>
            </a:pPr>
            <a:r>
              <a:rPr lang="en-US" sz="1000" dirty="0">
                <a:solidFill>
                  <a:srgbClr val="D7E3F4"/>
                </a:solidFill>
                <a:latin typeface="Courier New" pitchFamily="34" charset="0"/>
                <a:ea typeface="Courier New" pitchFamily="34" charset="-122"/>
                <a:cs typeface="Courier New" pitchFamily="34" charset="-120"/>
              </a:rPr>
              <a:t> </a:t>
            </a:r>
            <a:endParaRPr lang="en-US" sz="1000" dirty="0"/>
          </a:p>
          <a:p>
            <a:pPr indent="0" marL="0">
              <a:buNone/>
            </a:pPr>
            <a:r>
              <a:rPr lang="en-US" sz="1000" dirty="0">
                <a:solidFill>
                  <a:srgbClr val="D7E3F4"/>
                </a:solidFill>
                <a:latin typeface="Courier New" pitchFamily="34" charset="0"/>
                <a:ea typeface="Courier New" pitchFamily="34" charset="-122"/>
                <a:cs typeface="Courier New" pitchFamily="34" charset="-120"/>
              </a:rPr>
              <a:t>SESSION STATE (earlier turns were compacted away)</a:t>
            </a:r>
            <a:endParaRPr lang="en-US" sz="1000" dirty="0"/>
          </a:p>
          <a:p>
            <a:pPr indent="0" marL="0">
              <a:buNone/>
            </a:pPr>
            <a:r>
              <a:rPr lang="en-US" sz="1000" b="1" dirty="0">
                <a:solidFill>
                  <a:srgbClr val="F5A623"/>
                </a:solidFill>
                <a:latin typeface="Courier New" pitchFamily="34" charset="0"/>
                <a:ea typeface="Courier New" pitchFamily="34" charset="-122"/>
                <a:cs typeface="Courier New" pitchFamily="34" charset="-120"/>
              </a:rPr>
              <a:t>What was asked:</a:t>
            </a:r>
            <a:endParaRPr lang="en-US" sz="1000" dirty="0"/>
          </a:p>
          <a:p>
            <a:pPr indent="0" marL="0">
              <a:buNone/>
            </a:pPr>
            <a:r>
              <a:rPr lang="en-US" sz="1000" dirty="0">
                <a:solidFill>
                  <a:srgbClr val="9FE6B8"/>
                </a:solidFill>
                <a:latin typeface="Courier New" pitchFamily="34" charset="0"/>
                <a:ea typeface="Courier New" pitchFamily="34" charset="-122"/>
                <a:cs typeface="Courier New" pitchFamily="34" charset="-120"/>
              </a:rPr>
              <a:t>- Where is a path checked before a file is opened?</a:t>
            </a:r>
            <a:endParaRPr lang="en-US" sz="1000" dirty="0"/>
          </a:p>
          <a:p>
            <a:pPr indent="0" marL="0">
              <a:buNone/>
            </a:pPr>
            <a:r>
              <a:rPr lang="en-US" sz="1000" b="1" dirty="0">
                <a:solidFill>
                  <a:srgbClr val="F5A623"/>
                </a:solidFill>
                <a:latin typeface="Courier New" pitchFamily="34" charset="0"/>
                <a:ea typeface="Courier New" pitchFamily="34" charset="-122"/>
                <a:cs typeface="Courier New" pitchFamily="34" charset="-120"/>
              </a:rPr>
              <a:t>What was established:</a:t>
            </a:r>
            <a:endParaRPr lang="en-US" sz="1000" dirty="0"/>
          </a:p>
          <a:p>
            <a:pPr indent="0" marL="0">
              <a:buNone/>
            </a:pPr>
            <a:r>
              <a:rPr lang="en-US" sz="1000" dirty="0">
                <a:solidFill>
                  <a:srgbClr val="9FE6B8"/>
                </a:solidFill>
                <a:latin typeface="Courier New" pitchFamily="34" charset="0"/>
                <a:ea typeface="Courier New" pitchFamily="34" charset="-122"/>
                <a:cs typeface="Courier New" pitchFamily="34" charset="-120"/>
              </a:rPr>
              <a:t>- ValidatePath in Workspace.cs is the single check;</a:t>
            </a:r>
            <a:endParaRPr lang="en-US" sz="1000" dirty="0"/>
          </a:p>
          <a:p>
            <a:pPr indent="0" marL="0">
              <a:buNone/>
            </a:pPr>
            <a:r>
              <a:rPr lang="en-US" sz="1000" dirty="0">
                <a:solidFill>
                  <a:srgbClr val="9FE6B8"/>
                </a:solidFill>
                <a:latin typeface="Courier New" pitchFamily="34" charset="0"/>
                <a:ea typeface="Courier New" pitchFamily="34" charset="-122"/>
                <a:cs typeface="Courier New" pitchFamily="34" charset="-120"/>
              </a:rPr>
              <a:t>  ResolvePath and IsPathAllowed both delegate to it.</a:t>
            </a:r>
            <a:endParaRPr lang="en-US" sz="1000" dirty="0"/>
          </a:p>
          <a:p>
            <a:pPr indent="0" marL="0">
              <a:buNone/>
            </a:pPr>
            <a:r>
              <a:rPr lang="en-US" sz="1000" b="1" dirty="0">
                <a:solidFill>
                  <a:srgbClr val="F5A623"/>
                </a:solidFill>
                <a:latin typeface="Courier New" pitchFamily="34" charset="0"/>
                <a:ea typeface="Courier New" pitchFamily="34" charset="-122"/>
                <a:cs typeface="Courier New" pitchFamily="34" charset="-120"/>
              </a:rPr>
              <a:t>Files already examined:</a:t>
            </a:r>
            <a:endParaRPr lang="en-US" sz="1000" dirty="0"/>
          </a:p>
          <a:p>
            <a:pPr indent="0" marL="0">
              <a:buNone/>
            </a:pPr>
            <a:r>
              <a:rPr lang="en-US" sz="1000" dirty="0">
                <a:solidFill>
                  <a:srgbClr val="9FE6B8"/>
                </a:solidFill>
                <a:latin typeface="Courier New" pitchFamily="34" charset="0"/>
                <a:ea typeface="Courier New" pitchFamily="34" charset="-122"/>
                <a:cs typeface="Courier New" pitchFamily="34" charset="-120"/>
              </a:rPr>
              <a:t>- src/MiniCode.Workspace/Workspace.cs</a:t>
            </a:r>
            <a:endParaRPr lang="en-US" sz="1000" dirty="0"/>
          </a:p>
          <a:p>
            <a:pPr indent="0" marL="0">
              <a:buNone/>
            </a:pPr>
            <a:r>
              <a:rPr lang="en-US" sz="1000" dirty="0">
                <a:solidFill>
                  <a:srgbClr val="D7E3F4"/>
                </a:solidFill>
                <a:latin typeface="Courier New" pitchFamily="34" charset="0"/>
                <a:ea typeface="Courier New" pitchFamily="34" charset="-122"/>
                <a:cs typeface="Courier New" pitchFamily="34" charset="-120"/>
              </a:rPr>
              <a:t> </a:t>
            </a:r>
            <a:endParaRPr lang="en-US" sz="1000" dirty="0"/>
          </a:p>
          <a:p>
            <a:pPr indent="0" marL="0">
              <a:buNone/>
            </a:pPr>
            <a:r>
              <a:rPr lang="en-US" sz="1000" dirty="0">
                <a:solidFill>
                  <a:srgbClr val="D7E3F4"/>
                </a:solidFill>
                <a:latin typeface="Courier New" pitchFamily="34" charset="0"/>
                <a:ea typeface="Courier New" pitchFamily="34" charset="-122"/>
                <a:cs typeface="Courier New" pitchFamily="34" charset="-120"/>
              </a:rPr>
              <a:t>after compaction: ~1,649 tokens  (reclaimed ~1,971)</a:t>
            </a:r>
            <a:endParaRPr lang="en-US" sz="1000" dirty="0"/>
          </a:p>
        </p:txBody>
      </p:sp>
      <p:sp>
        <p:nvSpPr>
          <p:cNvPr id="6" name="Shape 4"/>
          <p:cNvSpPr/>
          <p:nvPr/>
        </p:nvSpPr>
        <p:spPr>
          <a:xfrm>
            <a:off x="6035040" y="1325880"/>
            <a:ext cx="384048" cy="384048"/>
          </a:xfrm>
          <a:prstGeom prst="ellipse">
            <a:avLst/>
          </a:prstGeom>
          <a:solidFill>
            <a:srgbClr val="512BD4"/>
          </a:solidFill>
          <a:ln w="12700">
            <a:solidFill>
              <a:srgbClr val="512BD4"/>
            </a:solidFill>
            <a:prstDash val="solid"/>
          </a:ln>
        </p:spPr>
      </p:sp>
      <p:pic>
        <p:nvPicPr>
          <p:cNvPr id="7" name="Image 0" descr="preencoded.png">    </p:cNvPr>
          <p:cNvPicPr>
            <a:picLocks noChangeAspect="1"/>
          </p:cNvPicPr>
          <p:nvPr/>
        </p:nvPicPr>
        <p:blipFill>
          <a:blip r:embed="rId1"/>
          <a:stretch>
            <a:fillRect/>
          </a:stretch>
        </p:blipFill>
        <p:spPr>
          <a:xfrm>
            <a:off x="6134892" y="1425732"/>
            <a:ext cx="184343" cy="184343"/>
          </a:xfrm>
          <a:prstGeom prst="rect">
            <a:avLst/>
          </a:prstGeom>
        </p:spPr>
      </p:pic>
      <p:sp>
        <p:nvSpPr>
          <p:cNvPr id="8" name="Text 5"/>
          <p:cNvSpPr txBox="1"/>
          <p:nvPr/>
        </p:nvSpPr>
        <p:spPr>
          <a:xfrm>
            <a:off x="6537960" y="1325880"/>
            <a:ext cx="2148840" cy="384048"/>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54% reclaimed</a:t>
            </a:r>
            <a:endParaRPr lang="en-US" sz="1400" dirty="0"/>
          </a:p>
        </p:txBody>
      </p:sp>
      <p:sp>
        <p:nvSpPr>
          <p:cNvPr id="9" name="Text 6"/>
          <p:cNvSpPr txBox="1"/>
          <p:nvPr/>
        </p:nvSpPr>
        <p:spPr>
          <a:xfrm>
            <a:off x="6537960" y="1709928"/>
            <a:ext cx="2148840" cy="64008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From a scripted ten-message session</a:t>
            </a:r>
            <a:endParaRPr lang="en-US" sz="1200" dirty="0"/>
          </a:p>
        </p:txBody>
      </p:sp>
      <p:sp>
        <p:nvSpPr>
          <p:cNvPr id="10" name="Shape 7"/>
          <p:cNvSpPr/>
          <p:nvPr/>
        </p:nvSpPr>
        <p:spPr>
          <a:xfrm>
            <a:off x="6035040" y="2423160"/>
            <a:ext cx="384048" cy="384048"/>
          </a:xfrm>
          <a:prstGeom prst="ellipse">
            <a:avLst/>
          </a:prstGeom>
          <a:solidFill>
            <a:srgbClr val="512BD4"/>
          </a:solidFill>
          <a:ln w="12700">
            <a:solidFill>
              <a:srgbClr val="512BD4"/>
            </a:solidFill>
            <a:prstDash val="solid"/>
          </a:ln>
        </p:spPr>
      </p:sp>
      <p:pic>
        <p:nvPicPr>
          <p:cNvPr id="11" name="Image 1" descr="preencoded.png">    </p:cNvPr>
          <p:cNvPicPr>
            <a:picLocks noChangeAspect="1"/>
          </p:cNvPicPr>
          <p:nvPr/>
        </p:nvPicPr>
        <p:blipFill>
          <a:blip r:embed="rId2"/>
          <a:stretch>
            <a:fillRect/>
          </a:stretch>
        </p:blipFill>
        <p:spPr>
          <a:xfrm>
            <a:off x="6134892" y="2523012"/>
            <a:ext cx="184343" cy="184343"/>
          </a:xfrm>
          <a:prstGeom prst="rect">
            <a:avLst/>
          </a:prstGeom>
        </p:spPr>
      </p:pic>
      <p:sp>
        <p:nvSpPr>
          <p:cNvPr id="12" name="Text 8"/>
          <p:cNvSpPr txBox="1"/>
          <p:nvPr/>
        </p:nvSpPr>
        <p:spPr>
          <a:xfrm>
            <a:off x="6537960" y="2423160"/>
            <a:ext cx="2148840" cy="384048"/>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What stayed</a:t>
            </a:r>
            <a:endParaRPr lang="en-US" sz="1400" dirty="0"/>
          </a:p>
        </p:txBody>
      </p:sp>
      <p:sp>
        <p:nvSpPr>
          <p:cNvPr id="13" name="Text 9"/>
          <p:cNvSpPr txBox="1"/>
          <p:nvPr/>
        </p:nvSpPr>
        <p:spPr>
          <a:xfrm>
            <a:off x="6537960" y="2807208"/>
            <a:ext cx="2148840" cy="64008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The question, the answer, the file</a:t>
            </a:r>
            <a:endParaRPr lang="en-US" sz="1200" dirty="0"/>
          </a:p>
        </p:txBody>
      </p:sp>
      <p:sp>
        <p:nvSpPr>
          <p:cNvPr id="14" name="Shape 10"/>
          <p:cNvSpPr/>
          <p:nvPr/>
        </p:nvSpPr>
        <p:spPr>
          <a:xfrm>
            <a:off x="6035040" y="3520440"/>
            <a:ext cx="384048" cy="384048"/>
          </a:xfrm>
          <a:prstGeom prst="ellipse">
            <a:avLst/>
          </a:prstGeom>
          <a:solidFill>
            <a:srgbClr val="512BD4"/>
          </a:solidFill>
          <a:ln w="12700">
            <a:solidFill>
              <a:srgbClr val="512BD4"/>
            </a:solidFill>
            <a:prstDash val="solid"/>
          </a:ln>
        </p:spPr>
      </p:sp>
      <p:pic>
        <p:nvPicPr>
          <p:cNvPr id="15" name="Image 2" descr="preencoded.png">    </p:cNvPr>
          <p:cNvPicPr>
            <a:picLocks noChangeAspect="1"/>
          </p:cNvPicPr>
          <p:nvPr/>
        </p:nvPicPr>
        <p:blipFill>
          <a:blip r:embed="rId3"/>
          <a:stretch>
            <a:fillRect/>
          </a:stretch>
        </p:blipFill>
        <p:spPr>
          <a:xfrm>
            <a:off x="6134892" y="3620292"/>
            <a:ext cx="184343" cy="184343"/>
          </a:xfrm>
          <a:prstGeom prst="rect">
            <a:avLst/>
          </a:prstGeom>
        </p:spPr>
      </p:pic>
      <p:sp>
        <p:nvSpPr>
          <p:cNvPr id="16" name="Text 11"/>
          <p:cNvSpPr txBox="1"/>
          <p:nvPr/>
        </p:nvSpPr>
        <p:spPr>
          <a:xfrm>
            <a:off x="6537960" y="3520440"/>
            <a:ext cx="2148840" cy="384048"/>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In a real session</a:t>
            </a:r>
            <a:endParaRPr lang="en-US" sz="1400" dirty="0"/>
          </a:p>
        </p:txBody>
      </p:sp>
      <p:sp>
        <p:nvSpPr>
          <p:cNvPr id="17" name="Text 12"/>
          <p:cNvSpPr txBox="1"/>
          <p:nvPr/>
        </p:nvSpPr>
        <p:spPr>
          <a:xfrm>
            <a:off x="6537960" y="3904488"/>
            <a:ext cx="2148840" cy="64008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The context line stops climbing</a:t>
            </a:r>
            <a:endParaRPr lang="en-US" sz="1200" dirty="0"/>
          </a:p>
        </p:txBody>
      </p:sp>
      <p:sp>
        <p:nvSpPr>
          <p:cNvPr id="18" name="Text 13"/>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MiniCode  ·  Module 8b — Working State and Compaction</a:t>
            </a:r>
            <a:endParaRPr lang="en-US" sz="900" dirty="0"/>
          </a:p>
        </p:txBody>
      </p:sp>
      <p:sp>
        <p:nvSpPr>
          <p:cNvPr id="19" name="Text 14"/>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1B2D"/>
        </a:solidFill>
      </p:bgPr>
    </p:bg>
    <p:spTree>
      <p:nvGrpSpPr>
        <p:cNvPr id="1" name=""/>
        <p:cNvGrpSpPr/>
        <p:nvPr/>
      </p:nvGrpSpPr>
      <p:grpSpPr>
        <a:xfrm>
          <a:off x="0" y="0"/>
          <a:ext cx="0" cy="0"/>
          <a:chOff x="0" y="0"/>
          <a:chExt cx="0" cy="0"/>
        </a:xfrm>
      </p:grpSpPr>
      <p:sp>
        <p:nvSpPr>
          <p:cNvPr id="2" name="Text 0"/>
          <p:cNvSpPr txBox="1"/>
          <p:nvPr/>
        </p:nvSpPr>
        <p:spPr>
          <a:xfrm>
            <a:off x="457200" y="347472"/>
            <a:ext cx="4572000" cy="228600"/>
          </a:xfrm>
          <a:prstGeom prst="rect">
            <a:avLst/>
          </a:prstGeom>
          <a:noFill/>
          <a:ln/>
        </p:spPr>
        <p:txBody>
          <a:bodyPr wrap="square" lIns="0" tIns="0" rIns="0" bIns="0" rtlCol="0" anchor="t"/>
          <a:lstStyle/>
          <a:p>
            <a:pPr indent="0" marL="0">
              <a:buNone/>
            </a:pPr>
            <a:r>
              <a:rPr lang="en-US" sz="1100" b="1" spc="200" kern="0" dirty="0">
                <a:solidFill>
                  <a:srgbClr val="F5A623"/>
                </a:solidFill>
                <a:latin typeface="Calibri" pitchFamily="34" charset="0"/>
                <a:ea typeface="Calibri" pitchFamily="34" charset="-122"/>
                <a:cs typeface="Calibri" pitchFamily="34" charset="-120"/>
              </a:rPr>
              <a:t>SUMMARY</a:t>
            </a:r>
            <a:endParaRPr lang="en-US" sz="1100" dirty="0"/>
          </a:p>
        </p:txBody>
      </p:sp>
      <p:sp>
        <p:nvSpPr>
          <p:cNvPr id="3" name="Text 1"/>
          <p:cNvSpPr txBox="1"/>
          <p:nvPr/>
        </p:nvSpPr>
        <p:spPr>
          <a:xfrm>
            <a:off x="457200" y="566928"/>
            <a:ext cx="8229600" cy="502920"/>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What we learned, and where it goes</a:t>
            </a:r>
            <a:endParaRPr lang="en-US" sz="2600" dirty="0"/>
          </a:p>
        </p:txBody>
      </p:sp>
      <p:sp>
        <p:nvSpPr>
          <p:cNvPr id="4" name="Shape 2"/>
          <p:cNvSpPr/>
          <p:nvPr/>
        </p:nvSpPr>
        <p:spPr>
          <a:xfrm>
            <a:off x="457200" y="1234440"/>
            <a:ext cx="2926080" cy="493776"/>
          </a:xfrm>
          <a:prstGeom prst="roundRect">
            <a:avLst>
              <a:gd name="adj" fmla="val 14815"/>
            </a:avLst>
          </a:prstGeom>
          <a:solidFill>
            <a:srgbClr val="1F2943"/>
          </a:solidFill>
          <a:ln w="12700">
            <a:solidFill>
              <a:srgbClr val="1F2943"/>
            </a:solidFill>
            <a:prstDash val="solid"/>
          </a:ln>
        </p:spPr>
      </p:sp>
      <p:sp>
        <p:nvSpPr>
          <p:cNvPr id="5" name="Text 3"/>
          <p:cNvSpPr txBox="1"/>
          <p:nvPr/>
        </p:nvSpPr>
        <p:spPr>
          <a:xfrm>
            <a:off x="621792" y="1234440"/>
            <a:ext cx="2651760" cy="49377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WorkingState keeps what was asked</a:t>
            </a:r>
            <a:endParaRPr lang="en-US" sz="1300" dirty="0"/>
          </a:p>
        </p:txBody>
      </p:sp>
      <p:sp>
        <p:nvSpPr>
          <p:cNvPr id="6" name="Shape 4"/>
          <p:cNvSpPr/>
          <p:nvPr/>
        </p:nvSpPr>
        <p:spPr>
          <a:xfrm>
            <a:off x="3493008" y="1389888"/>
            <a:ext cx="329184" cy="182880"/>
          </a:xfrm>
          <a:prstGeom prst="rightArrow">
            <a:avLst/>
          </a:prstGeom>
          <a:solidFill>
            <a:srgbClr val="F5A623"/>
          </a:solidFill>
          <a:ln w="12700">
            <a:solidFill>
              <a:srgbClr val="F5A623"/>
            </a:solidFill>
            <a:prstDash val="solid"/>
          </a:ln>
        </p:spPr>
      </p:sp>
      <p:sp>
        <p:nvSpPr>
          <p:cNvPr id="7" name="Text 5"/>
          <p:cNvSpPr txBox="1"/>
          <p:nvPr/>
        </p:nvSpPr>
        <p:spPr>
          <a:xfrm>
            <a:off x="3977640" y="1234440"/>
            <a:ext cx="4709160" cy="493776"/>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Module 9  </a:t>
            </a:r>
            <a:pPr indent="0" marL="0">
              <a:buNone/>
            </a:pPr>
            <a:r>
              <a:rPr lang="en-US" sz="1250" dirty="0">
                <a:solidFill>
                  <a:srgbClr val="FFFFFF"/>
                </a:solidFill>
                <a:latin typeface="Calibri" pitchFamily="34" charset="0"/>
                <a:ea typeface="Calibri" pitchFamily="34" charset="-122"/>
                <a:cs typeface="Calibri" pitchFamily="34" charset="-120"/>
              </a:rPr>
              <a:t>A task plan is the structured version of that note</a:t>
            </a:r>
            <a:endParaRPr lang="en-US" sz="1250" dirty="0"/>
          </a:p>
        </p:txBody>
      </p:sp>
      <p:sp>
        <p:nvSpPr>
          <p:cNvPr id="8" name="Shape 6"/>
          <p:cNvSpPr/>
          <p:nvPr/>
        </p:nvSpPr>
        <p:spPr>
          <a:xfrm>
            <a:off x="457200" y="1837944"/>
            <a:ext cx="2926080" cy="493776"/>
          </a:xfrm>
          <a:prstGeom prst="roundRect">
            <a:avLst>
              <a:gd name="adj" fmla="val 14815"/>
            </a:avLst>
          </a:prstGeom>
          <a:solidFill>
            <a:srgbClr val="1F2943"/>
          </a:solidFill>
          <a:ln w="12700">
            <a:solidFill>
              <a:srgbClr val="1F2943"/>
            </a:solidFill>
            <a:prstDash val="solid"/>
          </a:ln>
        </p:spPr>
      </p:sp>
      <p:sp>
        <p:nvSpPr>
          <p:cNvPr id="9" name="Text 7"/>
          <p:cNvSpPr txBox="1"/>
          <p:nvPr/>
        </p:nvSpPr>
        <p:spPr>
          <a:xfrm>
            <a:off x="621792" y="1837944"/>
            <a:ext cx="2651760" cy="49377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FileState notes</a:t>
            </a:r>
            <a:endParaRPr lang="en-US" sz="1300" dirty="0"/>
          </a:p>
        </p:txBody>
      </p:sp>
      <p:sp>
        <p:nvSpPr>
          <p:cNvPr id="10" name="Shape 8"/>
          <p:cNvSpPr/>
          <p:nvPr/>
        </p:nvSpPr>
        <p:spPr>
          <a:xfrm>
            <a:off x="3493008" y="1993392"/>
            <a:ext cx="329184" cy="182880"/>
          </a:xfrm>
          <a:prstGeom prst="rightArrow">
            <a:avLst/>
          </a:prstGeom>
          <a:solidFill>
            <a:srgbClr val="F5A623"/>
          </a:solidFill>
          <a:ln w="12700">
            <a:solidFill>
              <a:srgbClr val="F5A623"/>
            </a:solidFill>
            <a:prstDash val="solid"/>
          </a:ln>
        </p:spPr>
      </p:sp>
      <p:sp>
        <p:nvSpPr>
          <p:cNvPr id="11" name="Text 9"/>
          <p:cNvSpPr txBox="1"/>
          <p:nvPr/>
        </p:nvSpPr>
        <p:spPr>
          <a:xfrm>
            <a:off x="3977640" y="1837944"/>
            <a:ext cx="4709160" cy="493776"/>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Module 10  </a:t>
            </a:r>
            <a:pPr indent="0" marL="0">
              <a:buNone/>
            </a:pPr>
            <a:r>
              <a:rPr lang="en-US" sz="1250" dirty="0">
                <a:solidFill>
                  <a:srgbClr val="FFFFFF"/>
                </a:solidFill>
                <a:latin typeface="Calibri" pitchFamily="34" charset="0"/>
                <a:ea typeface="Calibri" pitchFamily="34" charset="-122"/>
                <a:cs typeface="Calibri" pitchFamily="34" charset="-120"/>
              </a:rPr>
              <a:t>An edit records the file as modified, superseding the read note</a:t>
            </a:r>
            <a:endParaRPr lang="en-US" sz="1250" dirty="0"/>
          </a:p>
        </p:txBody>
      </p:sp>
      <p:sp>
        <p:nvSpPr>
          <p:cNvPr id="12" name="Shape 10"/>
          <p:cNvSpPr/>
          <p:nvPr/>
        </p:nvSpPr>
        <p:spPr>
          <a:xfrm>
            <a:off x="457200" y="2441448"/>
            <a:ext cx="2926080" cy="493776"/>
          </a:xfrm>
          <a:prstGeom prst="roundRect">
            <a:avLst>
              <a:gd name="adj" fmla="val 14815"/>
            </a:avLst>
          </a:prstGeom>
          <a:solidFill>
            <a:srgbClr val="1F2943"/>
          </a:solidFill>
          <a:ln w="12700">
            <a:solidFill>
              <a:srgbClr val="1F2943"/>
            </a:solidFill>
            <a:prstDash val="solid"/>
          </a:ln>
        </p:spPr>
      </p:sp>
      <p:sp>
        <p:nvSpPr>
          <p:cNvPr id="13" name="Text 11"/>
          <p:cNvSpPr txBox="1"/>
          <p:nvPr/>
        </p:nvSpPr>
        <p:spPr>
          <a:xfrm>
            <a:off x="621792" y="2441448"/>
            <a:ext cx="2651760" cy="49377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Compaction forgets the trail</a:t>
            </a:r>
            <a:endParaRPr lang="en-US" sz="1300" dirty="0"/>
          </a:p>
        </p:txBody>
      </p:sp>
      <p:sp>
        <p:nvSpPr>
          <p:cNvPr id="14" name="Shape 12"/>
          <p:cNvSpPr/>
          <p:nvPr/>
        </p:nvSpPr>
        <p:spPr>
          <a:xfrm>
            <a:off x="3493008" y="2596896"/>
            <a:ext cx="329184" cy="182880"/>
          </a:xfrm>
          <a:prstGeom prst="rightArrow">
            <a:avLst/>
          </a:prstGeom>
          <a:solidFill>
            <a:srgbClr val="F5A623"/>
          </a:solidFill>
          <a:ln w="12700">
            <a:solidFill>
              <a:srgbClr val="F5A623"/>
            </a:solidFill>
            <a:prstDash val="solid"/>
          </a:ln>
        </p:spPr>
      </p:sp>
      <p:sp>
        <p:nvSpPr>
          <p:cNvPr id="15" name="Text 13"/>
          <p:cNvSpPr txBox="1"/>
          <p:nvPr/>
        </p:nvSpPr>
        <p:spPr>
          <a:xfrm>
            <a:off x="3977640" y="2441448"/>
            <a:ext cx="4709160" cy="493776"/>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Module 14  </a:t>
            </a:r>
            <a:pPr indent="0" marL="0">
              <a:buNone/>
            </a:pPr>
            <a:r>
              <a:rPr lang="en-US" sz="1250" dirty="0">
                <a:solidFill>
                  <a:srgbClr val="FFFFFF"/>
                </a:solidFill>
                <a:latin typeface="Calibri" pitchFamily="34" charset="0"/>
                <a:ea typeface="Calibri" pitchFamily="34" charset="-122"/>
                <a:cs typeface="Calibri" pitchFamily="34" charset="-120"/>
              </a:rPr>
              <a:t>Git status and diff answer "what changed" instead of memory</a:t>
            </a:r>
            <a:endParaRPr lang="en-US" sz="1250" dirty="0"/>
          </a:p>
        </p:txBody>
      </p:sp>
      <p:sp>
        <p:nvSpPr>
          <p:cNvPr id="16" name="Text 14"/>
          <p:cNvSpPr txBox="1"/>
          <p:nvPr/>
        </p:nvSpPr>
        <p:spPr>
          <a:xfrm>
            <a:off x="457200" y="4224528"/>
            <a:ext cx="8229600" cy="320040"/>
          </a:xfrm>
          <a:prstGeom prst="rect">
            <a:avLst/>
          </a:prstGeom>
          <a:noFill/>
          <a:ln/>
        </p:spPr>
        <p:txBody>
          <a:bodyPr wrap="square" lIns="0" tIns="0" rIns="0" bIns="0" rtlCol="0" anchor="t"/>
          <a:lstStyle/>
          <a:p>
            <a:pPr indent="0" marL="0">
              <a:buNone/>
            </a:pPr>
            <a:r>
              <a:rPr lang="en-US" sz="1300" dirty="0">
                <a:solidFill>
                  <a:srgbClr val="B8B2E6"/>
                </a:solidFill>
                <a:latin typeface="Calibri" pitchFamily="34" charset="0"/>
                <a:ea typeface="Calibri" pitchFamily="34" charset="-122"/>
                <a:cs typeface="Calibri" pitchFamily="34" charset="-120"/>
              </a:rPr>
              <a:t>Ships in  </a:t>
            </a:r>
            <a:pPr indent="0" marL="0">
              <a:buNone/>
            </a:pPr>
            <a:r>
              <a:rPr lang="en-US" sz="1300" b="1" dirty="0">
                <a:solidFill>
                  <a:srgbClr val="FFFFFF"/>
                </a:solidFill>
                <a:latin typeface="Calibri" pitchFamily="34" charset="0"/>
                <a:ea typeface="Calibri" pitchFamily="34" charset="-122"/>
                <a:cs typeface="Calibri" pitchFamily="34" charset="-120"/>
              </a:rPr>
              <a:t>Phase 2 Capstone — Planning Agent (v0.2)</a:t>
            </a:r>
            <a:endParaRPr lang="en-US" sz="1300" dirty="0"/>
          </a:p>
        </p:txBody>
      </p:sp>
      <p:sp>
        <p:nvSpPr>
          <p:cNvPr id="17" name="Text 15"/>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B8B2E6"/>
                </a:solidFill>
                <a:latin typeface="Calibri" pitchFamily="34" charset="0"/>
                <a:ea typeface="Calibri" pitchFamily="34" charset="-122"/>
                <a:cs typeface="Calibri" pitchFamily="34" charset="-120"/>
              </a:rPr>
              <a:t>MiniCode  ·  Module 8b — Working State and Compaction</a:t>
            </a:r>
            <a:endParaRPr lang="en-US" sz="900" dirty="0"/>
          </a:p>
        </p:txBody>
      </p:sp>
      <p:sp>
        <p:nvSpPr>
          <p:cNvPr id="18" name="Text 16"/>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B8B2E6"/>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8b — Context Management: Working State and Compaction</dc:title>
  <dc:subject>PptxGenJS Presentation</dc:subject>
  <dc:creator>MiniCode Course</dc:creator>
  <cp:lastModifiedBy>MiniCode Course</cp:lastModifiedBy>
  <cp:revision>1</cp:revision>
  <dcterms:created xsi:type="dcterms:W3CDTF">2026-10-01T22:01:10Z</dcterms:created>
  <dcterms:modified xsi:type="dcterms:W3CDTF">2026-10-01T22:01:10Z</dcterms:modified>
</cp:coreProperties>
</file>