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Ships as part of Phase 2 Capstone — Planning Agent (v0.2). Currency note: AgentSession does not expose its messages as a property — it has StateBag and GetService, and nothing else. History is reached through the extension methods TryGetInMemoryChatHistory(out List&lt;ChatMessage&gt;) and SetInMemoryChatHistory(...) in Microsoft.Agents.AI. MAF 1.22.0 also ships a whole Microsoft.Agents.AI.Compaction namespace with ready-made strategies; MiniCode does not use it, because its index type requires a Microsoft.ML.Tokenizers dependency and because configuring a strategy would teach configuration rather than the decision this Module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Estimate counts m.Text only, so it under-reports messages whose payload is a tool call rather than prose. It is an estimate used to report savings, not to gate anything, and the number is printed with a tilde.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real session the effect is invisible until it fires, which is the point: the context line from Module 8a simply stops climbing. Set ContextBudget.Default to a window of a few thousand tokens and you can watch that number rise, drop, and carry on — with MiniCode still able to answer a follow-up about the file it read before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598168"/>
            <a:ext cx="5852160" cy="274320"/>
          </a:xfrm>
          <a:prstGeom prst="rect">
            <a:avLst/>
          </a:prstGeom>
          <a:noFill/>
          <a:ln/>
        </p:spPr>
        <p:txBody>
          <a:bodyPr wrap="square" lIns="0" tIns="0" rIns="0" bIns="0" rtlCol="0" anchor="ctr"/>
          <a:lstStyle/>
          <a:p>
            <a:pPr indent="0" marL="0">
              <a:buNone/>
            </a:pPr>
            <a:r>
              <a:rPr lang="en-US" sz="1400" b="1" spc="300" kern="0" dirty="0">
                <a:solidFill>
                  <a:srgbClr val="3FBFB0"/>
                </a:solidFill>
                <a:latin typeface="Calibri" pitchFamily="34" charset="0"/>
                <a:ea typeface="Calibri" pitchFamily="34" charset="-122"/>
                <a:cs typeface="Calibri" pitchFamily="34" charset="-120"/>
              </a:rPr>
              <a:t>MODULE 8B · PHASE 2</a:t>
            </a:r>
            <a:endParaRPr lang="en-US" sz="1400" dirty="0"/>
          </a:p>
        </p:txBody>
      </p:sp>
      <p:sp>
        <p:nvSpPr>
          <p:cNvPr id="3" name="Text 1"/>
          <p:cNvSpPr txBox="1"/>
          <p:nvPr/>
        </p:nvSpPr>
        <p:spPr>
          <a:xfrm>
            <a:off x="548640" y="1982216"/>
            <a:ext cx="6309360" cy="1247648"/>
          </a:xfrm>
          <a:prstGeom prst="rect">
            <a:avLst/>
          </a:prstGeom>
          <a:noFill/>
          <a:ln/>
        </p:spPr>
        <p:txBody>
          <a:bodyPr wrap="square" lIns="0" tIns="0" rIns="0" bIns="0" rtlCol="0" anchor="t"/>
          <a:lstStyle/>
          <a:p>
            <a:pPr indent="0" marL="0">
              <a:lnSpc>
                <a:spcPct val="112000"/>
              </a:lnSpc>
              <a:buNone/>
            </a:pPr>
            <a:r>
              <a:rPr lang="en-US" sz="4000" b="1" dirty="0">
                <a:solidFill>
                  <a:srgbClr val="FFFFFF"/>
                </a:solidFill>
                <a:latin typeface="Cambria" pitchFamily="34" charset="0"/>
                <a:ea typeface="Cambria" pitchFamily="34" charset="-122"/>
                <a:cs typeface="Cambria" pitchFamily="34" charset="-120"/>
              </a:rPr>
              <a:t>Working State</a:t>
            </a:r>
            <a:endParaRPr lang="en-US" sz="4000" dirty="0"/>
          </a:p>
          <a:p>
            <a:pPr indent="0" marL="0">
              <a:lnSpc>
                <a:spcPct val="112000"/>
              </a:lnSpc>
              <a:buNone/>
            </a:pPr>
            <a:r>
              <a:rPr lang="en-US" sz="4000" b="1" dirty="0">
                <a:solidFill>
                  <a:srgbClr val="FFFFFF"/>
                </a:solidFill>
                <a:latin typeface="Cambria" pitchFamily="34" charset="0"/>
                <a:ea typeface="Cambria" pitchFamily="34" charset="-122"/>
                <a:cs typeface="Cambria" pitchFamily="34" charset="-120"/>
              </a:rPr>
              <a:t>and Compaction</a:t>
            </a:r>
            <a:endParaRPr lang="en-US" sz="4000" dirty="0"/>
          </a:p>
        </p:txBody>
      </p:sp>
      <p:sp>
        <p:nvSpPr>
          <p:cNvPr id="4" name="Text 2"/>
          <p:cNvSpPr txBox="1"/>
          <p:nvPr/>
        </p:nvSpPr>
        <p:spPr>
          <a:xfrm>
            <a:off x="548640" y="3732784"/>
            <a:ext cx="6309360" cy="1097280"/>
          </a:xfrm>
          <a:prstGeom prst="rect">
            <a:avLst/>
          </a:prstGeom>
          <a:noFill/>
          <a:ln/>
        </p:spPr>
        <p:txBody>
          <a:bodyPr wrap="square" lIns="0" tIns="0" rIns="0" bIns="0" rtlCol="0" anchor="t"/>
          <a:lstStyle/>
          <a:p>
            <a:pPr indent="0" marL="0">
              <a:lnSpc>
                <a:spcPct val="125000"/>
              </a:lnSpc>
              <a:buNone/>
            </a:pPr>
            <a:r>
              <a:rPr lang="en-US" sz="1600" dirty="0">
                <a:solidFill>
                  <a:srgbClr val="CADCFC"/>
                </a:solidFill>
                <a:latin typeface="Calibri" pitchFamily="34" charset="0"/>
                <a:ea typeface="Calibri" pitchFamily="34" charset="-122"/>
                <a:cs typeface="Calibri" pitchFamily="34" charset="-120"/>
              </a:rPr>
              <a:t>Module 8a decided when a session is too full. This Module decides what to do about it: rewrite the conversation, replacing everything old with a short statement of what MiniCode learned from it.</a:t>
            </a:r>
            <a:endParaRPr lang="en-US" sz="1600" dirty="0"/>
          </a:p>
        </p:txBody>
      </p:sp>
      <p:sp>
        <p:nvSpPr>
          <p:cNvPr id="5" name="Text 3"/>
          <p:cNvSpPr txBox="1"/>
          <p:nvPr/>
        </p:nvSpPr>
        <p:spPr>
          <a:xfrm>
            <a:off x="548640" y="5029200"/>
            <a:ext cx="6309360" cy="1051560"/>
          </a:xfrm>
          <a:prstGeom prst="rect">
            <a:avLst/>
          </a:prstGeom>
          <a:noFill/>
          <a:ln/>
        </p:spPr>
        <p:txBody>
          <a:bodyPr wrap="square" lIns="0" tIns="0" rIns="0" bIns="0" rtlCol="0" anchor="t"/>
          <a:lstStyle/>
          <a:p>
            <a:pPr indent="0" marL="0">
              <a:lnSpc>
                <a:spcPts val="1300"/>
              </a:lnSpc>
              <a:buNone/>
            </a:pPr>
            <a:r>
              <a:rPr lang="en-US" sz="950" b="1" spc="100" kern="0" dirty="0">
                <a:solidFill>
                  <a:srgbClr val="3FBFB0"/>
                </a:solidFill>
                <a:latin typeface="Courier New" pitchFamily="34" charset="0"/>
                <a:ea typeface="Courier New" pitchFamily="34" charset="-122"/>
                <a:cs typeface="Courier New" pitchFamily="34" charset="-120"/>
              </a:rPr>
              <a:t>START  </a:t>
            </a:r>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Module08a-BudgetAndSearchBeforeRead/ — plus Module 3’s decision that CodingAgent owns the AgentSession, which is the only reason the history can be rewritten from here at all.</a:t>
            </a:r>
            <a:endParaRPr lang="en-US" sz="950" dirty="0"/>
          </a:p>
          <a:p>
            <a:pPr indent="0" marL="0">
              <a:lnSpc>
                <a:spcPts val="1300"/>
              </a:lnSpc>
              <a:buNone/>
            </a:pPr>
            <a:r>
              <a:rPr lang="en-US" sz="950" b="1" spc="100" kern="0" dirty="0">
                <a:solidFill>
                  <a:srgbClr val="3FBFB0"/>
                </a:solidFill>
                <a:latin typeface="Courier New" pitchFamily="34" charset="0"/>
                <a:ea typeface="Courier New" pitchFamily="34" charset="-122"/>
                <a:cs typeface="Courier New" pitchFamily="34" charset="-120"/>
              </a:rPr>
              <a:t>SETUP  </a:t>
            </a:r>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Nothing new.</a:t>
            </a:r>
            <a:endParaRPr lang="en-US" sz="950" dirty="0"/>
          </a:p>
        </p:txBody>
      </p:sp>
      <p:sp>
        <p:nvSpPr>
          <p:cNvPr id="6" name="Text 4"/>
          <p:cNvSpPr txBox="1"/>
          <p:nvPr/>
        </p:nvSpPr>
        <p:spPr>
          <a:xfrm>
            <a:off x="548640" y="6263640"/>
            <a:ext cx="54864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MiniCode Course · Phase 2</a:t>
            </a:r>
            <a:endParaRPr lang="en-US" sz="1100" dirty="0"/>
          </a:p>
        </p:txBody>
      </p:sp>
      <p:sp>
        <p:nvSpPr>
          <p:cNvPr id="7" name="Shape 5"/>
          <p:cNvSpPr/>
          <p:nvPr/>
        </p:nvSpPr>
        <p:spPr>
          <a:xfrm>
            <a:off x="7086600" y="1143000"/>
            <a:ext cx="4526280" cy="4389120"/>
          </a:xfrm>
          <a:prstGeom prst="roundRect">
            <a:avLst>
              <a:gd name="adj" fmla="val 2500"/>
            </a:avLst>
          </a:prstGeom>
          <a:solidFill>
            <a:srgbClr val="141B49"/>
          </a:solidFill>
          <a:ln w="12700">
            <a:solidFill>
              <a:srgbClr val="3FBFB0"/>
            </a:solidFill>
            <a:prstDash val="solid"/>
          </a:ln>
        </p:spPr>
      </p:sp>
      <p:sp>
        <p:nvSpPr>
          <p:cNvPr id="8" name="Text 6"/>
          <p:cNvSpPr txBox="1"/>
          <p:nvPr/>
        </p:nvSpPr>
        <p:spPr>
          <a:xfrm>
            <a:off x="7342632" y="1344168"/>
            <a:ext cx="4069080" cy="274320"/>
          </a:xfrm>
          <a:prstGeom prst="rect">
            <a:avLst/>
          </a:prstGeom>
          <a:noFill/>
          <a:ln/>
        </p:spPr>
        <p:txBody>
          <a:bodyPr wrap="square" lIns="0" tIns="0" rIns="0" bIns="0" rtlCol="0" anchor="ctr"/>
          <a:lstStyle/>
          <a:p>
            <a:pPr indent="0" marL="0">
              <a:buNone/>
            </a:pPr>
            <a:r>
              <a:rPr lang="en-US" sz="1200" b="1" dirty="0">
                <a:solidFill>
                  <a:srgbClr val="3FBFB0"/>
                </a:solidFill>
                <a:latin typeface="Courier New" pitchFamily="34" charset="0"/>
                <a:ea typeface="Courier New" pitchFamily="34" charset="-122"/>
                <a:cs typeface="Courier New" pitchFamily="34" charset="-120"/>
              </a:rPr>
              <a:t>SESSION STATE</a:t>
            </a:r>
            <a:endParaRPr lang="en-US" sz="1200" dirty="0"/>
          </a:p>
        </p:txBody>
      </p:sp>
      <p:sp>
        <p:nvSpPr>
          <p:cNvPr id="9" name="Text 7"/>
          <p:cNvSpPr txBox="1"/>
          <p:nvPr/>
        </p:nvSpPr>
        <p:spPr>
          <a:xfrm>
            <a:off x="7360920" y="1783080"/>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What was asked:</a:t>
            </a:r>
            <a:endParaRPr lang="en-US" sz="1050" dirty="0"/>
          </a:p>
        </p:txBody>
      </p:sp>
      <p:sp>
        <p:nvSpPr>
          <p:cNvPr id="10" name="Text 8"/>
          <p:cNvSpPr txBox="1"/>
          <p:nvPr/>
        </p:nvSpPr>
        <p:spPr>
          <a:xfrm>
            <a:off x="7360920" y="2039112"/>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 Where is a path checked?</a:t>
            </a:r>
            <a:endParaRPr lang="en-US" sz="1050" dirty="0"/>
          </a:p>
        </p:txBody>
      </p:sp>
      <p:sp>
        <p:nvSpPr>
          <p:cNvPr id="11" name="Text 9"/>
          <p:cNvSpPr txBox="1"/>
          <p:nvPr/>
        </p:nvSpPr>
        <p:spPr>
          <a:xfrm>
            <a:off x="7360920" y="2295144"/>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What was established:</a:t>
            </a:r>
            <a:endParaRPr lang="en-US" sz="1050" dirty="0"/>
          </a:p>
        </p:txBody>
      </p:sp>
      <p:sp>
        <p:nvSpPr>
          <p:cNvPr id="12" name="Text 10"/>
          <p:cNvSpPr txBox="1"/>
          <p:nvPr/>
        </p:nvSpPr>
        <p:spPr>
          <a:xfrm>
            <a:off x="7360920" y="2551176"/>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 ValidatePath is the check.</a:t>
            </a:r>
            <a:endParaRPr lang="en-US" sz="1050" dirty="0"/>
          </a:p>
        </p:txBody>
      </p:sp>
      <p:sp>
        <p:nvSpPr>
          <p:cNvPr id="13" name="Text 11"/>
          <p:cNvSpPr txBox="1"/>
          <p:nvPr/>
        </p:nvSpPr>
        <p:spPr>
          <a:xfrm>
            <a:off x="7360920" y="2807208"/>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Files already examined:</a:t>
            </a:r>
            <a:endParaRPr lang="en-US" sz="1050" dirty="0"/>
          </a:p>
        </p:txBody>
      </p:sp>
      <p:sp>
        <p:nvSpPr>
          <p:cNvPr id="14" name="Text 12"/>
          <p:cNvSpPr txBox="1"/>
          <p:nvPr/>
        </p:nvSpPr>
        <p:spPr>
          <a:xfrm>
            <a:off x="7360920" y="3063240"/>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 src/.../Workspace.cs</a:t>
            </a:r>
            <a:endParaRPr lang="en-US" sz="1050" dirty="0"/>
          </a:p>
        </p:txBody>
      </p:sp>
      <p:sp>
        <p:nvSpPr>
          <p:cNvPr id="15" name="Shape 13"/>
          <p:cNvSpPr/>
          <p:nvPr/>
        </p:nvSpPr>
        <p:spPr>
          <a:xfrm>
            <a:off x="7342632" y="3520440"/>
            <a:ext cx="4014216" cy="0"/>
          </a:xfrm>
          <a:prstGeom prst="line">
            <a:avLst/>
          </a:prstGeom>
          <a:noFill/>
          <a:ln w="9525">
            <a:solidFill>
              <a:srgbClr val="6B7280"/>
            </a:solidFill>
            <a:prstDash val="sysDot"/>
          </a:ln>
        </p:spPr>
      </p:sp>
      <p:sp>
        <p:nvSpPr>
          <p:cNvPr id="16" name="Text 14"/>
          <p:cNvSpPr txBox="1"/>
          <p:nvPr/>
        </p:nvSpPr>
        <p:spPr>
          <a:xfrm>
            <a:off x="7342632" y="3685032"/>
            <a:ext cx="4014216" cy="530352"/>
          </a:xfrm>
          <a:prstGeom prst="rect">
            <a:avLst/>
          </a:prstGeom>
          <a:noFill/>
          <a:ln/>
        </p:spPr>
        <p:txBody>
          <a:bodyPr wrap="square" lIns="0" tIns="0" rIns="0" bIns="0" rtlCol="0" anchor="t"/>
          <a:lstStyle/>
          <a:p>
            <a:pPr indent="0" marL="0">
              <a:buNone/>
            </a:pPr>
            <a:r>
              <a:rPr lang="en-US" sz="1050" dirty="0">
                <a:solidFill>
                  <a:srgbClr val="CADCFC"/>
                </a:solidFill>
                <a:latin typeface="Courier New" pitchFamily="34" charset="0"/>
                <a:ea typeface="Courier New" pitchFamily="34" charset="-122"/>
                <a:cs typeface="Courier New" pitchFamily="34" charset="-120"/>
              </a:rPr>
              <a:t>~3,620  -&gt;  ~1,649 tokens</a:t>
            </a:r>
            <a:endParaRPr lang="en-US" sz="1050" dirty="0"/>
          </a:p>
          <a:p>
            <a:pPr indent="0" marL="0">
              <a:buNone/>
            </a:pPr>
            <a:r>
              <a:rPr lang="en-US" sz="1050" dirty="0">
                <a:solidFill>
                  <a:srgbClr val="CADCFC"/>
                </a:solidFill>
                <a:latin typeface="Courier New" pitchFamily="34" charset="0"/>
                <a:ea typeface="Courier New" pitchFamily="34" charset="-122"/>
                <a:cs typeface="Courier New" pitchFamily="34" charset="-120"/>
              </a:rPr>
              <a:t>54% reclaimed</a:t>
            </a:r>
            <a:endParaRPr lang="en-US" sz="1050" dirty="0"/>
          </a:p>
        </p:txBody>
      </p:sp>
      <p:sp>
        <p:nvSpPr>
          <p:cNvPr id="17" name="Text 15"/>
          <p:cNvSpPr txBox="1"/>
          <p:nvPr/>
        </p:nvSpPr>
        <p:spPr>
          <a:xfrm>
            <a:off x="7342632" y="4325112"/>
            <a:ext cx="4014216" cy="365760"/>
          </a:xfrm>
          <a:prstGeom prst="rect">
            <a:avLst/>
          </a:prstGeom>
          <a:noFill/>
          <a:ln/>
        </p:spPr>
        <p:txBody>
          <a:bodyPr wrap="square" lIns="0" tIns="0" rIns="0" bIns="0" rtlCol="0" anchor="ctr"/>
          <a:lstStyle/>
          <a:p>
            <a:pPr indent="0" marL="0">
              <a:buNone/>
            </a:pPr>
            <a:r>
              <a:rPr lang="en-US" sz="1050" b="1" i="1" dirty="0">
                <a:solidFill>
                  <a:srgbClr val="3FBFB0"/>
                </a:solidFill>
                <a:latin typeface="Calibri" pitchFamily="34" charset="0"/>
                <a:ea typeface="Calibri" pitchFamily="34" charset="-122"/>
                <a:cs typeface="Calibri" pitchFamily="34" charset="-120"/>
              </a:rPr>
              <a:t>Not "what can I delete" — "what must survive".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A Long Session Dies Quietly</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8B — CONTEXT MANAGEMENT: WORKING STATE AND COMPACTION</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417320"/>
            <a:ext cx="5349240" cy="4297680"/>
          </a:xfrm>
          <a:prstGeom prst="roundRect">
            <a:avLst>
              <a:gd name="adj" fmla="val 2128"/>
            </a:avLst>
          </a:prstGeom>
          <a:solidFill>
            <a:srgbClr val="1E2761"/>
          </a:solidFill>
          <a:ln/>
        </p:spPr>
      </p:sp>
      <p:sp>
        <p:nvSpPr>
          <p:cNvPr id="7" name="Shape 5"/>
          <p:cNvSpPr/>
          <p:nvPr/>
        </p:nvSpPr>
        <p:spPr>
          <a:xfrm>
            <a:off x="868680" y="1737360"/>
            <a:ext cx="640080" cy="640080"/>
          </a:xfrm>
          <a:prstGeom prst="ellipse">
            <a:avLst/>
          </a:prstGeom>
          <a:solidFill>
            <a:srgbClr val="3FBFB0"/>
          </a:solidFill>
          <a:ln/>
        </p:spPr>
      </p:sp>
      <p:pic>
        <p:nvPicPr>
          <p:cNvPr id="8" name="Image 0" descr="preencoded.png">    </p:cNvPr>
          <p:cNvPicPr>
            <a:picLocks noChangeAspect="1"/>
          </p:cNvPicPr>
          <p:nvPr/>
        </p:nvPicPr>
        <p:blipFill>
          <a:blip r:embed="rId1"/>
          <a:stretch>
            <a:fillRect/>
          </a:stretch>
        </p:blipFill>
        <p:spPr>
          <a:xfrm>
            <a:off x="1033272" y="1901952"/>
            <a:ext cx="310896" cy="310896"/>
          </a:xfrm>
          <a:prstGeom prst="rect">
            <a:avLst/>
          </a:prstGeom>
        </p:spPr>
      </p:pic>
      <p:sp>
        <p:nvSpPr>
          <p:cNvPr id="9" name="Text 6"/>
          <p:cNvSpPr txBox="1"/>
          <p:nvPr/>
        </p:nvSpPr>
        <p:spPr>
          <a:xfrm>
            <a:off x="1645920" y="173736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It Does Not Error — It Fills</a:t>
            </a:r>
            <a:endParaRPr lang="en-US" sz="1550" dirty="0"/>
          </a:p>
        </p:txBody>
      </p:sp>
      <p:sp>
        <p:nvSpPr>
          <p:cNvPr id="10" name="Text 7"/>
          <p:cNvSpPr txBox="1"/>
          <p:nvPr/>
        </p:nvSpPr>
        <p:spPr>
          <a:xfrm>
            <a:off x="868680" y="2606040"/>
            <a:ext cx="4709160" cy="2194560"/>
          </a:xfrm>
          <a:prstGeom prst="rect">
            <a:avLst/>
          </a:prstGeom>
          <a:noFill/>
          <a:ln/>
        </p:spPr>
        <p:txBody>
          <a:bodyPr wrap="square" lIns="0" tIns="0" rIns="0" bIns="0" rtlCol="0" anchor="t"/>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And the model starts losing the beginning. Compaction is what you do before that, on purpose, so that what is lost is chosen rather than whatever fell off the front.</a:t>
            </a:r>
            <a:endParaRPr lang="en-US" sz="1350" dirty="0"/>
          </a:p>
        </p:txBody>
      </p:sp>
      <p:sp>
        <p:nvSpPr>
          <p:cNvPr id="11" name="Text 8"/>
          <p:cNvSpPr txBox="1"/>
          <p:nvPr/>
        </p:nvSpPr>
        <p:spPr>
          <a:xfrm>
            <a:off x="868680" y="4892040"/>
            <a:ext cx="4709160" cy="594360"/>
          </a:xfrm>
          <a:prstGeom prst="rect">
            <a:avLst/>
          </a:prstGeom>
          <a:noFill/>
          <a:ln/>
        </p:spPr>
        <p:txBody>
          <a:bodyPr wrap="square" lIns="0" tIns="0" rIns="0" bIns="0" rtlCol="0" anchor="t"/>
          <a:lstStyle/>
          <a:p>
            <a:pPr indent="0" marL="0">
              <a:buNone/>
            </a:pPr>
            <a:r>
              <a:rPr lang="en-US" sz="1250" b="1" i="1" dirty="0">
                <a:solidFill>
                  <a:srgbClr val="3FBFB0"/>
                </a:solidFill>
                <a:latin typeface="Calibri" pitchFamily="34" charset="0"/>
                <a:ea typeface="Calibri" pitchFamily="34" charset="-122"/>
                <a:cs typeface="Calibri" pitchFamily="34" charset="-120"/>
              </a:rPr>
              <a:t>Chosen loss beats arbitrary loss.</a:t>
            </a:r>
            <a:endParaRPr lang="en-US" sz="1250" dirty="0"/>
          </a:p>
        </p:txBody>
      </p:sp>
      <p:sp>
        <p:nvSpPr>
          <p:cNvPr id="12" name="Shape 9"/>
          <p:cNvSpPr/>
          <p:nvPr/>
        </p:nvSpPr>
        <p:spPr>
          <a:xfrm>
            <a:off x="6309360" y="1417320"/>
            <a:ext cx="5349240" cy="4297680"/>
          </a:xfrm>
          <a:prstGeom prst="roundRect">
            <a:avLst>
              <a:gd name="adj" fmla="val 2128"/>
            </a:avLst>
          </a:prstGeom>
          <a:solidFill>
            <a:srgbClr val="F4F6FB"/>
          </a:solidFill>
          <a:ln/>
        </p:spPr>
      </p:sp>
      <p:sp>
        <p:nvSpPr>
          <p:cNvPr id="13" name="Shape 10"/>
          <p:cNvSpPr/>
          <p:nvPr/>
        </p:nvSpPr>
        <p:spPr>
          <a:xfrm>
            <a:off x="6629400" y="1737360"/>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6793992" y="1901952"/>
            <a:ext cx="310896" cy="310896"/>
          </a:xfrm>
          <a:prstGeom prst="rect">
            <a:avLst/>
          </a:prstGeom>
        </p:spPr>
      </p:pic>
      <p:sp>
        <p:nvSpPr>
          <p:cNvPr id="15" name="Text 11"/>
          <p:cNvSpPr txBox="1"/>
          <p:nvPr/>
        </p:nvSpPr>
        <p:spPr>
          <a:xfrm>
            <a:off x="7406640" y="1737360"/>
            <a:ext cx="3931920" cy="640080"/>
          </a:xfrm>
          <a:prstGeom prst="rect">
            <a:avLst/>
          </a:prstGeom>
          <a:noFill/>
          <a:ln/>
        </p:spPr>
        <p:txBody>
          <a:bodyPr wrap="square" lIns="0" tIns="0" rIns="0" bIns="0" rtlCol="0" anchor="ctr"/>
          <a:lstStyle/>
          <a:p>
            <a:pPr indent="0" marL="0">
              <a:buNone/>
            </a:pPr>
            <a:r>
              <a:rPr lang="en-US" sz="1550" b="1" dirty="0">
                <a:solidFill>
                  <a:srgbClr val="2A2F45"/>
                </a:solidFill>
                <a:latin typeface="Cambria" pitchFamily="34" charset="0"/>
                <a:ea typeface="Cambria" pitchFamily="34" charset="-122"/>
                <a:cs typeface="Cambria" pitchFamily="34" charset="-120"/>
              </a:rPr>
              <a:t>Invert the Question and the Design Follows</a:t>
            </a:r>
            <a:endParaRPr lang="en-US" sz="1550" dirty="0"/>
          </a:p>
        </p:txBody>
      </p:sp>
      <p:sp>
        <p:nvSpPr>
          <p:cNvPr id="16" name="Text 12"/>
          <p:cNvSpPr txBox="1"/>
          <p:nvPr/>
        </p:nvSpPr>
        <p:spPr>
          <a:xfrm>
            <a:off x="6629400" y="2606040"/>
            <a:ext cx="4709160" cy="2194560"/>
          </a:xfrm>
          <a:prstGeom prst="rect">
            <a:avLst/>
          </a:prstGeom>
          <a:noFill/>
          <a:ln/>
        </p:spPr>
        <p:txBody>
          <a:bodyPr wrap="square" lIns="0" tIns="0" rIns="0" bIns="0" rtlCol="0" anchor="t"/>
          <a:lstStyle/>
          <a:p>
            <a:pPr indent="0" marL="0">
              <a:lnSpc>
                <a:spcPct val="125000"/>
              </a:lnSpc>
              <a:buNone/>
            </a:pPr>
            <a:r>
              <a:rPr lang="en-US" sz="1350" dirty="0">
                <a:solidFill>
                  <a:srgbClr val="2A2F45"/>
                </a:solidFill>
                <a:latin typeface="Calibri" pitchFamily="34" charset="0"/>
                <a:ea typeface="Calibri" pitchFamily="34" charset="-122"/>
                <a:cs typeface="Calibri" pitchFamily="34" charset="-120"/>
              </a:rPr>
              <a:t>The question is not "what can I delete" but "what must survive". Three things must survive a compaction, and everything else in the conversation is expendable.</a:t>
            </a:r>
            <a:endParaRPr lang="en-US" sz="1350" dirty="0"/>
          </a:p>
        </p:txBody>
      </p:sp>
      <p:sp>
        <p:nvSpPr>
          <p:cNvPr id="17" name="Shape 13"/>
          <p:cNvSpPr/>
          <p:nvPr/>
        </p:nvSpPr>
        <p:spPr>
          <a:xfrm>
            <a:off x="6492240" y="4892040"/>
            <a:ext cx="4983480" cy="594360"/>
          </a:xfrm>
          <a:prstGeom prst="roundRect">
            <a:avLst>
              <a:gd name="adj" fmla="val 9231"/>
            </a:avLst>
          </a:prstGeom>
          <a:solidFill>
            <a:srgbClr val="141B49"/>
          </a:solidFill>
          <a:ln/>
        </p:spPr>
      </p:sp>
      <p:sp>
        <p:nvSpPr>
          <p:cNvPr id="18" name="Text 14"/>
          <p:cNvSpPr txBox="1"/>
          <p:nvPr/>
        </p:nvSpPr>
        <p:spPr>
          <a:xfrm>
            <a:off x="6629400" y="4892040"/>
            <a:ext cx="4709160" cy="594360"/>
          </a:xfrm>
          <a:prstGeom prst="rect">
            <a:avLst/>
          </a:prstGeom>
          <a:noFill/>
          <a:ln/>
        </p:spPr>
        <p:txBody>
          <a:bodyPr wrap="square" lIns="0" tIns="0" rIns="0" bIns="0" rtlCol="0" anchor="ctr"/>
          <a:lstStyle/>
          <a:p>
            <a:pPr indent="0" marL="0">
              <a:buNone/>
            </a:pPr>
            <a:r>
              <a:rPr lang="en-US" sz="1200" i="1" dirty="0">
                <a:solidFill>
                  <a:srgbClr val="3FBFB0"/>
                </a:solidFill>
                <a:latin typeface="Calibri" pitchFamily="34" charset="0"/>
                <a:ea typeface="Calibri" pitchFamily="34" charset="-122"/>
                <a:cs typeface="Calibri" pitchFamily="34" charset="-120"/>
              </a:rPr>
              <a:t>Those three are the whole of WorkingNoteKind.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Three Things That Must Survive</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8B — CONTEXT MANAGEMENT: WORKING STATE AND COMPACTION</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2011680"/>
            <a:ext cx="3474720" cy="3200400"/>
          </a:xfrm>
          <a:prstGeom prst="roundRect">
            <a:avLst>
              <a:gd name="adj" fmla="val 2857"/>
            </a:avLst>
          </a:prstGeom>
          <a:solidFill>
            <a:srgbClr val="1E2761"/>
          </a:solidFill>
          <a:ln w="12700">
            <a:solidFill>
              <a:srgbClr val="3FBFB0"/>
            </a:solidFill>
            <a:prstDash val="solid"/>
          </a:ln>
        </p:spPr>
      </p:sp>
      <p:sp>
        <p:nvSpPr>
          <p:cNvPr id="7" name="Shape 5"/>
          <p:cNvSpPr/>
          <p:nvPr/>
        </p:nvSpPr>
        <p:spPr>
          <a:xfrm>
            <a:off x="822960" y="2240280"/>
            <a:ext cx="384048" cy="384048"/>
          </a:xfrm>
          <a:prstGeom prst="ellipse">
            <a:avLst/>
          </a:prstGeom>
          <a:solidFill>
            <a:srgbClr val="3FBFB0"/>
          </a:solidFill>
          <a:ln/>
        </p:spPr>
      </p:sp>
      <p:sp>
        <p:nvSpPr>
          <p:cNvPr id="8" name="Text 6"/>
          <p:cNvSpPr txBox="1"/>
          <p:nvPr/>
        </p:nvSpPr>
        <p:spPr>
          <a:xfrm>
            <a:off x="822960" y="224028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1</a:t>
            </a:r>
            <a:endParaRPr lang="en-US" sz="1100" dirty="0"/>
          </a:p>
        </p:txBody>
      </p:sp>
      <p:sp>
        <p:nvSpPr>
          <p:cNvPr id="9" name="Text 7"/>
          <p:cNvSpPr txBox="1"/>
          <p:nvPr/>
        </p:nvSpPr>
        <p:spPr>
          <a:xfrm>
            <a:off x="1371600" y="2212848"/>
            <a:ext cx="2377440" cy="43891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What was asked</a:t>
            </a:r>
            <a:endParaRPr lang="en-US" sz="1200" dirty="0"/>
          </a:p>
        </p:txBody>
      </p:sp>
      <p:sp>
        <p:nvSpPr>
          <p:cNvPr id="10" name="Text 8"/>
          <p:cNvSpPr txBox="1"/>
          <p:nvPr/>
        </p:nvSpPr>
        <p:spPr>
          <a:xfrm>
            <a:off x="1371600" y="2724912"/>
            <a:ext cx="2377440" cy="2331720"/>
          </a:xfrm>
          <a:prstGeom prst="rect">
            <a:avLst/>
          </a:prstGeom>
          <a:noFill/>
          <a:ln/>
        </p:spPr>
        <p:txBody>
          <a:bodyPr wrap="square" lIns="0" tIns="0" rIns="0" bIns="0" rtlCol="0" anchor="t"/>
          <a:lstStyle/>
          <a:p>
            <a:pPr indent="0" marL="0">
              <a:lnSpc>
                <a:spcPct val="120000"/>
              </a:lnSpc>
              <a:buNone/>
            </a:pPr>
            <a:r>
              <a:rPr lang="en-US" sz="950" dirty="0">
                <a:solidFill>
                  <a:srgbClr val="CADCFC"/>
                </a:solidFill>
                <a:latin typeface="Calibri" pitchFamily="34" charset="0"/>
                <a:ea typeface="Calibri" pitchFamily="34" charset="-122"/>
                <a:cs typeface="Calibri" pitchFamily="34" charset="-120"/>
              </a:rPr>
              <a:t>A request the operator made and MiniCode has not finished is the single worst thing to forget. It will confidently do something else instead.</a:t>
            </a:r>
            <a:endParaRPr lang="en-US" sz="950" dirty="0"/>
          </a:p>
        </p:txBody>
      </p:sp>
      <p:sp>
        <p:nvSpPr>
          <p:cNvPr id="11" name="Shape 9"/>
          <p:cNvSpPr/>
          <p:nvPr/>
        </p:nvSpPr>
        <p:spPr>
          <a:xfrm>
            <a:off x="4343400" y="2011680"/>
            <a:ext cx="3474720" cy="3200400"/>
          </a:xfrm>
          <a:prstGeom prst="roundRect">
            <a:avLst>
              <a:gd name="adj" fmla="val 2857"/>
            </a:avLst>
          </a:prstGeom>
          <a:solidFill>
            <a:srgbClr val="1E2761"/>
          </a:solidFill>
          <a:ln w="12700">
            <a:solidFill>
              <a:srgbClr val="3FBFB0"/>
            </a:solidFill>
            <a:prstDash val="solid"/>
          </a:ln>
        </p:spPr>
      </p:sp>
      <p:sp>
        <p:nvSpPr>
          <p:cNvPr id="12" name="Shape 10"/>
          <p:cNvSpPr/>
          <p:nvPr/>
        </p:nvSpPr>
        <p:spPr>
          <a:xfrm>
            <a:off x="4617720" y="2240280"/>
            <a:ext cx="384048" cy="384048"/>
          </a:xfrm>
          <a:prstGeom prst="ellipse">
            <a:avLst/>
          </a:prstGeom>
          <a:solidFill>
            <a:srgbClr val="3FBFB0"/>
          </a:solidFill>
          <a:ln/>
        </p:spPr>
      </p:sp>
      <p:sp>
        <p:nvSpPr>
          <p:cNvPr id="13" name="Text 11"/>
          <p:cNvSpPr txBox="1"/>
          <p:nvPr/>
        </p:nvSpPr>
        <p:spPr>
          <a:xfrm>
            <a:off x="4617720" y="224028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2</a:t>
            </a:r>
            <a:endParaRPr lang="en-US" sz="1100" dirty="0"/>
          </a:p>
        </p:txBody>
      </p:sp>
      <p:sp>
        <p:nvSpPr>
          <p:cNvPr id="14" name="Text 12"/>
          <p:cNvSpPr txBox="1"/>
          <p:nvPr/>
        </p:nvSpPr>
        <p:spPr>
          <a:xfrm>
            <a:off x="5166360" y="2212848"/>
            <a:ext cx="2377440" cy="43891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What was established</a:t>
            </a:r>
            <a:endParaRPr lang="en-US" sz="1200" dirty="0"/>
          </a:p>
        </p:txBody>
      </p:sp>
      <p:sp>
        <p:nvSpPr>
          <p:cNvPr id="15" name="Text 13"/>
          <p:cNvSpPr txBox="1"/>
          <p:nvPr/>
        </p:nvSpPr>
        <p:spPr>
          <a:xfrm>
            <a:off x="5166360" y="2724912"/>
            <a:ext cx="2377440" cy="2331720"/>
          </a:xfrm>
          <a:prstGeom prst="rect">
            <a:avLst/>
          </a:prstGeom>
          <a:noFill/>
          <a:ln/>
        </p:spPr>
        <p:txBody>
          <a:bodyPr wrap="square" lIns="0" tIns="0" rIns="0" bIns="0" rtlCol="0" anchor="t"/>
          <a:lstStyle/>
          <a:p>
            <a:pPr indent="0" marL="0">
              <a:lnSpc>
                <a:spcPct val="120000"/>
              </a:lnSpc>
              <a:buNone/>
            </a:pPr>
            <a:r>
              <a:rPr lang="en-US" sz="950" dirty="0">
                <a:solidFill>
                  <a:srgbClr val="CADCFC"/>
                </a:solidFill>
                <a:latin typeface="Calibri" pitchFamily="34" charset="0"/>
                <a:ea typeface="Calibri" pitchFamily="34" charset="-122"/>
                <a:cs typeface="Calibri" pitchFamily="34" charset="-120"/>
              </a:rPr>
              <a:t>The conclusions reached, including any decision MiniCode explained. The reasoning is gone; the answer stays.</a:t>
            </a:r>
            <a:endParaRPr lang="en-US" sz="950" dirty="0"/>
          </a:p>
        </p:txBody>
      </p:sp>
      <p:sp>
        <p:nvSpPr>
          <p:cNvPr id="16" name="Shape 14"/>
          <p:cNvSpPr/>
          <p:nvPr/>
        </p:nvSpPr>
        <p:spPr>
          <a:xfrm>
            <a:off x="8138160" y="2011680"/>
            <a:ext cx="3474720" cy="3200400"/>
          </a:xfrm>
          <a:prstGeom prst="roundRect">
            <a:avLst>
              <a:gd name="adj" fmla="val 2857"/>
            </a:avLst>
          </a:prstGeom>
          <a:solidFill>
            <a:srgbClr val="1E2761"/>
          </a:solidFill>
          <a:ln w="12700">
            <a:solidFill>
              <a:srgbClr val="3FBFB0"/>
            </a:solidFill>
            <a:prstDash val="solid"/>
          </a:ln>
        </p:spPr>
      </p:sp>
      <p:sp>
        <p:nvSpPr>
          <p:cNvPr id="17" name="Shape 15"/>
          <p:cNvSpPr/>
          <p:nvPr/>
        </p:nvSpPr>
        <p:spPr>
          <a:xfrm>
            <a:off x="8412480" y="2240280"/>
            <a:ext cx="384048" cy="384048"/>
          </a:xfrm>
          <a:prstGeom prst="ellipse">
            <a:avLst/>
          </a:prstGeom>
          <a:solidFill>
            <a:srgbClr val="3FBFB0"/>
          </a:solidFill>
          <a:ln/>
        </p:spPr>
      </p:sp>
      <p:sp>
        <p:nvSpPr>
          <p:cNvPr id="18" name="Text 16"/>
          <p:cNvSpPr txBox="1"/>
          <p:nvPr/>
        </p:nvSpPr>
        <p:spPr>
          <a:xfrm>
            <a:off x="8412480" y="224028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3</a:t>
            </a:r>
            <a:endParaRPr lang="en-US" sz="1100" dirty="0"/>
          </a:p>
        </p:txBody>
      </p:sp>
      <p:sp>
        <p:nvSpPr>
          <p:cNvPr id="19" name="Text 17"/>
          <p:cNvSpPr txBox="1"/>
          <p:nvPr/>
        </p:nvSpPr>
        <p:spPr>
          <a:xfrm>
            <a:off x="8961120" y="2212848"/>
            <a:ext cx="2377440" cy="43891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Which files have been examined</a:t>
            </a:r>
            <a:endParaRPr lang="en-US" sz="1200" dirty="0"/>
          </a:p>
        </p:txBody>
      </p:sp>
      <p:sp>
        <p:nvSpPr>
          <p:cNvPr id="20" name="Text 18"/>
          <p:cNvSpPr txBox="1"/>
          <p:nvPr/>
        </p:nvSpPr>
        <p:spPr>
          <a:xfrm>
            <a:off x="8961120" y="2724912"/>
            <a:ext cx="2377440" cy="2331720"/>
          </a:xfrm>
          <a:prstGeom prst="rect">
            <a:avLst/>
          </a:prstGeom>
          <a:noFill/>
          <a:ln/>
        </p:spPr>
        <p:txBody>
          <a:bodyPr wrap="square" lIns="0" tIns="0" rIns="0" bIns="0" rtlCol="0" anchor="t"/>
          <a:lstStyle/>
          <a:p>
            <a:pPr indent="0" marL="0">
              <a:lnSpc>
                <a:spcPct val="120000"/>
              </a:lnSpc>
              <a:buNone/>
            </a:pPr>
            <a:r>
              <a:rPr lang="en-US" sz="950" dirty="0">
                <a:solidFill>
                  <a:srgbClr val="CADCFC"/>
                </a:solidFill>
                <a:latin typeface="Calibri" pitchFamily="34" charset="0"/>
                <a:ea typeface="Calibri" pitchFamily="34" charset="-122"/>
                <a:cs typeface="Calibri" pitchFamily="34" charset="-120"/>
              </a:rPr>
              <a:t>Otherwise the agent re-reads what it already read — which is the exact cost compaction exists to reclaim.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The Bulkiest Thing Is Also the Most Disposable</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8B — CONTEXT MANAGEMENT: WORKING STATE AND COMPACTION</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417320"/>
            <a:ext cx="5349240" cy="3291840"/>
          </a:xfrm>
          <a:prstGeom prst="roundRect">
            <a:avLst>
              <a:gd name="adj" fmla="val 2778"/>
            </a:avLst>
          </a:prstGeom>
          <a:solidFill>
            <a:srgbClr val="1E2761"/>
          </a:solidFill>
          <a:ln w="12700">
            <a:solidFill>
              <a:srgbClr val="3FBFB0"/>
            </a:solidFill>
            <a:prstDash val="solid"/>
          </a:ln>
        </p:spPr>
      </p:sp>
      <p:sp>
        <p:nvSpPr>
          <p:cNvPr id="7" name="Shape 5"/>
          <p:cNvSpPr/>
          <p:nvPr/>
        </p:nvSpPr>
        <p:spPr>
          <a:xfrm>
            <a:off x="868680" y="1737360"/>
            <a:ext cx="640080" cy="640080"/>
          </a:xfrm>
          <a:prstGeom prst="ellipse">
            <a:avLst/>
          </a:prstGeom>
          <a:solidFill>
            <a:srgbClr val="3FBFB0"/>
          </a:solidFill>
          <a:ln/>
        </p:spPr>
      </p:sp>
      <p:pic>
        <p:nvPicPr>
          <p:cNvPr id="8" name="Image 0" descr="preencoded.png">    </p:cNvPr>
          <p:cNvPicPr>
            <a:picLocks noChangeAspect="1"/>
          </p:cNvPicPr>
          <p:nvPr/>
        </p:nvPicPr>
        <p:blipFill>
          <a:blip r:embed="rId1"/>
          <a:stretch>
            <a:fillRect/>
          </a:stretch>
        </p:blipFill>
        <p:spPr>
          <a:xfrm>
            <a:off x="1033272" y="1901952"/>
            <a:ext cx="310896" cy="310896"/>
          </a:xfrm>
          <a:prstGeom prst="rect">
            <a:avLst/>
          </a:prstGeom>
        </p:spPr>
      </p:pic>
      <p:sp>
        <p:nvSpPr>
          <p:cNvPr id="9" name="Text 6"/>
          <p:cNvSpPr txBox="1"/>
          <p:nvPr/>
        </p:nvSpPr>
        <p:spPr>
          <a:xfrm>
            <a:off x="1645920" y="173736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 400-Line read_file Result Dwarfs the Question</a:t>
            </a:r>
            <a:endParaRPr lang="en-US" sz="1550" dirty="0"/>
          </a:p>
        </p:txBody>
      </p:sp>
      <p:sp>
        <p:nvSpPr>
          <p:cNvPr id="10" name="Text 7"/>
          <p:cNvSpPr txBox="1"/>
          <p:nvPr/>
        </p:nvSpPr>
        <p:spPr>
          <a:xfrm>
            <a:off x="868680" y="2606040"/>
            <a:ext cx="4709160" cy="1188720"/>
          </a:xfrm>
          <a:prstGeom prst="rect">
            <a:avLst/>
          </a:prstGeom>
          <a:noFill/>
          <a:ln/>
        </p:spPr>
        <p:txBody>
          <a:bodyPr wrap="square" lIns="0" tIns="0" rIns="0" bIns="0" rtlCol="0" anchor="t"/>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The fact that the file was read survives as a note; the four hundred lines do not. Getting this wrong is easy — a first draft of this Module summarised tool results into "what was established", which turned eight thousand characters of file content into a nonsense fact.</a:t>
            </a:r>
            <a:endParaRPr lang="en-US" sz="1350" dirty="0"/>
          </a:p>
        </p:txBody>
      </p:sp>
      <p:sp>
        <p:nvSpPr>
          <p:cNvPr id="11" name="Text 8"/>
          <p:cNvSpPr txBox="1"/>
          <p:nvPr/>
        </p:nvSpPr>
        <p:spPr>
          <a:xfrm>
            <a:off x="868680" y="3886200"/>
            <a:ext cx="4709160" cy="594360"/>
          </a:xfrm>
          <a:prstGeom prst="rect">
            <a:avLst/>
          </a:prstGeom>
          <a:noFill/>
          <a:ln/>
        </p:spPr>
        <p:txBody>
          <a:bodyPr wrap="square" lIns="0" tIns="0" rIns="0" bIns="0" rtlCol="0" anchor="t"/>
          <a:lstStyle/>
          <a:p>
            <a:pPr indent="0" marL="0">
              <a:buNone/>
            </a:pPr>
            <a:r>
              <a:rPr lang="en-US" sz="1250" b="1" i="1" dirty="0">
                <a:solidFill>
                  <a:srgbClr val="3FBFB0"/>
                </a:solidFill>
                <a:latin typeface="Calibri" pitchFamily="34" charset="0"/>
                <a:ea typeface="Calibri" pitchFamily="34" charset="-122"/>
                <a:cs typeface="Calibri" pitchFamily="34" charset="-120"/>
              </a:rPr>
              <a:t>ChatRole.Tool messages are skipped outright.</a:t>
            </a:r>
            <a:endParaRPr lang="en-US" sz="1250" dirty="0"/>
          </a:p>
        </p:txBody>
      </p:sp>
      <p:sp>
        <p:nvSpPr>
          <p:cNvPr id="12" name="Shape 9"/>
          <p:cNvSpPr/>
          <p:nvPr/>
        </p:nvSpPr>
        <p:spPr>
          <a:xfrm>
            <a:off x="6309360" y="1417320"/>
            <a:ext cx="5349240" cy="3291840"/>
          </a:xfrm>
          <a:prstGeom prst="roundRect">
            <a:avLst>
              <a:gd name="adj" fmla="val 2778"/>
            </a:avLst>
          </a:prstGeom>
          <a:solidFill>
            <a:srgbClr val="3FBFB0"/>
          </a:solidFill>
          <a:ln/>
        </p:spPr>
      </p:sp>
      <p:sp>
        <p:nvSpPr>
          <p:cNvPr id="13" name="Shape 10"/>
          <p:cNvSpPr/>
          <p:nvPr/>
        </p:nvSpPr>
        <p:spPr>
          <a:xfrm>
            <a:off x="6629400" y="1737360"/>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6793992" y="1901952"/>
            <a:ext cx="310896" cy="310896"/>
          </a:xfrm>
          <a:prstGeom prst="rect">
            <a:avLst/>
          </a:prstGeom>
        </p:spPr>
      </p:pic>
      <p:sp>
        <p:nvSpPr>
          <p:cNvPr id="15" name="Text 11"/>
          <p:cNvSpPr txBox="1"/>
          <p:nvPr/>
        </p:nvSpPr>
        <p:spPr>
          <a:xfrm>
            <a:off x="7406640" y="173736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Compaction Here Is Deterministic — No Model Call</a:t>
            </a:r>
            <a:endParaRPr lang="en-US" sz="1550" dirty="0"/>
          </a:p>
        </p:txBody>
      </p:sp>
      <p:sp>
        <p:nvSpPr>
          <p:cNvPr id="16" name="Text 12"/>
          <p:cNvSpPr txBox="1"/>
          <p:nvPr/>
        </p:nvSpPr>
        <p:spPr>
          <a:xfrm>
            <a:off x="6629400" y="2606040"/>
            <a:ext cx="4709160" cy="1737360"/>
          </a:xfrm>
          <a:prstGeom prst="rect">
            <a:avLst/>
          </a:prstGeom>
          <a:noFill/>
          <a:ln/>
        </p:spPr>
        <p:txBody>
          <a:bodyPr wrap="square" lIns="0" tIns="0" rIns="0" bIns="0" rtlCol="0" anchor="t"/>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A summarising request costs a round trip, can fail, and can itself be too large to send at exactly the moment you have run out of room. Scanning the messages and keeping four kinds of thing is arithmetic, and arithmetic cannot fail when the window is full.</a:t>
            </a:r>
            <a:endParaRPr lang="en-US" sz="1350" dirty="0"/>
          </a:p>
        </p:txBody>
      </p:sp>
      <p:sp>
        <p:nvSpPr>
          <p:cNvPr id="17" name="Shape 13"/>
          <p:cNvSpPr/>
          <p:nvPr/>
        </p:nvSpPr>
        <p:spPr>
          <a:xfrm>
            <a:off x="548640" y="4937760"/>
            <a:ext cx="11064240" cy="1417320"/>
          </a:xfrm>
          <a:prstGeom prst="roundRect">
            <a:avLst>
              <a:gd name="adj" fmla="val 6452"/>
            </a:avLst>
          </a:prstGeom>
          <a:solidFill>
            <a:srgbClr val="141B49"/>
          </a:solidFill>
          <a:ln w="12700">
            <a:solidFill>
              <a:srgbClr val="3FBFB0"/>
            </a:solidFill>
            <a:prstDash val="solid"/>
          </a:ln>
        </p:spPr>
      </p:sp>
      <p:sp>
        <p:nvSpPr>
          <p:cNvPr id="18" name="Text 14"/>
          <p:cNvSpPr txBox="1"/>
          <p:nvPr/>
        </p:nvSpPr>
        <p:spPr>
          <a:xfrm>
            <a:off x="877824" y="5193792"/>
            <a:ext cx="10405872" cy="428752"/>
          </a:xfrm>
          <a:prstGeom prst="rect">
            <a:avLst/>
          </a:prstGeom>
          <a:noFill/>
          <a:ln/>
        </p:spPr>
        <p:txBody>
          <a:bodyPr wrap="square" lIns="0" tIns="0" rIns="0" bIns="0" rtlCol="0" anchor="t"/>
          <a:lstStyle/>
          <a:p>
            <a:pPr indent="0" marL="0">
              <a:lnSpc>
                <a:spcPts val="1400"/>
              </a:lnSpc>
              <a:buNone/>
            </a:pPr>
            <a:r>
              <a:rPr lang="en-US" sz="950" i="1" dirty="0">
                <a:solidFill>
                  <a:srgbClr val="6B7280"/>
                </a:solidFill>
                <a:latin typeface="Courier New" pitchFamily="34" charset="0"/>
                <a:ea typeface="Courier New" pitchFamily="34" charset="-122"/>
                <a:cs typeface="Courier New" pitchFamily="34" charset="-120"/>
              </a:rPr>
              <a:t>// Recent turns are kept verbatim — the model is usually mid-thought, and a summary of the</a:t>
            </a:r>
            <a:endParaRPr lang="en-US" sz="950" dirty="0"/>
          </a:p>
          <a:p>
            <a:pPr indent="0" marL="0">
              <a:lnSpc>
                <a:spcPts val="1400"/>
              </a:lnSpc>
              <a:buNone/>
            </a:pPr>
            <a:r>
              <a:rPr lang="en-US" sz="950" i="1" dirty="0">
                <a:solidFill>
                  <a:srgbClr val="6B7280"/>
                </a:solidFill>
                <a:latin typeface="Courier New" pitchFamily="34" charset="0"/>
                <a:ea typeface="Courier New" pitchFamily="34" charset="-122"/>
                <a:cs typeface="Courier New" pitchFamily="34" charset="-120"/>
              </a:rPr>
              <a:t>// last exchange is strictly worse than the exchange.</a:t>
            </a:r>
            <a:endParaRPr lang="en-US" sz="950" dirty="0"/>
          </a:p>
        </p:txBody>
      </p:sp>
      <p:sp>
        <p:nvSpPr>
          <p:cNvPr id="19" name="Text 15"/>
          <p:cNvSpPr txBox="1"/>
          <p:nvPr/>
        </p:nvSpPr>
        <p:spPr>
          <a:xfrm>
            <a:off x="877824" y="5732272"/>
            <a:ext cx="10405872" cy="428752"/>
          </a:xfrm>
          <a:prstGeom prst="rect">
            <a:avLst/>
          </a:prstGeom>
          <a:noFill/>
          <a:ln/>
        </p:spPr>
        <p:txBody>
          <a:bodyPr wrap="square" lIns="0" tIns="0" rIns="0" bIns="0" rtlCol="0" anchor="t"/>
          <a:lstStyle/>
          <a:p>
            <a:pPr indent="0" marL="0">
              <a:lnSpc>
                <a:spcPts val="1400"/>
              </a:lnSpc>
              <a:buNone/>
            </a:pPr>
            <a:r>
              <a:rPr lang="en-US" sz="1050" dirty="0">
                <a:solidFill>
                  <a:srgbClr val="3FBFB0"/>
                </a:solidFill>
                <a:latin typeface="Courier New" pitchFamily="34" charset="0"/>
                <a:ea typeface="Courier New" pitchFamily="34" charset="-122"/>
                <a:cs typeface="Courier New" pitchFamily="34" charset="-120"/>
              </a:rPr>
              <a:t>And the cut must land on a user message: slice at an arbitrary index and you can separate a</a:t>
            </a:r>
            <a:endParaRPr lang="en-US" sz="1050" dirty="0"/>
          </a:p>
          <a:p>
            <a:pPr indent="0" marL="0">
              <a:lnSpc>
                <a:spcPts val="1400"/>
              </a:lnSpc>
              <a:buNone/>
            </a:pPr>
            <a:r>
              <a:rPr lang="en-US" sz="1050" dirty="0">
                <a:solidFill>
                  <a:srgbClr val="3FBFB0"/>
                </a:solidFill>
                <a:latin typeface="Courier New" pitchFamily="34" charset="0"/>
                <a:ea typeface="Courier New" pitchFamily="34" charset="-122"/>
                <a:cs typeface="Courier New" pitchFamily="34" charset="-120"/>
              </a:rPr>
              <a:t>tool call from the result that answers it. Walking back costs four lines and removes the bug class.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THE CODE</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Distil, Render, Replace</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8B — CONTEXT MANAGEMENT: WORKING STATE AND COMPACTION</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417320"/>
            <a:ext cx="5349240" cy="4754880"/>
          </a:xfrm>
          <a:prstGeom prst="roundRect">
            <a:avLst>
              <a:gd name="adj" fmla="val 1923"/>
            </a:avLst>
          </a:prstGeom>
          <a:solidFill>
            <a:srgbClr val="141B49"/>
          </a:solidFill>
          <a:ln w="12700">
            <a:solidFill>
              <a:srgbClr val="3FBFB0"/>
            </a:solidFill>
            <a:prstDash val="solid"/>
          </a:ln>
        </p:spPr>
      </p:sp>
      <p:sp>
        <p:nvSpPr>
          <p:cNvPr id="7" name="Text 5"/>
          <p:cNvSpPr txBox="1"/>
          <p:nvPr/>
        </p:nvSpPr>
        <p:spPr>
          <a:xfrm>
            <a:off x="877824" y="1673352"/>
            <a:ext cx="4690872" cy="212852"/>
          </a:xfrm>
          <a:prstGeom prst="rect">
            <a:avLst/>
          </a:prstGeom>
          <a:noFill/>
          <a:ln/>
        </p:spPr>
        <p:txBody>
          <a:bodyPr wrap="square" lIns="0" tIns="0" rIns="0" bIns="0" rtlCol="0" anchor="t"/>
          <a:lstStyle/>
          <a:p>
            <a:pPr indent="0" marL="0">
              <a:lnSpc>
                <a:spcPts val="1100"/>
              </a:lnSpc>
              <a:buNone/>
            </a:pPr>
            <a:r>
              <a:rPr lang="en-US" sz="950" i="1" dirty="0">
                <a:solidFill>
                  <a:srgbClr val="6B7280"/>
                </a:solidFill>
                <a:latin typeface="Courier New" pitchFamily="34" charset="0"/>
                <a:ea typeface="Courier New" pitchFamily="34" charset="-122"/>
                <a:cs typeface="Courier New" pitchFamily="34" charset="-120"/>
              </a:rPr>
              <a:t>// src/MiniCode.Agent/WorkingState.cs</a:t>
            </a:r>
            <a:endParaRPr lang="en-US" sz="950" dirty="0"/>
          </a:p>
        </p:txBody>
      </p:sp>
      <p:sp>
        <p:nvSpPr>
          <p:cNvPr id="8" name="Text 6"/>
          <p:cNvSpPr txBox="1"/>
          <p:nvPr/>
        </p:nvSpPr>
        <p:spPr>
          <a:xfrm>
            <a:off x="877824" y="1995932"/>
            <a:ext cx="4690872" cy="911352"/>
          </a:xfrm>
          <a:prstGeom prst="rect">
            <a:avLst/>
          </a:prstGeom>
          <a:noFill/>
          <a:ln/>
        </p:spPr>
        <p:txBody>
          <a:bodyPr wrap="square" lIns="0" tIns="0" rIns="0" bIns="0" rtlCol="0" anchor="t"/>
          <a:lstStyle/>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public static WorkingState From(</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IEnumerable&lt;ChatMessage&gt; messages)</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var notes = new List&lt;WorkingNote&gt;();</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foreach (ChatMessage message in messages)</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a:t>
            </a:r>
            <a:endParaRPr lang="en-US" sz="950" dirty="0"/>
          </a:p>
        </p:txBody>
      </p:sp>
      <p:sp>
        <p:nvSpPr>
          <p:cNvPr id="9" name="Text 7"/>
          <p:cNvSpPr txBox="1"/>
          <p:nvPr/>
        </p:nvSpPr>
        <p:spPr>
          <a:xfrm>
            <a:off x="877824" y="2834132"/>
            <a:ext cx="4690872" cy="1470152"/>
          </a:xfrm>
          <a:prstGeom prst="rect">
            <a:avLst/>
          </a:prstGeom>
          <a:noFill/>
          <a:ln/>
        </p:spPr>
        <p:txBody>
          <a:bodyPr wrap="square" lIns="0" tIns="0" rIns="0" bIns="0" rtlCol="0" anchor="t"/>
          <a:lstStyle/>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foreach (FunctionCallContent call in</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message.Contents</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.OfType&lt;FunctionCallContent&gt;())</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Add(notes, FileState, PathArgument(call));</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if (message.Role == ChatRole.Tool)</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continue;   // bulky and disposable</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a:t>
            </a:r>
            <a:endParaRPr lang="en-US" sz="950" dirty="0"/>
          </a:p>
        </p:txBody>
      </p:sp>
      <p:sp>
        <p:nvSpPr>
          <p:cNvPr id="10" name="Text 8"/>
          <p:cNvSpPr txBox="1"/>
          <p:nvPr/>
        </p:nvSpPr>
        <p:spPr>
          <a:xfrm>
            <a:off x="877824" y="4231132"/>
            <a:ext cx="4690872" cy="771652"/>
          </a:xfrm>
          <a:prstGeom prst="rect">
            <a:avLst/>
          </a:prstGeom>
          <a:noFill/>
          <a:ln/>
        </p:spPr>
        <p:txBody>
          <a:bodyPr wrap="square" lIns="0" tIns="0" rIns="0" bIns="0" rtlCol="0" anchor="t"/>
          <a:lstStyle/>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Add(notes, message.Role == ChatRole.User</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 OpenTask : CompletedWork, message.Text);</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return new WorkingState(notes);</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p:txBody>
      </p:sp>
      <p:sp>
        <p:nvSpPr>
          <p:cNvPr id="11" name="Shape 9"/>
          <p:cNvSpPr/>
          <p:nvPr/>
        </p:nvSpPr>
        <p:spPr>
          <a:xfrm>
            <a:off x="6309360" y="1417320"/>
            <a:ext cx="5349240" cy="4754880"/>
          </a:xfrm>
          <a:prstGeom prst="roundRect">
            <a:avLst>
              <a:gd name="adj" fmla="val 1923"/>
            </a:avLst>
          </a:prstGeom>
          <a:solidFill>
            <a:srgbClr val="141B49"/>
          </a:solidFill>
          <a:ln w="12700">
            <a:solidFill>
              <a:srgbClr val="3FBFB0"/>
            </a:solidFill>
            <a:prstDash val="solid"/>
          </a:ln>
        </p:spPr>
      </p:sp>
      <p:sp>
        <p:nvSpPr>
          <p:cNvPr id="12" name="Text 10"/>
          <p:cNvSpPr txBox="1"/>
          <p:nvPr/>
        </p:nvSpPr>
        <p:spPr>
          <a:xfrm>
            <a:off x="6638544" y="1673352"/>
            <a:ext cx="4690872" cy="212852"/>
          </a:xfrm>
          <a:prstGeom prst="rect">
            <a:avLst/>
          </a:prstGeom>
          <a:noFill/>
          <a:ln/>
        </p:spPr>
        <p:txBody>
          <a:bodyPr wrap="square" lIns="0" tIns="0" rIns="0" bIns="0" rtlCol="0" anchor="t"/>
          <a:lstStyle/>
          <a:p>
            <a:pPr indent="0" marL="0">
              <a:lnSpc>
                <a:spcPts val="1100"/>
              </a:lnSpc>
              <a:buNone/>
            </a:pPr>
            <a:r>
              <a:rPr lang="en-US" sz="950" i="1" dirty="0">
                <a:solidFill>
                  <a:srgbClr val="6B7280"/>
                </a:solidFill>
                <a:latin typeface="Courier New" pitchFamily="34" charset="0"/>
                <a:ea typeface="Courier New" pitchFamily="34" charset="-122"/>
                <a:cs typeface="Courier New" pitchFamily="34" charset="-120"/>
              </a:rPr>
              <a:t>// src/MiniCode.Agent/SessionCompactor.cs</a:t>
            </a:r>
            <a:endParaRPr lang="en-US" sz="950" dirty="0"/>
          </a:p>
        </p:txBody>
      </p:sp>
      <p:sp>
        <p:nvSpPr>
          <p:cNvPr id="13" name="Text 11"/>
          <p:cNvSpPr txBox="1"/>
          <p:nvPr/>
        </p:nvSpPr>
        <p:spPr>
          <a:xfrm>
            <a:off x="6638544" y="1995932"/>
            <a:ext cx="4690872" cy="212852"/>
          </a:xfrm>
          <a:prstGeom prst="rect">
            <a:avLst/>
          </a:prstGeom>
          <a:noFill/>
          <a:ln/>
        </p:spPr>
        <p:txBody>
          <a:bodyPr wrap="square" lIns="0" tIns="0" rIns="0" bIns="0" rtlCol="0" anchor="t"/>
          <a:lstStyle/>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public const int PreservedMessages = 6;</a:t>
            </a:r>
            <a:endParaRPr lang="en-US" sz="950" dirty="0"/>
          </a:p>
        </p:txBody>
      </p:sp>
      <p:sp>
        <p:nvSpPr>
          <p:cNvPr id="14" name="Text 12"/>
          <p:cNvSpPr txBox="1"/>
          <p:nvPr/>
        </p:nvSpPr>
        <p:spPr>
          <a:xfrm>
            <a:off x="6638544" y="2135632"/>
            <a:ext cx="4690872" cy="1609852"/>
          </a:xfrm>
          <a:prstGeom prst="rect">
            <a:avLst/>
          </a:prstGeom>
          <a:noFill/>
          <a:ln/>
        </p:spPr>
        <p:txBody>
          <a:bodyPr wrap="square" lIns="0" tIns="0" rIns="0" bIns="0" rtlCol="0" anchor="t"/>
          <a:lstStyle/>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public static int Compact(AgentSession session)</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if (!session.TryGetInMemoryChatHistory(</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out List&lt;ChatMessage&gt;? history)</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 history is null) return 0;</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int cut = CutPoint(history);</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if (cut &lt;= 0) return 0;</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WorkingState state =</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WorkingState.From(history.Take(cut));</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if (state.IsEmpty) return 0;</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int before = Estimate(history);</a:t>
            </a:r>
            <a:endParaRPr lang="en-US" sz="950" dirty="0"/>
          </a:p>
        </p:txBody>
      </p:sp>
      <p:sp>
        <p:nvSpPr>
          <p:cNvPr id="15" name="Text 13"/>
          <p:cNvSpPr txBox="1"/>
          <p:nvPr/>
        </p:nvSpPr>
        <p:spPr>
          <a:xfrm>
            <a:off x="6638544" y="3672332"/>
            <a:ext cx="4690872" cy="631952"/>
          </a:xfrm>
          <a:prstGeom prst="rect">
            <a:avLst/>
          </a:prstGeom>
          <a:noFill/>
          <a:ln/>
        </p:spPr>
        <p:txBody>
          <a:bodyPr wrap="square" lIns="0" tIns="0" rIns="0" bIns="0" rtlCol="0" anchor="t"/>
          <a:lstStyle/>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List&lt;ChatMessage&gt; compacted = [</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new ChatMessage(ChatRole.User, state.Render()),</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 history.Skip(cut)];</a:t>
            </a:r>
            <a:endParaRPr lang="en-US" sz="950" dirty="0"/>
          </a:p>
          <a:p>
            <a:pPr indent="0" marL="0">
              <a:lnSpc>
                <a:spcPts val="1100"/>
              </a:lnSpc>
              <a:buNone/>
            </a:pPr>
            <a:r>
              <a:rPr lang="en-US" sz="950" dirty="0">
                <a:solidFill>
                  <a:srgbClr val="3FBFB0"/>
                </a:solidFill>
                <a:latin typeface="Courier New" pitchFamily="34" charset="0"/>
                <a:ea typeface="Courier New" pitchFamily="34" charset="-122"/>
                <a:cs typeface="Courier New" pitchFamily="34" charset="-120"/>
              </a:rPr>
              <a:t>    session.SetInMemoryChatHistory(compacted);</a:t>
            </a:r>
            <a:endParaRPr lang="en-US" sz="950" dirty="0"/>
          </a:p>
        </p:txBody>
      </p:sp>
      <p:sp>
        <p:nvSpPr>
          <p:cNvPr id="16" name="Text 14"/>
          <p:cNvSpPr txBox="1"/>
          <p:nvPr/>
        </p:nvSpPr>
        <p:spPr>
          <a:xfrm>
            <a:off x="6638544" y="4231132"/>
            <a:ext cx="4690872" cy="352552"/>
          </a:xfrm>
          <a:prstGeom prst="rect">
            <a:avLst/>
          </a:prstGeom>
          <a:noFill/>
          <a:ln/>
        </p:spPr>
        <p:txBody>
          <a:bodyPr wrap="square" lIns="0" tIns="0" rIns="0" bIns="0" rtlCol="0" anchor="t"/>
          <a:lstStyle/>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    return before - Estimate(compacted);</a:t>
            </a:r>
            <a:endParaRPr lang="en-US" sz="950" dirty="0"/>
          </a:p>
          <a:p>
            <a:pPr indent="0" marL="0">
              <a:lnSpc>
                <a:spcPts val="11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p:txBody>
      </p:sp>
      <p:sp>
        <p:nvSpPr>
          <p:cNvPr id="17" name="Text 15"/>
          <p:cNvSpPr txBox="1"/>
          <p:nvPr/>
        </p:nvSpPr>
        <p:spPr>
          <a:xfrm>
            <a:off x="6638544" y="4510532"/>
            <a:ext cx="4690872" cy="212852"/>
          </a:xfrm>
          <a:prstGeom prst="rect">
            <a:avLst/>
          </a:prstGeom>
          <a:noFill/>
          <a:ln/>
        </p:spPr>
        <p:txBody>
          <a:bodyPr wrap="square" lIns="0" tIns="0" rIns="0" bIns="0" rtlCol="0" anchor="t"/>
          <a:lstStyle/>
          <a:p>
            <a:pPr indent="0" marL="0">
              <a:lnSpc>
                <a:spcPts val="1100"/>
              </a:lnSpc>
              <a:buNone/>
            </a:pPr>
            <a:r>
              <a:rPr lang="en-US" sz="950" i="1" dirty="0">
                <a:solidFill>
                  <a:srgbClr val="6B7280"/>
                </a:solidFill>
                <a:latin typeface="Courier New" pitchFamily="34" charset="0"/>
                <a:ea typeface="Courier New" pitchFamily="34" charset="-122"/>
                <a:cs typeface="Courier New" pitchFamily="34" charset="-120"/>
              </a:rPr>
              <a:t>// CutPoint walks back to the nearest user message</a:t>
            </a:r>
            <a:endParaRPr lang="en-US" sz="950" dirty="0"/>
          </a:p>
        </p:txBody>
      </p:sp>
      <p:sp>
        <p:nvSpPr>
          <p:cNvPr id="18" name="Text 16"/>
          <p:cNvSpPr txBox="1"/>
          <p:nvPr/>
        </p:nvSpPr>
        <p:spPr>
          <a:xfrm>
            <a:off x="6638544" y="5458968"/>
            <a:ext cx="4690872" cy="548640"/>
          </a:xfrm>
          <a:prstGeom prst="rect">
            <a:avLst/>
          </a:prstGeom>
          <a:noFill/>
          <a:ln/>
        </p:spPr>
        <p:txBody>
          <a:bodyPr wrap="square" lIns="0" tIns="0" rIns="0" bIns="0" rtlCol="0" anchor="t"/>
          <a:lstStyle/>
          <a:p>
            <a:pPr indent="0" marL="0">
              <a:buNone/>
            </a:pPr>
            <a:r>
              <a:rPr lang="en-US" sz="1050" i="1" dirty="0">
                <a:solidFill>
                  <a:srgbClr val="CADCFC"/>
                </a:solidFill>
                <a:latin typeface="Calibri" pitchFamily="34" charset="0"/>
                <a:ea typeface="Calibri" pitchFamily="34" charset="-122"/>
                <a:cs typeface="Calibri" pitchFamily="34" charset="-120"/>
              </a:rPr>
              <a:t>CodingAgent closes the loop in four lines: after a turn, if ShouldCompact then Compact, and subtract what came back.</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WALKTHROUGH</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Seven Decisions Inside the Rewrite</a:t>
            </a:r>
            <a:endParaRPr lang="en-US" sz="28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8B — CONTEXT MANAGEMENT: WORKING STATE AND COMPACTION</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417320"/>
            <a:ext cx="5326380" cy="1572768"/>
          </a:xfrm>
          <a:prstGeom prst="roundRect">
            <a:avLst>
              <a:gd name="adj" fmla="val 5814"/>
            </a:avLst>
          </a:prstGeom>
          <a:solidFill>
            <a:srgbClr val="1E2761"/>
          </a:solidFill>
          <a:ln w="12700">
            <a:solidFill>
              <a:srgbClr val="3FBFB0"/>
            </a:solidFill>
            <a:prstDash val="solid"/>
          </a:ln>
        </p:spPr>
      </p:sp>
      <p:sp>
        <p:nvSpPr>
          <p:cNvPr id="7" name="Shape 5"/>
          <p:cNvSpPr/>
          <p:nvPr/>
        </p:nvSpPr>
        <p:spPr>
          <a:xfrm>
            <a:off x="822960" y="1645920"/>
            <a:ext cx="384048" cy="384048"/>
          </a:xfrm>
          <a:prstGeom prst="ellipse">
            <a:avLst/>
          </a:prstGeom>
          <a:solidFill>
            <a:srgbClr val="3FBFB0"/>
          </a:solidFill>
          <a:ln/>
        </p:spPr>
      </p:sp>
      <p:sp>
        <p:nvSpPr>
          <p:cNvPr id="8" name="Text 6"/>
          <p:cNvSpPr txBox="1"/>
          <p:nvPr/>
        </p:nvSpPr>
        <p:spPr>
          <a:xfrm>
            <a:off x="822960" y="164592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1</a:t>
            </a:r>
            <a:endParaRPr lang="en-US" sz="1100" dirty="0"/>
          </a:p>
        </p:txBody>
      </p:sp>
      <p:sp>
        <p:nvSpPr>
          <p:cNvPr id="9" name="Text 7"/>
          <p:cNvSpPr txBox="1"/>
          <p:nvPr/>
        </p:nvSpPr>
        <p:spPr>
          <a:xfrm>
            <a:off x="1371600" y="1618488"/>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From reads file paths first</a:t>
            </a:r>
            <a:endParaRPr lang="en-US" sz="1250" dirty="0"/>
          </a:p>
        </p:txBody>
      </p:sp>
      <p:sp>
        <p:nvSpPr>
          <p:cNvPr id="10" name="Text 8"/>
          <p:cNvSpPr txBox="1"/>
          <p:nvPr/>
        </p:nvSpPr>
        <p:spPr>
          <a:xfrm>
            <a:off x="1371600" y="2130552"/>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Off FunctionCallContent, before it decides anything else — so a tool call contributes a FileState note even though its result is about to be discarded.</a:t>
            </a:r>
            <a:endParaRPr lang="en-US" sz="1050" dirty="0"/>
          </a:p>
        </p:txBody>
      </p:sp>
      <p:sp>
        <p:nvSpPr>
          <p:cNvPr id="11" name="Shape 9"/>
          <p:cNvSpPr/>
          <p:nvPr/>
        </p:nvSpPr>
        <p:spPr>
          <a:xfrm>
            <a:off x="6286500" y="1417320"/>
            <a:ext cx="5326380" cy="1572768"/>
          </a:xfrm>
          <a:prstGeom prst="roundRect">
            <a:avLst>
              <a:gd name="adj" fmla="val 5814"/>
            </a:avLst>
          </a:prstGeom>
          <a:solidFill>
            <a:srgbClr val="1E2761"/>
          </a:solidFill>
          <a:ln w="12700">
            <a:solidFill>
              <a:srgbClr val="3FBFB0"/>
            </a:solidFill>
            <a:prstDash val="solid"/>
          </a:ln>
        </p:spPr>
      </p:sp>
      <p:sp>
        <p:nvSpPr>
          <p:cNvPr id="12" name="Shape 10"/>
          <p:cNvSpPr/>
          <p:nvPr/>
        </p:nvSpPr>
        <p:spPr>
          <a:xfrm>
            <a:off x="6560820" y="1645920"/>
            <a:ext cx="384048" cy="384048"/>
          </a:xfrm>
          <a:prstGeom prst="ellipse">
            <a:avLst/>
          </a:prstGeom>
          <a:solidFill>
            <a:srgbClr val="3FBFB0"/>
          </a:solidFill>
          <a:ln/>
        </p:spPr>
      </p:sp>
      <p:sp>
        <p:nvSpPr>
          <p:cNvPr id="13" name="Text 11"/>
          <p:cNvSpPr txBox="1"/>
          <p:nvPr/>
        </p:nvSpPr>
        <p:spPr>
          <a:xfrm>
            <a:off x="6560820" y="164592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2</a:t>
            </a:r>
            <a:endParaRPr lang="en-US" sz="1100" dirty="0"/>
          </a:p>
        </p:txBody>
      </p:sp>
      <p:sp>
        <p:nvSpPr>
          <p:cNvPr id="14" name="Text 12"/>
          <p:cNvSpPr txBox="1"/>
          <p:nvPr/>
        </p:nvSpPr>
        <p:spPr>
          <a:xfrm>
            <a:off x="7109460" y="1618488"/>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ChatRole.Tool messages are skipped outright</a:t>
            </a:r>
            <a:endParaRPr lang="en-US" sz="1250" dirty="0"/>
          </a:p>
        </p:txBody>
      </p:sp>
      <p:sp>
        <p:nvSpPr>
          <p:cNvPr id="15" name="Text 13"/>
          <p:cNvSpPr txBox="1"/>
          <p:nvPr/>
        </p:nvSpPr>
        <p:spPr>
          <a:xfrm>
            <a:off x="7109460" y="2130552"/>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This is the line that fixes the mistake described earlier. Without it, file contents get summarised as conclusions.</a:t>
            </a:r>
            <a:endParaRPr lang="en-US" sz="1050" dirty="0"/>
          </a:p>
        </p:txBody>
      </p:sp>
      <p:sp>
        <p:nvSpPr>
          <p:cNvPr id="16" name="Shape 14"/>
          <p:cNvSpPr/>
          <p:nvPr/>
        </p:nvSpPr>
        <p:spPr>
          <a:xfrm>
            <a:off x="548640" y="3118104"/>
            <a:ext cx="5326380" cy="1572768"/>
          </a:xfrm>
          <a:prstGeom prst="roundRect">
            <a:avLst>
              <a:gd name="adj" fmla="val 5814"/>
            </a:avLst>
          </a:prstGeom>
          <a:solidFill>
            <a:srgbClr val="1E2761"/>
          </a:solidFill>
          <a:ln w="12700">
            <a:solidFill>
              <a:srgbClr val="3FBFB0"/>
            </a:solidFill>
            <a:prstDash val="solid"/>
          </a:ln>
        </p:spPr>
      </p:sp>
      <p:sp>
        <p:nvSpPr>
          <p:cNvPr id="17" name="Shape 15"/>
          <p:cNvSpPr/>
          <p:nvPr/>
        </p:nvSpPr>
        <p:spPr>
          <a:xfrm>
            <a:off x="822960" y="3346704"/>
            <a:ext cx="384048" cy="384048"/>
          </a:xfrm>
          <a:prstGeom prst="ellipse">
            <a:avLst/>
          </a:prstGeom>
          <a:solidFill>
            <a:srgbClr val="3FBFB0"/>
          </a:solidFill>
          <a:ln/>
        </p:spPr>
      </p:sp>
      <p:sp>
        <p:nvSpPr>
          <p:cNvPr id="18" name="Text 16"/>
          <p:cNvSpPr txBox="1"/>
          <p:nvPr/>
        </p:nvSpPr>
        <p:spPr>
          <a:xfrm>
            <a:off x="822960" y="3346704"/>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3</a:t>
            </a:r>
            <a:endParaRPr lang="en-US" sz="1100" dirty="0"/>
          </a:p>
        </p:txBody>
      </p:sp>
      <p:sp>
        <p:nvSpPr>
          <p:cNvPr id="19" name="Text 17"/>
          <p:cNvSpPr txBox="1"/>
          <p:nvPr/>
        </p:nvSpPr>
        <p:spPr>
          <a:xfrm>
            <a:off x="1371600" y="3319272"/>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Add de-duplicates and truncates</a:t>
            </a:r>
            <a:endParaRPr lang="en-US" sz="1250" dirty="0"/>
          </a:p>
        </p:txBody>
      </p:sp>
      <p:sp>
        <p:nvSpPr>
          <p:cNvPr id="20" name="Text 18"/>
          <p:cNvSpPr txBox="1"/>
          <p:nvPr/>
        </p:nvSpPr>
        <p:spPr>
          <a:xfrm>
            <a:off x="1371600" y="3831336"/>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Ask the same question twice and it appears once; a rambling answer is clipped to 160 characters. The state block must stay small, or compaction just moves the problem.</a:t>
            </a:r>
            <a:endParaRPr lang="en-US" sz="1050" dirty="0"/>
          </a:p>
        </p:txBody>
      </p:sp>
      <p:sp>
        <p:nvSpPr>
          <p:cNvPr id="21" name="Shape 19"/>
          <p:cNvSpPr/>
          <p:nvPr/>
        </p:nvSpPr>
        <p:spPr>
          <a:xfrm>
            <a:off x="6286500" y="3118104"/>
            <a:ext cx="5326380" cy="1572768"/>
          </a:xfrm>
          <a:prstGeom prst="roundRect">
            <a:avLst>
              <a:gd name="adj" fmla="val 5814"/>
            </a:avLst>
          </a:prstGeom>
          <a:solidFill>
            <a:srgbClr val="1E2761"/>
          </a:solidFill>
          <a:ln w="12700">
            <a:solidFill>
              <a:srgbClr val="3FBFB0"/>
            </a:solidFill>
            <a:prstDash val="solid"/>
          </a:ln>
        </p:spPr>
      </p:sp>
      <p:sp>
        <p:nvSpPr>
          <p:cNvPr id="22" name="Shape 20"/>
          <p:cNvSpPr/>
          <p:nvPr/>
        </p:nvSpPr>
        <p:spPr>
          <a:xfrm>
            <a:off x="6560820" y="3346704"/>
            <a:ext cx="384048" cy="384048"/>
          </a:xfrm>
          <a:prstGeom prst="ellipse">
            <a:avLst/>
          </a:prstGeom>
          <a:solidFill>
            <a:srgbClr val="3FBFB0"/>
          </a:solidFill>
          <a:ln/>
        </p:spPr>
      </p:sp>
      <p:sp>
        <p:nvSpPr>
          <p:cNvPr id="23" name="Text 21"/>
          <p:cNvSpPr txBox="1"/>
          <p:nvPr/>
        </p:nvSpPr>
        <p:spPr>
          <a:xfrm>
            <a:off x="6560820" y="3346704"/>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4</a:t>
            </a:r>
            <a:endParaRPr lang="en-US" sz="1100" dirty="0"/>
          </a:p>
        </p:txBody>
      </p:sp>
      <p:sp>
        <p:nvSpPr>
          <p:cNvPr id="24" name="Text 22"/>
          <p:cNvSpPr txBox="1"/>
          <p:nvPr/>
        </p:nvSpPr>
        <p:spPr>
          <a:xfrm>
            <a:off x="7109460" y="3319272"/>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Render groups by kind in enum order</a:t>
            </a:r>
            <a:endParaRPr lang="en-US" sz="1250" dirty="0"/>
          </a:p>
        </p:txBody>
      </p:sp>
      <p:sp>
        <p:nvSpPr>
          <p:cNvPr id="25" name="Text 23"/>
          <p:cNvSpPr txBox="1"/>
          <p:nvPr/>
        </p:nvSpPr>
        <p:spPr>
          <a:xfrm>
            <a:off x="7109460" y="3831336"/>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So the block always reads asked → established → examined. Stable output is easier to eyeball on camera and easier to diff.</a:t>
            </a:r>
            <a:endParaRPr lang="en-US" sz="1050" dirty="0"/>
          </a:p>
        </p:txBody>
      </p:sp>
      <p:sp>
        <p:nvSpPr>
          <p:cNvPr id="26" name="Shape 24"/>
          <p:cNvSpPr/>
          <p:nvPr/>
        </p:nvSpPr>
        <p:spPr>
          <a:xfrm>
            <a:off x="548640" y="4818888"/>
            <a:ext cx="5326380" cy="1572768"/>
          </a:xfrm>
          <a:prstGeom prst="roundRect">
            <a:avLst>
              <a:gd name="adj" fmla="val 5814"/>
            </a:avLst>
          </a:prstGeom>
          <a:solidFill>
            <a:srgbClr val="1E2761"/>
          </a:solidFill>
          <a:ln w="12700">
            <a:solidFill>
              <a:srgbClr val="3FBFB0"/>
            </a:solidFill>
            <a:prstDash val="solid"/>
          </a:ln>
        </p:spPr>
      </p:sp>
      <p:sp>
        <p:nvSpPr>
          <p:cNvPr id="27" name="Shape 25"/>
          <p:cNvSpPr/>
          <p:nvPr/>
        </p:nvSpPr>
        <p:spPr>
          <a:xfrm>
            <a:off x="822960" y="5047488"/>
            <a:ext cx="384048" cy="384048"/>
          </a:xfrm>
          <a:prstGeom prst="ellipse">
            <a:avLst/>
          </a:prstGeom>
          <a:solidFill>
            <a:srgbClr val="3FBFB0"/>
          </a:solidFill>
          <a:ln/>
        </p:spPr>
      </p:sp>
      <p:sp>
        <p:nvSpPr>
          <p:cNvPr id="28" name="Text 26"/>
          <p:cNvSpPr txBox="1"/>
          <p:nvPr/>
        </p:nvSpPr>
        <p:spPr>
          <a:xfrm>
            <a:off x="822960" y="5047488"/>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5</a:t>
            </a:r>
            <a:endParaRPr lang="en-US" sz="1100" dirty="0"/>
          </a:p>
        </p:txBody>
      </p:sp>
      <p:sp>
        <p:nvSpPr>
          <p:cNvPr id="29" name="Text 27"/>
          <p:cNvSpPr txBox="1"/>
          <p:nvPr/>
        </p:nvSpPr>
        <p:spPr>
          <a:xfrm>
            <a:off x="1371600" y="5020056"/>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Compact returns zero three separate times</a:t>
            </a:r>
            <a:endParaRPr lang="en-US" sz="1250" dirty="0"/>
          </a:p>
        </p:txBody>
      </p:sp>
      <p:sp>
        <p:nvSpPr>
          <p:cNvPr id="30" name="Text 28"/>
          <p:cNvSpPr txBox="1"/>
          <p:nvPr/>
        </p:nvSpPr>
        <p:spPr>
          <a:xfrm>
            <a:off x="1371600" y="5532120"/>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No history, nothing old enough, nothing worth keeping. A compaction that would achieve nothing does not happen, and the caller can tell.</a:t>
            </a:r>
            <a:endParaRPr lang="en-US" sz="1050" dirty="0"/>
          </a:p>
        </p:txBody>
      </p:sp>
      <p:sp>
        <p:nvSpPr>
          <p:cNvPr id="31" name="Shape 29"/>
          <p:cNvSpPr/>
          <p:nvPr/>
        </p:nvSpPr>
        <p:spPr>
          <a:xfrm>
            <a:off x="6286500" y="4818888"/>
            <a:ext cx="5326380" cy="1572768"/>
          </a:xfrm>
          <a:prstGeom prst="roundRect">
            <a:avLst>
              <a:gd name="adj" fmla="val 5814"/>
            </a:avLst>
          </a:prstGeom>
          <a:solidFill>
            <a:srgbClr val="1E2761"/>
          </a:solidFill>
          <a:ln w="12700">
            <a:solidFill>
              <a:srgbClr val="3FBFB0"/>
            </a:solidFill>
            <a:prstDash val="solid"/>
          </a:ln>
        </p:spPr>
      </p:sp>
      <p:sp>
        <p:nvSpPr>
          <p:cNvPr id="32" name="Shape 30"/>
          <p:cNvSpPr/>
          <p:nvPr/>
        </p:nvSpPr>
        <p:spPr>
          <a:xfrm>
            <a:off x="6560820" y="5047488"/>
            <a:ext cx="384048" cy="384048"/>
          </a:xfrm>
          <a:prstGeom prst="ellipse">
            <a:avLst/>
          </a:prstGeom>
          <a:solidFill>
            <a:srgbClr val="3FBFB0"/>
          </a:solidFill>
          <a:ln/>
        </p:spPr>
      </p:sp>
      <p:sp>
        <p:nvSpPr>
          <p:cNvPr id="33" name="Text 31"/>
          <p:cNvSpPr txBox="1"/>
          <p:nvPr/>
        </p:nvSpPr>
        <p:spPr>
          <a:xfrm>
            <a:off x="6560820" y="5047488"/>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6</a:t>
            </a:r>
            <a:endParaRPr lang="en-US" sz="1100" dirty="0"/>
          </a:p>
        </p:txBody>
      </p:sp>
      <p:sp>
        <p:nvSpPr>
          <p:cNvPr id="34" name="Text 32"/>
          <p:cNvSpPr txBox="1"/>
          <p:nvPr/>
        </p:nvSpPr>
        <p:spPr>
          <a:xfrm>
            <a:off x="7109460" y="5020056"/>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The replacement is authored as ChatRole.User</a:t>
            </a:r>
            <a:endParaRPr lang="en-US" sz="1250" dirty="0"/>
          </a:p>
        </p:txBody>
      </p:sp>
      <p:sp>
        <p:nvSpPr>
          <p:cNvPr id="35" name="Text 33"/>
          <p:cNvSpPr txBox="1"/>
          <p:nvPr/>
        </p:nvSpPr>
        <p:spPr>
          <a:xfrm>
            <a:off x="7109460" y="5532120"/>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It is context handed to the model, not something the model said. Attributing it to the assistant would invite it to treat its own summary as a prior claim.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EXERCISE &amp; EXPECTED OUTPUT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Retire Finished Tasks; Shrink Rather Than Drop</a:t>
            </a:r>
            <a:endParaRPr lang="en-US" sz="3200" dirty="0"/>
          </a:p>
        </p:txBody>
      </p:sp>
      <p:sp>
        <p:nvSpPr>
          <p:cNvPr id="4" name="Text 2"/>
          <p:cNvSpPr txBox="1"/>
          <p:nvPr/>
        </p:nvSpPr>
        <p:spPr>
          <a:xfrm>
            <a:off x="548640" y="1207008"/>
            <a:ext cx="11064240" cy="365760"/>
          </a:xfrm>
          <a:prstGeom prst="rect">
            <a:avLst/>
          </a:prstGeom>
          <a:noFill/>
          <a:ln/>
        </p:spPr>
        <p:txBody>
          <a:bodyPr wrap="square" lIns="0" tIns="0" rIns="0" bIns="0" rtlCol="0" anchor="t"/>
          <a:lstStyle/>
          <a:p>
            <a:pPr indent="0" marL="0">
              <a:buNone/>
            </a:pPr>
            <a:r>
              <a:rPr lang="en-US" sz="1250" i="1" dirty="0">
                <a:solidFill>
                  <a:srgbClr val="2A2F45"/>
                </a:solidFill>
                <a:latin typeface="Calibri" pitchFamily="34" charset="0"/>
                <a:ea typeface="Calibri" pitchFamily="34" charset="-122"/>
                <a:cs typeface="Calibri" pitchFamily="34" charset="-120"/>
              </a:rPr>
              <a:t>These numbers are real, produced against a scripted history containing two file reads of 8,000 and 6,000 characters.</a:t>
            </a:r>
            <a:endParaRPr lang="en-US" sz="1250" dirty="0"/>
          </a:p>
        </p:txBody>
      </p:sp>
      <p:sp>
        <p:nvSpPr>
          <p:cNvPr id="5" name="Text 3"/>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8B — CONTEXT MANAGEMENT: WORKING STATE AND COMPACTION</a:t>
            </a:r>
            <a:endParaRPr lang="en-US" sz="900" dirty="0"/>
          </a:p>
        </p:txBody>
      </p:sp>
      <p:sp>
        <p:nvSpPr>
          <p:cNvPr id="6" name="Text 4"/>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48640" y="1874520"/>
            <a:ext cx="5349240" cy="4297680"/>
          </a:xfrm>
          <a:prstGeom prst="roundRect">
            <a:avLst>
              <a:gd name="adj" fmla="val 2128"/>
            </a:avLst>
          </a:prstGeom>
          <a:solidFill>
            <a:srgbClr val="F4F6FB"/>
          </a:solidFill>
          <a:ln/>
        </p:spPr>
      </p:sp>
      <p:sp>
        <p:nvSpPr>
          <p:cNvPr id="8" name="Shape 6"/>
          <p:cNvSpPr/>
          <p:nvPr/>
        </p:nvSpPr>
        <p:spPr>
          <a:xfrm>
            <a:off x="868680" y="2194560"/>
            <a:ext cx="640080" cy="640080"/>
          </a:xfrm>
          <a:prstGeom prst="ellipse">
            <a:avLst/>
          </a:prstGeom>
          <a:solidFill>
            <a:srgbClr val="1E2761"/>
          </a:solidFill>
          <a:ln/>
        </p:spPr>
      </p:sp>
      <p:pic>
        <p:nvPicPr>
          <p:cNvPr id="9" name="Image 0" descr="preencoded.png">    </p:cNvPr>
          <p:cNvPicPr>
            <a:picLocks noChangeAspect="1"/>
          </p:cNvPicPr>
          <p:nvPr/>
        </p:nvPicPr>
        <p:blipFill>
          <a:blip r:embed="rId1"/>
          <a:stretch>
            <a:fillRect/>
          </a:stretch>
        </p:blipFill>
        <p:spPr>
          <a:xfrm>
            <a:off x="1033272" y="2359152"/>
            <a:ext cx="310896" cy="310896"/>
          </a:xfrm>
          <a:prstGeom prst="rect">
            <a:avLst/>
          </a:prstGeom>
        </p:spPr>
      </p:pic>
      <p:sp>
        <p:nvSpPr>
          <p:cNvPr id="10" name="Text 7"/>
          <p:cNvSpPr txBox="1"/>
          <p:nvPr/>
        </p:nvSpPr>
        <p:spPr>
          <a:xfrm>
            <a:off x="1645920" y="2194560"/>
            <a:ext cx="3931920" cy="640080"/>
          </a:xfrm>
          <a:prstGeom prst="rect">
            <a:avLst/>
          </a:prstGeom>
          <a:noFill/>
          <a:ln/>
        </p:spPr>
        <p:txBody>
          <a:bodyPr wrap="square" lIns="0" tIns="0" rIns="0" bIns="0" rtlCol="0" anchor="ctr"/>
          <a:lstStyle/>
          <a:p>
            <a:pPr indent="0" marL="0">
              <a:buNone/>
            </a:pPr>
            <a:r>
              <a:rPr lang="en-US" sz="1550" b="1" dirty="0">
                <a:solidFill>
                  <a:srgbClr val="2A2F45"/>
                </a:solidFill>
                <a:latin typeface="Cambria" pitchFamily="34" charset="0"/>
                <a:ea typeface="Cambria" pitchFamily="34" charset="-122"/>
                <a:cs typeface="Cambria" pitchFamily="34" charset="-120"/>
              </a:rPr>
              <a:t>Exercise: two, neither with a reference implementation</a:t>
            </a:r>
            <a:endParaRPr lang="en-US" sz="1550" dirty="0"/>
          </a:p>
        </p:txBody>
      </p:sp>
      <p:sp>
        <p:nvSpPr>
          <p:cNvPr id="11" name="Text 8"/>
          <p:cNvSpPr txBox="1"/>
          <p:nvPr/>
        </p:nvSpPr>
        <p:spPr>
          <a:xfrm>
            <a:off x="868680" y="3063240"/>
            <a:ext cx="4709160" cy="2743200"/>
          </a:xfrm>
          <a:prstGeom prst="rect">
            <a:avLst/>
          </a:prstGeom>
          <a:noFill/>
          <a:ln/>
        </p:spPr>
        <p:txBody>
          <a:bodyPr wrap="square" lIns="0" tIns="0" rIns="0" bIns="0" rtlCol="0" anchor="t"/>
          <a:lstStyle/>
          <a:p>
            <a:pPr indent="0" marL="0">
              <a:lnSpc>
                <a:spcPct val="125000"/>
              </a:lnSpc>
              <a:buNone/>
            </a:pPr>
            <a:r>
              <a:rPr lang="en-US" sz="1350" dirty="0">
                <a:solidFill>
                  <a:srgbClr val="2A2F45"/>
                </a:solidFill>
                <a:latin typeface="Calibri" pitchFamily="34" charset="0"/>
                <a:ea typeface="Calibri" pitchFamily="34" charset="-122"/>
                <a:cs typeface="Calibri" pitchFamily="34" charset="-120"/>
              </a:rPr>
              <a:t>One: give WorkingState a way to retire a request once MiniCode has clearly answered it — and when in doubt, keep it, because forgetting an unfinished task is far worse than carrying a finished one. Two: replace a read_file result with one line — read src/Foo.cs (412 lines) — rather than dropping it.</a:t>
            </a:r>
            <a:endParaRPr lang="en-US" sz="1350" dirty="0"/>
          </a:p>
        </p:txBody>
      </p:sp>
      <p:sp>
        <p:nvSpPr>
          <p:cNvPr id="12" name="Text 9"/>
          <p:cNvSpPr txBox="1"/>
          <p:nvPr/>
        </p:nvSpPr>
        <p:spPr>
          <a:xfrm>
            <a:off x="868680" y="4160520"/>
            <a:ext cx="470916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E2761"/>
                </a:solidFill>
                <a:latin typeface="Calibri" pitchFamily="34" charset="0"/>
                <a:ea typeface="Calibri" pitchFamily="34" charset="-122"/>
                <a:cs typeface="Calibri" pitchFamily="34" charset="-120"/>
              </a:rPr>
              <a:t>A request followed by an answer that addresses it stops appearing after the next compaction</a:t>
            </a:r>
            <a:endParaRPr lang="en-US" sz="1200" dirty="0"/>
          </a:p>
          <a:p>
            <a:pPr marL="342900" indent="-342900">
              <a:spcAft>
                <a:spcPts val="800"/>
              </a:spcAft>
              <a:buSzPct val="100000"/>
              <a:buChar char="•"/>
            </a:pPr>
            <a:r>
              <a:rPr lang="en-US" sz="1200" dirty="0">
                <a:solidFill>
                  <a:srgbClr val="1E2761"/>
                </a:solidFill>
                <a:latin typeface="Calibri" pitchFamily="34" charset="0"/>
                <a:ea typeface="Calibri" pitchFamily="34" charset="-122"/>
                <a:cs typeface="Calibri" pitchFamily="34" charset="-120"/>
              </a:rPr>
              <a:t>A request the agent never got to still appears; nothing is retired on the strength of a mere reply</a:t>
            </a:r>
            <a:endParaRPr lang="en-US" sz="1200" dirty="0"/>
          </a:p>
          <a:p>
            <a:pPr marL="342900" indent="-342900">
              <a:spcAft>
                <a:spcPts val="800"/>
              </a:spcAft>
              <a:buSzPct val="100000"/>
              <a:buChar char="•"/>
            </a:pPr>
            <a:r>
              <a:rPr lang="en-US" sz="1200" dirty="0">
                <a:solidFill>
                  <a:srgbClr val="1E2761"/>
                </a:solidFill>
                <a:latin typeface="Calibri" pitchFamily="34" charset="0"/>
                <a:ea typeface="Calibri" pitchFamily="34" charset="-122"/>
                <a:cs typeface="Calibri" pitchFamily="34" charset="-120"/>
              </a:rPr>
              <a:t>A compacted history contains one line per tool call rather than the full output</a:t>
            </a:r>
            <a:endParaRPr lang="en-US" sz="1200" dirty="0"/>
          </a:p>
          <a:p>
            <a:pPr marL="342900" indent="-342900">
              <a:spcAft>
                <a:spcPts val="800"/>
              </a:spcAft>
              <a:buSzPct val="100000"/>
              <a:buChar char="•"/>
            </a:pPr>
            <a:r>
              <a:rPr lang="en-US" sz="1200" dirty="0">
                <a:solidFill>
                  <a:srgbClr val="1E2761"/>
                </a:solidFill>
                <a:latin typeface="Calibri" pitchFamily="34" charset="0"/>
                <a:ea typeface="Calibri" pitchFamily="34" charset="-122"/>
                <a:cs typeface="Calibri" pitchFamily="34" charset="-120"/>
              </a:rPr>
              <a:t>The reclaimed-token count still reflects a real saving, and the cut still lands on a user message</a:t>
            </a:r>
            <a:endParaRPr lang="en-US" sz="1200" dirty="0"/>
          </a:p>
        </p:txBody>
      </p:sp>
      <p:sp>
        <p:nvSpPr>
          <p:cNvPr id="13" name="Shape 10"/>
          <p:cNvSpPr/>
          <p:nvPr/>
        </p:nvSpPr>
        <p:spPr>
          <a:xfrm>
            <a:off x="6309360" y="1874520"/>
            <a:ext cx="5349240" cy="4297680"/>
          </a:xfrm>
          <a:prstGeom prst="roundRect">
            <a:avLst>
              <a:gd name="adj" fmla="val 2128"/>
            </a:avLst>
          </a:prstGeom>
          <a:solidFill>
            <a:srgbClr val="141B49"/>
          </a:solidFill>
          <a:ln w="12700">
            <a:solidFill>
              <a:srgbClr val="3FBFB0"/>
            </a:solidFill>
            <a:prstDash val="solid"/>
          </a:ln>
        </p:spPr>
      </p:sp>
      <p:sp>
        <p:nvSpPr>
          <p:cNvPr id="14" name="Text 11"/>
          <p:cNvSpPr txBox="1"/>
          <p:nvPr/>
        </p:nvSpPr>
        <p:spPr>
          <a:xfrm>
            <a:off x="6638544" y="2130552"/>
            <a:ext cx="4690872" cy="2382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history: 10 messages, ~3,620 tokens</a:t>
            </a:r>
            <a:endParaRPr lang="en-US" sz="950" dirty="0"/>
          </a:p>
        </p:txBody>
      </p:sp>
      <p:sp>
        <p:nvSpPr>
          <p:cNvPr id="15" name="Text 12"/>
          <p:cNvSpPr txBox="1"/>
          <p:nvPr/>
        </p:nvSpPr>
        <p:spPr>
          <a:xfrm>
            <a:off x="6638544" y="2295652"/>
            <a:ext cx="4690872" cy="238252"/>
          </a:xfrm>
          <a:prstGeom prst="rect">
            <a:avLst/>
          </a:prstGeom>
          <a:noFill/>
          <a:ln/>
        </p:spPr>
        <p:txBody>
          <a:bodyPr wrap="square" lIns="0" tIns="0" rIns="0" bIns="0" rtlCol="0" anchor="t"/>
          <a:lstStyle/>
          <a:p>
            <a:pPr indent="0" marL="0">
              <a:lnSpc>
                <a:spcPts val="1300"/>
              </a:lnSpc>
              <a:buNone/>
            </a:pPr>
            <a:r>
              <a:rPr lang="en-US" sz="950" i="1" dirty="0">
                <a:solidFill>
                  <a:srgbClr val="6B7280"/>
                </a:solidFill>
                <a:latin typeface="Courier New" pitchFamily="34" charset="0"/>
                <a:ea typeface="Courier New" pitchFamily="34" charset="-122"/>
                <a:cs typeface="Courier New" pitchFamily="34" charset="-120"/>
              </a:rPr>
              <a:t>=== SESSION STATE (earlier turns compacted) ===</a:t>
            </a:r>
            <a:endParaRPr lang="en-US" sz="950" dirty="0"/>
          </a:p>
        </p:txBody>
      </p:sp>
      <p:sp>
        <p:nvSpPr>
          <p:cNvPr id="16" name="Text 13"/>
          <p:cNvSpPr txBox="1"/>
          <p:nvPr/>
        </p:nvSpPr>
        <p:spPr>
          <a:xfrm>
            <a:off x="6638544" y="2643632"/>
            <a:ext cx="4690872" cy="238252"/>
          </a:xfrm>
          <a:prstGeom prst="rect">
            <a:avLst/>
          </a:prstGeom>
          <a:noFill/>
          <a:ln/>
        </p:spPr>
        <p:txBody>
          <a:bodyPr wrap="square" lIns="0" tIns="0" rIns="0" bIns="0" rtlCol="0" anchor="t"/>
          <a:lstStyle/>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What was asked:</a:t>
            </a:r>
            <a:endParaRPr lang="en-US" sz="950" dirty="0"/>
          </a:p>
        </p:txBody>
      </p:sp>
      <p:sp>
        <p:nvSpPr>
          <p:cNvPr id="17" name="Text 14"/>
          <p:cNvSpPr txBox="1"/>
          <p:nvPr/>
        </p:nvSpPr>
        <p:spPr>
          <a:xfrm>
            <a:off x="6638544" y="2808732"/>
            <a:ext cx="4690872" cy="4033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Where is a path checked before a file is</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opened?</a:t>
            </a:r>
            <a:endParaRPr lang="en-US" sz="950" dirty="0"/>
          </a:p>
        </p:txBody>
      </p:sp>
      <p:sp>
        <p:nvSpPr>
          <p:cNvPr id="18" name="Text 15"/>
          <p:cNvSpPr txBox="1"/>
          <p:nvPr/>
        </p:nvSpPr>
        <p:spPr>
          <a:xfrm>
            <a:off x="6638544" y="3138932"/>
            <a:ext cx="4690872" cy="238252"/>
          </a:xfrm>
          <a:prstGeom prst="rect">
            <a:avLst/>
          </a:prstGeom>
          <a:noFill/>
          <a:ln/>
        </p:spPr>
        <p:txBody>
          <a:bodyPr wrap="square" lIns="0" tIns="0" rIns="0" bIns="0" rtlCol="0" anchor="t"/>
          <a:lstStyle/>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What was established:</a:t>
            </a:r>
            <a:endParaRPr lang="en-US" sz="950" dirty="0"/>
          </a:p>
        </p:txBody>
      </p:sp>
      <p:sp>
        <p:nvSpPr>
          <p:cNvPr id="19" name="Text 16"/>
          <p:cNvSpPr txBox="1"/>
          <p:nvPr/>
        </p:nvSpPr>
        <p:spPr>
          <a:xfrm>
            <a:off x="6638544" y="3304032"/>
            <a:ext cx="4690872" cy="5684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ValidatePath in Workspace.cs is the single</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check; ResolvePath and IsPathAllowed both</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delegate to it.</a:t>
            </a:r>
            <a:endParaRPr lang="en-US" sz="950" dirty="0"/>
          </a:p>
        </p:txBody>
      </p:sp>
      <p:sp>
        <p:nvSpPr>
          <p:cNvPr id="20" name="Text 17"/>
          <p:cNvSpPr txBox="1"/>
          <p:nvPr/>
        </p:nvSpPr>
        <p:spPr>
          <a:xfrm>
            <a:off x="6638544" y="3799332"/>
            <a:ext cx="4690872" cy="238252"/>
          </a:xfrm>
          <a:prstGeom prst="rect">
            <a:avLst/>
          </a:prstGeom>
          <a:noFill/>
          <a:ln/>
        </p:spPr>
        <p:txBody>
          <a:bodyPr wrap="square" lIns="0" tIns="0" rIns="0" bIns="0" rtlCol="0" anchor="t"/>
          <a:lstStyle/>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Files already examined:</a:t>
            </a:r>
            <a:endParaRPr lang="en-US" sz="950" dirty="0"/>
          </a:p>
        </p:txBody>
      </p:sp>
      <p:sp>
        <p:nvSpPr>
          <p:cNvPr id="21" name="Text 18"/>
          <p:cNvSpPr txBox="1"/>
          <p:nvPr/>
        </p:nvSpPr>
        <p:spPr>
          <a:xfrm>
            <a:off x="6638544" y="3964432"/>
            <a:ext cx="4690872" cy="2382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src/MiniCode.Workspace/Workspace.cs</a:t>
            </a:r>
            <a:endParaRPr lang="en-US" sz="950" dirty="0"/>
          </a:p>
        </p:txBody>
      </p:sp>
      <p:sp>
        <p:nvSpPr>
          <p:cNvPr id="22" name="Text 19"/>
          <p:cNvSpPr txBox="1"/>
          <p:nvPr/>
        </p:nvSpPr>
        <p:spPr>
          <a:xfrm>
            <a:off x="6638544" y="4129532"/>
            <a:ext cx="4690872" cy="238252"/>
          </a:xfrm>
          <a:prstGeom prst="rect">
            <a:avLst/>
          </a:prstGeom>
          <a:noFill/>
          <a:ln/>
        </p:spPr>
        <p:txBody>
          <a:bodyPr wrap="square" lIns="0" tIns="0" rIns="0" bIns="0" rtlCol="0" anchor="t"/>
          <a:lstStyle/>
          <a:p>
            <a:pPr indent="0" marL="0">
              <a:lnSpc>
                <a:spcPts val="1300"/>
              </a:lnSpc>
              <a:buNone/>
            </a:pPr>
            <a:r>
              <a:rPr lang="en-US" sz="950" dirty="0">
                <a:solidFill>
                  <a:srgbClr val="4ADE80"/>
                </a:solidFill>
                <a:latin typeface="Courier New" pitchFamily="34" charset="0"/>
                <a:ea typeface="Courier New" pitchFamily="34" charset="-122"/>
                <a:cs typeface="Courier New" pitchFamily="34" charset="-120"/>
              </a:rPr>
              <a:t>after compaction: ~1,649 (reclaimed ~1,971)</a:t>
            </a:r>
            <a:endParaRPr lang="en-US" sz="950" dirty="0"/>
          </a:p>
        </p:txBody>
      </p:sp>
      <p:sp>
        <p:nvSpPr>
          <p:cNvPr id="23" name="Text 20"/>
          <p:cNvSpPr txBox="1"/>
          <p:nvPr/>
        </p:nvSpPr>
        <p:spPr>
          <a:xfrm>
            <a:off x="6638544" y="5458968"/>
            <a:ext cx="4690872" cy="548640"/>
          </a:xfrm>
          <a:prstGeom prst="rect">
            <a:avLst/>
          </a:prstGeom>
          <a:noFill/>
          <a:ln/>
        </p:spPr>
        <p:txBody>
          <a:bodyPr wrap="square" lIns="0" tIns="0" rIns="0" bIns="0" rtlCol="0" anchor="t"/>
          <a:lstStyle/>
          <a:p>
            <a:pPr indent="0" marL="0">
              <a:buNone/>
            </a:pPr>
            <a:r>
              <a:rPr lang="en-US" sz="1050" i="1" dirty="0">
                <a:solidFill>
                  <a:srgbClr val="CADCFC"/>
                </a:solidFill>
                <a:latin typeface="Calibri" pitchFamily="34" charset="0"/>
                <a:ea typeface="Calibri" pitchFamily="34" charset="-122"/>
                <a:cs typeface="Calibri" pitchFamily="34" charset="-120"/>
              </a:rPr>
              <a:t>Fifty-four percent reclaimed — and what survived is the question, the answer, and the fact that one file has already been opened.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MiniCode Course</dc:creator>
  <cp:lastModifiedBy>MiniCode Course</cp:lastModifiedBy>
  <cp:revision>1</cp:revision>
  <dcterms:created xsi:type="dcterms:W3CDTF">2026-09-10T20:15:54Z</dcterms:created>
  <dcterms:modified xsi:type="dcterms:W3CDTF">2026-09-10T20:15:54Z</dcterms:modified>
</cp:coreProperties>
</file>