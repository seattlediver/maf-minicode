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this Module defines is what Modules 2–6 implement and what the Phase 1 Capstone — Repository Explorer (v0.1) assembles and demonstrates end to end. Module 2 introduces the first MAF console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general-purpose agent might book a flight or query a database. A coding agent operates specifically over a software repository: it reads source code, understands project structure, executes build and test tooling, edits files, and inspects version control. The tools differ; the mechanism — reason, act, observe, repeat — is the same one the whole course is built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pass, the model either asks for a tool to be run or produces a final answer. As long as it keeps requesting tools, the loop keeps running. That is the difference between a single request/response call to an LLM and an agent: the loop, not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Workspace and Infrastructure are the leaves: they reference none of the other projects, and nothing ever depends back on Cli or Agent. The sandbox boundary is implicit in this diagram and explicit in Modules 4 and 15 — every arrow into Workspace/Shell/Git is a place where a boundary will eventually be enforced. There are no context-management or planning boxes yet: Modules 8 and 9 add those on top of this same loop rather than replacing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Shell and Git share a project because both are external processes MiniCode drives on the developer’s behalf — they live in MiniCode.Infrastructure alongside configuration, approval policy and logging. This maps directly onto the solution structure created in Module 3, and every Module after that fills in one more piece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1598168"/>
            <a:ext cx="5852160" cy="274320"/>
          </a:xfrm>
          <a:prstGeom prst="rect">
            <a:avLst/>
          </a:prstGeom>
          <a:noFill/>
          <a:ln/>
        </p:spPr>
        <p:txBody>
          <a:bodyPr wrap="square" lIns="0" tIns="0" rIns="0" bIns="0" rtlCol="0" anchor="ctr"/>
          <a:lstStyle/>
          <a:p>
            <a:pPr indent="0" marL="0">
              <a:buNone/>
            </a:pPr>
            <a:r>
              <a:rPr lang="en-US" sz="1400" b="1" spc="300" kern="0" dirty="0">
                <a:solidFill>
                  <a:srgbClr val="3FBFB0"/>
                </a:solidFill>
                <a:latin typeface="Calibri" pitchFamily="34" charset="0"/>
                <a:ea typeface="Calibri" pitchFamily="34" charset="-122"/>
                <a:cs typeface="Calibri" pitchFamily="34" charset="-120"/>
              </a:rPr>
              <a:t>MODULE 1 · PHASE 1</a:t>
            </a:r>
            <a:endParaRPr lang="en-US" sz="1400" dirty="0"/>
          </a:p>
        </p:txBody>
      </p:sp>
      <p:sp>
        <p:nvSpPr>
          <p:cNvPr id="3" name="Text 1"/>
          <p:cNvSpPr txBox="1"/>
          <p:nvPr/>
        </p:nvSpPr>
        <p:spPr>
          <a:xfrm>
            <a:off x="548640" y="1982216"/>
            <a:ext cx="6309360" cy="1247648"/>
          </a:xfrm>
          <a:prstGeom prst="rect">
            <a:avLst/>
          </a:prstGeom>
          <a:noFill/>
          <a:ln/>
        </p:spPr>
        <p:txBody>
          <a:bodyPr wrap="square" lIns="0" tIns="0" rIns="0" bIns="0" rtlCol="0" anchor="t"/>
          <a:lstStyle/>
          <a:p>
            <a:pPr indent="0" marL="0">
              <a:lnSpc>
                <a:spcPct val="112000"/>
              </a:lnSpc>
              <a:buNone/>
            </a:pPr>
            <a:r>
              <a:rPr lang="en-US" sz="4000" b="1" dirty="0">
                <a:solidFill>
                  <a:srgbClr val="FFFFFF"/>
                </a:solidFill>
                <a:latin typeface="Cambria" pitchFamily="34" charset="0"/>
                <a:ea typeface="Cambria" pitchFamily="34" charset="-122"/>
                <a:cs typeface="Cambria" pitchFamily="34" charset="-120"/>
              </a:rPr>
              <a:t>Understanding</a:t>
            </a:r>
            <a:endParaRPr lang="en-US" sz="4000" dirty="0"/>
          </a:p>
          <a:p>
            <a:pPr indent="0" marL="0">
              <a:lnSpc>
                <a:spcPct val="112000"/>
              </a:lnSpc>
              <a:buNone/>
            </a:pPr>
            <a:r>
              <a:rPr lang="en-US" sz="4000" b="1" dirty="0">
                <a:solidFill>
                  <a:srgbClr val="FFFFFF"/>
                </a:solidFill>
                <a:latin typeface="Cambria" pitchFamily="34" charset="0"/>
                <a:ea typeface="Cambria" pitchFamily="34" charset="-122"/>
                <a:cs typeface="Cambria" pitchFamily="34" charset="-120"/>
              </a:rPr>
              <a:t>Coding Agents</a:t>
            </a:r>
            <a:endParaRPr lang="en-US" sz="4000" dirty="0"/>
          </a:p>
        </p:txBody>
      </p:sp>
      <p:sp>
        <p:nvSpPr>
          <p:cNvPr id="4" name="Text 2"/>
          <p:cNvSpPr txBox="1"/>
          <p:nvPr/>
        </p:nvSpPr>
        <p:spPr>
          <a:xfrm>
            <a:off x="548640" y="3732784"/>
            <a:ext cx="6309360" cy="1097280"/>
          </a:xfrm>
          <a:prstGeom prst="rect">
            <a:avLst/>
          </a:prstGeom>
          <a:noFill/>
          <a:ln/>
        </p:spPr>
        <p:txBody>
          <a:bodyPr wrap="square" lIns="0" tIns="0" rIns="0" bIns="0" rtlCol="0" anchor="t"/>
          <a:lstStyle/>
          <a:p>
            <a:pPr indent="0" marL="0">
              <a:lnSpc>
                <a:spcPct val="125000"/>
              </a:lnSpc>
              <a:buNone/>
            </a:pPr>
            <a:r>
              <a:rPr lang="en-US" sz="1600" dirty="0">
                <a:solidFill>
                  <a:srgbClr val="CADCFC"/>
                </a:solidFill>
                <a:latin typeface="Calibri" pitchFamily="34" charset="0"/>
                <a:ea typeface="Calibri" pitchFamily="34" charset="-122"/>
                <a:cs typeface="Calibri" pitchFamily="34" charset="-120"/>
              </a:rPr>
              <a:t>MiniCode is not a chatbot with a terminal skin — it is an agent harness: a loop that lets a language model reason, call tools, observe results, and keep going until a development task is done.</a:t>
            </a:r>
            <a:endParaRPr lang="en-US" sz="1600" dirty="0"/>
          </a:p>
        </p:txBody>
      </p:sp>
      <p:sp>
        <p:nvSpPr>
          <p:cNvPr id="5" name="Text 3"/>
          <p:cNvSpPr txBox="1"/>
          <p:nvPr/>
        </p:nvSpPr>
        <p:spPr>
          <a:xfrm>
            <a:off x="548640" y="5029200"/>
            <a:ext cx="6309360" cy="1051560"/>
          </a:xfrm>
          <a:prstGeom prst="rect">
            <a:avLst/>
          </a:prstGeom>
          <a:noFill/>
          <a:ln/>
        </p:spPr>
        <p:txBody>
          <a:bodyPr wrap="square" lIns="0" tIns="0" rIns="0" bIns="0" rtlCol="0" anchor="t"/>
          <a:lstStyle/>
          <a:p>
            <a:pPr indent="0" marL="0">
              <a:lnSpc>
                <a:spcPts val="1300"/>
              </a:lnSpc>
              <a:buNone/>
            </a:pPr>
            <a:r>
              <a:rPr lang="en-US" sz="950" b="1" spc="100" kern="0" dirty="0">
                <a:solidFill>
                  <a:srgbClr val="3FBFB0"/>
                </a:solidFill>
                <a:latin typeface="Courier New" pitchFamily="34" charset="0"/>
                <a:ea typeface="Courier New" pitchFamily="34" charset="-122"/>
                <a:cs typeface="Courier New" pitchFamily="34" charset="-120"/>
              </a:rPr>
              <a:t>START  </a:t>
            </a:r>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None — this is the first Module. It produces a design document, so there is no solution folder, no MiniCode.slnx and no .csproj.</a:t>
            </a:r>
            <a:endParaRPr lang="en-US" sz="950" dirty="0"/>
          </a:p>
          <a:p>
            <a:pPr indent="0" marL="0">
              <a:lnSpc>
                <a:spcPts val="1300"/>
              </a:lnSpc>
              <a:buNone/>
            </a:pPr>
            <a:r>
              <a:rPr lang="en-US" sz="950" b="1" spc="100" kern="0" dirty="0">
                <a:solidFill>
                  <a:srgbClr val="3FBFB0"/>
                </a:solidFill>
                <a:latin typeface="Courier New" pitchFamily="34" charset="0"/>
                <a:ea typeface="Courier New" pitchFamily="34" charset="-122"/>
                <a:cs typeface="Courier New" pitchFamily="34" charset="-120"/>
              </a:rPr>
              <a:t>SETUP  </a:t>
            </a:r>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No packages, SDKs or environment variables. Entirely conceptual.</a:t>
            </a:r>
            <a:endParaRPr lang="en-US" sz="950" dirty="0"/>
          </a:p>
        </p:txBody>
      </p:sp>
      <p:sp>
        <p:nvSpPr>
          <p:cNvPr id="6" name="Text 4"/>
          <p:cNvSpPr txBox="1"/>
          <p:nvPr/>
        </p:nvSpPr>
        <p:spPr>
          <a:xfrm>
            <a:off x="548640" y="6263640"/>
            <a:ext cx="548640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MiniCode Course · Phase 1</a:t>
            </a:r>
            <a:endParaRPr lang="en-US" sz="1100" dirty="0"/>
          </a:p>
        </p:txBody>
      </p:sp>
      <p:sp>
        <p:nvSpPr>
          <p:cNvPr id="7" name="Shape 5"/>
          <p:cNvSpPr/>
          <p:nvPr/>
        </p:nvSpPr>
        <p:spPr>
          <a:xfrm>
            <a:off x="7086600" y="1143000"/>
            <a:ext cx="4526280" cy="4389120"/>
          </a:xfrm>
          <a:prstGeom prst="roundRect">
            <a:avLst>
              <a:gd name="adj" fmla="val 2500"/>
            </a:avLst>
          </a:prstGeom>
          <a:solidFill>
            <a:srgbClr val="141B49"/>
          </a:solidFill>
          <a:ln w="12700">
            <a:solidFill>
              <a:srgbClr val="3FBFB0"/>
            </a:solidFill>
            <a:prstDash val="solid"/>
          </a:ln>
        </p:spPr>
      </p:sp>
      <p:sp>
        <p:nvSpPr>
          <p:cNvPr id="8" name="Text 6"/>
          <p:cNvSpPr txBox="1"/>
          <p:nvPr/>
        </p:nvSpPr>
        <p:spPr>
          <a:xfrm>
            <a:off x="7342632" y="1344168"/>
            <a:ext cx="4069080" cy="274320"/>
          </a:xfrm>
          <a:prstGeom prst="rect">
            <a:avLst/>
          </a:prstGeom>
          <a:noFill/>
          <a:ln/>
        </p:spPr>
        <p:txBody>
          <a:bodyPr wrap="square" lIns="0" tIns="0" rIns="0" bIns="0" rtlCol="0" anchor="ctr"/>
          <a:lstStyle/>
          <a:p>
            <a:pPr indent="0" marL="0">
              <a:buNone/>
            </a:pPr>
            <a:r>
              <a:rPr lang="en-US" sz="1200" b="1" dirty="0">
                <a:solidFill>
                  <a:srgbClr val="3FBFB0"/>
                </a:solidFill>
                <a:latin typeface="Courier New" pitchFamily="34" charset="0"/>
                <a:ea typeface="Courier New" pitchFamily="34" charset="-122"/>
                <a:cs typeface="Courier New" pitchFamily="34" charset="-120"/>
              </a:rPr>
              <a:t>reason → act → observe</a:t>
            </a:r>
            <a:endParaRPr lang="en-US" sz="1200" dirty="0"/>
          </a:p>
        </p:txBody>
      </p:sp>
      <p:sp>
        <p:nvSpPr>
          <p:cNvPr id="9" name="Text 7"/>
          <p:cNvSpPr txBox="1"/>
          <p:nvPr/>
        </p:nvSpPr>
        <p:spPr>
          <a:xfrm>
            <a:off x="7360920" y="1783080"/>
            <a:ext cx="3977640" cy="237744"/>
          </a:xfrm>
          <a:prstGeom prst="rect">
            <a:avLst/>
          </a:prstGeom>
          <a:noFill/>
          <a:ln/>
        </p:spPr>
        <p:txBody>
          <a:bodyPr wrap="square" lIns="0" tIns="0" rIns="0" bIns="0" rtlCol="0" anchor="ctr"/>
          <a:lstStyle/>
          <a:p>
            <a:pPr indent="0" marL="0">
              <a:buNone/>
            </a:pPr>
            <a:r>
              <a:rPr lang="en-US" sz="1050" dirty="0">
                <a:solidFill>
                  <a:srgbClr val="CADCFC"/>
                </a:solidFill>
                <a:latin typeface="Courier New" pitchFamily="34" charset="0"/>
                <a:ea typeface="Courier New" pitchFamily="34" charset="-122"/>
                <a:cs typeface="Courier New" pitchFamily="34" charset="-120"/>
              </a:rPr>
              <a:t>user asks once</a:t>
            </a:r>
            <a:endParaRPr lang="en-US" sz="1050" dirty="0"/>
          </a:p>
        </p:txBody>
      </p:sp>
      <p:sp>
        <p:nvSpPr>
          <p:cNvPr id="10" name="Text 8"/>
          <p:cNvSpPr txBox="1"/>
          <p:nvPr/>
        </p:nvSpPr>
        <p:spPr>
          <a:xfrm>
            <a:off x="7360920" y="2039112"/>
            <a:ext cx="3977640" cy="237744"/>
          </a:xfrm>
          <a:prstGeom prst="rect">
            <a:avLst/>
          </a:prstGeom>
          <a:noFill/>
          <a:ln/>
        </p:spPr>
        <p:txBody>
          <a:bodyPr wrap="square" lIns="0" tIns="0" rIns="0" bIns="0" rtlCol="0" anchor="ctr"/>
          <a:lstStyle/>
          <a:p>
            <a:pPr indent="0" marL="0">
              <a:buNone/>
            </a:pPr>
            <a:r>
              <a:rPr lang="en-US" sz="1050" dirty="0">
                <a:solidFill>
                  <a:srgbClr val="CADCFC"/>
                </a:solidFill>
                <a:latin typeface="Courier New" pitchFamily="34" charset="0"/>
                <a:ea typeface="Courier New" pitchFamily="34" charset="-122"/>
                <a:cs typeface="Courier New" pitchFamily="34" charset="-120"/>
              </a:rPr>
              <a:t>model reasons</a:t>
            </a:r>
            <a:endParaRPr lang="en-US" sz="1050" dirty="0"/>
          </a:p>
        </p:txBody>
      </p:sp>
      <p:sp>
        <p:nvSpPr>
          <p:cNvPr id="11" name="Text 9"/>
          <p:cNvSpPr txBox="1"/>
          <p:nvPr/>
        </p:nvSpPr>
        <p:spPr>
          <a:xfrm>
            <a:off x="7360920" y="2295144"/>
            <a:ext cx="3977640" cy="237744"/>
          </a:xfrm>
          <a:prstGeom prst="rect">
            <a:avLst/>
          </a:prstGeom>
          <a:noFill/>
          <a:ln/>
        </p:spPr>
        <p:txBody>
          <a:bodyPr wrap="square" lIns="0" tIns="0" rIns="0" bIns="0" rtlCol="0" anchor="ctr"/>
          <a:lstStyle/>
          <a:p>
            <a:pPr indent="0" marL="0">
              <a:buNone/>
            </a:pPr>
            <a:r>
              <a:rPr lang="en-US" sz="1050" dirty="0">
                <a:solidFill>
                  <a:srgbClr val="CADCFC"/>
                </a:solidFill>
                <a:latin typeface="Courier New" pitchFamily="34" charset="0"/>
                <a:ea typeface="Courier New" pitchFamily="34" charset="-122"/>
                <a:cs typeface="Courier New" pitchFamily="34" charset="-120"/>
              </a:rPr>
              <a:t>model requests a tool</a:t>
            </a:r>
            <a:endParaRPr lang="en-US" sz="1050" dirty="0"/>
          </a:p>
        </p:txBody>
      </p:sp>
      <p:sp>
        <p:nvSpPr>
          <p:cNvPr id="12" name="Text 10"/>
          <p:cNvSpPr txBox="1"/>
          <p:nvPr/>
        </p:nvSpPr>
        <p:spPr>
          <a:xfrm>
            <a:off x="7360920" y="2551176"/>
            <a:ext cx="3977640" cy="237744"/>
          </a:xfrm>
          <a:prstGeom prst="rect">
            <a:avLst/>
          </a:prstGeom>
          <a:noFill/>
          <a:ln/>
        </p:spPr>
        <p:txBody>
          <a:bodyPr wrap="square" lIns="0" tIns="0" rIns="0" bIns="0" rtlCol="0" anchor="ctr"/>
          <a:lstStyle/>
          <a:p>
            <a:pPr indent="0" marL="0">
              <a:buNone/>
            </a:pPr>
            <a:r>
              <a:rPr lang="en-US" sz="1050" dirty="0">
                <a:solidFill>
                  <a:srgbClr val="CADCFC"/>
                </a:solidFill>
                <a:latin typeface="Courier New" pitchFamily="34" charset="0"/>
                <a:ea typeface="Courier New" pitchFamily="34" charset="-122"/>
                <a:cs typeface="Courier New" pitchFamily="34" charset="-120"/>
              </a:rPr>
              <a:t>C# runs the tool</a:t>
            </a:r>
            <a:endParaRPr lang="en-US" sz="1050" dirty="0"/>
          </a:p>
        </p:txBody>
      </p:sp>
      <p:sp>
        <p:nvSpPr>
          <p:cNvPr id="13" name="Text 11"/>
          <p:cNvSpPr txBox="1"/>
          <p:nvPr/>
        </p:nvSpPr>
        <p:spPr>
          <a:xfrm>
            <a:off x="7360920" y="2807208"/>
            <a:ext cx="3977640" cy="237744"/>
          </a:xfrm>
          <a:prstGeom prst="rect">
            <a:avLst/>
          </a:prstGeom>
          <a:noFill/>
          <a:ln/>
        </p:spPr>
        <p:txBody>
          <a:bodyPr wrap="square" lIns="0" tIns="0" rIns="0" bIns="0" rtlCol="0" anchor="ctr"/>
          <a:lstStyle/>
          <a:p>
            <a:pPr indent="0" marL="0">
              <a:buNone/>
            </a:pPr>
            <a:r>
              <a:rPr lang="en-US" sz="1050" dirty="0">
                <a:solidFill>
                  <a:srgbClr val="CADCFC"/>
                </a:solidFill>
                <a:latin typeface="Courier New" pitchFamily="34" charset="0"/>
                <a:ea typeface="Courier New" pitchFamily="34" charset="-122"/>
                <a:cs typeface="Courier New" pitchFamily="34" charset="-120"/>
              </a:rPr>
              <a:t>result goes back in</a:t>
            </a:r>
            <a:endParaRPr lang="en-US" sz="1050" dirty="0"/>
          </a:p>
        </p:txBody>
      </p:sp>
      <p:sp>
        <p:nvSpPr>
          <p:cNvPr id="14" name="Text 12"/>
          <p:cNvSpPr txBox="1"/>
          <p:nvPr/>
        </p:nvSpPr>
        <p:spPr>
          <a:xfrm>
            <a:off x="7360920" y="3063240"/>
            <a:ext cx="3977640" cy="237744"/>
          </a:xfrm>
          <a:prstGeom prst="rect">
            <a:avLst/>
          </a:prstGeom>
          <a:noFill/>
          <a:ln/>
        </p:spPr>
        <p:txBody>
          <a:bodyPr wrap="square" lIns="0" tIns="0" rIns="0" bIns="0" rtlCol="0" anchor="ctr"/>
          <a:lstStyle/>
          <a:p>
            <a:pPr indent="0" marL="0">
              <a:buNone/>
            </a:pPr>
            <a:r>
              <a:rPr lang="en-US" sz="1050" dirty="0">
                <a:solidFill>
                  <a:srgbClr val="CADCFC"/>
                </a:solidFill>
                <a:latin typeface="Courier New" pitchFamily="34" charset="0"/>
                <a:ea typeface="Courier New" pitchFamily="34" charset="-122"/>
                <a:cs typeface="Courier New" pitchFamily="34" charset="-120"/>
              </a:rPr>
              <a:t>model reasons again</a:t>
            </a:r>
            <a:endParaRPr lang="en-US" sz="1050" dirty="0"/>
          </a:p>
        </p:txBody>
      </p:sp>
      <p:sp>
        <p:nvSpPr>
          <p:cNvPr id="15" name="Text 13"/>
          <p:cNvSpPr txBox="1"/>
          <p:nvPr/>
        </p:nvSpPr>
        <p:spPr>
          <a:xfrm>
            <a:off x="7360920" y="3319272"/>
            <a:ext cx="3977640" cy="237744"/>
          </a:xfrm>
          <a:prstGeom prst="rect">
            <a:avLst/>
          </a:prstGeom>
          <a:noFill/>
          <a:ln/>
        </p:spPr>
        <p:txBody>
          <a:bodyPr wrap="square" lIns="0" tIns="0" rIns="0" bIns="0" rtlCol="0" anchor="ctr"/>
          <a:lstStyle/>
          <a:p>
            <a:pPr indent="0" marL="0">
              <a:buNone/>
            </a:pPr>
            <a:r>
              <a:rPr lang="en-US" sz="1050" dirty="0">
                <a:solidFill>
                  <a:srgbClr val="CADCFC"/>
                </a:solidFill>
                <a:latin typeface="Courier New" pitchFamily="34" charset="0"/>
                <a:ea typeface="Courier New" pitchFamily="34" charset="-122"/>
                <a:cs typeface="Courier New" pitchFamily="34" charset="-120"/>
              </a:rPr>
              <a:t>...until a final answer</a:t>
            </a:r>
            <a:endParaRPr lang="en-US" sz="1050" dirty="0"/>
          </a:p>
        </p:txBody>
      </p:sp>
      <p:sp>
        <p:nvSpPr>
          <p:cNvPr id="16" name="Shape 14"/>
          <p:cNvSpPr/>
          <p:nvPr/>
        </p:nvSpPr>
        <p:spPr>
          <a:xfrm>
            <a:off x="7342632" y="3776472"/>
            <a:ext cx="4014216" cy="0"/>
          </a:xfrm>
          <a:prstGeom prst="line">
            <a:avLst/>
          </a:prstGeom>
          <a:noFill/>
          <a:ln w="9525">
            <a:solidFill>
              <a:srgbClr val="6B7280"/>
            </a:solidFill>
            <a:prstDash val="sysDot"/>
          </a:ln>
        </p:spPr>
      </p:sp>
      <p:sp>
        <p:nvSpPr>
          <p:cNvPr id="17" name="Text 15"/>
          <p:cNvSpPr txBox="1"/>
          <p:nvPr/>
        </p:nvSpPr>
        <p:spPr>
          <a:xfrm>
            <a:off x="7342632" y="3941064"/>
            <a:ext cx="4014216" cy="530352"/>
          </a:xfrm>
          <a:prstGeom prst="rect">
            <a:avLst/>
          </a:prstGeom>
          <a:noFill/>
          <a:ln/>
        </p:spPr>
        <p:txBody>
          <a:bodyPr wrap="square" lIns="0" tIns="0" rIns="0" bIns="0" rtlCol="0" anchor="t"/>
          <a:lstStyle/>
          <a:p>
            <a:pPr indent="0" marL="0">
              <a:buNone/>
            </a:pPr>
            <a:r>
              <a:rPr lang="en-US" sz="1050" dirty="0">
                <a:solidFill>
                  <a:srgbClr val="CADCFC"/>
                </a:solidFill>
                <a:latin typeface="Courier New" pitchFamily="34" charset="0"/>
                <a:ea typeface="Courier New" pitchFamily="34" charset="-122"/>
                <a:cs typeface="Courier New" pitchFamily="34" charset="-120"/>
              </a:rPr>
              <a:t>the loop, not the model,</a:t>
            </a:r>
            <a:endParaRPr lang="en-US" sz="1050" dirty="0"/>
          </a:p>
          <a:p>
            <a:pPr indent="0" marL="0">
              <a:buNone/>
            </a:pPr>
            <a:r>
              <a:rPr lang="en-US" sz="1050" dirty="0">
                <a:solidFill>
                  <a:srgbClr val="CADCFC"/>
                </a:solidFill>
                <a:latin typeface="Courier New" pitchFamily="34" charset="0"/>
                <a:ea typeface="Courier New" pitchFamily="34" charset="-122"/>
                <a:cs typeface="Courier New" pitchFamily="34" charset="-120"/>
              </a:rPr>
              <a:t>is what makes this an agent</a:t>
            </a:r>
            <a:endParaRPr lang="en-US" sz="1050" dirty="0"/>
          </a:p>
        </p:txBody>
      </p:sp>
      <p:sp>
        <p:nvSpPr>
          <p:cNvPr id="18" name="Text 16"/>
          <p:cNvSpPr txBox="1"/>
          <p:nvPr/>
        </p:nvSpPr>
        <p:spPr>
          <a:xfrm>
            <a:off x="7342632" y="4581144"/>
            <a:ext cx="4014216" cy="365760"/>
          </a:xfrm>
          <a:prstGeom prst="rect">
            <a:avLst/>
          </a:prstGeom>
          <a:noFill/>
          <a:ln/>
        </p:spPr>
        <p:txBody>
          <a:bodyPr wrap="square" lIns="0" tIns="0" rIns="0" bIns="0" rtlCol="0" anchor="ctr"/>
          <a:lstStyle/>
          <a:p>
            <a:pPr indent="0" marL="0">
              <a:buNone/>
            </a:pPr>
            <a:r>
              <a:rPr lang="en-US" sz="1050" b="1" i="1" dirty="0">
                <a:solidFill>
                  <a:srgbClr val="3FBFB0"/>
                </a:solidFill>
                <a:latin typeface="Calibri" pitchFamily="34" charset="0"/>
                <a:ea typeface="Calibri" pitchFamily="34" charset="-122"/>
                <a:cs typeface="Calibri" pitchFamily="34" charset="-120"/>
              </a:rPr>
              <a:t>One request in. Many steps out.</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164592"/>
            <a:ext cx="9144000" cy="274320"/>
          </a:xfrm>
          <a:prstGeom prst="rect">
            <a:avLst/>
          </a:prstGeom>
          <a:noFill/>
          <a:ln/>
        </p:spPr>
        <p:txBody>
          <a:bodyPr wrap="square" lIns="0" tIns="0" rIns="0" bIns="0" rtlCol="0" anchor="ctr"/>
          <a:lstStyle/>
          <a:p>
            <a:pPr indent="0" marL="0">
              <a:buNone/>
            </a:pPr>
            <a:r>
              <a:rPr lang="en-US" sz="1200" b="1" spc="200" kern="0" dirty="0">
                <a:solidFill>
                  <a:srgbClr val="3FBFB0"/>
                </a:solidFill>
                <a:latin typeface="Calibri" pitchFamily="34" charset="0"/>
                <a:ea typeface="Calibri" pitchFamily="34" charset="-122"/>
                <a:cs typeface="Calibri" pitchFamily="34" charset="-120"/>
              </a:rPr>
              <a:t>CORE CONCEPT</a:t>
            </a:r>
            <a:endParaRPr lang="en-US" sz="1200" dirty="0"/>
          </a:p>
        </p:txBody>
      </p:sp>
      <p:sp>
        <p:nvSpPr>
          <p:cNvPr id="3" name="Text 1"/>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A Chatbot Answers. An Agent Acts.</a:t>
            </a:r>
            <a:endParaRPr lang="en-US" sz="3200" dirty="0"/>
          </a:p>
        </p:txBody>
      </p:sp>
      <p:sp>
        <p:nvSpPr>
          <p:cNvPr id="4" name="Text 2"/>
          <p:cNvSpPr txBox="1"/>
          <p:nvPr/>
        </p:nvSpPr>
        <p:spPr>
          <a:xfrm>
            <a:off x="457200" y="6510528"/>
            <a:ext cx="8686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MODULE 1 — UNDERSTANDING CODING AGENTS</a:t>
            </a:r>
            <a:endParaRPr lang="en-US" sz="900" dirty="0"/>
          </a:p>
        </p:txBody>
      </p:sp>
      <p:sp>
        <p:nvSpPr>
          <p:cNvPr id="5" name="Text 3"/>
          <p:cNvSpPr txBox="1"/>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548640" y="1417320"/>
            <a:ext cx="5349240" cy="4297680"/>
          </a:xfrm>
          <a:prstGeom prst="roundRect">
            <a:avLst>
              <a:gd name="adj" fmla="val 2128"/>
            </a:avLst>
          </a:prstGeom>
          <a:solidFill>
            <a:srgbClr val="1E2761"/>
          </a:solidFill>
          <a:ln/>
        </p:spPr>
      </p:sp>
      <p:sp>
        <p:nvSpPr>
          <p:cNvPr id="7" name="Shape 5"/>
          <p:cNvSpPr/>
          <p:nvPr/>
        </p:nvSpPr>
        <p:spPr>
          <a:xfrm>
            <a:off x="868680" y="1737360"/>
            <a:ext cx="640080" cy="640080"/>
          </a:xfrm>
          <a:prstGeom prst="ellipse">
            <a:avLst/>
          </a:prstGeom>
          <a:solidFill>
            <a:srgbClr val="3FBFB0"/>
          </a:solidFill>
          <a:ln/>
        </p:spPr>
      </p:sp>
      <p:pic>
        <p:nvPicPr>
          <p:cNvPr id="8" name="Image 0" descr="preencoded.png">    </p:cNvPr>
          <p:cNvPicPr>
            <a:picLocks noChangeAspect="1"/>
          </p:cNvPicPr>
          <p:nvPr/>
        </p:nvPicPr>
        <p:blipFill>
          <a:blip r:embed="rId1"/>
          <a:stretch>
            <a:fillRect/>
          </a:stretch>
        </p:blipFill>
        <p:spPr>
          <a:xfrm>
            <a:off x="1033272" y="1901952"/>
            <a:ext cx="310896" cy="310896"/>
          </a:xfrm>
          <a:prstGeom prst="rect">
            <a:avLst/>
          </a:prstGeom>
        </p:spPr>
      </p:pic>
      <p:sp>
        <p:nvSpPr>
          <p:cNvPr id="9" name="Text 6"/>
          <p:cNvSpPr txBox="1"/>
          <p:nvPr/>
        </p:nvSpPr>
        <p:spPr>
          <a:xfrm>
            <a:off x="1645920" y="1737360"/>
            <a:ext cx="3931920" cy="64008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A Chatbot Answers a Message and Stops</a:t>
            </a:r>
            <a:endParaRPr lang="en-US" sz="1550" dirty="0"/>
          </a:p>
        </p:txBody>
      </p:sp>
      <p:sp>
        <p:nvSpPr>
          <p:cNvPr id="10" name="Text 7"/>
          <p:cNvSpPr txBox="1"/>
          <p:nvPr/>
        </p:nvSpPr>
        <p:spPr>
          <a:xfrm>
            <a:off x="868680" y="2606040"/>
            <a:ext cx="4709160" cy="2194560"/>
          </a:xfrm>
          <a:prstGeom prst="rect">
            <a:avLst/>
          </a:prstGeom>
          <a:noFill/>
          <a:ln/>
        </p:spPr>
        <p:txBody>
          <a:bodyPr wrap="square" lIns="0" tIns="0" rIns="0" bIns="0" rtlCol="0" anchor="t"/>
          <a:lstStyle/>
          <a:p>
            <a:pPr indent="0" marL="0">
              <a:lnSpc>
                <a:spcPct val="125000"/>
              </a:lnSpc>
              <a:buNone/>
            </a:pPr>
            <a:r>
              <a:rPr lang="en-US" sz="1350" dirty="0">
                <a:solidFill>
                  <a:srgbClr val="CADCFC"/>
                </a:solidFill>
                <a:latin typeface="Calibri" pitchFamily="34" charset="0"/>
                <a:ea typeface="Calibri" pitchFamily="34" charset="-122"/>
                <a:cs typeface="Calibri" pitchFamily="34" charset="-120"/>
              </a:rPr>
              <a:t>You send text, it sends text back, and the interaction ends until you send the next message. Everything it needs to answer is already inside the conversation you gave it. Ask why the build is failing and it can only guess from what you pasted in.</a:t>
            </a:r>
            <a:endParaRPr lang="en-US" sz="1350" dirty="0"/>
          </a:p>
        </p:txBody>
      </p:sp>
      <p:sp>
        <p:nvSpPr>
          <p:cNvPr id="11" name="Text 8"/>
          <p:cNvSpPr txBox="1"/>
          <p:nvPr/>
        </p:nvSpPr>
        <p:spPr>
          <a:xfrm>
            <a:off x="868680" y="4892040"/>
            <a:ext cx="4709160" cy="594360"/>
          </a:xfrm>
          <a:prstGeom prst="rect">
            <a:avLst/>
          </a:prstGeom>
          <a:noFill/>
          <a:ln/>
        </p:spPr>
        <p:txBody>
          <a:bodyPr wrap="square" lIns="0" tIns="0" rIns="0" bIns="0" rtlCol="0" anchor="t"/>
          <a:lstStyle/>
          <a:p>
            <a:pPr indent="0" marL="0">
              <a:buNone/>
            </a:pPr>
            <a:r>
              <a:rPr lang="en-US" sz="1250" b="1" i="1" dirty="0">
                <a:solidFill>
                  <a:srgbClr val="3FBFB0"/>
                </a:solidFill>
                <a:latin typeface="Calibri" pitchFamily="34" charset="0"/>
                <a:ea typeface="Calibri" pitchFamily="34" charset="-122"/>
                <a:cs typeface="Calibri" pitchFamily="34" charset="-120"/>
              </a:rPr>
              <a:t>Its whole world is the prompt.</a:t>
            </a:r>
            <a:endParaRPr lang="en-US" sz="1250" dirty="0"/>
          </a:p>
        </p:txBody>
      </p:sp>
      <p:sp>
        <p:nvSpPr>
          <p:cNvPr id="12" name="Shape 9"/>
          <p:cNvSpPr/>
          <p:nvPr/>
        </p:nvSpPr>
        <p:spPr>
          <a:xfrm>
            <a:off x="6309360" y="1417320"/>
            <a:ext cx="5349240" cy="4297680"/>
          </a:xfrm>
          <a:prstGeom prst="roundRect">
            <a:avLst>
              <a:gd name="adj" fmla="val 2128"/>
            </a:avLst>
          </a:prstGeom>
          <a:solidFill>
            <a:srgbClr val="F4F6FB"/>
          </a:solidFill>
          <a:ln/>
        </p:spPr>
      </p:sp>
      <p:sp>
        <p:nvSpPr>
          <p:cNvPr id="13" name="Shape 10"/>
          <p:cNvSpPr/>
          <p:nvPr/>
        </p:nvSpPr>
        <p:spPr>
          <a:xfrm>
            <a:off x="6629400" y="1737360"/>
            <a:ext cx="640080" cy="640080"/>
          </a:xfrm>
          <a:prstGeom prst="ellipse">
            <a:avLst/>
          </a:prstGeom>
          <a:solidFill>
            <a:srgbClr val="1E2761"/>
          </a:solidFill>
          <a:ln/>
        </p:spPr>
      </p:sp>
      <p:pic>
        <p:nvPicPr>
          <p:cNvPr id="14" name="Image 1" descr="preencoded.png">    </p:cNvPr>
          <p:cNvPicPr>
            <a:picLocks noChangeAspect="1"/>
          </p:cNvPicPr>
          <p:nvPr/>
        </p:nvPicPr>
        <p:blipFill>
          <a:blip r:embed="rId2"/>
          <a:stretch>
            <a:fillRect/>
          </a:stretch>
        </p:blipFill>
        <p:spPr>
          <a:xfrm>
            <a:off x="6793992" y="1901952"/>
            <a:ext cx="310896" cy="310896"/>
          </a:xfrm>
          <a:prstGeom prst="rect">
            <a:avLst/>
          </a:prstGeom>
        </p:spPr>
      </p:pic>
      <p:sp>
        <p:nvSpPr>
          <p:cNvPr id="15" name="Text 11"/>
          <p:cNvSpPr txBox="1"/>
          <p:nvPr/>
        </p:nvSpPr>
        <p:spPr>
          <a:xfrm>
            <a:off x="7406640" y="1737360"/>
            <a:ext cx="3931920" cy="640080"/>
          </a:xfrm>
          <a:prstGeom prst="rect">
            <a:avLst/>
          </a:prstGeom>
          <a:noFill/>
          <a:ln/>
        </p:spPr>
        <p:txBody>
          <a:bodyPr wrap="square" lIns="0" tIns="0" rIns="0" bIns="0" rtlCol="0" anchor="ctr"/>
          <a:lstStyle/>
          <a:p>
            <a:pPr indent="0" marL="0">
              <a:buNone/>
            </a:pPr>
            <a:r>
              <a:rPr lang="en-US" sz="1550" b="1" dirty="0">
                <a:solidFill>
                  <a:srgbClr val="2A2F45"/>
                </a:solidFill>
                <a:latin typeface="Cambria" pitchFamily="34" charset="0"/>
                <a:ea typeface="Cambria" pitchFamily="34" charset="-122"/>
                <a:cs typeface="Cambria" pitchFamily="34" charset="-120"/>
              </a:rPr>
              <a:t>An Agent Acts, Observes, and Decides What Next</a:t>
            </a:r>
            <a:endParaRPr lang="en-US" sz="1550" dirty="0"/>
          </a:p>
        </p:txBody>
      </p:sp>
      <p:sp>
        <p:nvSpPr>
          <p:cNvPr id="16" name="Text 12"/>
          <p:cNvSpPr txBox="1"/>
          <p:nvPr/>
        </p:nvSpPr>
        <p:spPr>
          <a:xfrm>
            <a:off x="6629400" y="2606040"/>
            <a:ext cx="4709160" cy="2194560"/>
          </a:xfrm>
          <a:prstGeom prst="rect">
            <a:avLst/>
          </a:prstGeom>
          <a:noFill/>
          <a:ln/>
        </p:spPr>
        <p:txBody>
          <a:bodyPr wrap="square" lIns="0" tIns="0" rIns="0" bIns="0" rtlCol="0" anchor="t"/>
          <a:lstStyle/>
          <a:p>
            <a:pPr indent="0" marL="0">
              <a:lnSpc>
                <a:spcPct val="125000"/>
              </a:lnSpc>
              <a:buNone/>
            </a:pPr>
            <a:r>
              <a:rPr lang="en-US" sz="1350" dirty="0">
                <a:solidFill>
                  <a:srgbClr val="2A2F45"/>
                </a:solidFill>
                <a:latin typeface="Calibri" pitchFamily="34" charset="0"/>
                <a:ea typeface="Calibri" pitchFamily="34" charset="-122"/>
                <a:cs typeface="Calibri" pitchFamily="34" charset="-120"/>
              </a:rPr>
              <a:t>Ask an agent the same question and it can run the build itself, read the error output, open the offending file, and tell you exactly what is wrong — possibly after several rounds of investigation you never had to script.</a:t>
            </a:r>
            <a:endParaRPr lang="en-US" sz="1350" dirty="0"/>
          </a:p>
        </p:txBody>
      </p:sp>
      <p:sp>
        <p:nvSpPr>
          <p:cNvPr id="17" name="Shape 13"/>
          <p:cNvSpPr/>
          <p:nvPr/>
        </p:nvSpPr>
        <p:spPr>
          <a:xfrm>
            <a:off x="6492240" y="4892040"/>
            <a:ext cx="4983480" cy="594360"/>
          </a:xfrm>
          <a:prstGeom prst="roundRect">
            <a:avLst>
              <a:gd name="adj" fmla="val 9231"/>
            </a:avLst>
          </a:prstGeom>
          <a:solidFill>
            <a:srgbClr val="141B49"/>
          </a:solidFill>
          <a:ln/>
        </p:spPr>
      </p:sp>
      <p:sp>
        <p:nvSpPr>
          <p:cNvPr id="18" name="Text 14"/>
          <p:cNvSpPr txBox="1"/>
          <p:nvPr/>
        </p:nvSpPr>
        <p:spPr>
          <a:xfrm>
            <a:off x="6629400" y="4892040"/>
            <a:ext cx="4709160" cy="594360"/>
          </a:xfrm>
          <a:prstGeom prst="rect">
            <a:avLst/>
          </a:prstGeom>
          <a:noFill/>
          <a:ln/>
        </p:spPr>
        <p:txBody>
          <a:bodyPr wrap="square" lIns="0" tIns="0" rIns="0" bIns="0" rtlCol="0" anchor="ctr"/>
          <a:lstStyle/>
          <a:p>
            <a:pPr indent="0" marL="0">
              <a:buNone/>
            </a:pPr>
            <a:r>
              <a:rPr lang="en-US" sz="1200" i="1" dirty="0">
                <a:solidFill>
                  <a:srgbClr val="3FBFB0"/>
                </a:solidFill>
                <a:latin typeface="Calibri" pitchFamily="34" charset="0"/>
                <a:ea typeface="Calibri" pitchFamily="34" charset="-122"/>
                <a:cs typeface="Calibri" pitchFamily="34" charset="-120"/>
              </a:rPr>
              <a:t>Without you telling it each step.</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164592"/>
            <a:ext cx="9144000" cy="274320"/>
          </a:xfrm>
          <a:prstGeom prst="rect">
            <a:avLst/>
          </a:prstGeom>
          <a:noFill/>
          <a:ln/>
        </p:spPr>
        <p:txBody>
          <a:bodyPr wrap="square" lIns="0" tIns="0" rIns="0" bIns="0" rtlCol="0" anchor="ctr"/>
          <a:lstStyle/>
          <a:p>
            <a:pPr indent="0" marL="0">
              <a:buNone/>
            </a:pPr>
            <a:r>
              <a:rPr lang="en-US" sz="1200" b="1" spc="200" kern="0" dirty="0">
                <a:solidFill>
                  <a:srgbClr val="3FBFB0"/>
                </a:solidFill>
                <a:latin typeface="Calibri" pitchFamily="34" charset="0"/>
                <a:ea typeface="Calibri" pitchFamily="34" charset="-122"/>
                <a:cs typeface="Calibri" pitchFamily="34" charset="-120"/>
              </a:rPr>
              <a:t>CORE CONCEPT</a:t>
            </a:r>
            <a:endParaRPr lang="en-US" sz="1200" dirty="0"/>
          </a:p>
        </p:txBody>
      </p:sp>
      <p:sp>
        <p:nvSpPr>
          <p:cNvPr id="3" name="Text 1"/>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The Agentic Execution Loop</a:t>
            </a:r>
            <a:endParaRPr lang="en-US" sz="3200" dirty="0"/>
          </a:p>
        </p:txBody>
      </p:sp>
      <p:sp>
        <p:nvSpPr>
          <p:cNvPr id="4" name="Text 2"/>
          <p:cNvSpPr txBox="1"/>
          <p:nvPr/>
        </p:nvSpPr>
        <p:spPr>
          <a:xfrm>
            <a:off x="457200" y="6510528"/>
            <a:ext cx="8686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MODULE 1 — UNDERSTANDING CODING AGENTS</a:t>
            </a:r>
            <a:endParaRPr lang="en-US" sz="900" dirty="0"/>
          </a:p>
        </p:txBody>
      </p:sp>
      <p:sp>
        <p:nvSpPr>
          <p:cNvPr id="5" name="Text 3"/>
          <p:cNvSpPr txBox="1"/>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548640" y="1417320"/>
            <a:ext cx="11064240" cy="2743200"/>
          </a:xfrm>
          <a:prstGeom prst="roundRect">
            <a:avLst>
              <a:gd name="adj" fmla="val 3333"/>
            </a:avLst>
          </a:prstGeom>
          <a:solidFill>
            <a:srgbClr val="141B49"/>
          </a:solidFill>
          <a:ln w="12700">
            <a:solidFill>
              <a:srgbClr val="3FBFB0"/>
            </a:solidFill>
            <a:prstDash val="solid"/>
          </a:ln>
        </p:spPr>
      </p:sp>
      <p:sp>
        <p:nvSpPr>
          <p:cNvPr id="7" name="Text 5"/>
          <p:cNvSpPr txBox="1"/>
          <p:nvPr/>
        </p:nvSpPr>
        <p:spPr>
          <a:xfrm>
            <a:off x="877824" y="1673352"/>
            <a:ext cx="10405872" cy="492252"/>
          </a:xfrm>
          <a:prstGeom prst="rect">
            <a:avLst/>
          </a:prstGeom>
          <a:noFill/>
          <a:ln/>
        </p:spPr>
        <p:txBody>
          <a:bodyPr wrap="square" lIns="0" tIns="0" rIns="0" bIns="0" rtlCol="0" anchor="t"/>
          <a:lstStyle/>
          <a:p>
            <a:pPr indent="0" marL="0">
              <a:lnSpc>
                <a:spcPts val="1100"/>
              </a:lnSpc>
              <a:buNone/>
            </a:pPr>
            <a:r>
              <a:rPr lang="en-US" sz="950" dirty="0">
                <a:solidFill>
                  <a:srgbClr val="CADCFC"/>
                </a:solidFill>
                <a:latin typeface="Courier New" pitchFamily="34" charset="0"/>
                <a:ea typeface="Courier New" pitchFamily="34" charset="-122"/>
                <a:cs typeface="Courier New" pitchFamily="34" charset="-120"/>
              </a:rPr>
              <a:t>while (!completed)</a:t>
            </a:r>
            <a:endParaRPr lang="en-US" sz="950" dirty="0"/>
          </a:p>
          <a:p>
            <a:pPr indent="0" marL="0">
              <a:lnSpc>
                <a:spcPts val="1100"/>
              </a:lnSpc>
              <a:buNone/>
            </a:pPr>
            <a:r>
              <a:rPr lang="en-US" sz="950" dirty="0">
                <a:solidFill>
                  <a:srgbClr val="CADCFC"/>
                </a:solidFill>
                <a:latin typeface="Courier New" pitchFamily="34" charset="0"/>
                <a:ea typeface="Courier New" pitchFamily="34" charset="-122"/>
                <a:cs typeface="Courier New" pitchFamily="34" charset="-120"/>
              </a:rPr>
              <a:t>{</a:t>
            </a:r>
            <a:endParaRPr lang="en-US" sz="950" dirty="0"/>
          </a:p>
          <a:p>
            <a:pPr indent="0" marL="0">
              <a:lnSpc>
                <a:spcPts val="1100"/>
              </a:lnSpc>
              <a:buNone/>
            </a:pPr>
            <a:r>
              <a:rPr lang="en-US" sz="950" dirty="0">
                <a:solidFill>
                  <a:srgbClr val="CADCFC"/>
                </a:solidFill>
                <a:latin typeface="Courier New" pitchFamily="34" charset="0"/>
                <a:ea typeface="Courier New" pitchFamily="34" charset="-122"/>
                <a:cs typeface="Courier New" pitchFamily="34" charset="-120"/>
              </a:rPr>
              <a:t>    var response = await agent.RunAsync(messages);</a:t>
            </a:r>
            <a:endParaRPr lang="en-US" sz="950" dirty="0"/>
          </a:p>
        </p:txBody>
      </p:sp>
      <p:sp>
        <p:nvSpPr>
          <p:cNvPr id="8" name="Text 6"/>
          <p:cNvSpPr txBox="1"/>
          <p:nvPr/>
        </p:nvSpPr>
        <p:spPr>
          <a:xfrm>
            <a:off x="877824" y="2092452"/>
            <a:ext cx="10405872" cy="1190752"/>
          </a:xfrm>
          <a:prstGeom prst="rect">
            <a:avLst/>
          </a:prstGeom>
          <a:noFill/>
          <a:ln/>
        </p:spPr>
        <p:txBody>
          <a:bodyPr wrap="square" lIns="0" tIns="0" rIns="0" bIns="0" rtlCol="0" anchor="t"/>
          <a:lstStyle/>
          <a:p>
            <a:pPr indent="0" marL="0">
              <a:lnSpc>
                <a:spcPts val="1100"/>
              </a:lnSpc>
              <a:buNone/>
            </a:pPr>
            <a:r>
              <a:rPr lang="en-US" sz="950" dirty="0">
                <a:solidFill>
                  <a:srgbClr val="3FBFB0"/>
                </a:solidFill>
                <a:latin typeface="Courier New" pitchFamily="34" charset="0"/>
                <a:ea typeface="Courier New" pitchFamily="34" charset="-122"/>
                <a:cs typeface="Courier New" pitchFamily="34" charset="-120"/>
              </a:rPr>
              <a:t>    if (response.HasToolCalls)</a:t>
            </a:r>
            <a:endParaRPr lang="en-US" sz="950" dirty="0"/>
          </a:p>
          <a:p>
            <a:pPr indent="0" marL="0">
              <a:lnSpc>
                <a:spcPts val="1100"/>
              </a:lnSpc>
              <a:buNone/>
            </a:pPr>
            <a:r>
              <a:rPr lang="en-US" sz="950" dirty="0">
                <a:solidFill>
                  <a:srgbClr val="3FBFB0"/>
                </a:solidFill>
                <a:latin typeface="Courier New" pitchFamily="34" charset="0"/>
                <a:ea typeface="Courier New" pitchFamily="34" charset="-122"/>
                <a:cs typeface="Courier New" pitchFamily="34" charset="-120"/>
              </a:rPr>
              <a:t>    {</a:t>
            </a:r>
            <a:endParaRPr lang="en-US" sz="950" dirty="0"/>
          </a:p>
          <a:p>
            <a:pPr indent="0" marL="0">
              <a:lnSpc>
                <a:spcPts val="1100"/>
              </a:lnSpc>
              <a:buNone/>
            </a:pPr>
            <a:r>
              <a:rPr lang="en-US" sz="950" dirty="0">
                <a:solidFill>
                  <a:srgbClr val="3FBFB0"/>
                </a:solidFill>
                <a:latin typeface="Courier New" pitchFamily="34" charset="0"/>
                <a:ea typeface="Courier New" pitchFamily="34" charset="-122"/>
                <a:cs typeface="Courier New" pitchFamily="34" charset="-120"/>
              </a:rPr>
              <a:t>        foreach (var call in response.ToolCalls)</a:t>
            </a:r>
            <a:endParaRPr lang="en-US" sz="950" dirty="0"/>
          </a:p>
          <a:p>
            <a:pPr indent="0" marL="0">
              <a:lnSpc>
                <a:spcPts val="1100"/>
              </a:lnSpc>
              <a:buNone/>
            </a:pPr>
            <a:r>
              <a:rPr lang="en-US" sz="950" dirty="0">
                <a:solidFill>
                  <a:srgbClr val="3FBFB0"/>
                </a:solidFill>
                <a:latin typeface="Courier New" pitchFamily="34" charset="0"/>
                <a:ea typeface="Courier New" pitchFamily="34" charset="-122"/>
                <a:cs typeface="Courier New" pitchFamily="34" charset="-120"/>
              </a:rPr>
              <a:t>        {</a:t>
            </a:r>
            <a:endParaRPr lang="en-US" sz="950" dirty="0"/>
          </a:p>
          <a:p>
            <a:pPr indent="0" marL="0">
              <a:lnSpc>
                <a:spcPts val="1100"/>
              </a:lnSpc>
              <a:buNone/>
            </a:pPr>
            <a:r>
              <a:rPr lang="en-US" sz="950" dirty="0">
                <a:solidFill>
                  <a:srgbClr val="3FBFB0"/>
                </a:solidFill>
                <a:latin typeface="Courier New" pitchFamily="34" charset="0"/>
                <a:ea typeface="Courier New" pitchFamily="34" charset="-122"/>
                <a:cs typeface="Courier New" pitchFamily="34" charset="-120"/>
              </a:rPr>
              <a:t>            var result = await tools.ExecuteAsync(call);</a:t>
            </a:r>
            <a:endParaRPr lang="en-US" sz="950" dirty="0"/>
          </a:p>
          <a:p>
            <a:pPr indent="0" marL="0">
              <a:lnSpc>
                <a:spcPts val="1100"/>
              </a:lnSpc>
              <a:buNone/>
            </a:pPr>
            <a:r>
              <a:rPr lang="en-US" sz="950" dirty="0">
                <a:solidFill>
                  <a:srgbClr val="3FBFB0"/>
                </a:solidFill>
                <a:latin typeface="Courier New" pitchFamily="34" charset="0"/>
                <a:ea typeface="Courier New" pitchFamily="34" charset="-122"/>
                <a:cs typeface="Courier New" pitchFamily="34" charset="-120"/>
              </a:rPr>
              <a:t>            messages.Add(result);</a:t>
            </a:r>
            <a:endParaRPr lang="en-US" sz="950" dirty="0"/>
          </a:p>
          <a:p>
            <a:pPr indent="0" marL="0">
              <a:lnSpc>
                <a:spcPts val="1100"/>
              </a:lnSpc>
              <a:buNone/>
            </a:pPr>
            <a:r>
              <a:rPr lang="en-US" sz="950" dirty="0">
                <a:solidFill>
                  <a:srgbClr val="3FBFB0"/>
                </a:solidFill>
                <a:latin typeface="Courier New" pitchFamily="34" charset="0"/>
                <a:ea typeface="Courier New" pitchFamily="34" charset="-122"/>
                <a:cs typeface="Courier New" pitchFamily="34" charset="-120"/>
              </a:rPr>
              <a:t>        }</a:t>
            </a:r>
            <a:endParaRPr lang="en-US" sz="950" dirty="0"/>
          </a:p>
          <a:p>
            <a:pPr indent="0" marL="0">
              <a:lnSpc>
                <a:spcPts val="1100"/>
              </a:lnSpc>
              <a:buNone/>
            </a:pPr>
            <a:r>
              <a:rPr lang="en-US" sz="950" dirty="0">
                <a:solidFill>
                  <a:srgbClr val="3FBFB0"/>
                </a:solidFill>
                <a:latin typeface="Courier New" pitchFamily="34" charset="0"/>
                <a:ea typeface="Courier New" pitchFamily="34" charset="-122"/>
                <a:cs typeface="Courier New" pitchFamily="34" charset="-120"/>
              </a:rPr>
              <a:t>    }</a:t>
            </a:r>
            <a:endParaRPr lang="en-US" sz="950" dirty="0"/>
          </a:p>
        </p:txBody>
      </p:sp>
      <p:sp>
        <p:nvSpPr>
          <p:cNvPr id="9" name="Text 7"/>
          <p:cNvSpPr txBox="1"/>
          <p:nvPr/>
        </p:nvSpPr>
        <p:spPr>
          <a:xfrm>
            <a:off x="877824" y="3210052"/>
            <a:ext cx="10405872" cy="771652"/>
          </a:xfrm>
          <a:prstGeom prst="rect">
            <a:avLst/>
          </a:prstGeom>
          <a:noFill/>
          <a:ln/>
        </p:spPr>
        <p:txBody>
          <a:bodyPr wrap="square" lIns="0" tIns="0" rIns="0" bIns="0" rtlCol="0" anchor="t"/>
          <a:lstStyle/>
          <a:p>
            <a:pPr indent="0" marL="0">
              <a:lnSpc>
                <a:spcPts val="1100"/>
              </a:lnSpc>
              <a:buNone/>
            </a:pPr>
            <a:r>
              <a:rPr lang="en-US" sz="950" dirty="0">
                <a:solidFill>
                  <a:srgbClr val="CADCFC"/>
                </a:solidFill>
                <a:latin typeface="Courier New" pitchFamily="34" charset="0"/>
                <a:ea typeface="Courier New" pitchFamily="34" charset="-122"/>
                <a:cs typeface="Courier New" pitchFamily="34" charset="-120"/>
              </a:rPr>
              <a:t>    else</a:t>
            </a:r>
            <a:endParaRPr lang="en-US" sz="950" dirty="0"/>
          </a:p>
          <a:p>
            <a:pPr indent="0" marL="0">
              <a:lnSpc>
                <a:spcPts val="1100"/>
              </a:lnSpc>
              <a:buNone/>
            </a:pPr>
            <a:r>
              <a:rPr lang="en-US" sz="950" dirty="0">
                <a:solidFill>
                  <a:srgbClr val="CADCFC"/>
                </a:solidFill>
                <a:latin typeface="Courier New" pitchFamily="34" charset="0"/>
                <a:ea typeface="Courier New" pitchFamily="34" charset="-122"/>
                <a:cs typeface="Courier New" pitchFamily="34" charset="-120"/>
              </a:rPr>
              <a:t>    {</a:t>
            </a:r>
            <a:endParaRPr lang="en-US" sz="950" dirty="0"/>
          </a:p>
          <a:p>
            <a:pPr indent="0" marL="0">
              <a:lnSpc>
                <a:spcPts val="1100"/>
              </a:lnSpc>
              <a:buNone/>
            </a:pPr>
            <a:r>
              <a:rPr lang="en-US" sz="950" dirty="0">
                <a:solidFill>
                  <a:srgbClr val="CADCFC"/>
                </a:solidFill>
                <a:latin typeface="Courier New" pitchFamily="34" charset="0"/>
                <a:ea typeface="Courier New" pitchFamily="34" charset="-122"/>
                <a:cs typeface="Courier New" pitchFamily="34" charset="-120"/>
              </a:rPr>
              <a:t>        completed = true;</a:t>
            </a:r>
            <a:endParaRPr lang="en-US" sz="950" dirty="0"/>
          </a:p>
          <a:p>
            <a:pPr indent="0" marL="0">
              <a:lnSpc>
                <a:spcPts val="1100"/>
              </a:lnSpc>
              <a:buNone/>
            </a:pPr>
            <a:r>
              <a:rPr lang="en-US" sz="950" dirty="0">
                <a:solidFill>
                  <a:srgbClr val="CADCFC"/>
                </a:solidFill>
                <a:latin typeface="Courier New" pitchFamily="34" charset="0"/>
                <a:ea typeface="Courier New" pitchFamily="34" charset="-122"/>
                <a:cs typeface="Courier New" pitchFamily="34" charset="-120"/>
              </a:rPr>
              <a:t>    }</a:t>
            </a:r>
            <a:endParaRPr lang="en-US" sz="950" dirty="0"/>
          </a:p>
          <a:p>
            <a:pPr indent="0" marL="0">
              <a:lnSpc>
                <a:spcPts val="1100"/>
              </a:lnSpc>
              <a:buNone/>
            </a:pPr>
            <a:r>
              <a:rPr lang="en-US" sz="950" dirty="0">
                <a:solidFill>
                  <a:srgbClr val="CADCFC"/>
                </a:solidFill>
                <a:latin typeface="Courier New" pitchFamily="34" charset="0"/>
                <a:ea typeface="Courier New" pitchFamily="34" charset="-122"/>
                <a:cs typeface="Courier New" pitchFamily="34" charset="-120"/>
              </a:rPr>
              <a:t>}</a:t>
            </a:r>
            <a:endParaRPr lang="en-US" sz="950" dirty="0"/>
          </a:p>
        </p:txBody>
      </p:sp>
      <p:sp>
        <p:nvSpPr>
          <p:cNvPr id="10" name="Shape 8"/>
          <p:cNvSpPr/>
          <p:nvPr/>
        </p:nvSpPr>
        <p:spPr>
          <a:xfrm>
            <a:off x="548640" y="4343400"/>
            <a:ext cx="5349240" cy="2103120"/>
          </a:xfrm>
          <a:prstGeom prst="roundRect">
            <a:avLst>
              <a:gd name="adj" fmla="val 4348"/>
            </a:avLst>
          </a:prstGeom>
          <a:solidFill>
            <a:srgbClr val="1E2761"/>
          </a:solidFill>
          <a:ln w="12700">
            <a:solidFill>
              <a:srgbClr val="3FBFB0"/>
            </a:solidFill>
            <a:prstDash val="solid"/>
          </a:ln>
        </p:spPr>
      </p:sp>
      <p:sp>
        <p:nvSpPr>
          <p:cNvPr id="11" name="Shape 9"/>
          <p:cNvSpPr/>
          <p:nvPr/>
        </p:nvSpPr>
        <p:spPr>
          <a:xfrm>
            <a:off x="868680" y="4663440"/>
            <a:ext cx="640080" cy="640080"/>
          </a:xfrm>
          <a:prstGeom prst="ellipse">
            <a:avLst/>
          </a:prstGeom>
          <a:solidFill>
            <a:srgbClr val="3FBFB0"/>
          </a:solidFill>
          <a:ln/>
        </p:spPr>
      </p:sp>
      <p:pic>
        <p:nvPicPr>
          <p:cNvPr id="12" name="Image 0" descr="preencoded.png">    </p:cNvPr>
          <p:cNvPicPr>
            <a:picLocks noChangeAspect="1"/>
          </p:cNvPicPr>
          <p:nvPr/>
        </p:nvPicPr>
        <p:blipFill>
          <a:blip r:embed="rId1"/>
          <a:stretch>
            <a:fillRect/>
          </a:stretch>
        </p:blipFill>
        <p:spPr>
          <a:xfrm>
            <a:off x="1033272" y="4828032"/>
            <a:ext cx="310896" cy="310896"/>
          </a:xfrm>
          <a:prstGeom prst="rect">
            <a:avLst/>
          </a:prstGeom>
        </p:spPr>
      </p:pic>
      <p:sp>
        <p:nvSpPr>
          <p:cNvPr id="13" name="Text 10"/>
          <p:cNvSpPr txBox="1"/>
          <p:nvPr/>
        </p:nvSpPr>
        <p:spPr>
          <a:xfrm>
            <a:off x="1645920" y="4663440"/>
            <a:ext cx="3931920" cy="64008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The Model Decides Which Tool, and With What Arguments</a:t>
            </a:r>
            <a:endParaRPr lang="en-US" sz="1550" dirty="0"/>
          </a:p>
        </p:txBody>
      </p:sp>
      <p:sp>
        <p:nvSpPr>
          <p:cNvPr id="14" name="Text 11"/>
          <p:cNvSpPr txBox="1"/>
          <p:nvPr/>
        </p:nvSpPr>
        <p:spPr>
          <a:xfrm>
            <a:off x="868680" y="5532120"/>
            <a:ext cx="4709160" cy="548640"/>
          </a:xfrm>
          <a:prstGeom prst="rect">
            <a:avLst/>
          </a:prstGeom>
          <a:noFill/>
          <a:ln/>
        </p:spPr>
        <p:txBody>
          <a:bodyPr wrap="square" lIns="0" tIns="0" rIns="0" bIns="0" rtlCol="0" anchor="t"/>
          <a:lstStyle/>
          <a:p>
            <a:pPr indent="0" marL="0">
              <a:lnSpc>
                <a:spcPct val="125000"/>
              </a:lnSpc>
              <a:buNone/>
            </a:pPr>
            <a:r>
              <a:rPr lang="en-US" sz="1350" dirty="0">
                <a:solidFill>
                  <a:srgbClr val="CADCFC"/>
                </a:solidFill>
                <a:latin typeface="Calibri" pitchFamily="34" charset="0"/>
                <a:ea typeface="Calibri" pitchFamily="34" charset="-122"/>
                <a:cs typeface="Calibri" pitchFamily="34" charset="-120"/>
              </a:rPr>
              <a:t>Given a list of functions — name, description, parameter schema — it emits a structured request. It does not execute anything; your code does.</a:t>
            </a:r>
            <a:endParaRPr lang="en-US" sz="1350" dirty="0"/>
          </a:p>
        </p:txBody>
      </p:sp>
      <p:sp>
        <p:nvSpPr>
          <p:cNvPr id="15" name="Shape 12"/>
          <p:cNvSpPr/>
          <p:nvPr/>
        </p:nvSpPr>
        <p:spPr>
          <a:xfrm>
            <a:off x="6309360" y="4343400"/>
            <a:ext cx="5349240" cy="2103120"/>
          </a:xfrm>
          <a:prstGeom prst="roundRect">
            <a:avLst>
              <a:gd name="adj" fmla="val 4348"/>
            </a:avLst>
          </a:prstGeom>
          <a:solidFill>
            <a:srgbClr val="3FBFB0"/>
          </a:solidFill>
          <a:ln/>
        </p:spPr>
      </p:sp>
      <p:sp>
        <p:nvSpPr>
          <p:cNvPr id="16" name="Shape 13"/>
          <p:cNvSpPr/>
          <p:nvPr/>
        </p:nvSpPr>
        <p:spPr>
          <a:xfrm>
            <a:off x="6629400" y="4663440"/>
            <a:ext cx="640080" cy="640080"/>
          </a:xfrm>
          <a:prstGeom prst="ellipse">
            <a:avLst/>
          </a:prstGeom>
          <a:solidFill>
            <a:srgbClr val="1E2761"/>
          </a:solidFill>
          <a:ln/>
        </p:spPr>
      </p:sp>
      <p:pic>
        <p:nvPicPr>
          <p:cNvPr id="17" name="Image 1" descr="preencoded.png">    </p:cNvPr>
          <p:cNvPicPr>
            <a:picLocks noChangeAspect="1"/>
          </p:cNvPicPr>
          <p:nvPr/>
        </p:nvPicPr>
        <p:blipFill>
          <a:blip r:embed="rId2"/>
          <a:stretch>
            <a:fillRect/>
          </a:stretch>
        </p:blipFill>
        <p:spPr>
          <a:xfrm>
            <a:off x="6793992" y="4828032"/>
            <a:ext cx="310896" cy="310896"/>
          </a:xfrm>
          <a:prstGeom prst="rect">
            <a:avLst/>
          </a:prstGeom>
        </p:spPr>
      </p:pic>
      <p:sp>
        <p:nvSpPr>
          <p:cNvPr id="18" name="Text 14"/>
          <p:cNvSpPr txBox="1"/>
          <p:nvPr/>
        </p:nvSpPr>
        <p:spPr>
          <a:xfrm>
            <a:off x="7406640" y="4663440"/>
            <a:ext cx="3931920" cy="64008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The Result Becomes an Observation It Reasons About</a:t>
            </a:r>
            <a:endParaRPr lang="en-US" sz="1550" dirty="0"/>
          </a:p>
        </p:txBody>
      </p:sp>
      <p:sp>
        <p:nvSpPr>
          <p:cNvPr id="19" name="Text 15"/>
          <p:cNvSpPr txBox="1"/>
          <p:nvPr/>
        </p:nvSpPr>
        <p:spPr>
          <a:xfrm>
            <a:off x="6629400" y="5532120"/>
            <a:ext cx="4709160" cy="548640"/>
          </a:xfrm>
          <a:prstGeom prst="rect">
            <a:avLst/>
          </a:prstGeom>
          <a:noFill/>
          <a:ln/>
        </p:spPr>
        <p:txBody>
          <a:bodyPr wrap="square" lIns="0" tIns="0" rIns="0" bIns="0" rtlCol="0" anchor="t"/>
          <a:lstStyle/>
          <a:p>
            <a:pPr indent="0" marL="0">
              <a:lnSpc>
                <a:spcPct val="125000"/>
              </a:lnSpc>
              <a:buNone/>
            </a:pPr>
            <a:r>
              <a:rPr lang="en-US" sz="1350" dirty="0">
                <a:solidFill>
                  <a:srgbClr val="FFFFFF"/>
                </a:solidFill>
                <a:latin typeface="Calibri" pitchFamily="34" charset="0"/>
                <a:ea typeface="Calibri" pitchFamily="34" charset="-122"/>
                <a:cs typeface="Calibri" pitchFamily="34" charset="-120"/>
              </a:rPr>
              <a:t>Observe-then-reason is what lets an agent adapt: a failing build steers it toward the file the error points to.</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164592"/>
            <a:ext cx="9144000" cy="274320"/>
          </a:xfrm>
          <a:prstGeom prst="rect">
            <a:avLst/>
          </a:prstGeom>
          <a:noFill/>
          <a:ln/>
        </p:spPr>
        <p:txBody>
          <a:bodyPr wrap="square" lIns="0" tIns="0" rIns="0" bIns="0" rtlCol="0" anchor="ctr"/>
          <a:lstStyle/>
          <a:p>
            <a:pPr indent="0" marL="0">
              <a:buNone/>
            </a:pPr>
            <a:r>
              <a:rPr lang="en-US" sz="1200" b="1" spc="200" kern="0" dirty="0">
                <a:solidFill>
                  <a:srgbClr val="3FBFB0"/>
                </a:solidFill>
                <a:latin typeface="Calibri" pitchFamily="34" charset="0"/>
                <a:ea typeface="Calibri" pitchFamily="34" charset="-122"/>
                <a:cs typeface="Calibri" pitchFamily="34" charset="-120"/>
              </a:rPr>
              <a:t>CORE CONCEPT</a:t>
            </a:r>
            <a:endParaRPr lang="en-US" sz="1200" dirty="0"/>
          </a:p>
        </p:txBody>
      </p:sp>
      <p:sp>
        <p:nvSpPr>
          <p:cNvPr id="3" name="Text 1"/>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Autonomy Is a Spectrum, and the Harness Is Most of the Work</a:t>
            </a:r>
            <a:endParaRPr lang="en-US" sz="3000" dirty="0"/>
          </a:p>
        </p:txBody>
      </p:sp>
      <p:sp>
        <p:nvSpPr>
          <p:cNvPr id="4" name="Text 2"/>
          <p:cNvSpPr txBox="1"/>
          <p:nvPr/>
        </p:nvSpPr>
        <p:spPr>
          <a:xfrm>
            <a:off x="457200" y="6510528"/>
            <a:ext cx="8686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MODULE 1 — UNDERSTANDING CODING AGENTS</a:t>
            </a:r>
            <a:endParaRPr lang="en-US" sz="900" dirty="0"/>
          </a:p>
        </p:txBody>
      </p:sp>
      <p:sp>
        <p:nvSpPr>
          <p:cNvPr id="5" name="Text 3"/>
          <p:cNvSpPr txBox="1"/>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
        <p:nvSpPr>
          <p:cNvPr id="6" name="Shape 4"/>
          <p:cNvSpPr/>
          <p:nvPr/>
        </p:nvSpPr>
        <p:spPr>
          <a:xfrm>
            <a:off x="548640" y="1417320"/>
            <a:ext cx="5349240" cy="3291840"/>
          </a:xfrm>
          <a:prstGeom prst="roundRect">
            <a:avLst>
              <a:gd name="adj" fmla="val 2778"/>
            </a:avLst>
          </a:prstGeom>
          <a:solidFill>
            <a:srgbClr val="1E2761"/>
          </a:solidFill>
          <a:ln/>
        </p:spPr>
      </p:sp>
      <p:sp>
        <p:nvSpPr>
          <p:cNvPr id="7" name="Shape 5"/>
          <p:cNvSpPr/>
          <p:nvPr/>
        </p:nvSpPr>
        <p:spPr>
          <a:xfrm>
            <a:off x="868680" y="1737360"/>
            <a:ext cx="640080" cy="640080"/>
          </a:xfrm>
          <a:prstGeom prst="ellipse">
            <a:avLst/>
          </a:prstGeom>
          <a:solidFill>
            <a:srgbClr val="3FBFB0"/>
          </a:solidFill>
          <a:ln/>
        </p:spPr>
      </p:sp>
      <p:pic>
        <p:nvPicPr>
          <p:cNvPr id="8" name="Image 0" descr="preencoded.png">    </p:cNvPr>
          <p:cNvPicPr>
            <a:picLocks noChangeAspect="1"/>
          </p:cNvPicPr>
          <p:nvPr/>
        </p:nvPicPr>
        <p:blipFill>
          <a:blip r:embed="rId1"/>
          <a:stretch>
            <a:fillRect/>
          </a:stretch>
        </p:blipFill>
        <p:spPr>
          <a:xfrm>
            <a:off x="1033272" y="1901952"/>
            <a:ext cx="310896" cy="310896"/>
          </a:xfrm>
          <a:prstGeom prst="rect">
            <a:avLst/>
          </a:prstGeom>
        </p:spPr>
      </p:pic>
      <p:sp>
        <p:nvSpPr>
          <p:cNvPr id="9" name="Text 6"/>
          <p:cNvSpPr txBox="1"/>
          <p:nvPr/>
        </p:nvSpPr>
        <p:spPr>
          <a:xfrm>
            <a:off x="1645920" y="1737360"/>
            <a:ext cx="3931920" cy="64008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Anywhere From One Edit to Unsupervised</a:t>
            </a:r>
            <a:endParaRPr lang="en-US" sz="1550" dirty="0"/>
          </a:p>
        </p:txBody>
      </p:sp>
      <p:sp>
        <p:nvSpPr>
          <p:cNvPr id="10" name="Text 7"/>
          <p:cNvSpPr txBox="1"/>
          <p:nvPr/>
        </p:nvSpPr>
        <p:spPr>
          <a:xfrm>
            <a:off x="868680" y="2606040"/>
            <a:ext cx="4709160" cy="1188720"/>
          </a:xfrm>
          <a:prstGeom prst="rect">
            <a:avLst/>
          </a:prstGeom>
          <a:noFill/>
          <a:ln/>
        </p:spPr>
        <p:txBody>
          <a:bodyPr wrap="square" lIns="0" tIns="0" rIns="0" bIns="0" rtlCol="0" anchor="t"/>
          <a:lstStyle/>
          <a:p>
            <a:pPr indent="0" marL="0">
              <a:lnSpc>
                <a:spcPct val="125000"/>
              </a:lnSpc>
              <a:buNone/>
            </a:pPr>
            <a:r>
              <a:rPr lang="en-US" sz="1350" dirty="0">
                <a:solidFill>
                  <a:srgbClr val="CADCFC"/>
                </a:solidFill>
                <a:latin typeface="Calibri" pitchFamily="34" charset="0"/>
                <a:ea typeface="Calibri" pitchFamily="34" charset="-122"/>
                <a:cs typeface="Calibri" pitchFamily="34" charset="-120"/>
              </a:rPr>
              <a:t>MiniCode sits toward the autonomous end: given "find out why the solution is not compiling and fix it", it should chain discovery, reading, editing, building and testing on its own.</a:t>
            </a:r>
            <a:endParaRPr lang="en-US" sz="1350" dirty="0"/>
          </a:p>
        </p:txBody>
      </p:sp>
      <p:sp>
        <p:nvSpPr>
          <p:cNvPr id="11" name="Text 8"/>
          <p:cNvSpPr txBox="1"/>
          <p:nvPr/>
        </p:nvSpPr>
        <p:spPr>
          <a:xfrm>
            <a:off x="868680" y="3886200"/>
            <a:ext cx="4709160" cy="594360"/>
          </a:xfrm>
          <a:prstGeom prst="rect">
            <a:avLst/>
          </a:prstGeom>
          <a:noFill/>
          <a:ln/>
        </p:spPr>
        <p:txBody>
          <a:bodyPr wrap="square" lIns="0" tIns="0" rIns="0" bIns="0" rtlCol="0" anchor="t"/>
          <a:lstStyle/>
          <a:p>
            <a:pPr indent="0" marL="0">
              <a:buNone/>
            </a:pPr>
            <a:r>
              <a:rPr lang="en-US" sz="1250" b="1" i="1" dirty="0">
                <a:solidFill>
                  <a:srgbClr val="3FBFB0"/>
                </a:solidFill>
                <a:latin typeface="Calibri" pitchFamily="34" charset="0"/>
                <a:ea typeface="Calibri" pitchFamily="34" charset="-122"/>
                <a:cs typeface="Calibri" pitchFamily="34" charset="-120"/>
              </a:rPr>
              <a:t>Which is exactly why Module 4 sandboxes the workspace and Module 15 adds human approval.</a:t>
            </a:r>
            <a:endParaRPr lang="en-US" sz="1250" dirty="0"/>
          </a:p>
        </p:txBody>
      </p:sp>
      <p:sp>
        <p:nvSpPr>
          <p:cNvPr id="12" name="Shape 9"/>
          <p:cNvSpPr/>
          <p:nvPr/>
        </p:nvSpPr>
        <p:spPr>
          <a:xfrm>
            <a:off x="6309360" y="1417320"/>
            <a:ext cx="5349240" cy="3291840"/>
          </a:xfrm>
          <a:prstGeom prst="roundRect">
            <a:avLst>
              <a:gd name="adj" fmla="val 2778"/>
            </a:avLst>
          </a:prstGeom>
          <a:solidFill>
            <a:srgbClr val="F4F6FB"/>
          </a:solidFill>
          <a:ln/>
        </p:spPr>
      </p:sp>
      <p:sp>
        <p:nvSpPr>
          <p:cNvPr id="13" name="Shape 10"/>
          <p:cNvSpPr/>
          <p:nvPr/>
        </p:nvSpPr>
        <p:spPr>
          <a:xfrm>
            <a:off x="6629400" y="1737360"/>
            <a:ext cx="640080" cy="640080"/>
          </a:xfrm>
          <a:prstGeom prst="ellipse">
            <a:avLst/>
          </a:prstGeom>
          <a:solidFill>
            <a:srgbClr val="1E2761"/>
          </a:solidFill>
          <a:ln/>
        </p:spPr>
      </p:sp>
      <p:pic>
        <p:nvPicPr>
          <p:cNvPr id="14" name="Image 1" descr="preencoded.png">    </p:cNvPr>
          <p:cNvPicPr>
            <a:picLocks noChangeAspect="1"/>
          </p:cNvPicPr>
          <p:nvPr/>
        </p:nvPicPr>
        <p:blipFill>
          <a:blip r:embed="rId2"/>
          <a:stretch>
            <a:fillRect/>
          </a:stretch>
        </p:blipFill>
        <p:spPr>
          <a:xfrm>
            <a:off x="6793992" y="1901952"/>
            <a:ext cx="310896" cy="310896"/>
          </a:xfrm>
          <a:prstGeom prst="rect">
            <a:avLst/>
          </a:prstGeom>
        </p:spPr>
      </p:pic>
      <p:sp>
        <p:nvSpPr>
          <p:cNvPr id="15" name="Text 11"/>
          <p:cNvSpPr txBox="1"/>
          <p:nvPr/>
        </p:nvSpPr>
        <p:spPr>
          <a:xfrm>
            <a:off x="7406640" y="1737360"/>
            <a:ext cx="3931920" cy="640080"/>
          </a:xfrm>
          <a:prstGeom prst="rect">
            <a:avLst/>
          </a:prstGeom>
          <a:noFill/>
          <a:ln/>
        </p:spPr>
        <p:txBody>
          <a:bodyPr wrap="square" lIns="0" tIns="0" rIns="0" bIns="0" rtlCol="0" anchor="ctr"/>
          <a:lstStyle/>
          <a:p>
            <a:pPr indent="0" marL="0">
              <a:buNone/>
            </a:pPr>
            <a:r>
              <a:rPr lang="en-US" sz="1550" b="1" dirty="0">
                <a:solidFill>
                  <a:srgbClr val="2A2F45"/>
                </a:solidFill>
                <a:latin typeface="Cambria" pitchFamily="34" charset="0"/>
                <a:ea typeface="Cambria" pitchFamily="34" charset="-122"/>
                <a:cs typeface="Cambria" pitchFamily="34" charset="-120"/>
              </a:rPr>
              <a:t>Autonomy Does Not Mean the Human Disappears</a:t>
            </a:r>
            <a:endParaRPr lang="en-US" sz="1550" dirty="0"/>
          </a:p>
        </p:txBody>
      </p:sp>
      <p:sp>
        <p:nvSpPr>
          <p:cNvPr id="16" name="Text 12"/>
          <p:cNvSpPr txBox="1"/>
          <p:nvPr/>
        </p:nvSpPr>
        <p:spPr>
          <a:xfrm>
            <a:off x="6629400" y="2606040"/>
            <a:ext cx="4709160" cy="1188720"/>
          </a:xfrm>
          <a:prstGeom prst="rect">
            <a:avLst/>
          </a:prstGeom>
          <a:noFill/>
          <a:ln/>
        </p:spPr>
        <p:txBody>
          <a:bodyPr wrap="square" lIns="0" tIns="0" rIns="0" bIns="0" rtlCol="0" anchor="t"/>
          <a:lstStyle/>
          <a:p>
            <a:pPr indent="0" marL="0">
              <a:lnSpc>
                <a:spcPct val="125000"/>
              </a:lnSpc>
              <a:buNone/>
            </a:pPr>
            <a:r>
              <a:rPr lang="en-US" sz="1350" dirty="0">
                <a:solidFill>
                  <a:srgbClr val="2A2F45"/>
                </a:solidFill>
                <a:latin typeface="Calibri" pitchFamily="34" charset="0"/>
                <a:ea typeface="Calibri" pitchFamily="34" charset="-122"/>
                <a:cs typeface="Calibri" pitchFamily="34" charset="-120"/>
              </a:rPr>
              <a:t>A well-designed coding agent knows which actions are safe alone — reading a file, running dotnet build — and which need a person to approve them: deleting a file, git commit, installing a package.</a:t>
            </a:r>
            <a:endParaRPr lang="en-US" sz="1350" dirty="0"/>
          </a:p>
        </p:txBody>
      </p:sp>
      <p:sp>
        <p:nvSpPr>
          <p:cNvPr id="17" name="Shape 13"/>
          <p:cNvSpPr/>
          <p:nvPr/>
        </p:nvSpPr>
        <p:spPr>
          <a:xfrm>
            <a:off x="6492240" y="3886200"/>
            <a:ext cx="4983480" cy="594360"/>
          </a:xfrm>
          <a:prstGeom prst="roundRect">
            <a:avLst>
              <a:gd name="adj" fmla="val 9231"/>
            </a:avLst>
          </a:prstGeom>
          <a:solidFill>
            <a:srgbClr val="141B49"/>
          </a:solidFill>
          <a:ln/>
        </p:spPr>
      </p:sp>
      <p:sp>
        <p:nvSpPr>
          <p:cNvPr id="18" name="Text 14"/>
          <p:cNvSpPr txBox="1"/>
          <p:nvPr/>
        </p:nvSpPr>
        <p:spPr>
          <a:xfrm>
            <a:off x="6629400" y="3886200"/>
            <a:ext cx="4709160" cy="594360"/>
          </a:xfrm>
          <a:prstGeom prst="rect">
            <a:avLst/>
          </a:prstGeom>
          <a:noFill/>
          <a:ln/>
        </p:spPr>
        <p:txBody>
          <a:bodyPr wrap="square" lIns="0" tIns="0" rIns="0" bIns="0" rtlCol="0" anchor="ctr"/>
          <a:lstStyle/>
          <a:p>
            <a:pPr indent="0" marL="0">
              <a:buNone/>
            </a:pPr>
            <a:r>
              <a:rPr lang="en-US" sz="1200" i="1" dirty="0">
                <a:solidFill>
                  <a:srgbClr val="3FBFB0"/>
                </a:solidFill>
                <a:latin typeface="Calibri" pitchFamily="34" charset="0"/>
                <a:ea typeface="Calibri" pitchFamily="34" charset="-122"/>
                <a:cs typeface="Calibri" pitchFamily="34" charset="-120"/>
              </a:rPr>
              <a:t>Human-in-the-loop is a first-class architectural concern here, not an afterthought.</a:t>
            </a:r>
            <a:endParaRPr lang="en-US" sz="1200" dirty="0"/>
          </a:p>
        </p:txBody>
      </p:sp>
      <p:sp>
        <p:nvSpPr>
          <p:cNvPr id="19" name="Shape 15"/>
          <p:cNvSpPr/>
          <p:nvPr/>
        </p:nvSpPr>
        <p:spPr>
          <a:xfrm>
            <a:off x="548640" y="4937760"/>
            <a:ext cx="11064240" cy="1280160"/>
          </a:xfrm>
          <a:prstGeom prst="roundRect">
            <a:avLst>
              <a:gd name="adj" fmla="val 7143"/>
            </a:avLst>
          </a:prstGeom>
          <a:solidFill>
            <a:srgbClr val="141B49"/>
          </a:solidFill>
          <a:ln w="12700">
            <a:solidFill>
              <a:srgbClr val="3FBFB0"/>
            </a:solidFill>
            <a:prstDash val="solid"/>
          </a:ln>
        </p:spPr>
      </p:sp>
      <p:sp>
        <p:nvSpPr>
          <p:cNvPr id="20" name="Text 16"/>
          <p:cNvSpPr txBox="1"/>
          <p:nvPr/>
        </p:nvSpPr>
        <p:spPr>
          <a:xfrm>
            <a:off x="877824" y="5193792"/>
            <a:ext cx="10405872" cy="250952"/>
          </a:xfrm>
          <a:prstGeom prst="rect">
            <a:avLst/>
          </a:prstGeom>
          <a:noFill/>
          <a:ln/>
        </p:spPr>
        <p:txBody>
          <a:bodyPr wrap="square" lIns="0" tIns="0" rIns="0" bIns="0" rtlCol="0" anchor="t"/>
          <a:lstStyle/>
          <a:p>
            <a:pPr indent="0" marL="0">
              <a:lnSpc>
                <a:spcPts val="1400"/>
              </a:lnSpc>
              <a:buNone/>
            </a:pPr>
            <a:r>
              <a:rPr lang="en-US" sz="950" i="1" dirty="0">
                <a:solidFill>
                  <a:srgbClr val="6B7280"/>
                </a:solidFill>
                <a:latin typeface="Courier New" pitchFamily="34" charset="0"/>
                <a:ea typeface="Courier New" pitchFamily="34" charset="-122"/>
                <a:cs typeface="Courier New" pitchFamily="34" charset="-120"/>
              </a:rPr>
              <a:t>// Why a Claude Code-style system is primarily a harness, not "a really good model"</a:t>
            </a:r>
            <a:endParaRPr lang="en-US" sz="950" dirty="0"/>
          </a:p>
        </p:txBody>
      </p:sp>
      <p:sp>
        <p:nvSpPr>
          <p:cNvPr id="21" name="Text 17"/>
          <p:cNvSpPr txBox="1"/>
          <p:nvPr/>
        </p:nvSpPr>
        <p:spPr>
          <a:xfrm>
            <a:off x="877824" y="5554472"/>
            <a:ext cx="10405872" cy="250952"/>
          </a:xfrm>
          <a:prstGeom prst="rect">
            <a:avLst/>
          </a:prstGeom>
          <a:noFill/>
          <a:ln/>
        </p:spPr>
        <p:txBody>
          <a:bodyPr wrap="square" lIns="0" tIns="0" rIns="0" bIns="0" rtlCol="0" anchor="t"/>
          <a:lstStyle/>
          <a:p>
            <a:pPr indent="0" marL="0">
              <a:lnSpc>
                <a:spcPts val="1400"/>
              </a:lnSpc>
              <a:buNone/>
            </a:pPr>
            <a:r>
              <a:rPr lang="en-US" sz="1050" dirty="0">
                <a:solidFill>
                  <a:srgbClr val="CADCFC"/>
                </a:solidFill>
                <a:latin typeface="Courier New" pitchFamily="34" charset="0"/>
                <a:ea typeface="Courier New" pitchFamily="34" charset="-122"/>
                <a:cs typeface="Courier New" pitchFamily="34" charset="-120"/>
              </a:rPr>
              <a:t>The model supplies reasoning. The harness supplies structure, safety and persistence:</a:t>
            </a:r>
            <a:endParaRPr lang="en-US" sz="1050" dirty="0"/>
          </a:p>
        </p:txBody>
      </p:sp>
      <p:sp>
        <p:nvSpPr>
          <p:cNvPr id="22" name="Text 18"/>
          <p:cNvSpPr txBox="1"/>
          <p:nvPr/>
        </p:nvSpPr>
        <p:spPr>
          <a:xfrm>
            <a:off x="877824" y="5732272"/>
            <a:ext cx="10405872" cy="250952"/>
          </a:xfrm>
          <a:prstGeom prst="rect">
            <a:avLst/>
          </a:prstGeom>
          <a:noFill/>
          <a:ln/>
        </p:spPr>
        <p:txBody>
          <a:bodyPr wrap="square" lIns="0" tIns="0" rIns="0" bIns="0" rtlCol="0" anchor="t"/>
          <a:lstStyle/>
          <a:p>
            <a:pPr indent="0" marL="0">
              <a:lnSpc>
                <a:spcPts val="1400"/>
              </a:lnSpc>
              <a:buNone/>
            </a:pPr>
            <a:r>
              <a:rPr lang="en-US" sz="1050" dirty="0">
                <a:solidFill>
                  <a:srgbClr val="3FBFB0"/>
                </a:solidFill>
                <a:latin typeface="Courier New" pitchFamily="34" charset="0"/>
                <a:ea typeface="Courier New" pitchFamily="34" charset="-122"/>
                <a:cs typeface="Courier New" pitchFamily="34" charset="-120"/>
              </a:rPr>
              <a:t>tool definitions, workspace boundaries, approval policy, context management, the loop.</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164592"/>
            <a:ext cx="9144000" cy="274320"/>
          </a:xfrm>
          <a:prstGeom prst="rect">
            <a:avLst/>
          </a:prstGeom>
          <a:noFill/>
          <a:ln/>
        </p:spPr>
        <p:txBody>
          <a:bodyPr wrap="square" lIns="0" tIns="0" rIns="0" bIns="0" rtlCol="0" anchor="ctr"/>
          <a:lstStyle/>
          <a:p>
            <a:pPr indent="0" marL="0">
              <a:buNone/>
            </a:pPr>
            <a:r>
              <a:rPr lang="en-US" sz="1200" b="1" spc="200" kern="0" dirty="0">
                <a:solidFill>
                  <a:srgbClr val="3FBFB0"/>
                </a:solidFill>
                <a:latin typeface="Calibri" pitchFamily="34" charset="0"/>
                <a:ea typeface="Calibri" pitchFamily="34" charset="-122"/>
                <a:cs typeface="Calibri" pitchFamily="34" charset="-120"/>
              </a:rPr>
              <a:t>ARCHITECTURE</a:t>
            </a:r>
            <a:endParaRPr lang="en-US" sz="1200" dirty="0"/>
          </a:p>
        </p:txBody>
      </p:sp>
      <p:sp>
        <p:nvSpPr>
          <p:cNvPr id="3" name="Text 1"/>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One Request In, Tools and Results Cycling Until an Answer</a:t>
            </a:r>
            <a:endParaRPr lang="en-US" sz="3000" dirty="0"/>
          </a:p>
        </p:txBody>
      </p:sp>
      <p:sp>
        <p:nvSpPr>
          <p:cNvPr id="4" name="Text 2"/>
          <p:cNvSpPr txBox="1"/>
          <p:nvPr/>
        </p:nvSpPr>
        <p:spPr>
          <a:xfrm>
            <a:off x="548640" y="1207008"/>
            <a:ext cx="11064240" cy="365760"/>
          </a:xfrm>
          <a:prstGeom prst="rect">
            <a:avLst/>
          </a:prstGeom>
          <a:noFill/>
          <a:ln/>
        </p:spPr>
        <p:txBody>
          <a:bodyPr wrap="square" lIns="0" tIns="0" rIns="0" bIns="0" rtlCol="0" anchor="t"/>
          <a:lstStyle/>
          <a:p>
            <a:pPr indent="0" marL="0">
              <a:buNone/>
            </a:pPr>
            <a:r>
              <a:rPr lang="en-US" sz="1250" i="1" dirty="0">
                <a:solidFill>
                  <a:srgbClr val="2A2F45"/>
                </a:solidFill>
                <a:latin typeface="Calibri" pitchFamily="34" charset="0"/>
                <a:ea typeface="Calibri" pitchFamily="34" charset="-122"/>
                <a:cs typeface="Calibri" pitchFamily="34" charset="-120"/>
              </a:rPr>
              <a:t>Every Module in this course is an elaboration of this one loop, drawn with concrete MiniCode nouns substituted in.</a:t>
            </a:r>
            <a:endParaRPr lang="en-US" sz="1250" dirty="0"/>
          </a:p>
        </p:txBody>
      </p:sp>
      <p:sp>
        <p:nvSpPr>
          <p:cNvPr id="5" name="Text 3"/>
          <p:cNvSpPr txBox="1"/>
          <p:nvPr/>
        </p:nvSpPr>
        <p:spPr>
          <a:xfrm>
            <a:off x="457200" y="6510528"/>
            <a:ext cx="8686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MODULE 1 — UNDERSTANDING CODING AGENTS</a:t>
            </a:r>
            <a:endParaRPr lang="en-US" sz="900" dirty="0"/>
          </a:p>
        </p:txBody>
      </p:sp>
      <p:sp>
        <p:nvSpPr>
          <p:cNvPr id="6" name="Text 4"/>
          <p:cNvSpPr txBox="1"/>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
        <p:nvSpPr>
          <p:cNvPr id="7" name="Shape 5"/>
          <p:cNvSpPr/>
          <p:nvPr/>
        </p:nvSpPr>
        <p:spPr>
          <a:xfrm>
            <a:off x="1965960" y="1874520"/>
            <a:ext cx="8229600" cy="868680"/>
          </a:xfrm>
          <a:prstGeom prst="roundRect">
            <a:avLst>
              <a:gd name="adj" fmla="val 8421"/>
            </a:avLst>
          </a:prstGeom>
          <a:solidFill>
            <a:srgbClr val="1E2761"/>
          </a:solidFill>
          <a:ln/>
        </p:spPr>
      </p:sp>
      <p:sp>
        <p:nvSpPr>
          <p:cNvPr id="8" name="Shape 6"/>
          <p:cNvSpPr/>
          <p:nvPr/>
        </p:nvSpPr>
        <p:spPr>
          <a:xfrm>
            <a:off x="2167128" y="2093976"/>
            <a:ext cx="512064" cy="512064"/>
          </a:xfrm>
          <a:prstGeom prst="ellipse">
            <a:avLst/>
          </a:prstGeom>
          <a:solidFill>
            <a:srgbClr val="3FBFB0"/>
          </a:solidFill>
          <a:ln/>
        </p:spPr>
      </p:sp>
      <p:pic>
        <p:nvPicPr>
          <p:cNvPr id="9" name="Image 0" descr="preencoded.png">    </p:cNvPr>
          <p:cNvPicPr>
            <a:picLocks noChangeAspect="1"/>
          </p:cNvPicPr>
          <p:nvPr/>
        </p:nvPicPr>
        <p:blipFill>
          <a:blip r:embed="rId1"/>
          <a:stretch>
            <a:fillRect/>
          </a:stretch>
        </p:blipFill>
        <p:spPr>
          <a:xfrm>
            <a:off x="2295144" y="2221992"/>
            <a:ext cx="256032" cy="256032"/>
          </a:xfrm>
          <a:prstGeom prst="rect">
            <a:avLst/>
          </a:prstGeom>
        </p:spPr>
      </p:pic>
      <p:sp>
        <p:nvSpPr>
          <p:cNvPr id="10" name="Text 7"/>
          <p:cNvSpPr txBox="1"/>
          <p:nvPr/>
        </p:nvSpPr>
        <p:spPr>
          <a:xfrm>
            <a:off x="2834640" y="2039112"/>
            <a:ext cx="7132320" cy="36576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Developer  →  MiniCode CLI</a:t>
            </a:r>
            <a:endParaRPr lang="en-US" sz="1400" dirty="0"/>
          </a:p>
        </p:txBody>
      </p:sp>
      <p:sp>
        <p:nvSpPr>
          <p:cNvPr id="11" name="Text 8"/>
          <p:cNvSpPr txBox="1"/>
          <p:nvPr/>
        </p:nvSpPr>
        <p:spPr>
          <a:xfrm>
            <a:off x="2834640" y="2404872"/>
            <a:ext cx="7132320" cy="292608"/>
          </a:xfrm>
          <a:prstGeom prst="rect">
            <a:avLst/>
          </a:prstGeom>
          <a:noFill/>
          <a:ln/>
        </p:spPr>
        <p:txBody>
          <a:bodyPr wrap="square" lIns="0" tIns="0" rIns="0" bIns="0" rtlCol="0" anchor="ctr"/>
          <a:lstStyle/>
          <a:p>
            <a:pPr indent="0" marL="0">
              <a:buNone/>
            </a:pPr>
            <a:r>
              <a:rPr lang="en-US" sz="1050" i="1" dirty="0">
                <a:solidFill>
                  <a:srgbClr val="CADCFC"/>
                </a:solidFill>
                <a:latin typeface="Calibri" pitchFamily="34" charset="0"/>
                <a:ea typeface="Calibri" pitchFamily="34" charset="-122"/>
                <a:cs typeface="Calibri" pitchFamily="34" charset="-120"/>
              </a:rPr>
              <a:t>the request is issued once; no further input is needed</a:t>
            </a:r>
            <a:endParaRPr lang="en-US" sz="1050" dirty="0"/>
          </a:p>
        </p:txBody>
      </p:sp>
      <p:sp>
        <p:nvSpPr>
          <p:cNvPr id="12" name="Text 9"/>
          <p:cNvSpPr txBox="1"/>
          <p:nvPr/>
        </p:nvSpPr>
        <p:spPr>
          <a:xfrm>
            <a:off x="5852160" y="2761488"/>
            <a:ext cx="457200" cy="219456"/>
          </a:xfrm>
          <a:prstGeom prst="rect">
            <a:avLst/>
          </a:prstGeom>
          <a:noFill/>
          <a:ln/>
        </p:spPr>
        <p:txBody>
          <a:bodyPr wrap="square" lIns="0" tIns="0" rIns="0" bIns="0" rtlCol="0" anchor="ctr"/>
          <a:lstStyle/>
          <a:p>
            <a:pPr algn="ctr" indent="0" marL="0">
              <a:buNone/>
            </a:pPr>
            <a:r>
              <a:rPr lang="en-US" sz="1800" b="1" dirty="0">
                <a:solidFill>
                  <a:srgbClr val="1E2761"/>
                </a:solidFill>
                <a:latin typeface="Calibri" pitchFamily="34" charset="0"/>
                <a:ea typeface="Calibri" pitchFamily="34" charset="-122"/>
                <a:cs typeface="Calibri" pitchFamily="34" charset="-120"/>
              </a:rPr>
              <a:t>↓</a:t>
            </a:r>
            <a:endParaRPr lang="en-US" sz="1800" dirty="0"/>
          </a:p>
        </p:txBody>
      </p:sp>
      <p:sp>
        <p:nvSpPr>
          <p:cNvPr id="13" name="Shape 10"/>
          <p:cNvSpPr/>
          <p:nvPr/>
        </p:nvSpPr>
        <p:spPr>
          <a:xfrm>
            <a:off x="1965960" y="2999232"/>
            <a:ext cx="8229600" cy="868680"/>
          </a:xfrm>
          <a:prstGeom prst="roundRect">
            <a:avLst>
              <a:gd name="adj" fmla="val 8421"/>
            </a:avLst>
          </a:prstGeom>
          <a:solidFill>
            <a:srgbClr val="3FBFB0"/>
          </a:solidFill>
          <a:ln/>
        </p:spPr>
      </p:sp>
      <p:sp>
        <p:nvSpPr>
          <p:cNvPr id="14" name="Shape 11"/>
          <p:cNvSpPr/>
          <p:nvPr/>
        </p:nvSpPr>
        <p:spPr>
          <a:xfrm>
            <a:off x="2167128" y="3218688"/>
            <a:ext cx="512064" cy="512064"/>
          </a:xfrm>
          <a:prstGeom prst="ellipse">
            <a:avLst/>
          </a:prstGeom>
          <a:solidFill>
            <a:srgbClr val="1E2761"/>
          </a:solidFill>
          <a:ln/>
        </p:spPr>
      </p:sp>
      <p:pic>
        <p:nvPicPr>
          <p:cNvPr id="15" name="Image 1" descr="preencoded.png">    </p:cNvPr>
          <p:cNvPicPr>
            <a:picLocks noChangeAspect="1"/>
          </p:cNvPicPr>
          <p:nvPr/>
        </p:nvPicPr>
        <p:blipFill>
          <a:blip r:embed="rId2"/>
          <a:stretch>
            <a:fillRect/>
          </a:stretch>
        </p:blipFill>
        <p:spPr>
          <a:xfrm>
            <a:off x="2295144" y="3346704"/>
            <a:ext cx="256032" cy="256032"/>
          </a:xfrm>
          <a:prstGeom prst="rect">
            <a:avLst/>
          </a:prstGeom>
        </p:spPr>
      </p:pic>
      <p:sp>
        <p:nvSpPr>
          <p:cNvPr id="16" name="Text 12"/>
          <p:cNvSpPr txBox="1"/>
          <p:nvPr/>
        </p:nvSpPr>
        <p:spPr>
          <a:xfrm>
            <a:off x="2834640" y="3163824"/>
            <a:ext cx="7132320" cy="36576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MAF Coding Agent  →  the LLM</a:t>
            </a:r>
            <a:endParaRPr lang="en-US" sz="1400" dirty="0"/>
          </a:p>
        </p:txBody>
      </p:sp>
      <p:sp>
        <p:nvSpPr>
          <p:cNvPr id="17" name="Text 13"/>
          <p:cNvSpPr txBox="1"/>
          <p:nvPr/>
        </p:nvSpPr>
        <p:spPr>
          <a:xfrm>
            <a:off x="2834640" y="3529584"/>
            <a:ext cx="7132320" cy="292608"/>
          </a:xfrm>
          <a:prstGeom prst="rect">
            <a:avLst/>
          </a:prstGeom>
          <a:noFill/>
          <a:ln/>
        </p:spPr>
        <p:txBody>
          <a:bodyPr wrap="square" lIns="0" tIns="0" rIns="0" bIns="0" rtlCol="0" anchor="ctr"/>
          <a:lstStyle/>
          <a:p>
            <a:pPr indent="0" marL="0">
              <a:buNone/>
            </a:pPr>
            <a:r>
              <a:rPr lang="en-US" sz="1050" i="1" dirty="0">
                <a:solidFill>
                  <a:srgbClr val="FFFFFF"/>
                </a:solidFill>
                <a:latin typeface="Calibri" pitchFamily="34" charset="0"/>
                <a:ea typeface="Calibri" pitchFamily="34" charset="-122"/>
                <a:cs typeface="Calibri" pitchFamily="34" charset="-120"/>
              </a:rPr>
              <a:t>one agent, and only ever one — no manager, planner or reviewer agents</a:t>
            </a:r>
            <a:endParaRPr lang="en-US" sz="1050" dirty="0"/>
          </a:p>
        </p:txBody>
      </p:sp>
      <p:sp>
        <p:nvSpPr>
          <p:cNvPr id="18" name="Text 14"/>
          <p:cNvSpPr txBox="1"/>
          <p:nvPr/>
        </p:nvSpPr>
        <p:spPr>
          <a:xfrm>
            <a:off x="5852160" y="3886200"/>
            <a:ext cx="457200" cy="219456"/>
          </a:xfrm>
          <a:prstGeom prst="rect">
            <a:avLst/>
          </a:prstGeom>
          <a:noFill/>
          <a:ln/>
        </p:spPr>
        <p:txBody>
          <a:bodyPr wrap="square" lIns="0" tIns="0" rIns="0" bIns="0" rtlCol="0" anchor="ctr"/>
          <a:lstStyle/>
          <a:p>
            <a:pPr algn="ctr" indent="0" marL="0">
              <a:buNone/>
            </a:pPr>
            <a:r>
              <a:rPr lang="en-US" sz="1800" b="1" dirty="0">
                <a:solidFill>
                  <a:srgbClr val="1E2761"/>
                </a:solidFill>
                <a:latin typeface="Calibri" pitchFamily="34" charset="0"/>
                <a:ea typeface="Calibri" pitchFamily="34" charset="-122"/>
                <a:cs typeface="Calibri" pitchFamily="34" charset="-120"/>
              </a:rPr>
              <a:t>↓</a:t>
            </a:r>
            <a:endParaRPr lang="en-US" sz="1800" dirty="0"/>
          </a:p>
        </p:txBody>
      </p:sp>
      <p:sp>
        <p:nvSpPr>
          <p:cNvPr id="19" name="Shape 15"/>
          <p:cNvSpPr/>
          <p:nvPr/>
        </p:nvSpPr>
        <p:spPr>
          <a:xfrm>
            <a:off x="1965960" y="4123944"/>
            <a:ext cx="8229600" cy="868680"/>
          </a:xfrm>
          <a:prstGeom prst="roundRect">
            <a:avLst>
              <a:gd name="adj" fmla="val 8421"/>
            </a:avLst>
          </a:prstGeom>
          <a:solidFill>
            <a:srgbClr val="1E2761"/>
          </a:solidFill>
          <a:ln/>
        </p:spPr>
      </p:sp>
      <p:sp>
        <p:nvSpPr>
          <p:cNvPr id="20" name="Shape 16"/>
          <p:cNvSpPr/>
          <p:nvPr/>
        </p:nvSpPr>
        <p:spPr>
          <a:xfrm>
            <a:off x="2167128" y="4343400"/>
            <a:ext cx="512064" cy="512064"/>
          </a:xfrm>
          <a:prstGeom prst="ellipse">
            <a:avLst/>
          </a:prstGeom>
          <a:solidFill>
            <a:srgbClr val="3FBFB0"/>
          </a:solidFill>
          <a:ln/>
        </p:spPr>
      </p:sp>
      <p:pic>
        <p:nvPicPr>
          <p:cNvPr id="21" name="Image 2" descr="preencoded.png">    </p:cNvPr>
          <p:cNvPicPr>
            <a:picLocks noChangeAspect="1"/>
          </p:cNvPicPr>
          <p:nvPr/>
        </p:nvPicPr>
        <p:blipFill>
          <a:blip r:embed="rId3"/>
          <a:stretch>
            <a:fillRect/>
          </a:stretch>
        </p:blipFill>
        <p:spPr>
          <a:xfrm>
            <a:off x="2295144" y="4471416"/>
            <a:ext cx="256032" cy="256032"/>
          </a:xfrm>
          <a:prstGeom prst="rect">
            <a:avLst/>
          </a:prstGeom>
        </p:spPr>
      </p:pic>
      <p:sp>
        <p:nvSpPr>
          <p:cNvPr id="22" name="Text 17"/>
          <p:cNvSpPr txBox="1"/>
          <p:nvPr/>
        </p:nvSpPr>
        <p:spPr>
          <a:xfrm>
            <a:off x="2834640" y="4288536"/>
            <a:ext cx="7132320" cy="36576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Tool request  →  C# tool  →  tool result</a:t>
            </a:r>
            <a:endParaRPr lang="en-US" sz="1400" dirty="0"/>
          </a:p>
        </p:txBody>
      </p:sp>
      <p:sp>
        <p:nvSpPr>
          <p:cNvPr id="23" name="Text 18"/>
          <p:cNvSpPr txBox="1"/>
          <p:nvPr/>
        </p:nvSpPr>
        <p:spPr>
          <a:xfrm>
            <a:off x="2834640" y="4654296"/>
            <a:ext cx="7132320" cy="292608"/>
          </a:xfrm>
          <a:prstGeom prst="rect">
            <a:avLst/>
          </a:prstGeom>
          <a:noFill/>
          <a:ln/>
        </p:spPr>
        <p:txBody>
          <a:bodyPr wrap="square" lIns="0" tIns="0" rIns="0" bIns="0" rtlCol="0" anchor="ctr"/>
          <a:lstStyle/>
          <a:p>
            <a:pPr indent="0" marL="0">
              <a:buNone/>
            </a:pPr>
            <a:r>
              <a:rPr lang="en-US" sz="1050" i="1" dirty="0">
                <a:solidFill>
                  <a:srgbClr val="CADCFC"/>
                </a:solidFill>
                <a:latin typeface="Calibri" pitchFamily="34" charset="0"/>
                <a:ea typeface="Calibri" pitchFamily="34" charset="-122"/>
                <a:cs typeface="Calibri" pitchFamily="34" charset="-120"/>
              </a:rPr>
              <a:t>Workspace, Shell and Git — the agent never touches a file or a process directly</a:t>
            </a:r>
            <a:endParaRPr lang="en-US" sz="1050" dirty="0"/>
          </a:p>
        </p:txBody>
      </p:sp>
      <p:sp>
        <p:nvSpPr>
          <p:cNvPr id="24" name="Text 19"/>
          <p:cNvSpPr txBox="1"/>
          <p:nvPr/>
        </p:nvSpPr>
        <p:spPr>
          <a:xfrm>
            <a:off x="5852160" y="5010912"/>
            <a:ext cx="457200" cy="219456"/>
          </a:xfrm>
          <a:prstGeom prst="rect">
            <a:avLst/>
          </a:prstGeom>
          <a:noFill/>
          <a:ln/>
        </p:spPr>
        <p:txBody>
          <a:bodyPr wrap="square" lIns="0" tIns="0" rIns="0" bIns="0" rtlCol="0" anchor="ctr"/>
          <a:lstStyle/>
          <a:p>
            <a:pPr algn="ctr" indent="0" marL="0">
              <a:buNone/>
            </a:pPr>
            <a:r>
              <a:rPr lang="en-US" sz="1800" b="1" dirty="0">
                <a:solidFill>
                  <a:srgbClr val="1E2761"/>
                </a:solidFill>
                <a:latin typeface="Calibri" pitchFamily="34" charset="0"/>
                <a:ea typeface="Calibri" pitchFamily="34" charset="-122"/>
                <a:cs typeface="Calibri" pitchFamily="34" charset="-120"/>
              </a:rPr>
              <a:t>↓</a:t>
            </a:r>
            <a:endParaRPr lang="en-US" sz="1800" dirty="0"/>
          </a:p>
        </p:txBody>
      </p:sp>
      <p:sp>
        <p:nvSpPr>
          <p:cNvPr id="25" name="Shape 20"/>
          <p:cNvSpPr/>
          <p:nvPr/>
        </p:nvSpPr>
        <p:spPr>
          <a:xfrm>
            <a:off x="1965960" y="5248656"/>
            <a:ext cx="8229600" cy="868680"/>
          </a:xfrm>
          <a:prstGeom prst="roundRect">
            <a:avLst>
              <a:gd name="adj" fmla="val 8421"/>
            </a:avLst>
          </a:prstGeom>
          <a:solidFill>
            <a:srgbClr val="1E2761"/>
          </a:solidFill>
          <a:ln/>
        </p:spPr>
      </p:sp>
      <p:sp>
        <p:nvSpPr>
          <p:cNvPr id="26" name="Shape 21"/>
          <p:cNvSpPr/>
          <p:nvPr/>
        </p:nvSpPr>
        <p:spPr>
          <a:xfrm>
            <a:off x="2167128" y="5468112"/>
            <a:ext cx="512064" cy="512064"/>
          </a:xfrm>
          <a:prstGeom prst="ellipse">
            <a:avLst/>
          </a:prstGeom>
          <a:solidFill>
            <a:srgbClr val="3FBFB0"/>
          </a:solidFill>
          <a:ln/>
        </p:spPr>
      </p:sp>
      <p:pic>
        <p:nvPicPr>
          <p:cNvPr id="27" name="Image 3" descr="preencoded.png">    </p:cNvPr>
          <p:cNvPicPr>
            <a:picLocks noChangeAspect="1"/>
          </p:cNvPicPr>
          <p:nvPr/>
        </p:nvPicPr>
        <p:blipFill>
          <a:blip r:embed="rId4"/>
          <a:stretch>
            <a:fillRect/>
          </a:stretch>
        </p:blipFill>
        <p:spPr>
          <a:xfrm>
            <a:off x="2295144" y="5596128"/>
            <a:ext cx="256032" cy="256032"/>
          </a:xfrm>
          <a:prstGeom prst="rect">
            <a:avLst/>
          </a:prstGeom>
        </p:spPr>
      </p:pic>
      <p:sp>
        <p:nvSpPr>
          <p:cNvPr id="28" name="Text 22"/>
          <p:cNvSpPr txBox="1"/>
          <p:nvPr/>
        </p:nvSpPr>
        <p:spPr>
          <a:xfrm>
            <a:off x="2834640" y="5413248"/>
            <a:ext cx="7132320" cy="36576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back to the Coding Agent  →  repeat</a:t>
            </a:r>
            <a:endParaRPr lang="en-US" sz="1400" dirty="0"/>
          </a:p>
        </p:txBody>
      </p:sp>
      <p:sp>
        <p:nvSpPr>
          <p:cNvPr id="29" name="Text 23"/>
          <p:cNvSpPr txBox="1"/>
          <p:nvPr/>
        </p:nvSpPr>
        <p:spPr>
          <a:xfrm>
            <a:off x="2834640" y="5779008"/>
            <a:ext cx="7132320" cy="292608"/>
          </a:xfrm>
          <a:prstGeom prst="rect">
            <a:avLst/>
          </a:prstGeom>
          <a:noFill/>
          <a:ln/>
        </p:spPr>
        <p:txBody>
          <a:bodyPr wrap="square" lIns="0" tIns="0" rIns="0" bIns="0" rtlCol="0" anchor="ctr"/>
          <a:lstStyle/>
          <a:p>
            <a:pPr indent="0" marL="0">
              <a:buNone/>
            </a:pPr>
            <a:r>
              <a:rPr lang="en-US" sz="1050" i="1" dirty="0">
                <a:solidFill>
                  <a:srgbClr val="CADCFC"/>
                </a:solidFill>
                <a:latin typeface="Calibri" pitchFamily="34" charset="0"/>
                <a:ea typeface="Calibri" pitchFamily="34" charset="-122"/>
                <a:cs typeface="Calibri" pitchFamily="34" charset="-120"/>
              </a:rPr>
              <a:t>until the LLM produces a final answer instead of another tool request</a:t>
            </a:r>
            <a:endParaRPr lang="en-US" sz="1050" dirty="0"/>
          </a:p>
        </p:txBody>
      </p:sp>
      <p:sp>
        <p:nvSpPr>
          <p:cNvPr id="30" name="Shape 24"/>
          <p:cNvSpPr/>
          <p:nvPr/>
        </p:nvSpPr>
        <p:spPr>
          <a:xfrm>
            <a:off x="548640" y="6345936"/>
            <a:ext cx="11064240" cy="868680"/>
          </a:xfrm>
          <a:prstGeom prst="roundRect">
            <a:avLst>
              <a:gd name="adj" fmla="val 10526"/>
            </a:avLst>
          </a:prstGeom>
          <a:solidFill>
            <a:srgbClr val="141B49"/>
          </a:solidFill>
          <a:ln w="12700">
            <a:solidFill>
              <a:srgbClr val="3FBFB0"/>
            </a:solidFill>
            <a:prstDash val="solid"/>
          </a:ln>
        </p:spPr>
      </p:sp>
      <p:sp>
        <p:nvSpPr>
          <p:cNvPr id="31" name="Text 25"/>
          <p:cNvSpPr txBox="1"/>
          <p:nvPr/>
        </p:nvSpPr>
        <p:spPr>
          <a:xfrm>
            <a:off x="877824" y="6601968"/>
            <a:ext cx="10405872" cy="250952"/>
          </a:xfrm>
          <a:prstGeom prst="rect">
            <a:avLst/>
          </a:prstGeom>
          <a:noFill/>
          <a:ln/>
        </p:spPr>
        <p:txBody>
          <a:bodyPr wrap="square" lIns="0" tIns="0" rIns="0" bIns="0" rtlCol="0" anchor="t"/>
          <a:lstStyle/>
          <a:p>
            <a:pPr indent="0" marL="0">
              <a:lnSpc>
                <a:spcPts val="1400"/>
              </a:lnSpc>
              <a:buNone/>
            </a:pPr>
            <a:r>
              <a:rPr lang="en-US" sz="1050" dirty="0">
                <a:solidFill>
                  <a:srgbClr val="3FBFB0"/>
                </a:solidFill>
                <a:latin typeface="Courier New" pitchFamily="34" charset="0"/>
                <a:ea typeface="Courier New" pitchFamily="34" charset="-122"/>
                <a:cs typeface="Courier New" pitchFamily="34" charset="-120"/>
              </a:rPr>
              <a:t>Cli → Agent → Tools → { Workspace, Infrastructure }        // dependencies only ever point one way</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164592"/>
            <a:ext cx="9144000" cy="274320"/>
          </a:xfrm>
          <a:prstGeom prst="rect">
            <a:avLst/>
          </a:prstGeom>
          <a:noFill/>
          <a:ln/>
        </p:spPr>
        <p:txBody>
          <a:bodyPr wrap="square" lIns="0" tIns="0" rIns="0" bIns="0" rtlCol="0" anchor="ctr"/>
          <a:lstStyle/>
          <a:p>
            <a:pPr indent="0" marL="0">
              <a:buNone/>
            </a:pPr>
            <a:r>
              <a:rPr lang="en-US" sz="1200" b="1" spc="200" kern="0" dirty="0">
                <a:solidFill>
                  <a:srgbClr val="3FBFB0"/>
                </a:solidFill>
                <a:latin typeface="Calibri" pitchFamily="34" charset="0"/>
                <a:ea typeface="Calibri" pitchFamily="34" charset="-122"/>
                <a:cs typeface="Calibri" pitchFamily="34" charset="-120"/>
              </a:rPr>
              <a:t>LAB · THE REFERENCE DIAGRAM</a:t>
            </a:r>
            <a:endParaRPr lang="en-US" sz="1200" dirty="0"/>
          </a:p>
        </p:txBody>
      </p:sp>
      <p:sp>
        <p:nvSpPr>
          <p:cNvPr id="3" name="Text 1"/>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Five Projects, and That Is the Whole of MiniCode</a:t>
            </a:r>
            <a:endParaRPr lang="en-US" sz="3200" dirty="0"/>
          </a:p>
        </p:txBody>
      </p:sp>
      <p:sp>
        <p:nvSpPr>
          <p:cNvPr id="4" name="Text 2"/>
          <p:cNvSpPr txBox="1"/>
          <p:nvPr/>
        </p:nvSpPr>
        <p:spPr>
          <a:xfrm>
            <a:off x="457200" y="6510528"/>
            <a:ext cx="8686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MODULE 1 — UNDERSTANDING CODING AGENTS</a:t>
            </a:r>
            <a:endParaRPr lang="en-US" sz="900" dirty="0"/>
          </a:p>
        </p:txBody>
      </p:sp>
      <p:sp>
        <p:nvSpPr>
          <p:cNvPr id="5" name="Text 3"/>
          <p:cNvSpPr txBox="1"/>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
        <p:nvSpPr>
          <p:cNvPr id="6" name="Shape 4"/>
          <p:cNvSpPr/>
          <p:nvPr/>
        </p:nvSpPr>
        <p:spPr>
          <a:xfrm>
            <a:off x="548640" y="1554480"/>
            <a:ext cx="11064240" cy="384048"/>
          </a:xfrm>
          <a:prstGeom prst="rect">
            <a:avLst/>
          </a:prstGeom>
          <a:solidFill>
            <a:srgbClr val="1E2761"/>
          </a:solidFill>
          <a:ln/>
        </p:spPr>
      </p:sp>
      <p:sp>
        <p:nvSpPr>
          <p:cNvPr id="7" name="Text 5"/>
          <p:cNvSpPr txBox="1"/>
          <p:nvPr/>
        </p:nvSpPr>
        <p:spPr>
          <a:xfrm>
            <a:off x="676656" y="1554480"/>
            <a:ext cx="1664208" cy="384048"/>
          </a:xfrm>
          <a:prstGeom prst="rect">
            <a:avLst/>
          </a:prstGeom>
          <a:noFill/>
          <a:ln/>
        </p:spPr>
        <p:txBody>
          <a:bodyPr wrap="square" lIns="0" tIns="0" rIns="0" bIns="0" rtlCol="0" anchor="ctr"/>
          <a:lstStyle/>
          <a:p>
            <a:pPr indent="0" marL="0">
              <a:buNone/>
            </a:pPr>
            <a:r>
              <a:rPr lang="en-US" sz="1100" b="1" dirty="0">
                <a:solidFill>
                  <a:srgbClr val="FFFFFF"/>
                </a:solidFill>
                <a:latin typeface="Cambria" pitchFamily="34" charset="0"/>
                <a:ea typeface="Cambria" pitchFamily="34" charset="-122"/>
                <a:cs typeface="Cambria" pitchFamily="34" charset="-120"/>
              </a:rPr>
              <a:t>Component</a:t>
            </a:r>
            <a:endParaRPr lang="en-US" sz="1100" dirty="0"/>
          </a:p>
        </p:txBody>
      </p:sp>
      <p:sp>
        <p:nvSpPr>
          <p:cNvPr id="8" name="Text 6"/>
          <p:cNvSpPr txBox="1"/>
          <p:nvPr/>
        </p:nvSpPr>
        <p:spPr>
          <a:xfrm>
            <a:off x="2596896" y="1554480"/>
            <a:ext cx="2258568" cy="384048"/>
          </a:xfrm>
          <a:prstGeom prst="rect">
            <a:avLst/>
          </a:prstGeom>
          <a:noFill/>
          <a:ln/>
        </p:spPr>
        <p:txBody>
          <a:bodyPr wrap="square" lIns="0" tIns="0" rIns="0" bIns="0" rtlCol="0" anchor="ctr"/>
          <a:lstStyle/>
          <a:p>
            <a:pPr indent="0" marL="0">
              <a:buNone/>
            </a:pPr>
            <a:r>
              <a:rPr lang="en-US" sz="1100" b="1" dirty="0">
                <a:solidFill>
                  <a:srgbClr val="FFFFFF"/>
                </a:solidFill>
                <a:latin typeface="Cambria" pitchFamily="34" charset="0"/>
                <a:ea typeface="Cambria" pitchFamily="34" charset="-122"/>
                <a:cs typeface="Cambria" pitchFamily="34" charset="-120"/>
              </a:rPr>
              <a:t>Owning project</a:t>
            </a:r>
            <a:endParaRPr lang="en-US" sz="1100" dirty="0"/>
          </a:p>
        </p:txBody>
      </p:sp>
      <p:sp>
        <p:nvSpPr>
          <p:cNvPr id="9" name="Text 7"/>
          <p:cNvSpPr txBox="1"/>
          <p:nvPr/>
        </p:nvSpPr>
        <p:spPr>
          <a:xfrm>
            <a:off x="5111496" y="1554480"/>
            <a:ext cx="6373368" cy="384048"/>
          </a:xfrm>
          <a:prstGeom prst="rect">
            <a:avLst/>
          </a:prstGeom>
          <a:noFill/>
          <a:ln/>
        </p:spPr>
        <p:txBody>
          <a:bodyPr wrap="square" lIns="0" tIns="0" rIns="0" bIns="0" rtlCol="0" anchor="ctr"/>
          <a:lstStyle/>
          <a:p>
            <a:pPr indent="0" marL="0">
              <a:buNone/>
            </a:pPr>
            <a:r>
              <a:rPr lang="en-US" sz="1100" b="1" dirty="0">
                <a:solidFill>
                  <a:srgbClr val="FFFFFF"/>
                </a:solidFill>
                <a:latin typeface="Cambria" pitchFamily="34" charset="0"/>
                <a:ea typeface="Cambria" pitchFamily="34" charset="-122"/>
                <a:cs typeface="Cambria" pitchFamily="34" charset="-120"/>
              </a:rPr>
              <a:t>Responsibility</a:t>
            </a:r>
            <a:endParaRPr lang="en-US" sz="1100" dirty="0"/>
          </a:p>
        </p:txBody>
      </p:sp>
      <p:sp>
        <p:nvSpPr>
          <p:cNvPr id="10" name="Shape 8"/>
          <p:cNvSpPr/>
          <p:nvPr/>
        </p:nvSpPr>
        <p:spPr>
          <a:xfrm>
            <a:off x="548640" y="1938528"/>
            <a:ext cx="11064240" cy="713232"/>
          </a:xfrm>
          <a:prstGeom prst="rect">
            <a:avLst/>
          </a:prstGeom>
          <a:solidFill>
            <a:srgbClr val="F4F6FB"/>
          </a:solidFill>
          <a:ln/>
        </p:spPr>
      </p:sp>
      <p:sp>
        <p:nvSpPr>
          <p:cNvPr id="11" name="Text 9"/>
          <p:cNvSpPr txBox="1"/>
          <p:nvPr/>
        </p:nvSpPr>
        <p:spPr>
          <a:xfrm>
            <a:off x="676656" y="1938528"/>
            <a:ext cx="1664208" cy="713232"/>
          </a:xfrm>
          <a:prstGeom prst="rect">
            <a:avLst/>
          </a:prstGeom>
          <a:noFill/>
          <a:ln/>
        </p:spPr>
        <p:txBody>
          <a:bodyPr wrap="square" lIns="0" tIns="0" rIns="0" bIns="0" rtlCol="0" anchor="ctr"/>
          <a:lstStyle/>
          <a:p>
            <a:pPr indent="0" marL="0">
              <a:buNone/>
            </a:pPr>
            <a:r>
              <a:rPr lang="en-US" sz="1050" dirty="0">
                <a:solidFill>
                  <a:srgbClr val="2A2F45"/>
                </a:solidFill>
                <a:latin typeface="Calibri" pitchFamily="34" charset="0"/>
                <a:ea typeface="Calibri" pitchFamily="34" charset="-122"/>
                <a:cs typeface="Calibri" pitchFamily="34" charset="-120"/>
              </a:rPr>
              <a:t>MiniCode CLI</a:t>
            </a:r>
            <a:endParaRPr lang="en-US" sz="1050" dirty="0"/>
          </a:p>
        </p:txBody>
      </p:sp>
      <p:sp>
        <p:nvSpPr>
          <p:cNvPr id="12" name="Text 10"/>
          <p:cNvSpPr txBox="1"/>
          <p:nvPr/>
        </p:nvSpPr>
        <p:spPr>
          <a:xfrm>
            <a:off x="2596896" y="1938528"/>
            <a:ext cx="2258568" cy="713232"/>
          </a:xfrm>
          <a:prstGeom prst="rect">
            <a:avLst/>
          </a:prstGeom>
          <a:noFill/>
          <a:ln/>
        </p:spPr>
        <p:txBody>
          <a:bodyPr wrap="square" lIns="0" tIns="0" rIns="0" bIns="0" rtlCol="0" anchor="ctr"/>
          <a:lstStyle/>
          <a:p>
            <a:pPr indent="0" marL="0">
              <a:buNone/>
            </a:pPr>
            <a:r>
              <a:rPr lang="en-US" sz="900" dirty="0">
                <a:solidFill>
                  <a:srgbClr val="3FBFB0"/>
                </a:solidFill>
                <a:latin typeface="Courier New" pitchFamily="34" charset="0"/>
                <a:ea typeface="Courier New" pitchFamily="34" charset="-122"/>
                <a:cs typeface="Courier New" pitchFamily="34" charset="-120"/>
              </a:rPr>
              <a:t>MiniCode.Cli</a:t>
            </a:r>
            <a:endParaRPr lang="en-US" sz="900" dirty="0"/>
          </a:p>
        </p:txBody>
      </p:sp>
      <p:sp>
        <p:nvSpPr>
          <p:cNvPr id="13" name="Text 11"/>
          <p:cNvSpPr txBox="1"/>
          <p:nvPr/>
        </p:nvSpPr>
        <p:spPr>
          <a:xfrm>
            <a:off x="5111496" y="1938528"/>
            <a:ext cx="6373368" cy="713232"/>
          </a:xfrm>
          <a:prstGeom prst="rect">
            <a:avLst/>
          </a:prstGeom>
          <a:noFill/>
          <a:ln/>
        </p:spPr>
        <p:txBody>
          <a:bodyPr wrap="square" lIns="0" tIns="0" rIns="0" bIns="0" rtlCol="0" anchor="ctr"/>
          <a:lstStyle/>
          <a:p>
            <a:pPr indent="0" marL="0">
              <a:buNone/>
            </a:pPr>
            <a:r>
              <a:rPr lang="en-US" sz="1050" dirty="0">
                <a:solidFill>
                  <a:srgbClr val="2A2F45"/>
                </a:solidFill>
                <a:latin typeface="Calibri" pitchFamily="34" charset="0"/>
                <a:ea typeface="Calibri" pitchFamily="34" charset="-122"/>
                <a:cs typeface="Calibri" pitchFamily="34" charset="-120"/>
              </a:rPr>
              <a:t>Terminal interface — accepts requests, streams activity, prompts for approvals. Holds no business logic.</a:t>
            </a:r>
            <a:endParaRPr lang="en-US" sz="1050" dirty="0"/>
          </a:p>
        </p:txBody>
      </p:sp>
      <p:sp>
        <p:nvSpPr>
          <p:cNvPr id="14" name="Shape 12"/>
          <p:cNvSpPr/>
          <p:nvPr/>
        </p:nvSpPr>
        <p:spPr>
          <a:xfrm>
            <a:off x="548640" y="2651760"/>
            <a:ext cx="11064240" cy="713232"/>
          </a:xfrm>
          <a:prstGeom prst="rect">
            <a:avLst/>
          </a:prstGeom>
          <a:solidFill>
            <a:srgbClr val="FFFFFF"/>
          </a:solidFill>
          <a:ln/>
        </p:spPr>
      </p:sp>
      <p:sp>
        <p:nvSpPr>
          <p:cNvPr id="15" name="Text 13"/>
          <p:cNvSpPr txBox="1"/>
          <p:nvPr/>
        </p:nvSpPr>
        <p:spPr>
          <a:xfrm>
            <a:off x="676656" y="2651760"/>
            <a:ext cx="1664208" cy="713232"/>
          </a:xfrm>
          <a:prstGeom prst="rect">
            <a:avLst/>
          </a:prstGeom>
          <a:noFill/>
          <a:ln/>
        </p:spPr>
        <p:txBody>
          <a:bodyPr wrap="square" lIns="0" tIns="0" rIns="0" bIns="0" rtlCol="0" anchor="ctr"/>
          <a:lstStyle/>
          <a:p>
            <a:pPr indent="0" marL="0">
              <a:buNone/>
            </a:pPr>
            <a:r>
              <a:rPr lang="en-US" sz="1050" dirty="0">
                <a:solidFill>
                  <a:srgbClr val="2A2F45"/>
                </a:solidFill>
                <a:latin typeface="Calibri" pitchFamily="34" charset="0"/>
                <a:ea typeface="Calibri" pitchFamily="34" charset="-122"/>
                <a:cs typeface="Calibri" pitchFamily="34" charset="-120"/>
              </a:rPr>
              <a:t>MAF Coding Agent</a:t>
            </a:r>
            <a:endParaRPr lang="en-US" sz="1050" dirty="0"/>
          </a:p>
        </p:txBody>
      </p:sp>
      <p:sp>
        <p:nvSpPr>
          <p:cNvPr id="16" name="Text 14"/>
          <p:cNvSpPr txBox="1"/>
          <p:nvPr/>
        </p:nvSpPr>
        <p:spPr>
          <a:xfrm>
            <a:off x="2596896" y="2651760"/>
            <a:ext cx="2258568" cy="713232"/>
          </a:xfrm>
          <a:prstGeom prst="rect">
            <a:avLst/>
          </a:prstGeom>
          <a:noFill/>
          <a:ln/>
        </p:spPr>
        <p:txBody>
          <a:bodyPr wrap="square" lIns="0" tIns="0" rIns="0" bIns="0" rtlCol="0" anchor="ctr"/>
          <a:lstStyle/>
          <a:p>
            <a:pPr indent="0" marL="0">
              <a:buNone/>
            </a:pPr>
            <a:r>
              <a:rPr lang="en-US" sz="900" dirty="0">
                <a:solidFill>
                  <a:srgbClr val="3FBFB0"/>
                </a:solidFill>
                <a:latin typeface="Courier New" pitchFamily="34" charset="0"/>
                <a:ea typeface="Courier New" pitchFamily="34" charset="-122"/>
                <a:cs typeface="Courier New" pitchFamily="34" charset="-120"/>
              </a:rPr>
              <a:t>MiniCode.Agent</a:t>
            </a:r>
            <a:endParaRPr lang="en-US" sz="900" dirty="0"/>
          </a:p>
        </p:txBody>
      </p:sp>
      <p:sp>
        <p:nvSpPr>
          <p:cNvPr id="17" name="Text 15"/>
          <p:cNvSpPr txBox="1"/>
          <p:nvPr/>
        </p:nvSpPr>
        <p:spPr>
          <a:xfrm>
            <a:off x="5111496" y="2651760"/>
            <a:ext cx="6373368" cy="713232"/>
          </a:xfrm>
          <a:prstGeom prst="rect">
            <a:avLst/>
          </a:prstGeom>
          <a:noFill/>
          <a:ln/>
        </p:spPr>
        <p:txBody>
          <a:bodyPr wrap="square" lIns="0" tIns="0" rIns="0" bIns="0" rtlCol="0" anchor="ctr"/>
          <a:lstStyle/>
          <a:p>
            <a:pPr indent="0" marL="0">
              <a:buNone/>
            </a:pPr>
            <a:r>
              <a:rPr lang="en-US" sz="1050" dirty="0">
                <a:solidFill>
                  <a:srgbClr val="2A2F45"/>
                </a:solidFill>
                <a:latin typeface="Calibri" pitchFamily="34" charset="0"/>
                <a:ea typeface="Calibri" pitchFamily="34" charset="-122"/>
                <a:cs typeface="Calibri" pitchFamily="34" charset="-120"/>
              </a:rPr>
              <a:t>The single CodingAgent: instructions, reasoning, tool selection, the execution loop. Never touches a file or process directly.</a:t>
            </a:r>
            <a:endParaRPr lang="en-US" sz="1050" dirty="0"/>
          </a:p>
        </p:txBody>
      </p:sp>
      <p:sp>
        <p:nvSpPr>
          <p:cNvPr id="18" name="Shape 16"/>
          <p:cNvSpPr/>
          <p:nvPr/>
        </p:nvSpPr>
        <p:spPr>
          <a:xfrm>
            <a:off x="548640" y="3364992"/>
            <a:ext cx="11064240" cy="713232"/>
          </a:xfrm>
          <a:prstGeom prst="rect">
            <a:avLst/>
          </a:prstGeom>
          <a:solidFill>
            <a:srgbClr val="F4F6FB"/>
          </a:solidFill>
          <a:ln/>
        </p:spPr>
      </p:sp>
      <p:sp>
        <p:nvSpPr>
          <p:cNvPr id="19" name="Text 17"/>
          <p:cNvSpPr txBox="1"/>
          <p:nvPr/>
        </p:nvSpPr>
        <p:spPr>
          <a:xfrm>
            <a:off x="676656" y="3364992"/>
            <a:ext cx="1664208" cy="713232"/>
          </a:xfrm>
          <a:prstGeom prst="rect">
            <a:avLst/>
          </a:prstGeom>
          <a:noFill/>
          <a:ln/>
        </p:spPr>
        <p:txBody>
          <a:bodyPr wrap="square" lIns="0" tIns="0" rIns="0" bIns="0" rtlCol="0" anchor="ctr"/>
          <a:lstStyle/>
          <a:p>
            <a:pPr indent="0" marL="0">
              <a:buNone/>
            </a:pPr>
            <a:r>
              <a:rPr lang="en-US" sz="1050" dirty="0">
                <a:solidFill>
                  <a:srgbClr val="2A2F45"/>
                </a:solidFill>
                <a:latin typeface="Calibri" pitchFamily="34" charset="0"/>
                <a:ea typeface="Calibri" pitchFamily="34" charset="-122"/>
                <a:cs typeface="Calibri" pitchFamily="34" charset="-120"/>
              </a:rPr>
              <a:t>Tool Invocation</a:t>
            </a:r>
            <a:endParaRPr lang="en-US" sz="1050" dirty="0"/>
          </a:p>
        </p:txBody>
      </p:sp>
      <p:sp>
        <p:nvSpPr>
          <p:cNvPr id="20" name="Text 18"/>
          <p:cNvSpPr txBox="1"/>
          <p:nvPr/>
        </p:nvSpPr>
        <p:spPr>
          <a:xfrm>
            <a:off x="2596896" y="3364992"/>
            <a:ext cx="2258568" cy="713232"/>
          </a:xfrm>
          <a:prstGeom prst="rect">
            <a:avLst/>
          </a:prstGeom>
          <a:noFill/>
          <a:ln/>
        </p:spPr>
        <p:txBody>
          <a:bodyPr wrap="square" lIns="0" tIns="0" rIns="0" bIns="0" rtlCol="0" anchor="ctr"/>
          <a:lstStyle/>
          <a:p>
            <a:pPr indent="0" marL="0">
              <a:buNone/>
            </a:pPr>
            <a:r>
              <a:rPr lang="en-US" sz="900" dirty="0">
                <a:solidFill>
                  <a:srgbClr val="3FBFB0"/>
                </a:solidFill>
                <a:latin typeface="Courier New" pitchFamily="34" charset="0"/>
                <a:ea typeface="Courier New" pitchFamily="34" charset="-122"/>
                <a:cs typeface="Courier New" pitchFamily="34" charset="-120"/>
              </a:rPr>
              <a:t>MiniCode.Tools</a:t>
            </a:r>
            <a:endParaRPr lang="en-US" sz="900" dirty="0"/>
          </a:p>
        </p:txBody>
      </p:sp>
      <p:sp>
        <p:nvSpPr>
          <p:cNvPr id="21" name="Text 19"/>
          <p:cNvSpPr txBox="1"/>
          <p:nvPr/>
        </p:nvSpPr>
        <p:spPr>
          <a:xfrm>
            <a:off x="5111496" y="3364992"/>
            <a:ext cx="6373368" cy="713232"/>
          </a:xfrm>
          <a:prstGeom prst="rect">
            <a:avLst/>
          </a:prstGeom>
          <a:noFill/>
          <a:ln/>
        </p:spPr>
        <p:txBody>
          <a:bodyPr wrap="square" lIns="0" tIns="0" rIns="0" bIns="0" rtlCol="0" anchor="ctr"/>
          <a:lstStyle/>
          <a:p>
            <a:pPr indent="0" marL="0">
              <a:buNone/>
            </a:pPr>
            <a:r>
              <a:rPr lang="en-US" sz="1050" dirty="0">
                <a:solidFill>
                  <a:srgbClr val="2A2F45"/>
                </a:solidFill>
                <a:latin typeface="Calibri" pitchFamily="34" charset="0"/>
                <a:ea typeface="Calibri" pitchFamily="34" charset="-122"/>
                <a:cs typeface="Calibri" pitchFamily="34" charset="-120"/>
              </a:rPr>
              <a:t>Defines each capability as a tool, dispatches the call, shapes the result into text. The tools do no real work.</a:t>
            </a:r>
            <a:endParaRPr lang="en-US" sz="1050" dirty="0"/>
          </a:p>
        </p:txBody>
      </p:sp>
      <p:sp>
        <p:nvSpPr>
          <p:cNvPr id="22" name="Shape 20"/>
          <p:cNvSpPr/>
          <p:nvPr/>
        </p:nvSpPr>
        <p:spPr>
          <a:xfrm>
            <a:off x="548640" y="4078224"/>
            <a:ext cx="11064240" cy="713232"/>
          </a:xfrm>
          <a:prstGeom prst="rect">
            <a:avLst/>
          </a:prstGeom>
          <a:solidFill>
            <a:srgbClr val="FFFFFF"/>
          </a:solidFill>
          <a:ln/>
        </p:spPr>
      </p:sp>
      <p:sp>
        <p:nvSpPr>
          <p:cNvPr id="23" name="Text 21"/>
          <p:cNvSpPr txBox="1"/>
          <p:nvPr/>
        </p:nvSpPr>
        <p:spPr>
          <a:xfrm>
            <a:off x="676656" y="4078224"/>
            <a:ext cx="1664208" cy="713232"/>
          </a:xfrm>
          <a:prstGeom prst="rect">
            <a:avLst/>
          </a:prstGeom>
          <a:noFill/>
          <a:ln/>
        </p:spPr>
        <p:txBody>
          <a:bodyPr wrap="square" lIns="0" tIns="0" rIns="0" bIns="0" rtlCol="0" anchor="ctr"/>
          <a:lstStyle/>
          <a:p>
            <a:pPr indent="0" marL="0">
              <a:buNone/>
            </a:pPr>
            <a:r>
              <a:rPr lang="en-US" sz="1050" dirty="0">
                <a:solidFill>
                  <a:srgbClr val="2A2F45"/>
                </a:solidFill>
                <a:latin typeface="Calibri" pitchFamily="34" charset="0"/>
                <a:ea typeface="Calibri" pitchFamily="34" charset="-122"/>
                <a:cs typeface="Calibri" pitchFamily="34" charset="-120"/>
              </a:rPr>
              <a:t>Workspace</a:t>
            </a:r>
            <a:endParaRPr lang="en-US" sz="1050" dirty="0"/>
          </a:p>
        </p:txBody>
      </p:sp>
      <p:sp>
        <p:nvSpPr>
          <p:cNvPr id="24" name="Text 22"/>
          <p:cNvSpPr txBox="1"/>
          <p:nvPr/>
        </p:nvSpPr>
        <p:spPr>
          <a:xfrm>
            <a:off x="2596896" y="4078224"/>
            <a:ext cx="2258568" cy="713232"/>
          </a:xfrm>
          <a:prstGeom prst="rect">
            <a:avLst/>
          </a:prstGeom>
          <a:noFill/>
          <a:ln/>
        </p:spPr>
        <p:txBody>
          <a:bodyPr wrap="square" lIns="0" tIns="0" rIns="0" bIns="0" rtlCol="0" anchor="ctr"/>
          <a:lstStyle/>
          <a:p>
            <a:pPr indent="0" marL="0">
              <a:buNone/>
            </a:pPr>
            <a:r>
              <a:rPr lang="en-US" sz="900" dirty="0">
                <a:solidFill>
                  <a:srgbClr val="3FBFB0"/>
                </a:solidFill>
                <a:latin typeface="Courier New" pitchFamily="34" charset="0"/>
                <a:ea typeface="Courier New" pitchFamily="34" charset="-122"/>
                <a:cs typeface="Courier New" pitchFamily="34" charset="-120"/>
              </a:rPr>
              <a:t>MiniCode.Workspace</a:t>
            </a:r>
            <a:endParaRPr lang="en-US" sz="900" dirty="0"/>
          </a:p>
        </p:txBody>
      </p:sp>
      <p:sp>
        <p:nvSpPr>
          <p:cNvPr id="25" name="Text 23"/>
          <p:cNvSpPr txBox="1"/>
          <p:nvPr/>
        </p:nvSpPr>
        <p:spPr>
          <a:xfrm>
            <a:off x="5111496" y="4078224"/>
            <a:ext cx="6373368" cy="713232"/>
          </a:xfrm>
          <a:prstGeom prst="rect">
            <a:avLst/>
          </a:prstGeom>
          <a:noFill/>
          <a:ln/>
        </p:spPr>
        <p:txBody>
          <a:bodyPr wrap="square" lIns="0" tIns="0" rIns="0" bIns="0" rtlCol="0" anchor="ctr"/>
          <a:lstStyle/>
          <a:p>
            <a:pPr indent="0" marL="0">
              <a:buNone/>
            </a:pPr>
            <a:r>
              <a:rPr lang="en-US" sz="1050" dirty="0">
                <a:solidFill>
                  <a:srgbClr val="2A2F45"/>
                </a:solidFill>
                <a:latin typeface="Calibri" pitchFamily="34" charset="0"/>
                <a:ea typeface="Calibri" pitchFamily="34" charset="-122"/>
                <a:cs typeface="Calibri" pitchFamily="34" charset="-120"/>
              </a:rPr>
              <a:t>The sandbox boundary: path validation scoped to the root, plus read/search/edit primitives, ignore rules, binary detection.</a:t>
            </a:r>
            <a:endParaRPr lang="en-US" sz="1050" dirty="0"/>
          </a:p>
        </p:txBody>
      </p:sp>
      <p:sp>
        <p:nvSpPr>
          <p:cNvPr id="26" name="Shape 24"/>
          <p:cNvSpPr/>
          <p:nvPr/>
        </p:nvSpPr>
        <p:spPr>
          <a:xfrm>
            <a:off x="548640" y="4791456"/>
            <a:ext cx="11064240" cy="713232"/>
          </a:xfrm>
          <a:prstGeom prst="rect">
            <a:avLst/>
          </a:prstGeom>
          <a:solidFill>
            <a:srgbClr val="F4F6FB"/>
          </a:solidFill>
          <a:ln/>
        </p:spPr>
      </p:sp>
      <p:sp>
        <p:nvSpPr>
          <p:cNvPr id="27" name="Text 25"/>
          <p:cNvSpPr txBox="1"/>
          <p:nvPr/>
        </p:nvSpPr>
        <p:spPr>
          <a:xfrm>
            <a:off x="676656" y="4791456"/>
            <a:ext cx="1664208" cy="713232"/>
          </a:xfrm>
          <a:prstGeom prst="rect">
            <a:avLst/>
          </a:prstGeom>
          <a:noFill/>
          <a:ln/>
        </p:spPr>
        <p:txBody>
          <a:bodyPr wrap="square" lIns="0" tIns="0" rIns="0" bIns="0" rtlCol="0" anchor="ctr"/>
          <a:lstStyle/>
          <a:p>
            <a:pPr indent="0" marL="0">
              <a:buNone/>
            </a:pPr>
            <a:r>
              <a:rPr lang="en-US" sz="1050" dirty="0">
                <a:solidFill>
                  <a:srgbClr val="2A2F45"/>
                </a:solidFill>
                <a:latin typeface="Calibri" pitchFamily="34" charset="0"/>
                <a:ea typeface="Calibri" pitchFamily="34" charset="-122"/>
                <a:cs typeface="Calibri" pitchFamily="34" charset="-120"/>
              </a:rPr>
              <a:t>Shell</a:t>
            </a:r>
            <a:endParaRPr lang="en-US" sz="1050" dirty="0"/>
          </a:p>
        </p:txBody>
      </p:sp>
      <p:sp>
        <p:nvSpPr>
          <p:cNvPr id="28" name="Text 26"/>
          <p:cNvSpPr txBox="1"/>
          <p:nvPr/>
        </p:nvSpPr>
        <p:spPr>
          <a:xfrm>
            <a:off x="2596896" y="4791456"/>
            <a:ext cx="2258568" cy="713232"/>
          </a:xfrm>
          <a:prstGeom prst="rect">
            <a:avLst/>
          </a:prstGeom>
          <a:noFill/>
          <a:ln/>
        </p:spPr>
        <p:txBody>
          <a:bodyPr wrap="square" lIns="0" tIns="0" rIns="0" bIns="0" rtlCol="0" anchor="ctr"/>
          <a:lstStyle/>
          <a:p>
            <a:pPr indent="0" marL="0">
              <a:buNone/>
            </a:pPr>
            <a:r>
              <a:rPr lang="en-US" sz="900" dirty="0">
                <a:solidFill>
                  <a:srgbClr val="3FBFB0"/>
                </a:solidFill>
                <a:latin typeface="Courier New" pitchFamily="34" charset="0"/>
                <a:ea typeface="Courier New" pitchFamily="34" charset="-122"/>
                <a:cs typeface="Courier New" pitchFamily="34" charset="-120"/>
              </a:rPr>
              <a:t>MiniCode.Infrastructure</a:t>
            </a:r>
            <a:endParaRPr lang="en-US" sz="900" dirty="0"/>
          </a:p>
        </p:txBody>
      </p:sp>
      <p:sp>
        <p:nvSpPr>
          <p:cNvPr id="29" name="Text 27"/>
          <p:cNvSpPr txBox="1"/>
          <p:nvPr/>
        </p:nvSpPr>
        <p:spPr>
          <a:xfrm>
            <a:off x="5111496" y="4791456"/>
            <a:ext cx="6373368" cy="713232"/>
          </a:xfrm>
          <a:prstGeom prst="rect">
            <a:avLst/>
          </a:prstGeom>
          <a:noFill/>
          <a:ln/>
        </p:spPr>
        <p:txBody>
          <a:bodyPr wrap="square" lIns="0" tIns="0" rIns="0" bIns="0" rtlCol="0" anchor="ctr"/>
          <a:lstStyle/>
          <a:p>
            <a:pPr indent="0" marL="0">
              <a:buNone/>
            </a:pPr>
            <a:r>
              <a:rPr lang="en-US" sz="1050" dirty="0">
                <a:solidFill>
                  <a:srgbClr val="2A2F45"/>
                </a:solidFill>
                <a:latin typeface="Calibri" pitchFamily="34" charset="0"/>
                <a:ea typeface="Calibri" pitchFamily="34" charset="-122"/>
                <a:cs typeface="Calibri" pitchFamily="34" charset="-120"/>
              </a:rPr>
              <a:t>Runs allowlisted commands with timeouts and cancellation, capturing stdout, stderr and exit codes.</a:t>
            </a:r>
            <a:endParaRPr lang="en-US" sz="1050" dirty="0"/>
          </a:p>
        </p:txBody>
      </p:sp>
      <p:sp>
        <p:nvSpPr>
          <p:cNvPr id="30" name="Shape 28"/>
          <p:cNvSpPr/>
          <p:nvPr/>
        </p:nvSpPr>
        <p:spPr>
          <a:xfrm>
            <a:off x="548640" y="5504688"/>
            <a:ext cx="11064240" cy="713232"/>
          </a:xfrm>
          <a:prstGeom prst="rect">
            <a:avLst/>
          </a:prstGeom>
          <a:solidFill>
            <a:srgbClr val="FFFFFF"/>
          </a:solidFill>
          <a:ln/>
        </p:spPr>
      </p:sp>
      <p:sp>
        <p:nvSpPr>
          <p:cNvPr id="31" name="Text 29"/>
          <p:cNvSpPr txBox="1"/>
          <p:nvPr/>
        </p:nvSpPr>
        <p:spPr>
          <a:xfrm>
            <a:off x="676656" y="5504688"/>
            <a:ext cx="1664208" cy="713232"/>
          </a:xfrm>
          <a:prstGeom prst="rect">
            <a:avLst/>
          </a:prstGeom>
          <a:noFill/>
          <a:ln/>
        </p:spPr>
        <p:txBody>
          <a:bodyPr wrap="square" lIns="0" tIns="0" rIns="0" bIns="0" rtlCol="0" anchor="ctr"/>
          <a:lstStyle/>
          <a:p>
            <a:pPr indent="0" marL="0">
              <a:buNone/>
            </a:pPr>
            <a:r>
              <a:rPr lang="en-US" sz="1050" dirty="0">
                <a:solidFill>
                  <a:srgbClr val="2A2F45"/>
                </a:solidFill>
                <a:latin typeface="Calibri" pitchFamily="34" charset="0"/>
                <a:ea typeface="Calibri" pitchFamily="34" charset="-122"/>
                <a:cs typeface="Calibri" pitchFamily="34" charset="-120"/>
              </a:rPr>
              <a:t>Git</a:t>
            </a:r>
            <a:endParaRPr lang="en-US" sz="1050" dirty="0"/>
          </a:p>
        </p:txBody>
      </p:sp>
      <p:sp>
        <p:nvSpPr>
          <p:cNvPr id="32" name="Text 30"/>
          <p:cNvSpPr txBox="1"/>
          <p:nvPr/>
        </p:nvSpPr>
        <p:spPr>
          <a:xfrm>
            <a:off x="2596896" y="5504688"/>
            <a:ext cx="2258568" cy="713232"/>
          </a:xfrm>
          <a:prstGeom prst="rect">
            <a:avLst/>
          </a:prstGeom>
          <a:noFill/>
          <a:ln/>
        </p:spPr>
        <p:txBody>
          <a:bodyPr wrap="square" lIns="0" tIns="0" rIns="0" bIns="0" rtlCol="0" anchor="ctr"/>
          <a:lstStyle/>
          <a:p>
            <a:pPr indent="0" marL="0">
              <a:buNone/>
            </a:pPr>
            <a:r>
              <a:rPr lang="en-US" sz="900" dirty="0">
                <a:solidFill>
                  <a:srgbClr val="3FBFB0"/>
                </a:solidFill>
                <a:latin typeface="Courier New" pitchFamily="34" charset="0"/>
                <a:ea typeface="Courier New" pitchFamily="34" charset="-122"/>
                <a:cs typeface="Courier New" pitchFamily="34" charset="-120"/>
              </a:rPr>
              <a:t>MiniCode.Infrastructure</a:t>
            </a:r>
            <a:endParaRPr lang="en-US" sz="900" dirty="0"/>
          </a:p>
        </p:txBody>
      </p:sp>
      <p:sp>
        <p:nvSpPr>
          <p:cNvPr id="33" name="Text 31"/>
          <p:cNvSpPr txBox="1"/>
          <p:nvPr/>
        </p:nvSpPr>
        <p:spPr>
          <a:xfrm>
            <a:off x="5111496" y="5504688"/>
            <a:ext cx="6373368" cy="713232"/>
          </a:xfrm>
          <a:prstGeom prst="rect">
            <a:avLst/>
          </a:prstGeom>
          <a:noFill/>
          <a:ln/>
        </p:spPr>
        <p:txBody>
          <a:bodyPr wrap="square" lIns="0" tIns="0" rIns="0" bIns="0" rtlCol="0" anchor="ctr"/>
          <a:lstStyle/>
          <a:p>
            <a:pPr indent="0" marL="0">
              <a:buNone/>
            </a:pPr>
            <a:r>
              <a:rPr lang="en-US" sz="1050" dirty="0">
                <a:solidFill>
                  <a:srgbClr val="2A2F45"/>
                </a:solidFill>
                <a:latin typeface="Calibri" pitchFamily="34" charset="0"/>
                <a:ea typeface="Calibri" pitchFamily="34" charset="-122"/>
                <a:cs typeface="Calibri" pitchFamily="34" charset="-120"/>
              </a:rPr>
              <a:t>Status, diff and log for inspection. Approval policy lives here too, gating anything that would mutate the repository.</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164592"/>
            <a:ext cx="9144000" cy="274320"/>
          </a:xfrm>
          <a:prstGeom prst="rect">
            <a:avLst/>
          </a:prstGeom>
          <a:noFill/>
          <a:ln/>
        </p:spPr>
        <p:txBody>
          <a:bodyPr wrap="square" lIns="0" tIns="0" rIns="0" bIns="0" rtlCol="0" anchor="ctr"/>
          <a:lstStyle/>
          <a:p>
            <a:pPr indent="0" marL="0">
              <a:buNone/>
            </a:pPr>
            <a:r>
              <a:rPr lang="en-US" sz="1200" b="1" spc="200" kern="0" dirty="0">
                <a:solidFill>
                  <a:srgbClr val="3FBFB0"/>
                </a:solidFill>
                <a:latin typeface="Calibri" pitchFamily="34" charset="0"/>
                <a:ea typeface="Calibri" pitchFamily="34" charset="-122"/>
                <a:cs typeface="Calibri" pitchFamily="34" charset="-120"/>
              </a:rPr>
              <a:t>WALKTHROUGH</a:t>
            </a:r>
            <a:endParaRPr lang="en-US" sz="1200" dirty="0"/>
          </a:p>
        </p:txBody>
      </p:sp>
      <p:sp>
        <p:nvSpPr>
          <p:cNvPr id="3" name="Text 1"/>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Five Things to Read Off That Diagram</a:t>
            </a:r>
            <a:endParaRPr lang="en-US" sz="2800" dirty="0"/>
          </a:p>
        </p:txBody>
      </p:sp>
      <p:sp>
        <p:nvSpPr>
          <p:cNvPr id="4" name="Text 2"/>
          <p:cNvSpPr txBox="1"/>
          <p:nvPr/>
        </p:nvSpPr>
        <p:spPr>
          <a:xfrm>
            <a:off x="457200" y="6510528"/>
            <a:ext cx="8686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MODULE 1 — UNDERSTANDING CODING AGENTS</a:t>
            </a:r>
            <a:endParaRPr lang="en-US" sz="900" dirty="0"/>
          </a:p>
        </p:txBody>
      </p:sp>
      <p:sp>
        <p:nvSpPr>
          <p:cNvPr id="5" name="Text 3"/>
          <p:cNvSpPr txBox="1"/>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548640" y="1417320"/>
            <a:ext cx="5326380" cy="1572768"/>
          </a:xfrm>
          <a:prstGeom prst="roundRect">
            <a:avLst>
              <a:gd name="adj" fmla="val 5814"/>
            </a:avLst>
          </a:prstGeom>
          <a:solidFill>
            <a:srgbClr val="1E2761"/>
          </a:solidFill>
          <a:ln w="12700">
            <a:solidFill>
              <a:srgbClr val="3FBFB0"/>
            </a:solidFill>
            <a:prstDash val="solid"/>
          </a:ln>
        </p:spPr>
      </p:sp>
      <p:sp>
        <p:nvSpPr>
          <p:cNvPr id="7" name="Shape 5"/>
          <p:cNvSpPr/>
          <p:nvPr/>
        </p:nvSpPr>
        <p:spPr>
          <a:xfrm>
            <a:off x="822960" y="1645920"/>
            <a:ext cx="384048" cy="384048"/>
          </a:xfrm>
          <a:prstGeom prst="ellipse">
            <a:avLst/>
          </a:prstGeom>
          <a:solidFill>
            <a:srgbClr val="3FBFB0"/>
          </a:solidFill>
          <a:ln/>
        </p:spPr>
      </p:sp>
      <p:sp>
        <p:nvSpPr>
          <p:cNvPr id="8" name="Text 6"/>
          <p:cNvSpPr txBox="1"/>
          <p:nvPr/>
        </p:nvSpPr>
        <p:spPr>
          <a:xfrm>
            <a:off x="822960" y="1645920"/>
            <a:ext cx="384048" cy="384048"/>
          </a:xfrm>
          <a:prstGeom prst="rect">
            <a:avLst/>
          </a:prstGeom>
          <a:noFill/>
          <a:ln/>
        </p:spPr>
        <p:txBody>
          <a:bodyPr wrap="square" lIns="0" tIns="0" rIns="0" bIns="0" rtlCol="0" anchor="ctr"/>
          <a:lstStyle/>
          <a:p>
            <a:pPr algn="ctr" indent="0" marL="0">
              <a:buNone/>
            </a:pPr>
            <a:r>
              <a:rPr lang="en-US" sz="1100" b="1" dirty="0">
                <a:solidFill>
                  <a:srgbClr val="141B49"/>
                </a:solidFill>
                <a:latin typeface="Cambria" pitchFamily="34" charset="0"/>
                <a:ea typeface="Cambria" pitchFamily="34" charset="-122"/>
                <a:cs typeface="Cambria" pitchFamily="34" charset="-120"/>
              </a:rPr>
              <a:t>1</a:t>
            </a:r>
            <a:endParaRPr lang="en-US" sz="1100" dirty="0"/>
          </a:p>
        </p:txBody>
      </p:sp>
      <p:sp>
        <p:nvSpPr>
          <p:cNvPr id="9" name="Text 7"/>
          <p:cNvSpPr txBox="1"/>
          <p:nvPr/>
        </p:nvSpPr>
        <p:spPr>
          <a:xfrm>
            <a:off x="1371600" y="1618488"/>
            <a:ext cx="4229100" cy="438912"/>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Start from the loop, not the diagram</a:t>
            </a:r>
            <a:endParaRPr lang="en-US" sz="1250" dirty="0"/>
          </a:p>
        </p:txBody>
      </p:sp>
      <p:sp>
        <p:nvSpPr>
          <p:cNvPr id="10" name="Text 8"/>
          <p:cNvSpPr txBox="1"/>
          <p:nvPr/>
        </p:nvSpPr>
        <p:spPr>
          <a:xfrm>
            <a:off x="1371600" y="2130552"/>
            <a:ext cx="4229100" cy="704088"/>
          </a:xfrm>
          <a:prstGeom prst="rect">
            <a:avLst/>
          </a:prstGeom>
          <a:noFill/>
          <a:ln/>
        </p:spPr>
        <p:txBody>
          <a:bodyPr wrap="square" lIns="0" tIns="0" rIns="0" bIns="0" rtlCol="0" anchor="t"/>
          <a:lstStyle/>
          <a:p>
            <a:pPr indent="0" marL="0">
              <a:lnSpc>
                <a:spcPct val="120000"/>
              </a:lnSpc>
              <a:buNone/>
            </a:pPr>
            <a:r>
              <a:rPr lang="en-US" sz="1050" dirty="0">
                <a:solidFill>
                  <a:srgbClr val="CADCFC"/>
                </a:solidFill>
                <a:latin typeface="Calibri" pitchFamily="34" charset="0"/>
                <a:ea typeface="Calibri" pitchFamily="34" charset="-122"/>
                <a:cs typeface="Calibri" pitchFamily="34" charset="-120"/>
              </a:rPr>
              <a:t>The boxes are the execution loop with concrete nouns substituted in: "LLM" becomes "MAF Coding Agent", "Tool Request/Result" becomes the Workspace/Shell/Git categories.</a:t>
            </a:r>
            <a:endParaRPr lang="en-US" sz="1050" dirty="0"/>
          </a:p>
        </p:txBody>
      </p:sp>
      <p:sp>
        <p:nvSpPr>
          <p:cNvPr id="11" name="Shape 9"/>
          <p:cNvSpPr/>
          <p:nvPr/>
        </p:nvSpPr>
        <p:spPr>
          <a:xfrm>
            <a:off x="6286500" y="1417320"/>
            <a:ext cx="5326380" cy="1572768"/>
          </a:xfrm>
          <a:prstGeom prst="roundRect">
            <a:avLst>
              <a:gd name="adj" fmla="val 5814"/>
            </a:avLst>
          </a:prstGeom>
          <a:solidFill>
            <a:srgbClr val="1E2761"/>
          </a:solidFill>
          <a:ln w="12700">
            <a:solidFill>
              <a:srgbClr val="3FBFB0"/>
            </a:solidFill>
            <a:prstDash val="solid"/>
          </a:ln>
        </p:spPr>
      </p:sp>
      <p:sp>
        <p:nvSpPr>
          <p:cNvPr id="12" name="Shape 10"/>
          <p:cNvSpPr/>
          <p:nvPr/>
        </p:nvSpPr>
        <p:spPr>
          <a:xfrm>
            <a:off x="6560820" y="1645920"/>
            <a:ext cx="384048" cy="384048"/>
          </a:xfrm>
          <a:prstGeom prst="ellipse">
            <a:avLst/>
          </a:prstGeom>
          <a:solidFill>
            <a:srgbClr val="3FBFB0"/>
          </a:solidFill>
          <a:ln/>
        </p:spPr>
      </p:sp>
      <p:sp>
        <p:nvSpPr>
          <p:cNvPr id="13" name="Text 11"/>
          <p:cNvSpPr txBox="1"/>
          <p:nvPr/>
        </p:nvSpPr>
        <p:spPr>
          <a:xfrm>
            <a:off x="6560820" y="1645920"/>
            <a:ext cx="384048" cy="384048"/>
          </a:xfrm>
          <a:prstGeom prst="rect">
            <a:avLst/>
          </a:prstGeom>
          <a:noFill/>
          <a:ln/>
        </p:spPr>
        <p:txBody>
          <a:bodyPr wrap="square" lIns="0" tIns="0" rIns="0" bIns="0" rtlCol="0" anchor="ctr"/>
          <a:lstStyle/>
          <a:p>
            <a:pPr algn="ctr" indent="0" marL="0">
              <a:buNone/>
            </a:pPr>
            <a:r>
              <a:rPr lang="en-US" sz="1100" b="1" dirty="0">
                <a:solidFill>
                  <a:srgbClr val="141B49"/>
                </a:solidFill>
                <a:latin typeface="Cambria" pitchFamily="34" charset="0"/>
                <a:ea typeface="Cambria" pitchFamily="34" charset="-122"/>
                <a:cs typeface="Cambria" pitchFamily="34" charset="-120"/>
              </a:rPr>
              <a:t>2</a:t>
            </a:r>
            <a:endParaRPr lang="en-US" sz="1100" dirty="0"/>
          </a:p>
        </p:txBody>
      </p:sp>
      <p:sp>
        <p:nvSpPr>
          <p:cNvPr id="14" name="Text 12"/>
          <p:cNvSpPr txBox="1"/>
          <p:nvPr/>
        </p:nvSpPr>
        <p:spPr>
          <a:xfrm>
            <a:off x="7109460" y="1618488"/>
            <a:ext cx="4229100" cy="438912"/>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There is exactly one agent</a:t>
            </a:r>
            <a:endParaRPr lang="en-US" sz="1250" dirty="0"/>
          </a:p>
        </p:txBody>
      </p:sp>
      <p:sp>
        <p:nvSpPr>
          <p:cNvPr id="15" name="Text 13"/>
          <p:cNvSpPr txBox="1"/>
          <p:nvPr/>
        </p:nvSpPr>
        <p:spPr>
          <a:xfrm>
            <a:off x="7109460" y="2130552"/>
            <a:ext cx="4229100" cy="704088"/>
          </a:xfrm>
          <a:prstGeom prst="rect">
            <a:avLst/>
          </a:prstGeom>
          <a:noFill/>
          <a:ln/>
        </p:spPr>
        <p:txBody>
          <a:bodyPr wrap="square" lIns="0" tIns="0" rIns="0" bIns="0" rtlCol="0" anchor="t"/>
          <a:lstStyle/>
          <a:p>
            <a:pPr indent="0" marL="0">
              <a:lnSpc>
                <a:spcPct val="120000"/>
              </a:lnSpc>
              <a:buNone/>
            </a:pPr>
            <a:r>
              <a:rPr lang="en-US" sz="1050" dirty="0">
                <a:solidFill>
                  <a:srgbClr val="CADCFC"/>
                </a:solidFill>
                <a:latin typeface="Calibri" pitchFamily="34" charset="0"/>
                <a:ea typeface="Calibri" pitchFamily="34" charset="-122"/>
                <a:cs typeface="Calibri" pitchFamily="34" charset="-120"/>
              </a:rPr>
              <a:t>Every arrow terminates back at the single CodingAgent. No second agent reviews its work and no third plans ahead — no Module from here to the capstone introduces one.</a:t>
            </a:r>
            <a:endParaRPr lang="en-US" sz="1050" dirty="0"/>
          </a:p>
        </p:txBody>
      </p:sp>
      <p:sp>
        <p:nvSpPr>
          <p:cNvPr id="16" name="Shape 14"/>
          <p:cNvSpPr/>
          <p:nvPr/>
        </p:nvSpPr>
        <p:spPr>
          <a:xfrm>
            <a:off x="548640" y="3118104"/>
            <a:ext cx="5326380" cy="1572768"/>
          </a:xfrm>
          <a:prstGeom prst="roundRect">
            <a:avLst>
              <a:gd name="adj" fmla="val 5814"/>
            </a:avLst>
          </a:prstGeom>
          <a:solidFill>
            <a:srgbClr val="1E2761"/>
          </a:solidFill>
          <a:ln w="12700">
            <a:solidFill>
              <a:srgbClr val="3FBFB0"/>
            </a:solidFill>
            <a:prstDash val="solid"/>
          </a:ln>
        </p:spPr>
      </p:sp>
      <p:sp>
        <p:nvSpPr>
          <p:cNvPr id="17" name="Shape 15"/>
          <p:cNvSpPr/>
          <p:nvPr/>
        </p:nvSpPr>
        <p:spPr>
          <a:xfrm>
            <a:off x="822960" y="3346704"/>
            <a:ext cx="384048" cy="384048"/>
          </a:xfrm>
          <a:prstGeom prst="ellipse">
            <a:avLst/>
          </a:prstGeom>
          <a:solidFill>
            <a:srgbClr val="3FBFB0"/>
          </a:solidFill>
          <a:ln/>
        </p:spPr>
      </p:sp>
      <p:sp>
        <p:nvSpPr>
          <p:cNvPr id="18" name="Text 16"/>
          <p:cNvSpPr txBox="1"/>
          <p:nvPr/>
        </p:nvSpPr>
        <p:spPr>
          <a:xfrm>
            <a:off x="822960" y="3346704"/>
            <a:ext cx="384048" cy="384048"/>
          </a:xfrm>
          <a:prstGeom prst="rect">
            <a:avLst/>
          </a:prstGeom>
          <a:noFill/>
          <a:ln/>
        </p:spPr>
        <p:txBody>
          <a:bodyPr wrap="square" lIns="0" tIns="0" rIns="0" bIns="0" rtlCol="0" anchor="ctr"/>
          <a:lstStyle/>
          <a:p>
            <a:pPr algn="ctr" indent="0" marL="0">
              <a:buNone/>
            </a:pPr>
            <a:r>
              <a:rPr lang="en-US" sz="1100" b="1" dirty="0">
                <a:solidFill>
                  <a:srgbClr val="141B49"/>
                </a:solidFill>
                <a:latin typeface="Cambria" pitchFamily="34" charset="0"/>
                <a:ea typeface="Cambria" pitchFamily="34" charset="-122"/>
                <a:cs typeface="Cambria" pitchFamily="34" charset="-120"/>
              </a:rPr>
              <a:t>3</a:t>
            </a:r>
            <a:endParaRPr lang="en-US" sz="1100" dirty="0"/>
          </a:p>
        </p:txBody>
      </p:sp>
      <p:sp>
        <p:nvSpPr>
          <p:cNvPr id="19" name="Text 17"/>
          <p:cNvSpPr txBox="1"/>
          <p:nvPr/>
        </p:nvSpPr>
        <p:spPr>
          <a:xfrm>
            <a:off x="1371600" y="3319272"/>
            <a:ext cx="4229100" cy="438912"/>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Tools are grouped by concern, not by Module</a:t>
            </a:r>
            <a:endParaRPr lang="en-US" sz="1250" dirty="0"/>
          </a:p>
        </p:txBody>
      </p:sp>
      <p:sp>
        <p:nvSpPr>
          <p:cNvPr id="20" name="Text 18"/>
          <p:cNvSpPr txBox="1"/>
          <p:nvPr/>
        </p:nvSpPr>
        <p:spPr>
          <a:xfrm>
            <a:off x="1371600" y="3831336"/>
            <a:ext cx="4229100" cy="704088"/>
          </a:xfrm>
          <a:prstGeom prst="rect">
            <a:avLst/>
          </a:prstGeom>
          <a:noFill/>
          <a:ln/>
        </p:spPr>
        <p:txBody>
          <a:bodyPr wrap="square" lIns="0" tIns="0" rIns="0" bIns="0" rtlCol="0" anchor="t"/>
          <a:lstStyle/>
          <a:p>
            <a:pPr indent="0" marL="0">
              <a:lnSpc>
                <a:spcPct val="120000"/>
              </a:lnSpc>
              <a:buNone/>
            </a:pPr>
            <a:r>
              <a:rPr lang="en-US" sz="1050" dirty="0">
                <a:solidFill>
                  <a:srgbClr val="CADCFC"/>
                </a:solidFill>
                <a:latin typeface="Calibri" pitchFamily="34" charset="0"/>
                <a:ea typeface="Calibri" pitchFamily="34" charset="-122"/>
                <a:cs typeface="Calibri" pitchFamily="34" charset="-120"/>
              </a:rPr>
              <a:t>Read/Search/Edit belong to Workspace, Build/Test to Shell, Status/Diff/Log to Git. The definitions live together in MiniCode.Tools; the work lives where the concern does.</a:t>
            </a:r>
            <a:endParaRPr lang="en-US" sz="1050" dirty="0"/>
          </a:p>
        </p:txBody>
      </p:sp>
      <p:sp>
        <p:nvSpPr>
          <p:cNvPr id="21" name="Shape 19"/>
          <p:cNvSpPr/>
          <p:nvPr/>
        </p:nvSpPr>
        <p:spPr>
          <a:xfrm>
            <a:off x="6286500" y="3118104"/>
            <a:ext cx="5326380" cy="1572768"/>
          </a:xfrm>
          <a:prstGeom prst="roundRect">
            <a:avLst>
              <a:gd name="adj" fmla="val 5814"/>
            </a:avLst>
          </a:prstGeom>
          <a:solidFill>
            <a:srgbClr val="1E2761"/>
          </a:solidFill>
          <a:ln w="12700">
            <a:solidFill>
              <a:srgbClr val="3FBFB0"/>
            </a:solidFill>
            <a:prstDash val="solid"/>
          </a:ln>
        </p:spPr>
      </p:sp>
      <p:sp>
        <p:nvSpPr>
          <p:cNvPr id="22" name="Shape 20"/>
          <p:cNvSpPr/>
          <p:nvPr/>
        </p:nvSpPr>
        <p:spPr>
          <a:xfrm>
            <a:off x="6560820" y="3346704"/>
            <a:ext cx="384048" cy="384048"/>
          </a:xfrm>
          <a:prstGeom prst="ellipse">
            <a:avLst/>
          </a:prstGeom>
          <a:solidFill>
            <a:srgbClr val="3FBFB0"/>
          </a:solidFill>
          <a:ln/>
        </p:spPr>
      </p:sp>
      <p:sp>
        <p:nvSpPr>
          <p:cNvPr id="23" name="Text 21"/>
          <p:cNvSpPr txBox="1"/>
          <p:nvPr/>
        </p:nvSpPr>
        <p:spPr>
          <a:xfrm>
            <a:off x="6560820" y="3346704"/>
            <a:ext cx="384048" cy="384048"/>
          </a:xfrm>
          <a:prstGeom prst="rect">
            <a:avLst/>
          </a:prstGeom>
          <a:noFill/>
          <a:ln/>
        </p:spPr>
        <p:txBody>
          <a:bodyPr wrap="square" lIns="0" tIns="0" rIns="0" bIns="0" rtlCol="0" anchor="ctr"/>
          <a:lstStyle/>
          <a:p>
            <a:pPr algn="ctr" indent="0" marL="0">
              <a:buNone/>
            </a:pPr>
            <a:r>
              <a:rPr lang="en-US" sz="1100" b="1" dirty="0">
                <a:solidFill>
                  <a:srgbClr val="141B49"/>
                </a:solidFill>
                <a:latin typeface="Cambria" pitchFamily="34" charset="0"/>
                <a:ea typeface="Cambria" pitchFamily="34" charset="-122"/>
                <a:cs typeface="Cambria" pitchFamily="34" charset="-120"/>
              </a:rPr>
              <a:t>4</a:t>
            </a:r>
            <a:endParaRPr lang="en-US" sz="1100" dirty="0"/>
          </a:p>
        </p:txBody>
      </p:sp>
      <p:sp>
        <p:nvSpPr>
          <p:cNvPr id="24" name="Text 22"/>
          <p:cNvSpPr txBox="1"/>
          <p:nvPr/>
        </p:nvSpPr>
        <p:spPr>
          <a:xfrm>
            <a:off x="7109460" y="3319272"/>
            <a:ext cx="4229100" cy="438912"/>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Keeping the surface separate is what pays later</a:t>
            </a:r>
            <a:endParaRPr lang="en-US" sz="1250" dirty="0"/>
          </a:p>
        </p:txBody>
      </p:sp>
      <p:sp>
        <p:nvSpPr>
          <p:cNvPr id="25" name="Text 23"/>
          <p:cNvSpPr txBox="1"/>
          <p:nvPr/>
        </p:nvSpPr>
        <p:spPr>
          <a:xfrm>
            <a:off x="7109460" y="3831336"/>
            <a:ext cx="4229100" cy="704088"/>
          </a:xfrm>
          <a:prstGeom prst="rect">
            <a:avLst/>
          </a:prstGeom>
          <a:noFill/>
          <a:ln/>
        </p:spPr>
        <p:txBody>
          <a:bodyPr wrap="square" lIns="0" tIns="0" rIns="0" bIns="0" rtlCol="0" anchor="t"/>
          <a:lstStyle/>
          <a:p>
            <a:pPr indent="0" marL="0">
              <a:lnSpc>
                <a:spcPct val="120000"/>
              </a:lnSpc>
              <a:buNone/>
            </a:pPr>
            <a:r>
              <a:rPr lang="en-US" sz="1050" dirty="0">
                <a:solidFill>
                  <a:srgbClr val="CADCFC"/>
                </a:solidFill>
                <a:latin typeface="Calibri" pitchFamily="34" charset="0"/>
                <a:ea typeface="Calibri" pitchFamily="34" charset="-122"/>
                <a:cs typeface="Calibri" pitchFamily="34" charset="-120"/>
              </a:rPr>
              <a:t>ReadFile is declared in Tools and delegates to Workspace. That split is what lets Modules 15 and 17 wrap every call with approval and tracing without reopening a tool class.</a:t>
            </a:r>
            <a:endParaRPr lang="en-US" sz="1050" dirty="0"/>
          </a:p>
        </p:txBody>
      </p:sp>
      <p:sp>
        <p:nvSpPr>
          <p:cNvPr id="26" name="Shape 24"/>
          <p:cNvSpPr/>
          <p:nvPr/>
        </p:nvSpPr>
        <p:spPr>
          <a:xfrm>
            <a:off x="548640" y="4818888"/>
            <a:ext cx="5326380" cy="1572768"/>
          </a:xfrm>
          <a:prstGeom prst="roundRect">
            <a:avLst>
              <a:gd name="adj" fmla="val 5814"/>
            </a:avLst>
          </a:prstGeom>
          <a:solidFill>
            <a:srgbClr val="1E2761"/>
          </a:solidFill>
          <a:ln w="12700">
            <a:solidFill>
              <a:srgbClr val="3FBFB0"/>
            </a:solidFill>
            <a:prstDash val="solid"/>
          </a:ln>
        </p:spPr>
      </p:sp>
      <p:sp>
        <p:nvSpPr>
          <p:cNvPr id="27" name="Shape 25"/>
          <p:cNvSpPr/>
          <p:nvPr/>
        </p:nvSpPr>
        <p:spPr>
          <a:xfrm>
            <a:off x="822960" y="5047488"/>
            <a:ext cx="384048" cy="384048"/>
          </a:xfrm>
          <a:prstGeom prst="ellipse">
            <a:avLst/>
          </a:prstGeom>
          <a:solidFill>
            <a:srgbClr val="3FBFB0"/>
          </a:solidFill>
          <a:ln/>
        </p:spPr>
      </p:sp>
      <p:sp>
        <p:nvSpPr>
          <p:cNvPr id="28" name="Text 26"/>
          <p:cNvSpPr txBox="1"/>
          <p:nvPr/>
        </p:nvSpPr>
        <p:spPr>
          <a:xfrm>
            <a:off x="822960" y="5047488"/>
            <a:ext cx="384048" cy="384048"/>
          </a:xfrm>
          <a:prstGeom prst="rect">
            <a:avLst/>
          </a:prstGeom>
          <a:noFill/>
          <a:ln/>
        </p:spPr>
        <p:txBody>
          <a:bodyPr wrap="square" lIns="0" tIns="0" rIns="0" bIns="0" rtlCol="0" anchor="ctr"/>
          <a:lstStyle/>
          <a:p>
            <a:pPr algn="ctr" indent="0" marL="0">
              <a:buNone/>
            </a:pPr>
            <a:r>
              <a:rPr lang="en-US" sz="1100" b="1" dirty="0">
                <a:solidFill>
                  <a:srgbClr val="141B49"/>
                </a:solidFill>
                <a:latin typeface="Cambria" pitchFamily="34" charset="0"/>
                <a:ea typeface="Cambria" pitchFamily="34" charset="-122"/>
                <a:cs typeface="Cambria" pitchFamily="34" charset="-120"/>
              </a:rPr>
              <a:t>5</a:t>
            </a:r>
            <a:endParaRPr lang="en-US" sz="1100" dirty="0"/>
          </a:p>
        </p:txBody>
      </p:sp>
      <p:sp>
        <p:nvSpPr>
          <p:cNvPr id="29" name="Text 27"/>
          <p:cNvSpPr txBox="1"/>
          <p:nvPr/>
        </p:nvSpPr>
        <p:spPr>
          <a:xfrm>
            <a:off x="1371600" y="5020056"/>
            <a:ext cx="4229100" cy="438912"/>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The sandbox is implicit here, explicit later</a:t>
            </a:r>
            <a:endParaRPr lang="en-US" sz="1250" dirty="0"/>
          </a:p>
        </p:txBody>
      </p:sp>
      <p:sp>
        <p:nvSpPr>
          <p:cNvPr id="30" name="Text 28"/>
          <p:cNvSpPr txBox="1"/>
          <p:nvPr/>
        </p:nvSpPr>
        <p:spPr>
          <a:xfrm>
            <a:off x="1371600" y="5532120"/>
            <a:ext cx="4229100" cy="704088"/>
          </a:xfrm>
          <a:prstGeom prst="rect">
            <a:avLst/>
          </a:prstGeom>
          <a:noFill/>
          <a:ln/>
        </p:spPr>
        <p:txBody>
          <a:bodyPr wrap="square" lIns="0" tIns="0" rIns="0" bIns="0" rtlCol="0" anchor="t"/>
          <a:lstStyle/>
          <a:p>
            <a:pPr indent="0" marL="0">
              <a:lnSpc>
                <a:spcPct val="120000"/>
              </a:lnSpc>
              <a:buNone/>
            </a:pPr>
            <a:r>
              <a:rPr lang="en-US" sz="1050" dirty="0">
                <a:solidFill>
                  <a:srgbClr val="CADCFC"/>
                </a:solidFill>
                <a:latin typeface="Calibri" pitchFamily="34" charset="0"/>
                <a:ea typeface="Calibri" pitchFamily="34" charset="-122"/>
                <a:cs typeface="Calibri" pitchFamily="34" charset="-120"/>
              </a:rPr>
              <a:t>Nothing yet shows how the agent is stopped from writing outside the repository. Every arrow into Workspace/Shell/Git is where a boundary will be enforced.</a:t>
            </a:r>
            <a:endParaRPr lang="en-US" sz="1050" dirty="0"/>
          </a:p>
        </p:txBody>
      </p:sp>
      <p:sp>
        <p:nvSpPr>
          <p:cNvPr id="31" name="Shape 29"/>
          <p:cNvSpPr/>
          <p:nvPr/>
        </p:nvSpPr>
        <p:spPr>
          <a:xfrm>
            <a:off x="6286500" y="4818888"/>
            <a:ext cx="5326380" cy="1572768"/>
          </a:xfrm>
          <a:prstGeom prst="roundRect">
            <a:avLst>
              <a:gd name="adj" fmla="val 5814"/>
            </a:avLst>
          </a:prstGeom>
          <a:solidFill>
            <a:srgbClr val="1E2761"/>
          </a:solidFill>
          <a:ln w="12700">
            <a:solidFill>
              <a:srgbClr val="3FBFB0"/>
            </a:solidFill>
            <a:prstDash val="solid"/>
          </a:ln>
        </p:spPr>
      </p:sp>
      <p:sp>
        <p:nvSpPr>
          <p:cNvPr id="32" name="Shape 30"/>
          <p:cNvSpPr/>
          <p:nvPr/>
        </p:nvSpPr>
        <p:spPr>
          <a:xfrm>
            <a:off x="6560820" y="5047488"/>
            <a:ext cx="384048" cy="384048"/>
          </a:xfrm>
          <a:prstGeom prst="ellipse">
            <a:avLst/>
          </a:prstGeom>
          <a:solidFill>
            <a:srgbClr val="3FBFB0"/>
          </a:solidFill>
          <a:ln/>
        </p:spPr>
      </p:sp>
      <p:sp>
        <p:nvSpPr>
          <p:cNvPr id="33" name="Text 31"/>
          <p:cNvSpPr txBox="1"/>
          <p:nvPr/>
        </p:nvSpPr>
        <p:spPr>
          <a:xfrm>
            <a:off x="6560820" y="5047488"/>
            <a:ext cx="384048" cy="384048"/>
          </a:xfrm>
          <a:prstGeom prst="rect">
            <a:avLst/>
          </a:prstGeom>
          <a:noFill/>
          <a:ln/>
        </p:spPr>
        <p:txBody>
          <a:bodyPr wrap="square" lIns="0" tIns="0" rIns="0" bIns="0" rtlCol="0" anchor="ctr"/>
          <a:lstStyle/>
          <a:p>
            <a:pPr algn="ctr" indent="0" marL="0">
              <a:buNone/>
            </a:pPr>
            <a:r>
              <a:rPr lang="en-US" sz="1100" b="1" dirty="0">
                <a:solidFill>
                  <a:srgbClr val="141B49"/>
                </a:solidFill>
                <a:latin typeface="Cambria" pitchFamily="34" charset="0"/>
                <a:ea typeface="Cambria" pitchFamily="34" charset="-122"/>
                <a:cs typeface="Cambria" pitchFamily="34" charset="-120"/>
              </a:rPr>
              <a:t>6</a:t>
            </a:r>
            <a:endParaRPr lang="en-US" sz="1100" dirty="0"/>
          </a:p>
        </p:txBody>
      </p:sp>
      <p:sp>
        <p:nvSpPr>
          <p:cNvPr id="34" name="Text 32"/>
          <p:cNvSpPr txBox="1"/>
          <p:nvPr/>
        </p:nvSpPr>
        <p:spPr>
          <a:xfrm>
            <a:off x="7109460" y="5020056"/>
            <a:ext cx="4229100" cy="438912"/>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No context or planning boxes yet</a:t>
            </a:r>
            <a:endParaRPr lang="en-US" sz="1250" dirty="0"/>
          </a:p>
        </p:txBody>
      </p:sp>
      <p:sp>
        <p:nvSpPr>
          <p:cNvPr id="35" name="Text 33"/>
          <p:cNvSpPr txBox="1"/>
          <p:nvPr/>
        </p:nvSpPr>
        <p:spPr>
          <a:xfrm>
            <a:off x="7109460" y="5532120"/>
            <a:ext cx="4229100" cy="704088"/>
          </a:xfrm>
          <a:prstGeom prst="rect">
            <a:avLst/>
          </a:prstGeom>
          <a:noFill/>
          <a:ln/>
        </p:spPr>
        <p:txBody>
          <a:bodyPr wrap="square" lIns="0" tIns="0" rIns="0" bIns="0" rtlCol="0" anchor="t"/>
          <a:lstStyle/>
          <a:p>
            <a:pPr indent="0" marL="0">
              <a:lnSpc>
                <a:spcPct val="120000"/>
              </a:lnSpc>
              <a:buNone/>
            </a:pPr>
            <a:r>
              <a:rPr lang="en-US" sz="1050" dirty="0">
                <a:solidFill>
                  <a:srgbClr val="CADCFC"/>
                </a:solidFill>
                <a:latin typeface="Calibri" pitchFamily="34" charset="0"/>
                <a:ea typeface="Calibri" pitchFamily="34" charset="-122"/>
                <a:cs typeface="Calibri" pitchFamily="34" charset="-120"/>
              </a:rPr>
              <a:t>Deliberate. Modules 8 and 9 add compaction and task-plan state on top of this same loop rather than replacing it.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164592"/>
            <a:ext cx="9144000" cy="274320"/>
          </a:xfrm>
          <a:prstGeom prst="rect">
            <a:avLst/>
          </a:prstGeom>
          <a:noFill/>
          <a:ln/>
        </p:spPr>
        <p:txBody>
          <a:bodyPr wrap="square" lIns="0" tIns="0" rIns="0" bIns="0" rtlCol="0" anchor="ctr"/>
          <a:lstStyle/>
          <a:p>
            <a:pPr indent="0" marL="0">
              <a:buNone/>
            </a:pPr>
            <a:r>
              <a:rPr lang="en-US" sz="1200" b="1" spc="200" kern="0" dirty="0">
                <a:solidFill>
                  <a:srgbClr val="3FBFB0"/>
                </a:solidFill>
                <a:latin typeface="Calibri" pitchFamily="34" charset="0"/>
                <a:ea typeface="Calibri" pitchFamily="34" charset="-122"/>
                <a:cs typeface="Calibri" pitchFamily="34" charset="-120"/>
              </a:rPr>
              <a:t>EXPECTED OUTPUT</a:t>
            </a:r>
            <a:endParaRPr lang="en-US" sz="1200" dirty="0"/>
          </a:p>
        </p:txBody>
      </p:sp>
      <p:sp>
        <p:nvSpPr>
          <p:cNvPr id="3" name="Text 1"/>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The Deliverable Is the Design</a:t>
            </a:r>
            <a:endParaRPr lang="en-US" sz="3200" dirty="0"/>
          </a:p>
        </p:txBody>
      </p:sp>
      <p:sp>
        <p:nvSpPr>
          <p:cNvPr id="4" name="Text 2"/>
          <p:cNvSpPr txBox="1"/>
          <p:nvPr/>
        </p:nvSpPr>
        <p:spPr>
          <a:xfrm>
            <a:off x="548640" y="1207008"/>
            <a:ext cx="11064240" cy="365760"/>
          </a:xfrm>
          <a:prstGeom prst="rect">
            <a:avLst/>
          </a:prstGeom>
          <a:noFill/>
          <a:ln/>
        </p:spPr>
        <p:txBody>
          <a:bodyPr wrap="square" lIns="0" tIns="0" rIns="0" bIns="0" rtlCol="0" anchor="t"/>
          <a:lstStyle/>
          <a:p>
            <a:pPr indent="0" marL="0">
              <a:buNone/>
            </a:pPr>
            <a:r>
              <a:rPr lang="en-US" sz="1250" i="1" dirty="0">
                <a:solidFill>
                  <a:srgbClr val="2A2F45"/>
                </a:solidFill>
                <a:latin typeface="Calibri" pitchFamily="34" charset="0"/>
                <a:ea typeface="Calibri" pitchFamily="34" charset="-122"/>
                <a:cs typeface="Calibri" pitchFamily="34" charset="-120"/>
              </a:rPr>
              <a:t>No code runs in this Module, so there is no build or console output to verify — implementation starts in Module 2a.</a:t>
            </a:r>
            <a:endParaRPr lang="en-US" sz="1250" dirty="0"/>
          </a:p>
        </p:txBody>
      </p:sp>
      <p:sp>
        <p:nvSpPr>
          <p:cNvPr id="5" name="Text 3"/>
          <p:cNvSpPr txBox="1"/>
          <p:nvPr/>
        </p:nvSpPr>
        <p:spPr>
          <a:xfrm>
            <a:off x="457200" y="6510528"/>
            <a:ext cx="8686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MODULE 1 — UNDERSTANDING CODING AGENTS</a:t>
            </a:r>
            <a:endParaRPr lang="en-US" sz="900" dirty="0"/>
          </a:p>
        </p:txBody>
      </p:sp>
      <p:sp>
        <p:nvSpPr>
          <p:cNvPr id="6" name="Text 4"/>
          <p:cNvSpPr txBox="1"/>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
        <p:nvSpPr>
          <p:cNvPr id="7" name="Shape 5"/>
          <p:cNvSpPr/>
          <p:nvPr/>
        </p:nvSpPr>
        <p:spPr>
          <a:xfrm>
            <a:off x="548640" y="1874520"/>
            <a:ext cx="11064240" cy="4297680"/>
          </a:xfrm>
          <a:prstGeom prst="roundRect">
            <a:avLst>
              <a:gd name="adj" fmla="val 2128"/>
            </a:avLst>
          </a:prstGeom>
          <a:solidFill>
            <a:srgbClr val="F4F6FB"/>
          </a:solidFill>
          <a:ln/>
        </p:spPr>
      </p:sp>
      <p:sp>
        <p:nvSpPr>
          <p:cNvPr id="8" name="Shape 6"/>
          <p:cNvSpPr/>
          <p:nvPr/>
        </p:nvSpPr>
        <p:spPr>
          <a:xfrm>
            <a:off x="868680" y="2194560"/>
            <a:ext cx="640080" cy="640080"/>
          </a:xfrm>
          <a:prstGeom prst="ellipse">
            <a:avLst/>
          </a:prstGeom>
          <a:solidFill>
            <a:srgbClr val="1E2761"/>
          </a:solidFill>
          <a:ln/>
        </p:spPr>
      </p:sp>
      <p:pic>
        <p:nvPicPr>
          <p:cNvPr id="9" name="Image 0" descr="preencoded.png">    </p:cNvPr>
          <p:cNvPicPr>
            <a:picLocks noChangeAspect="1"/>
          </p:cNvPicPr>
          <p:nvPr/>
        </p:nvPicPr>
        <p:blipFill>
          <a:blip r:embed="rId1"/>
          <a:stretch>
            <a:fillRect/>
          </a:stretch>
        </p:blipFill>
        <p:spPr>
          <a:xfrm>
            <a:off x="1033272" y="2359152"/>
            <a:ext cx="310896" cy="310896"/>
          </a:xfrm>
          <a:prstGeom prst="rect">
            <a:avLst/>
          </a:prstGeom>
        </p:spPr>
      </p:pic>
      <p:sp>
        <p:nvSpPr>
          <p:cNvPr id="10" name="Text 7"/>
          <p:cNvSpPr txBox="1"/>
          <p:nvPr/>
        </p:nvSpPr>
        <p:spPr>
          <a:xfrm>
            <a:off x="1645920" y="2194560"/>
            <a:ext cx="9646920" cy="640080"/>
          </a:xfrm>
          <a:prstGeom prst="rect">
            <a:avLst/>
          </a:prstGeom>
          <a:noFill/>
          <a:ln/>
        </p:spPr>
        <p:txBody>
          <a:bodyPr wrap="square" lIns="0" tIns="0" rIns="0" bIns="0" rtlCol="0" anchor="ctr"/>
          <a:lstStyle/>
          <a:p>
            <a:pPr indent="0" marL="0">
              <a:buNone/>
            </a:pPr>
            <a:r>
              <a:rPr lang="en-US" sz="1550" b="1" dirty="0">
                <a:solidFill>
                  <a:srgbClr val="2A2F45"/>
                </a:solidFill>
                <a:latin typeface="Cambria" pitchFamily="34" charset="0"/>
                <a:ea typeface="Cambria" pitchFamily="34" charset="-122"/>
                <a:cs typeface="Cambria" pitchFamily="34" charset="-120"/>
              </a:rPr>
              <a:t>By the end of this Module you should have</a:t>
            </a:r>
            <a:endParaRPr lang="en-US" sz="1550" dirty="0"/>
          </a:p>
        </p:txBody>
      </p:sp>
      <p:sp>
        <p:nvSpPr>
          <p:cNvPr id="11" name="Text 8"/>
          <p:cNvSpPr txBox="1"/>
          <p:nvPr/>
        </p:nvSpPr>
        <p:spPr>
          <a:xfrm>
            <a:off x="868680" y="3246120"/>
            <a:ext cx="1042416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E2761"/>
                </a:solidFill>
                <a:latin typeface="Calibri" pitchFamily="34" charset="0"/>
                <a:ea typeface="Calibri" pitchFamily="34" charset="-122"/>
                <a:cs typeface="Calibri" pitchFamily="34" charset="-120"/>
              </a:rPr>
              <a:t>A clear, articulable answer to "what is the difference between a chatbot and an agent?", grounded in the reason → act → observe → repeat loop</a:t>
            </a:r>
            <a:endParaRPr lang="en-US" sz="1400" dirty="0"/>
          </a:p>
          <a:p>
            <a:pPr marL="342900" indent="-342900">
              <a:spcAft>
                <a:spcPts val="800"/>
              </a:spcAft>
              <a:buSzPct val="100000"/>
              <a:buChar char="•"/>
            </a:pPr>
            <a:r>
              <a:rPr lang="en-US" sz="1400" dirty="0">
                <a:solidFill>
                  <a:srgbClr val="1E2761"/>
                </a:solidFill>
                <a:latin typeface="Calibri" pitchFamily="34" charset="0"/>
                <a:ea typeface="Calibri" pitchFamily="34" charset="-122"/>
                <a:cs typeface="Calibri" pitchFamily="34" charset="-120"/>
              </a:rPr>
              <a:t>The MiniCode architecture diagram understood well enough to redraw from memory, with the correct component responsibilities</a:t>
            </a:r>
            <a:endParaRPr lang="en-US" sz="1400" dirty="0"/>
          </a:p>
          <a:p>
            <a:pPr marL="342900" indent="-342900">
              <a:spcAft>
                <a:spcPts val="800"/>
              </a:spcAft>
              <a:buSzPct val="100000"/>
              <a:buChar char="•"/>
            </a:pPr>
            <a:r>
              <a:rPr lang="en-US" sz="1400" dirty="0">
                <a:solidFill>
                  <a:srgbClr val="1E2761"/>
                </a:solidFill>
                <a:latin typeface="Calibri" pitchFamily="34" charset="0"/>
                <a:ea typeface="Calibri" pitchFamily="34" charset="-122"/>
                <a:cs typeface="Calibri" pitchFamily="34" charset="-120"/>
              </a:rPr>
              <a:t>An explicit understanding that MiniCode is a single-agent harness — no multi-agent orchestration appears anywhere in this course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MiniCode Course</dc:creator>
  <cp:lastModifiedBy>MiniCode Course</cp:lastModifiedBy>
  <cp:revision>1</cp:revision>
  <dcterms:created xsi:type="dcterms:W3CDTF">2026-09-10T19:47:14Z</dcterms:created>
  <dcterms:modified xsi:type="dcterms:W3CDTF">2026-09-10T19:47:14Z</dcterms:modified>
</cp:coreProperties>
</file>