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writing a single line of Microsoft Agent Framework code, we need a shared mental model for what we're actually building. MiniCode is not a chatbot with a terminal skin. It's an agent harness: a loop that lets a language model reason, call tools, observe results, and keep going until a development task is done. This Module builds that mental model and produces the first real artifact of the course: a high-level architecture design for MiniCode. There are no prerequisites. No packages, SDKs or environment variables are needed: this Module produces a design rather than code. The architecture it defines is what Modules 2a through 6 implement and what the Phase 1 Capstone, Repository Explorer, version 0.1, assembles and demonstrates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chatbot answers a message and stops. You send text, it sends text back, and the interaction ends until you send the next message. Everything the chatbot needs to answer is already inside the conversation you gave it. An agent is different in one crucial way: it can act on the world, observe what happened, and decide what to do next, without you telling it each step. Ask a chatbot 'why is the build failing?' and it can only guess based on what you paste in. Ask an agent the same question, and it can run the build itself, read the error output, open the offending file, and tell you exactly what's wrong, possibly after several rounds of investigation you never had to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general-purpose agent might book a flight or query a database. A coding agent operates specifically over a software repository: it reads source code, understands project structure, executes build and test tooling, edits files, and inspects version control. The tools are different, but the underlying mechanism, reason, act, observe, repeat, is the same one this whole course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mechanical heart of every agent, including MiniCode. Each pass through the loop, the model either asks for a tool to be run, or produces a final answer. As long as it keeps requesting tools, the loop keeps running. This is the difference between a single request/response call to an LLM and an agent: the loop, not the model, is what makes multi-step autonomous work possible. The user issues a request once. From there, the coding agent and the LLM cycle through tool requests and tool results, potentially many times, without further input, until the LLM produces a final answer instead of another tool request. Every Module between now and Module 12 exists to give the loop something useful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Modern chat models can do more than generate text. Given a list of available functions, with a name, description and parameter schema, they can decide which function is relevant to the current problem and what arguments to call it with. The model doesn't execute the function itself; it emits a structured request. Your code is responsible for actually running it. This 'reasoning about which tool to use' step is what lets a single instruction like 'fix the build' turn into a sequence of concrete actions: list files, search for a symbol, read a file, run a compiler.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a tool runs, its result, whether file contents, compiler output or a list of matching files, is fed back into the conversation as an observation. The model reads that observation the same way it reads anything else in the conversation, and reasons about what to do next. This observe-then-reason step is what allows an agent to adapt: if dotnet build fails, the resulting error text becomes the input to the next reasoning step, steering the agent toward reading the file the error points to. The trace on this slide is an illustration of that idea, not captured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Autonomy is a spectrum, not a switch. An agent can be scoped anywhere from 'suggest one edit and stop' to 'keep working, unsupervised, until the task is fully done or it hits a wall.' MiniCode sits toward the autonomous end: given a request like 'find out why the solution isn't compiling and fix it,' it should be able to chain together file discovery, reading, editing, building, and testing on its own. But full autonomy over a real codebase is risky without limits, which is exactly why later Modules introduce workspace sandboxing in Module 4 and human approval for dangerous operations in Module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Autonomy doesn't mean the human disappears. A well-designed coding agent knows which actions are safe to take on its own, like reading a file or running dotnet build, and which require a person to explicitly approve them, like deleting a file, running git commit, or installing a package. This course treats human-in-the-loop approval as a first-class architectural concern, not an afterthought. It's the difference between a demo and something you'd actually let run against a real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tempting to think a tool like Claude Code is 'just a really good model.' In practice, most of its capability comes from the harness surrounding the model: the tool definitions, the workspace boundaries, the approval policy, the context management strategy, and the loop that keeps it going until the task is done. The model supplies reasoning; the harness supplies structure, safety, and persistence. MiniCode is our chance to build that harness ourselves, in C#, on top of Microsoft Agent Framework, and understand exactly what it's doing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Module's deliverable isn't code, it's a design. This is the architecture MiniCode will be built toward over the rest of the course: the execution loop, drawn with concrete MiniCode nouns. The MiniCode CLI is the terminal interface: it accepts developer requests, streams agent activity, prompts for approvals, and holds no business logic. The MAF Coding Agent is the single CodingAgent that owns instructions, reasoning, tool selection, and the execution loop. There is only ever one agent: no manager, planner, or reviewer agents. It never touches the filesystem or a process directly; it goes through tools. Tool invocation defines each capability as a tool the model can request, dispatches the call, and shapes the result into text the model can reason about. The tools themselves do no real work; they delegate. Workspace is the sandbox boundary plus the file read, search and edit primitives. Shell runs allowlisted commands like dotnet build and dotnet test, and Git supplies status, diff and log. Intelligence stays centralized in the CodingAgent; filesystem access, command execution, Git operations, permissions, and safety are deterministic C# services exposed to it as tools. No Module from here to the capstone introduces a second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maps directly onto the solution structure we create in Module 3: MiniCode.Cli, MiniCode.Agent, MiniCode.Tools, MiniCode.Workspace, and MiniCode.Infrastructure. Shell and Git are both external processes MiniCode drives on the developer's behalf, so they share MiniCode.Infrastructure, alongside configuration and logging. That is five projects in total, which is the whole of MiniCode. Notice the tools are grouped by concern, with one wrinkle: the tool definitions live together in MiniCode.Tools, while the work lives in the project that owns the concern. ReadFile is declared in MiniCode.Tools and delegates to MiniCode.Workspace; RunCommand is declared in MiniCode.Tools and delegates to MiniCode.Infrastructure. Keeping the tool surface separate from the implementation is what lets Modules 15 and 17 wrap every tool call with approval and tracing without reopening a single tool class. Dependencies only ever point one way, and never cycle: Cli, then Agent, then Tools, then Workspace and Infrastructure. Those two are the leaves: they reference none of the other projects, and nothing ever depends back on Cli or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Module, you should have a clear, articulable answer to 'what's the difference between a chatbot and an agent?', grounded in the reason, act, observe, repeat loop. You should have the MiniCode architecture diagram, understood well enough to redraw from memory with the correct component responsibilities. And you should have an explicit understanding that MiniCode is a single-agent harness: no multi-agent orchestration will appear anywhere in this course. No code runs in this Module, so there is no build or console output to verify. The deliverable is the design artifact itself, which we start implementing in Module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each idea goes. Module 2a builds the first conversational agent with Microsoft Agent Framework. Module 3 turns the five projects into the real solution, with dependencies flowing one way. Module 4 bounds the agent's autonomy with the workspace sandbox. Module 5a adds the first tool, and the seam every tool call passes through. Module 12 puts a policy on the agentic loop, so a loop that never converges is stopped. And Module 15 puts a human in front of any tool call that changes something. The architecture first ships as the Phase 1 Capstone, Repository Explorer, version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MODULE 1  ·  PHASE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Understanding Coding Agents</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The mental model behind MiniCode</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(no code)</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Module01-UnderstandingCodingAgents/</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How an agent differs from a chatbot</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The reason, act, observe loop at the heart of every agent</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How tool calls and tool results drive that loop</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Autonomy, and where a human stays in the loop</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Why MiniCode is a harness, and its architecture</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MiniCode  ·  Module 1 — Understanding Coding Agents</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Chatbots vs. agents</a:t>
            </a:r>
            <a:endParaRPr lang="en-US" sz="2800" dirty="0"/>
          </a:p>
        </p:txBody>
      </p:sp>
      <p:sp>
        <p:nvSpPr>
          <p:cNvPr id="4" name="Shape 2"/>
          <p:cNvSpPr/>
          <p:nvPr/>
        </p:nvSpPr>
        <p:spPr>
          <a:xfrm>
            <a:off x="457200" y="1371600"/>
            <a:ext cx="3931920" cy="2331720"/>
          </a:xfrm>
          <a:prstGeom prst="roundRect">
            <a:avLst>
              <a:gd name="adj" fmla="val 3137"/>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6B7280"/>
          </a:solidFill>
          <a:ln w="12700">
            <a:solidFill>
              <a:srgbClr val="6B7280"/>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A chatbot</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Answers a message and stops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Knows only what you paste in</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"Why is the build failing?" gets a guess</a:t>
            </a:r>
            <a:endParaRPr lang="en-US" sz="1300" dirty="0"/>
          </a:p>
        </p:txBody>
      </p:sp>
      <p:sp>
        <p:nvSpPr>
          <p:cNvPr id="9" name="Shape 6"/>
          <p:cNvSpPr/>
          <p:nvPr/>
        </p:nvSpPr>
        <p:spPr>
          <a:xfrm>
            <a:off x="4754880" y="1371600"/>
            <a:ext cx="3931920" cy="2331720"/>
          </a:xfrm>
          <a:prstGeom prst="roundRect">
            <a:avLst>
              <a:gd name="adj" fmla="val 3137"/>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An agent</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Acts, observes, decides what's next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Runs the build and reads the error</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Opens the file and finds the cause</a:t>
            </a:r>
            <a:endParaRPr lang="en-US" sz="1300" dirty="0"/>
          </a:p>
        </p:txBody>
      </p:sp>
      <p:sp>
        <p:nvSpPr>
          <p:cNvPr id="14" name="Text 10"/>
          <p:cNvSpPr txBox="1"/>
          <p:nvPr/>
        </p:nvSpPr>
        <p:spPr>
          <a:xfrm>
            <a:off x="457200" y="397764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An agent can act on the world without being told each step.</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1 — Understanding Coding Agents</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makes a coding agent different</a:t>
            </a:r>
            <a:endParaRPr lang="en-US" sz="2800" dirty="0"/>
          </a:p>
        </p:txBody>
      </p:sp>
      <p:sp>
        <p:nvSpPr>
          <p:cNvPr id="4" name="Shape 2"/>
          <p:cNvSpPr/>
          <p:nvPr/>
        </p:nvSpPr>
        <p:spPr>
          <a:xfrm>
            <a:off x="457200" y="1371600"/>
            <a:ext cx="256032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Reads source</a:t>
            </a:r>
            <a:endParaRPr lang="en-US" sz="1500" dirty="0"/>
          </a:p>
        </p:txBody>
      </p:sp>
      <p:sp>
        <p:nvSpPr>
          <p:cNvPr id="8" name="Text 5"/>
          <p:cNvSpPr txBox="1"/>
          <p:nvPr/>
        </p:nvSpPr>
        <p:spPr>
          <a:xfrm>
            <a:off x="640080" y="205740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Opens and searches the code</a:t>
            </a:r>
            <a:endParaRPr lang="en-US" sz="1200" dirty="0"/>
          </a:p>
        </p:txBody>
      </p:sp>
      <p:sp>
        <p:nvSpPr>
          <p:cNvPr id="9" name="Shape 6"/>
          <p:cNvSpPr/>
          <p:nvPr/>
        </p:nvSpPr>
        <p:spPr>
          <a:xfrm>
            <a:off x="3291840" y="1371600"/>
            <a:ext cx="256032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347472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3574572" y="1654332"/>
            <a:ext cx="184343" cy="184343"/>
          </a:xfrm>
          <a:prstGeom prst="rect">
            <a:avLst/>
          </a:prstGeom>
        </p:spPr>
      </p:pic>
      <p:sp>
        <p:nvSpPr>
          <p:cNvPr id="12" name="Text 8"/>
          <p:cNvSpPr txBox="1"/>
          <p:nvPr/>
        </p:nvSpPr>
        <p:spPr>
          <a:xfrm>
            <a:off x="397764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Knows structure</a:t>
            </a:r>
            <a:endParaRPr lang="en-US" sz="1500" dirty="0"/>
          </a:p>
        </p:txBody>
      </p:sp>
      <p:sp>
        <p:nvSpPr>
          <p:cNvPr id="13" name="Text 9"/>
          <p:cNvSpPr txBox="1"/>
          <p:nvPr/>
        </p:nvSpPr>
        <p:spPr>
          <a:xfrm>
            <a:off x="3474720" y="205740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Solutions, projects, references</a:t>
            </a:r>
            <a:endParaRPr lang="en-US" sz="1200" dirty="0"/>
          </a:p>
        </p:txBody>
      </p:sp>
      <p:sp>
        <p:nvSpPr>
          <p:cNvPr id="14" name="Shape 10"/>
          <p:cNvSpPr/>
          <p:nvPr/>
        </p:nvSpPr>
        <p:spPr>
          <a:xfrm>
            <a:off x="6126480" y="1371600"/>
            <a:ext cx="256032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30936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6409212" y="1654332"/>
            <a:ext cx="184343" cy="184343"/>
          </a:xfrm>
          <a:prstGeom prst="rect">
            <a:avLst/>
          </a:prstGeom>
        </p:spPr>
      </p:pic>
      <p:sp>
        <p:nvSpPr>
          <p:cNvPr id="17" name="Text 12"/>
          <p:cNvSpPr txBox="1"/>
          <p:nvPr/>
        </p:nvSpPr>
        <p:spPr>
          <a:xfrm>
            <a:off x="681228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Builds and tests</a:t>
            </a:r>
            <a:endParaRPr lang="en-US" sz="1500" dirty="0"/>
          </a:p>
        </p:txBody>
      </p:sp>
      <p:sp>
        <p:nvSpPr>
          <p:cNvPr id="18" name="Text 13"/>
          <p:cNvSpPr txBox="1"/>
          <p:nvPr/>
        </p:nvSpPr>
        <p:spPr>
          <a:xfrm>
            <a:off x="6309360" y="205740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Runs the .NET tooling</a:t>
            </a:r>
            <a:endParaRPr lang="en-US" sz="1200" dirty="0"/>
          </a:p>
        </p:txBody>
      </p:sp>
      <p:sp>
        <p:nvSpPr>
          <p:cNvPr id="19" name="Shape 14"/>
          <p:cNvSpPr/>
          <p:nvPr/>
        </p:nvSpPr>
        <p:spPr>
          <a:xfrm>
            <a:off x="457200" y="2994660"/>
            <a:ext cx="256032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64008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739932" y="3277392"/>
            <a:ext cx="184343" cy="184343"/>
          </a:xfrm>
          <a:prstGeom prst="rect">
            <a:avLst/>
          </a:prstGeom>
        </p:spPr>
      </p:pic>
      <p:sp>
        <p:nvSpPr>
          <p:cNvPr id="22" name="Text 16"/>
          <p:cNvSpPr txBox="1"/>
          <p:nvPr/>
        </p:nvSpPr>
        <p:spPr>
          <a:xfrm>
            <a:off x="1143000" y="317754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Edits files</a:t>
            </a:r>
            <a:endParaRPr lang="en-US" sz="1500" dirty="0"/>
          </a:p>
        </p:txBody>
      </p:sp>
      <p:sp>
        <p:nvSpPr>
          <p:cNvPr id="23" name="Text 17"/>
          <p:cNvSpPr txBox="1"/>
          <p:nvPr/>
        </p:nvSpPr>
        <p:spPr>
          <a:xfrm>
            <a:off x="640080" y="368046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Changes the code it read</a:t>
            </a:r>
            <a:endParaRPr lang="en-US" sz="1200" dirty="0"/>
          </a:p>
        </p:txBody>
      </p:sp>
      <p:sp>
        <p:nvSpPr>
          <p:cNvPr id="24" name="Shape 18"/>
          <p:cNvSpPr/>
          <p:nvPr/>
        </p:nvSpPr>
        <p:spPr>
          <a:xfrm>
            <a:off x="3291840" y="2994660"/>
            <a:ext cx="2560320" cy="1394460"/>
          </a:xfrm>
          <a:prstGeom prst="roundRect">
            <a:avLst>
              <a:gd name="adj" fmla="val 5246"/>
            </a:avLst>
          </a:prstGeom>
          <a:solidFill>
            <a:srgbClr val="EFEBFC"/>
          </a:solidFill>
          <a:ln w="12700">
            <a:solidFill>
              <a:srgbClr val="EFEBFC"/>
            </a:solidFill>
            <a:prstDash val="solid"/>
          </a:ln>
        </p:spPr>
      </p:sp>
      <p:sp>
        <p:nvSpPr>
          <p:cNvPr id="25" name="Shape 19"/>
          <p:cNvSpPr/>
          <p:nvPr/>
        </p:nvSpPr>
        <p:spPr>
          <a:xfrm>
            <a:off x="3474720" y="3177540"/>
            <a:ext cx="384048" cy="384048"/>
          </a:xfrm>
          <a:prstGeom prst="ellipse">
            <a:avLst/>
          </a:prstGeom>
          <a:solidFill>
            <a:srgbClr val="512BD4"/>
          </a:solidFill>
          <a:ln w="12700">
            <a:solidFill>
              <a:srgbClr val="512BD4"/>
            </a:solidFill>
            <a:prstDash val="solid"/>
          </a:ln>
        </p:spPr>
      </p:sp>
      <p:pic>
        <p:nvPicPr>
          <p:cNvPr id="26" name="Image 4" descr="preencoded.png">    </p:cNvPr>
          <p:cNvPicPr>
            <a:picLocks noChangeAspect="1"/>
          </p:cNvPicPr>
          <p:nvPr/>
        </p:nvPicPr>
        <p:blipFill>
          <a:blip r:embed="rId5"/>
          <a:stretch>
            <a:fillRect/>
          </a:stretch>
        </p:blipFill>
        <p:spPr>
          <a:xfrm>
            <a:off x="3574572" y="3277392"/>
            <a:ext cx="184343" cy="184343"/>
          </a:xfrm>
          <a:prstGeom prst="rect">
            <a:avLst/>
          </a:prstGeom>
        </p:spPr>
      </p:pic>
      <p:sp>
        <p:nvSpPr>
          <p:cNvPr id="27" name="Text 20"/>
          <p:cNvSpPr txBox="1"/>
          <p:nvPr/>
        </p:nvSpPr>
        <p:spPr>
          <a:xfrm>
            <a:off x="3977640" y="317754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Inspects Git</a:t>
            </a:r>
            <a:endParaRPr lang="en-US" sz="1500" dirty="0"/>
          </a:p>
        </p:txBody>
      </p:sp>
      <p:sp>
        <p:nvSpPr>
          <p:cNvPr id="28" name="Text 21"/>
          <p:cNvSpPr txBox="1"/>
          <p:nvPr/>
        </p:nvSpPr>
        <p:spPr>
          <a:xfrm>
            <a:off x="3474720" y="368046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Status, diff and log</a:t>
            </a:r>
            <a:endParaRPr lang="en-US" sz="1200" dirty="0"/>
          </a:p>
        </p:txBody>
      </p:sp>
      <p:sp>
        <p:nvSpPr>
          <p:cNvPr id="29" name="Shape 22"/>
          <p:cNvSpPr/>
          <p:nvPr/>
        </p:nvSpPr>
        <p:spPr>
          <a:xfrm>
            <a:off x="6126480" y="2994660"/>
            <a:ext cx="2560320" cy="1394460"/>
          </a:xfrm>
          <a:prstGeom prst="roundRect">
            <a:avLst>
              <a:gd name="adj" fmla="val 5246"/>
            </a:avLst>
          </a:prstGeom>
          <a:solidFill>
            <a:srgbClr val="512BD4"/>
          </a:solidFill>
          <a:ln w="12700">
            <a:solidFill>
              <a:srgbClr val="512BD4"/>
            </a:solidFill>
            <a:prstDash val="solid"/>
          </a:ln>
        </p:spPr>
      </p:sp>
      <p:sp>
        <p:nvSpPr>
          <p:cNvPr id="30" name="Shape 23"/>
          <p:cNvSpPr/>
          <p:nvPr/>
        </p:nvSpPr>
        <p:spPr>
          <a:xfrm>
            <a:off x="6309360" y="3177540"/>
            <a:ext cx="384048" cy="384048"/>
          </a:xfrm>
          <a:prstGeom prst="ellipse">
            <a:avLst/>
          </a:prstGeom>
          <a:solidFill>
            <a:srgbClr val="FFFFFF"/>
          </a:solidFill>
          <a:ln w="12700">
            <a:solidFill>
              <a:srgbClr val="FFFFFF"/>
            </a:solidFill>
            <a:prstDash val="solid"/>
          </a:ln>
        </p:spPr>
      </p:sp>
      <p:pic>
        <p:nvPicPr>
          <p:cNvPr id="31" name="Image 5" descr="preencoded.png">    </p:cNvPr>
          <p:cNvPicPr>
            <a:picLocks noChangeAspect="1"/>
          </p:cNvPicPr>
          <p:nvPr/>
        </p:nvPicPr>
        <p:blipFill>
          <a:blip r:embed="rId6"/>
          <a:stretch>
            <a:fillRect/>
          </a:stretch>
        </p:blipFill>
        <p:spPr>
          <a:xfrm>
            <a:off x="6409212" y="3277392"/>
            <a:ext cx="184343" cy="184343"/>
          </a:xfrm>
          <a:prstGeom prst="rect">
            <a:avLst/>
          </a:prstGeom>
        </p:spPr>
      </p:pic>
      <p:sp>
        <p:nvSpPr>
          <p:cNvPr id="32" name="Text 24"/>
          <p:cNvSpPr txBox="1"/>
          <p:nvPr/>
        </p:nvSpPr>
        <p:spPr>
          <a:xfrm>
            <a:off x="6812280" y="3177540"/>
            <a:ext cx="1737360" cy="384048"/>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Same mechanism</a:t>
            </a:r>
            <a:endParaRPr lang="en-US" sz="1500" dirty="0"/>
          </a:p>
        </p:txBody>
      </p:sp>
      <p:sp>
        <p:nvSpPr>
          <p:cNvPr id="33" name="Text 25"/>
          <p:cNvSpPr txBox="1"/>
          <p:nvPr/>
        </p:nvSpPr>
        <p:spPr>
          <a:xfrm>
            <a:off x="6309360" y="3680460"/>
            <a:ext cx="2194560" cy="6172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Reason, act, observe, repeat</a:t>
            </a:r>
            <a:endParaRPr lang="en-US" sz="1200" dirty="0"/>
          </a:p>
        </p:txBody>
      </p:sp>
      <p:sp>
        <p:nvSpPr>
          <p:cNvPr id="34" name="Text 26"/>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1 — Understanding Coding Agents</a:t>
            </a:r>
            <a:endParaRPr lang="en-US" sz="900" dirty="0"/>
          </a:p>
        </p:txBody>
      </p:sp>
      <p:sp>
        <p:nvSpPr>
          <p:cNvPr id="35" name="Text 27"/>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agentic execution loop</a:t>
            </a:r>
            <a:endParaRPr lang="en-US" sz="2800" dirty="0"/>
          </a:p>
        </p:txBody>
      </p:sp>
      <p:sp>
        <p:nvSpPr>
          <p:cNvPr id="4" name="Shape 2"/>
          <p:cNvSpPr/>
          <p:nvPr/>
        </p:nvSpPr>
        <p:spPr>
          <a:xfrm>
            <a:off x="457200" y="1417320"/>
            <a:ext cx="1796796" cy="1801368"/>
          </a:xfrm>
          <a:prstGeom prst="roundRect">
            <a:avLst>
              <a:gd name="adj" fmla="val 4071"/>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Reason</a:t>
            </a:r>
            <a:endParaRPr lang="en-US" sz="1500" dirty="0"/>
          </a:p>
        </p:txBody>
      </p:sp>
      <p:sp>
        <p:nvSpPr>
          <p:cNvPr id="8" name="Text 5"/>
          <p:cNvSpPr txBox="1"/>
          <p:nvPr/>
        </p:nvSpPr>
        <p:spPr>
          <a:xfrm>
            <a:off x="640080" y="2606040"/>
            <a:ext cx="1476756" cy="52120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model reads the conversation</a:t>
            </a:r>
            <a:endParaRPr lang="en-US" sz="1200" dirty="0"/>
          </a:p>
        </p:txBody>
      </p:sp>
      <p:sp>
        <p:nvSpPr>
          <p:cNvPr id="9" name="Shape 6"/>
          <p:cNvSpPr/>
          <p:nvPr/>
        </p:nvSpPr>
        <p:spPr>
          <a:xfrm>
            <a:off x="2318004" y="2208276"/>
            <a:ext cx="219456" cy="219456"/>
          </a:xfrm>
          <a:prstGeom prst="rightArrow">
            <a:avLst/>
          </a:prstGeom>
          <a:solidFill>
            <a:srgbClr val="F5A623"/>
          </a:solidFill>
          <a:ln w="12700">
            <a:solidFill>
              <a:srgbClr val="F5A623"/>
            </a:solidFill>
            <a:prstDash val="solid"/>
          </a:ln>
        </p:spPr>
      </p:sp>
      <p:sp>
        <p:nvSpPr>
          <p:cNvPr id="10" name="Shape 7"/>
          <p:cNvSpPr/>
          <p:nvPr/>
        </p:nvSpPr>
        <p:spPr>
          <a:xfrm>
            <a:off x="2601468" y="1417320"/>
            <a:ext cx="1796796" cy="1801368"/>
          </a:xfrm>
          <a:prstGeom prst="roundRect">
            <a:avLst>
              <a:gd name="adj" fmla="val 4071"/>
            </a:avLst>
          </a:prstGeom>
          <a:solidFill>
            <a:srgbClr val="EFEBFC"/>
          </a:solidFill>
          <a:ln w="12700">
            <a:solidFill>
              <a:srgbClr val="EFEBFC"/>
            </a:solidFill>
            <a:prstDash val="solid"/>
          </a:ln>
        </p:spPr>
      </p:sp>
      <p:sp>
        <p:nvSpPr>
          <p:cNvPr id="11" name="Shape 8"/>
          <p:cNvSpPr/>
          <p:nvPr/>
        </p:nvSpPr>
        <p:spPr>
          <a:xfrm>
            <a:off x="2784348"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903220" y="1737360"/>
            <a:ext cx="219456" cy="219456"/>
          </a:xfrm>
          <a:prstGeom prst="rect">
            <a:avLst/>
          </a:prstGeom>
        </p:spPr>
      </p:pic>
      <p:sp>
        <p:nvSpPr>
          <p:cNvPr id="13" name="Text 9"/>
          <p:cNvSpPr txBox="1"/>
          <p:nvPr/>
        </p:nvSpPr>
        <p:spPr>
          <a:xfrm>
            <a:off x="2784348"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Act</a:t>
            </a:r>
            <a:endParaRPr lang="en-US" sz="1500" dirty="0"/>
          </a:p>
        </p:txBody>
      </p:sp>
      <p:sp>
        <p:nvSpPr>
          <p:cNvPr id="14" name="Text 10"/>
          <p:cNvSpPr txBox="1"/>
          <p:nvPr/>
        </p:nvSpPr>
        <p:spPr>
          <a:xfrm>
            <a:off x="2784348" y="2606040"/>
            <a:ext cx="1476756" cy="52120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It asks for a tool to be run</a:t>
            </a:r>
            <a:endParaRPr lang="en-US" sz="1200" dirty="0"/>
          </a:p>
        </p:txBody>
      </p:sp>
      <p:sp>
        <p:nvSpPr>
          <p:cNvPr id="15" name="Shape 11"/>
          <p:cNvSpPr/>
          <p:nvPr/>
        </p:nvSpPr>
        <p:spPr>
          <a:xfrm>
            <a:off x="4462272" y="2208276"/>
            <a:ext cx="219456" cy="219456"/>
          </a:xfrm>
          <a:prstGeom prst="rightArrow">
            <a:avLst/>
          </a:prstGeom>
          <a:solidFill>
            <a:srgbClr val="F5A623"/>
          </a:solidFill>
          <a:ln w="12700">
            <a:solidFill>
              <a:srgbClr val="F5A623"/>
            </a:solidFill>
            <a:prstDash val="solid"/>
          </a:ln>
        </p:spPr>
      </p:sp>
      <p:sp>
        <p:nvSpPr>
          <p:cNvPr id="16" name="Shape 12"/>
          <p:cNvSpPr/>
          <p:nvPr/>
        </p:nvSpPr>
        <p:spPr>
          <a:xfrm>
            <a:off x="4745736" y="1417320"/>
            <a:ext cx="1796796" cy="1801368"/>
          </a:xfrm>
          <a:prstGeom prst="roundRect">
            <a:avLst>
              <a:gd name="adj" fmla="val 4071"/>
            </a:avLst>
          </a:prstGeom>
          <a:solidFill>
            <a:srgbClr val="EFEBFC"/>
          </a:solidFill>
          <a:ln w="12700">
            <a:solidFill>
              <a:srgbClr val="EFEBFC"/>
            </a:solidFill>
            <a:prstDash val="solid"/>
          </a:ln>
        </p:spPr>
      </p:sp>
      <p:sp>
        <p:nvSpPr>
          <p:cNvPr id="17" name="Shape 13"/>
          <p:cNvSpPr/>
          <p:nvPr/>
        </p:nvSpPr>
        <p:spPr>
          <a:xfrm>
            <a:off x="4928616"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047488" y="1737360"/>
            <a:ext cx="219456" cy="219456"/>
          </a:xfrm>
          <a:prstGeom prst="rect">
            <a:avLst/>
          </a:prstGeom>
        </p:spPr>
      </p:pic>
      <p:sp>
        <p:nvSpPr>
          <p:cNvPr id="19" name="Text 14"/>
          <p:cNvSpPr txBox="1"/>
          <p:nvPr/>
        </p:nvSpPr>
        <p:spPr>
          <a:xfrm>
            <a:off x="4928616"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Observe</a:t>
            </a:r>
            <a:endParaRPr lang="en-US" sz="1500" dirty="0"/>
          </a:p>
        </p:txBody>
      </p:sp>
      <p:sp>
        <p:nvSpPr>
          <p:cNvPr id="20" name="Text 15"/>
          <p:cNvSpPr txBox="1"/>
          <p:nvPr/>
        </p:nvSpPr>
        <p:spPr>
          <a:xfrm>
            <a:off x="4928616" y="2606040"/>
            <a:ext cx="1476756" cy="52120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result joins the conversation</a:t>
            </a:r>
            <a:endParaRPr lang="en-US" sz="1200" dirty="0"/>
          </a:p>
        </p:txBody>
      </p:sp>
      <p:sp>
        <p:nvSpPr>
          <p:cNvPr id="21" name="Shape 16"/>
          <p:cNvSpPr/>
          <p:nvPr/>
        </p:nvSpPr>
        <p:spPr>
          <a:xfrm>
            <a:off x="6606540" y="2208276"/>
            <a:ext cx="219456" cy="219456"/>
          </a:xfrm>
          <a:prstGeom prst="rightArrow">
            <a:avLst/>
          </a:prstGeom>
          <a:solidFill>
            <a:srgbClr val="F5A623"/>
          </a:solidFill>
          <a:ln w="12700">
            <a:solidFill>
              <a:srgbClr val="F5A623"/>
            </a:solidFill>
            <a:prstDash val="solid"/>
          </a:ln>
        </p:spPr>
      </p:sp>
      <p:sp>
        <p:nvSpPr>
          <p:cNvPr id="22" name="Shape 17"/>
          <p:cNvSpPr/>
          <p:nvPr/>
        </p:nvSpPr>
        <p:spPr>
          <a:xfrm>
            <a:off x="6890004" y="1417320"/>
            <a:ext cx="1796796" cy="1801368"/>
          </a:xfrm>
          <a:prstGeom prst="roundRect">
            <a:avLst>
              <a:gd name="adj" fmla="val 4071"/>
            </a:avLst>
          </a:prstGeom>
          <a:solidFill>
            <a:srgbClr val="512BD4"/>
          </a:solidFill>
          <a:ln w="12700">
            <a:solidFill>
              <a:srgbClr val="512BD4"/>
            </a:solidFill>
            <a:prstDash val="solid"/>
          </a:ln>
        </p:spPr>
      </p:sp>
      <p:sp>
        <p:nvSpPr>
          <p:cNvPr id="23" name="Shape 18"/>
          <p:cNvSpPr/>
          <p:nvPr/>
        </p:nvSpPr>
        <p:spPr>
          <a:xfrm>
            <a:off x="7072884" y="1618488"/>
            <a:ext cx="457200" cy="457200"/>
          </a:xfrm>
          <a:prstGeom prst="ellipse">
            <a:avLst/>
          </a:prstGeom>
          <a:solidFill>
            <a:srgbClr val="FFFFFF"/>
          </a:solidFill>
          <a:ln w="12700">
            <a:solidFill>
              <a:srgbClr val="FFFFFF"/>
            </a:solidFill>
            <a:prstDash val="solid"/>
          </a:ln>
        </p:spPr>
      </p:sp>
      <p:pic>
        <p:nvPicPr>
          <p:cNvPr id="24" name="Image 3" descr="preencoded.png">    </p:cNvPr>
          <p:cNvPicPr>
            <a:picLocks noChangeAspect="1"/>
          </p:cNvPicPr>
          <p:nvPr/>
        </p:nvPicPr>
        <p:blipFill>
          <a:blip r:embed="rId4"/>
          <a:stretch>
            <a:fillRect/>
          </a:stretch>
        </p:blipFill>
        <p:spPr>
          <a:xfrm>
            <a:off x="7191756" y="1737360"/>
            <a:ext cx="219456" cy="219456"/>
          </a:xfrm>
          <a:prstGeom prst="rect">
            <a:avLst/>
          </a:prstGeom>
        </p:spPr>
      </p:pic>
      <p:sp>
        <p:nvSpPr>
          <p:cNvPr id="25" name="Text 19"/>
          <p:cNvSpPr txBox="1"/>
          <p:nvPr/>
        </p:nvSpPr>
        <p:spPr>
          <a:xfrm>
            <a:off x="7072884" y="2194560"/>
            <a:ext cx="1476756" cy="411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Repeat</a:t>
            </a:r>
            <a:endParaRPr lang="en-US" sz="1500" dirty="0"/>
          </a:p>
        </p:txBody>
      </p:sp>
      <p:sp>
        <p:nvSpPr>
          <p:cNvPr id="26" name="Text 20"/>
          <p:cNvSpPr txBox="1"/>
          <p:nvPr/>
        </p:nvSpPr>
        <p:spPr>
          <a:xfrm>
            <a:off x="7072884" y="2606040"/>
            <a:ext cx="1476756" cy="52120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Until it answers instead of asking</a:t>
            </a:r>
            <a:endParaRPr lang="en-US" sz="1200" dirty="0"/>
          </a:p>
        </p:txBody>
      </p:sp>
      <p:sp>
        <p:nvSpPr>
          <p:cNvPr id="27" name="Text 21"/>
          <p:cNvSpPr txBox="1"/>
          <p:nvPr/>
        </p:nvSpPr>
        <p:spPr>
          <a:xfrm>
            <a:off x="457200" y="3538728"/>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loop, not the model, is what makes multi-step work possible.</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1 — Understanding Coding Agents</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Tool calling: the model asks, your code runs</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The model</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Given a list of functions, it decides which one is relevant and emits a structured request.</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Which tool</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Chosen from each function's name and description</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Arguments</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Filled in against the parameter schema</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Execution</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Your code runs it. The model never does.</a:t>
            </a:r>
            <a:endParaRPr lang="en-US" sz="1200" dirty="0"/>
          </a:p>
        </p:txBody>
      </p:sp>
      <p:sp>
        <p:nvSpPr>
          <p:cNvPr id="27"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"Fix the build" becomes list, search, read, compile.</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1 — Understanding Coding Agents</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Observations steer the next step</a:t>
            </a:r>
            <a:endParaRPr lang="en-US" sz="2800" dirty="0"/>
          </a:p>
        </p:txBody>
      </p:sp>
      <p:sp>
        <p:nvSpPr>
          <p:cNvPr id="4" name="Shape 2"/>
          <p:cNvSpPr/>
          <p:nvPr/>
        </p:nvSpPr>
        <p:spPr>
          <a:xfrm>
            <a:off x="457200" y="1325880"/>
            <a:ext cx="5257800" cy="2651760"/>
          </a:xfrm>
          <a:prstGeom prst="roundRect">
            <a:avLst>
              <a:gd name="adj" fmla="val 2759"/>
            </a:avLst>
          </a:prstGeom>
          <a:solidFill>
            <a:srgbClr val="0F1420"/>
          </a:solidFill>
          <a:ln w="12700">
            <a:solidFill>
              <a:srgbClr val="0F1420"/>
            </a:solidFill>
            <a:prstDash val="solid"/>
          </a:ln>
        </p:spPr>
      </p:sp>
      <p:sp>
        <p:nvSpPr>
          <p:cNvPr id="5" name="Text 3"/>
          <p:cNvSpPr txBox="1"/>
          <p:nvPr/>
        </p:nvSpPr>
        <p:spPr>
          <a:xfrm>
            <a:off x="640080" y="1463040"/>
            <a:ext cx="4892040" cy="237744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 An illustration, not captured output</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[Tool]   dotnet build</a:t>
            </a:r>
            <a:endParaRPr lang="en-US" sz="1100" dirty="0"/>
          </a:p>
          <a:p>
            <a:pPr indent="0" marL="0">
              <a:buNone/>
            </a:pPr>
            <a:r>
              <a:rPr lang="en-US" sz="1100" dirty="0">
                <a:solidFill>
                  <a:srgbClr val="FF9B9B"/>
                </a:solidFill>
                <a:latin typeface="Courier New" pitchFamily="34" charset="0"/>
                <a:ea typeface="Courier New" pitchFamily="34" charset="-122"/>
                <a:cs typeface="Courier New" pitchFamily="34" charset="-120"/>
              </a:rPr>
              <a:t>[Result] error CS0103: The name 'cutomer' does</a:t>
            </a:r>
            <a:endParaRPr lang="en-US" sz="1100" dirty="0"/>
          </a:p>
          <a:p>
            <a:pPr indent="0" marL="0">
              <a:buNone/>
            </a:pPr>
            <a:r>
              <a:rPr lang="en-US" sz="1100" dirty="0">
                <a:solidFill>
                  <a:srgbClr val="FF9B9B"/>
                </a:solidFill>
                <a:latin typeface="Courier New" pitchFamily="34" charset="0"/>
                <a:ea typeface="Courier New" pitchFamily="34" charset="-122"/>
                <a:cs typeface="Courier New" pitchFamily="34" charset="-120"/>
              </a:rPr>
              <a:t>         not exist in the current context</a:t>
            </a:r>
            <a:endParaRPr lang="en-US" sz="1100" dirty="0"/>
          </a:p>
          <a:p>
            <a:pPr indent="0" marL="0">
              <a:buNone/>
            </a:pPr>
            <a:r>
              <a:rPr lang="en-US" sz="1100" dirty="0">
                <a:solidFill>
                  <a:srgbClr val="FF9B9B"/>
                </a:solidFill>
                <a:latin typeface="Courier New" pitchFamily="34" charset="0"/>
                <a:ea typeface="Courier New" pitchFamily="34" charset="-122"/>
                <a:cs typeface="Courier New" pitchFamily="34" charset="-120"/>
              </a:rPr>
              <a:t>         CustomerService.cs(42,17)</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[Agent]  The error points at CustomerService.cs.</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[Tool]   ReadFile CustomerService.cs</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Observation</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tool's result, fed back into the conversation</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Adaptation</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error text becomes the next step's input</a:t>
            </a:r>
            <a:endParaRPr lang="en-US" sz="1200" dirty="0"/>
          </a:p>
        </p:txBody>
      </p:sp>
      <p:sp>
        <p:nvSpPr>
          <p:cNvPr id="14" name="Text 10"/>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1 — Understanding Coding Agents</a:t>
            </a:r>
            <a:endParaRPr lang="en-US" sz="900" dirty="0"/>
          </a:p>
        </p:txBody>
      </p:sp>
      <p:sp>
        <p:nvSpPr>
          <p:cNvPr id="15" name="Text 11"/>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Autonomy is a spectrum</a:t>
            </a:r>
            <a:endParaRPr lang="en-US" sz="2800" dirty="0"/>
          </a:p>
        </p:txBody>
      </p:sp>
      <p:sp>
        <p:nvSpPr>
          <p:cNvPr id="4" name="Shape 2"/>
          <p:cNvSpPr/>
          <p:nvPr/>
        </p:nvSpPr>
        <p:spPr>
          <a:xfrm>
            <a:off x="457200" y="1417320"/>
            <a:ext cx="2511552" cy="1801368"/>
          </a:xfrm>
          <a:prstGeom prst="roundRect">
            <a:avLst>
              <a:gd name="adj" fmla="val 4061"/>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2191512"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Suggest</a:t>
            </a:r>
            <a:endParaRPr lang="en-US" sz="1500" dirty="0"/>
          </a:p>
        </p:txBody>
      </p:sp>
      <p:sp>
        <p:nvSpPr>
          <p:cNvPr id="8" name="Text 5"/>
          <p:cNvSpPr txBox="1"/>
          <p:nvPr/>
        </p:nvSpPr>
        <p:spPr>
          <a:xfrm>
            <a:off x="640080" y="2606040"/>
            <a:ext cx="2191512" cy="52120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Propose one edit and stop</a:t>
            </a:r>
            <a:endParaRPr lang="en-US" sz="1200" dirty="0"/>
          </a:p>
        </p:txBody>
      </p:sp>
      <p:sp>
        <p:nvSpPr>
          <p:cNvPr id="9" name="Shape 6"/>
          <p:cNvSpPr/>
          <p:nvPr/>
        </p:nvSpPr>
        <p:spPr>
          <a:xfrm>
            <a:off x="3032760" y="2208276"/>
            <a:ext cx="219456" cy="219456"/>
          </a:xfrm>
          <a:prstGeom prst="rightArrow">
            <a:avLst/>
          </a:prstGeom>
          <a:solidFill>
            <a:srgbClr val="F5A623"/>
          </a:solidFill>
          <a:ln w="12700">
            <a:solidFill>
              <a:srgbClr val="F5A623"/>
            </a:solidFill>
            <a:prstDash val="solid"/>
          </a:ln>
        </p:spPr>
      </p:sp>
      <p:sp>
        <p:nvSpPr>
          <p:cNvPr id="10" name="Shape 7"/>
          <p:cNvSpPr/>
          <p:nvPr/>
        </p:nvSpPr>
        <p:spPr>
          <a:xfrm>
            <a:off x="3316224" y="1417320"/>
            <a:ext cx="2511552" cy="1801368"/>
          </a:xfrm>
          <a:prstGeom prst="roundRect">
            <a:avLst>
              <a:gd name="adj" fmla="val 4061"/>
            </a:avLst>
          </a:prstGeom>
          <a:solidFill>
            <a:srgbClr val="EFEBFC"/>
          </a:solidFill>
          <a:ln w="12700">
            <a:solidFill>
              <a:srgbClr val="EFEBFC"/>
            </a:solidFill>
            <a:prstDash val="solid"/>
          </a:ln>
        </p:spPr>
      </p:sp>
      <p:sp>
        <p:nvSpPr>
          <p:cNvPr id="11" name="Shape 8"/>
          <p:cNvSpPr/>
          <p:nvPr/>
        </p:nvSpPr>
        <p:spPr>
          <a:xfrm>
            <a:off x="349910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17976" y="1737360"/>
            <a:ext cx="219456" cy="219456"/>
          </a:xfrm>
          <a:prstGeom prst="rect">
            <a:avLst/>
          </a:prstGeom>
        </p:spPr>
      </p:pic>
      <p:sp>
        <p:nvSpPr>
          <p:cNvPr id="13" name="Text 9"/>
          <p:cNvSpPr txBox="1"/>
          <p:nvPr/>
        </p:nvSpPr>
        <p:spPr>
          <a:xfrm>
            <a:off x="3499104" y="2194560"/>
            <a:ext cx="2191512"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Chain</a:t>
            </a:r>
            <a:endParaRPr lang="en-US" sz="1500" dirty="0"/>
          </a:p>
        </p:txBody>
      </p:sp>
      <p:sp>
        <p:nvSpPr>
          <p:cNvPr id="14" name="Text 10"/>
          <p:cNvSpPr txBox="1"/>
          <p:nvPr/>
        </p:nvSpPr>
        <p:spPr>
          <a:xfrm>
            <a:off x="3499104" y="2606040"/>
            <a:ext cx="2191512" cy="52120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Discover, read, edit, build, test on its own</a:t>
            </a:r>
            <a:endParaRPr lang="en-US" sz="1200" dirty="0"/>
          </a:p>
        </p:txBody>
      </p:sp>
      <p:sp>
        <p:nvSpPr>
          <p:cNvPr id="15" name="Shape 11"/>
          <p:cNvSpPr/>
          <p:nvPr/>
        </p:nvSpPr>
        <p:spPr>
          <a:xfrm>
            <a:off x="5891784" y="2208276"/>
            <a:ext cx="219456" cy="219456"/>
          </a:xfrm>
          <a:prstGeom prst="rightArrow">
            <a:avLst/>
          </a:prstGeom>
          <a:solidFill>
            <a:srgbClr val="F5A623"/>
          </a:solidFill>
          <a:ln w="12700">
            <a:solidFill>
              <a:srgbClr val="F5A623"/>
            </a:solidFill>
            <a:prstDash val="solid"/>
          </a:ln>
        </p:spPr>
      </p:sp>
      <p:sp>
        <p:nvSpPr>
          <p:cNvPr id="16" name="Shape 12"/>
          <p:cNvSpPr/>
          <p:nvPr/>
        </p:nvSpPr>
        <p:spPr>
          <a:xfrm>
            <a:off x="6175248" y="1417320"/>
            <a:ext cx="2511552" cy="1801368"/>
          </a:xfrm>
          <a:prstGeom prst="roundRect">
            <a:avLst>
              <a:gd name="adj" fmla="val 4061"/>
            </a:avLst>
          </a:prstGeom>
          <a:solidFill>
            <a:srgbClr val="512BD4"/>
          </a:solidFill>
          <a:ln w="12700">
            <a:solidFill>
              <a:srgbClr val="512BD4"/>
            </a:solidFill>
            <a:prstDash val="solid"/>
          </a:ln>
        </p:spPr>
      </p:sp>
      <p:sp>
        <p:nvSpPr>
          <p:cNvPr id="17" name="Shape 13"/>
          <p:cNvSpPr/>
          <p:nvPr/>
        </p:nvSpPr>
        <p:spPr>
          <a:xfrm>
            <a:off x="6358128" y="1618488"/>
            <a:ext cx="457200" cy="457200"/>
          </a:xfrm>
          <a:prstGeom prst="ellipse">
            <a:avLst/>
          </a:prstGeom>
          <a:solidFill>
            <a:srgbClr val="FFFFFF"/>
          </a:solidFill>
          <a:ln w="12700">
            <a:solidFill>
              <a:srgbClr val="FFFFFF"/>
            </a:solidFill>
            <a:prstDash val="solid"/>
          </a:ln>
        </p:spPr>
      </p:sp>
      <p:pic>
        <p:nvPicPr>
          <p:cNvPr id="18" name="Image 2" descr="preencoded.png">    </p:cNvPr>
          <p:cNvPicPr>
            <a:picLocks noChangeAspect="1"/>
          </p:cNvPicPr>
          <p:nvPr/>
        </p:nvPicPr>
        <p:blipFill>
          <a:blip r:embed="rId3"/>
          <a:stretch>
            <a:fillRect/>
          </a:stretch>
        </p:blipFill>
        <p:spPr>
          <a:xfrm>
            <a:off x="6477000" y="1737360"/>
            <a:ext cx="219456" cy="219456"/>
          </a:xfrm>
          <a:prstGeom prst="rect">
            <a:avLst/>
          </a:prstGeom>
        </p:spPr>
      </p:pic>
      <p:sp>
        <p:nvSpPr>
          <p:cNvPr id="19" name="Text 14"/>
          <p:cNvSpPr txBox="1"/>
          <p:nvPr/>
        </p:nvSpPr>
        <p:spPr>
          <a:xfrm>
            <a:off x="6358128" y="2194560"/>
            <a:ext cx="2191512" cy="411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MiniCode</a:t>
            </a:r>
            <a:endParaRPr lang="en-US" sz="1500" dirty="0"/>
          </a:p>
        </p:txBody>
      </p:sp>
      <p:sp>
        <p:nvSpPr>
          <p:cNvPr id="20" name="Text 15"/>
          <p:cNvSpPr txBox="1"/>
          <p:nvPr/>
        </p:nvSpPr>
        <p:spPr>
          <a:xfrm>
            <a:off x="6358128" y="2606040"/>
            <a:ext cx="2191512" cy="52120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Keeps working until done or stuck</a:t>
            </a:r>
            <a:endParaRPr lang="en-US" sz="1200" dirty="0"/>
          </a:p>
        </p:txBody>
      </p:sp>
      <p:sp>
        <p:nvSpPr>
          <p:cNvPr id="21" name="Text 16"/>
          <p:cNvSpPr txBox="1"/>
          <p:nvPr/>
        </p:nvSpPr>
        <p:spPr>
          <a:xfrm>
            <a:off x="457200" y="3538728"/>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Risky without limits: Module 4 adds the sandbox, Module 15 adds approval.</a:t>
            </a:r>
            <a:endParaRPr lang="en-US" sz="1400" dirty="0"/>
          </a:p>
        </p:txBody>
      </p:sp>
      <p:sp>
        <p:nvSpPr>
          <p:cNvPr id="22" name="Text 1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1 — Understanding Coding Agents</a:t>
            </a:r>
            <a:endParaRPr lang="en-US" sz="900" dirty="0"/>
          </a:p>
        </p:txBody>
      </p:sp>
      <p:sp>
        <p:nvSpPr>
          <p:cNvPr id="23" name="Text 1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Human-in-the-loop execution</a:t>
            </a:r>
            <a:endParaRPr lang="en-US" sz="2800" dirty="0"/>
          </a:p>
        </p:txBody>
      </p:sp>
      <p:sp>
        <p:nvSpPr>
          <p:cNvPr id="4" name="Shape 2"/>
          <p:cNvSpPr/>
          <p:nvPr/>
        </p:nvSpPr>
        <p:spPr>
          <a:xfrm>
            <a:off x="457200" y="1371600"/>
            <a:ext cx="3931920" cy="2194560"/>
          </a:xfrm>
          <a:prstGeom prst="roundRect">
            <a:avLst>
              <a:gd name="adj" fmla="val 3333"/>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16A34A"/>
          </a:solidFill>
          <a:ln w="12700">
            <a:solidFill>
              <a:srgbClr val="16A34A"/>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Safe on its own</a:t>
            </a:r>
            <a:endParaRPr lang="en-US" sz="1700" dirty="0"/>
          </a:p>
        </p:txBody>
      </p:sp>
      <p:sp>
        <p:nvSpPr>
          <p:cNvPr id="8" name="Text 5"/>
          <p:cNvSpPr txBox="1"/>
          <p:nvPr/>
        </p:nvSpPr>
        <p:spPr>
          <a:xfrm>
            <a:off x="685800" y="2194560"/>
            <a:ext cx="3474720" cy="640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Reading a file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Running dotnet build</a:t>
            </a:r>
            <a:endParaRPr lang="en-US" sz="1300" dirty="0"/>
          </a:p>
        </p:txBody>
      </p:sp>
      <p:sp>
        <p:nvSpPr>
          <p:cNvPr id="9" name="Shape 6"/>
          <p:cNvSpPr/>
          <p:nvPr/>
        </p:nvSpPr>
        <p:spPr>
          <a:xfrm>
            <a:off x="4754880" y="1371600"/>
            <a:ext cx="3931920" cy="2194560"/>
          </a:xfrm>
          <a:prstGeom prst="roundRect">
            <a:avLst>
              <a:gd name="adj" fmla="val 3333"/>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A person approves</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Deleting a file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Running git commit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Installing a package</a:t>
            </a:r>
            <a:endParaRPr lang="en-US" sz="1300" dirty="0"/>
          </a:p>
        </p:txBody>
      </p:sp>
      <p:sp>
        <p:nvSpPr>
          <p:cNvPr id="14" name="Text 10"/>
          <p:cNvSpPr txBox="1"/>
          <p:nvPr/>
        </p:nvSpPr>
        <p:spPr>
          <a:xfrm>
            <a:off x="457200" y="384048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Approval is a first-class design concern: the difference between a demo and a tool.</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1 — Understanding Coding Agents</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 coding agent is mostly harness</a:t>
            </a:r>
            <a:endParaRPr lang="en-US" sz="2800" dirty="0"/>
          </a:p>
        </p:txBody>
      </p:sp>
      <p:sp>
        <p:nvSpPr>
          <p:cNvPr id="4" name="Shape 2"/>
          <p:cNvSpPr/>
          <p:nvPr/>
        </p:nvSpPr>
        <p:spPr>
          <a:xfrm>
            <a:off x="457200" y="1371600"/>
            <a:ext cx="2560320" cy="1394460"/>
          </a:xfrm>
          <a:prstGeom prst="roundRect">
            <a:avLst>
              <a:gd name="adj" fmla="val 5246"/>
            </a:avLst>
          </a:prstGeom>
          <a:solidFill>
            <a:srgbClr val="512BD4"/>
          </a:solidFill>
          <a:ln w="12700">
            <a:solidFill>
              <a:srgbClr val="512BD4"/>
            </a:solidFill>
            <a:prstDash val="solid"/>
          </a:ln>
        </p:spPr>
      </p:sp>
      <p:sp>
        <p:nvSpPr>
          <p:cNvPr id="5" name="Shape 3"/>
          <p:cNvSpPr/>
          <p:nvPr/>
        </p:nvSpPr>
        <p:spPr>
          <a:xfrm>
            <a:off x="640080" y="1554480"/>
            <a:ext cx="384048" cy="384048"/>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The model</a:t>
            </a:r>
            <a:endParaRPr lang="en-US" sz="1500" dirty="0"/>
          </a:p>
        </p:txBody>
      </p:sp>
      <p:sp>
        <p:nvSpPr>
          <p:cNvPr id="8" name="Text 5"/>
          <p:cNvSpPr txBox="1"/>
          <p:nvPr/>
        </p:nvSpPr>
        <p:spPr>
          <a:xfrm>
            <a:off x="640080" y="2057400"/>
            <a:ext cx="2194560" cy="6172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Supplies the reasoning</a:t>
            </a:r>
            <a:endParaRPr lang="en-US" sz="1200" dirty="0"/>
          </a:p>
        </p:txBody>
      </p:sp>
      <p:sp>
        <p:nvSpPr>
          <p:cNvPr id="9" name="Shape 6"/>
          <p:cNvSpPr/>
          <p:nvPr/>
        </p:nvSpPr>
        <p:spPr>
          <a:xfrm>
            <a:off x="3291840" y="1371600"/>
            <a:ext cx="256032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347472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3574572" y="1654332"/>
            <a:ext cx="184343" cy="184343"/>
          </a:xfrm>
          <a:prstGeom prst="rect">
            <a:avLst/>
          </a:prstGeom>
        </p:spPr>
      </p:pic>
      <p:sp>
        <p:nvSpPr>
          <p:cNvPr id="12" name="Text 8"/>
          <p:cNvSpPr txBox="1"/>
          <p:nvPr/>
        </p:nvSpPr>
        <p:spPr>
          <a:xfrm>
            <a:off x="3977640" y="1554480"/>
            <a:ext cx="1737360" cy="384048"/>
          </a:xfrm>
          <a:prstGeom prst="rect">
            <a:avLst/>
          </a:prstGeom>
          <a:noFill/>
          <a:ln/>
        </p:spPr>
        <p:txBody>
          <a:bodyPr wrap="square" lIns="0" tIns="0" rIns="0" bIns="0" rtlCol="0" anchor="ctr">
            <a:normAutofit/>
          </a:bodyPr>
          <a:lstStyle/>
          <a:p>
            <a:pPr indent="0" marL="0">
              <a:buNone/>
            </a:pPr>
            <a:r>
              <a:rPr lang="en-US" sz="1400" b="1" dirty="0">
                <a:solidFill>
                  <a:srgbClr val="1F2937"/>
                </a:solidFill>
                <a:latin typeface="Calibri" pitchFamily="34" charset="0"/>
                <a:ea typeface="Calibri" pitchFamily="34" charset="-122"/>
                <a:cs typeface="Calibri" pitchFamily="34" charset="-120"/>
              </a:rPr>
              <a:t>Tool definitions</a:t>
            </a:r>
            <a:endParaRPr lang="en-US" sz="1400" dirty="0"/>
          </a:p>
        </p:txBody>
      </p:sp>
      <p:sp>
        <p:nvSpPr>
          <p:cNvPr id="13" name="Text 9"/>
          <p:cNvSpPr txBox="1"/>
          <p:nvPr/>
        </p:nvSpPr>
        <p:spPr>
          <a:xfrm>
            <a:off x="3474720" y="205740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What it is allowed to do</a:t>
            </a:r>
            <a:endParaRPr lang="en-US" sz="1200" dirty="0"/>
          </a:p>
        </p:txBody>
      </p:sp>
      <p:sp>
        <p:nvSpPr>
          <p:cNvPr id="14" name="Shape 10"/>
          <p:cNvSpPr/>
          <p:nvPr/>
        </p:nvSpPr>
        <p:spPr>
          <a:xfrm>
            <a:off x="6126480" y="1371600"/>
            <a:ext cx="256032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30936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6409212" y="1654332"/>
            <a:ext cx="184343" cy="184343"/>
          </a:xfrm>
          <a:prstGeom prst="rect">
            <a:avLst/>
          </a:prstGeom>
        </p:spPr>
      </p:pic>
      <p:sp>
        <p:nvSpPr>
          <p:cNvPr id="17" name="Text 12"/>
          <p:cNvSpPr txBox="1"/>
          <p:nvPr/>
        </p:nvSpPr>
        <p:spPr>
          <a:xfrm>
            <a:off x="681228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Boundaries</a:t>
            </a:r>
            <a:endParaRPr lang="en-US" sz="1500" dirty="0"/>
          </a:p>
        </p:txBody>
      </p:sp>
      <p:sp>
        <p:nvSpPr>
          <p:cNvPr id="18" name="Text 13"/>
          <p:cNvSpPr txBox="1"/>
          <p:nvPr/>
        </p:nvSpPr>
        <p:spPr>
          <a:xfrm>
            <a:off x="6309360" y="205740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Where it is allowed to do it</a:t>
            </a:r>
            <a:endParaRPr lang="en-US" sz="1200" dirty="0"/>
          </a:p>
        </p:txBody>
      </p:sp>
      <p:sp>
        <p:nvSpPr>
          <p:cNvPr id="19" name="Shape 14"/>
          <p:cNvSpPr/>
          <p:nvPr/>
        </p:nvSpPr>
        <p:spPr>
          <a:xfrm>
            <a:off x="457200" y="2994660"/>
            <a:ext cx="256032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64008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739932" y="3277392"/>
            <a:ext cx="184343" cy="184343"/>
          </a:xfrm>
          <a:prstGeom prst="rect">
            <a:avLst/>
          </a:prstGeom>
        </p:spPr>
      </p:pic>
      <p:sp>
        <p:nvSpPr>
          <p:cNvPr id="22" name="Text 16"/>
          <p:cNvSpPr txBox="1"/>
          <p:nvPr/>
        </p:nvSpPr>
        <p:spPr>
          <a:xfrm>
            <a:off x="1143000" y="317754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Approval policy</a:t>
            </a:r>
            <a:endParaRPr lang="en-US" sz="1500" dirty="0"/>
          </a:p>
        </p:txBody>
      </p:sp>
      <p:sp>
        <p:nvSpPr>
          <p:cNvPr id="23" name="Text 17"/>
          <p:cNvSpPr txBox="1"/>
          <p:nvPr/>
        </p:nvSpPr>
        <p:spPr>
          <a:xfrm>
            <a:off x="640080" y="368046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When a person must say yes</a:t>
            </a:r>
            <a:endParaRPr lang="en-US" sz="1200" dirty="0"/>
          </a:p>
        </p:txBody>
      </p:sp>
      <p:sp>
        <p:nvSpPr>
          <p:cNvPr id="24" name="Shape 18"/>
          <p:cNvSpPr/>
          <p:nvPr/>
        </p:nvSpPr>
        <p:spPr>
          <a:xfrm>
            <a:off x="3291840" y="2994660"/>
            <a:ext cx="2560320" cy="1394460"/>
          </a:xfrm>
          <a:prstGeom prst="roundRect">
            <a:avLst>
              <a:gd name="adj" fmla="val 5246"/>
            </a:avLst>
          </a:prstGeom>
          <a:solidFill>
            <a:srgbClr val="EFEBFC"/>
          </a:solidFill>
          <a:ln w="12700">
            <a:solidFill>
              <a:srgbClr val="EFEBFC"/>
            </a:solidFill>
            <a:prstDash val="solid"/>
          </a:ln>
        </p:spPr>
      </p:sp>
      <p:sp>
        <p:nvSpPr>
          <p:cNvPr id="25" name="Shape 19"/>
          <p:cNvSpPr/>
          <p:nvPr/>
        </p:nvSpPr>
        <p:spPr>
          <a:xfrm>
            <a:off x="3474720" y="3177540"/>
            <a:ext cx="384048" cy="384048"/>
          </a:xfrm>
          <a:prstGeom prst="ellipse">
            <a:avLst/>
          </a:prstGeom>
          <a:solidFill>
            <a:srgbClr val="512BD4"/>
          </a:solidFill>
          <a:ln w="12700">
            <a:solidFill>
              <a:srgbClr val="512BD4"/>
            </a:solidFill>
            <a:prstDash val="solid"/>
          </a:ln>
        </p:spPr>
      </p:sp>
      <p:pic>
        <p:nvPicPr>
          <p:cNvPr id="26" name="Image 4" descr="preencoded.png">    </p:cNvPr>
          <p:cNvPicPr>
            <a:picLocks noChangeAspect="1"/>
          </p:cNvPicPr>
          <p:nvPr/>
        </p:nvPicPr>
        <p:blipFill>
          <a:blip r:embed="rId5"/>
          <a:stretch>
            <a:fillRect/>
          </a:stretch>
        </p:blipFill>
        <p:spPr>
          <a:xfrm>
            <a:off x="3574572" y="3277392"/>
            <a:ext cx="184343" cy="184343"/>
          </a:xfrm>
          <a:prstGeom prst="rect">
            <a:avLst/>
          </a:prstGeom>
        </p:spPr>
      </p:pic>
      <p:sp>
        <p:nvSpPr>
          <p:cNvPr id="27" name="Text 20"/>
          <p:cNvSpPr txBox="1"/>
          <p:nvPr/>
        </p:nvSpPr>
        <p:spPr>
          <a:xfrm>
            <a:off x="3977640" y="3177540"/>
            <a:ext cx="1737360" cy="384048"/>
          </a:xfrm>
          <a:prstGeom prst="rect">
            <a:avLst/>
          </a:prstGeom>
          <a:noFill/>
          <a:ln/>
        </p:spPr>
        <p:txBody>
          <a:bodyPr wrap="square" lIns="0" tIns="0" rIns="0" bIns="0" rtlCol="0" anchor="ctr">
            <a:normAutofit/>
          </a:bodyPr>
          <a:lstStyle/>
          <a:p>
            <a:pPr indent="0" marL="0">
              <a:buNone/>
            </a:pPr>
            <a:r>
              <a:rPr lang="en-US" sz="1400" b="1" dirty="0">
                <a:solidFill>
                  <a:srgbClr val="1F2937"/>
                </a:solidFill>
                <a:latin typeface="Calibri" pitchFamily="34" charset="0"/>
                <a:ea typeface="Calibri" pitchFamily="34" charset="-122"/>
                <a:cs typeface="Calibri" pitchFamily="34" charset="-120"/>
              </a:rPr>
              <a:t>Context strategy</a:t>
            </a:r>
            <a:endParaRPr lang="en-US" sz="1400" dirty="0"/>
          </a:p>
        </p:txBody>
      </p:sp>
      <p:sp>
        <p:nvSpPr>
          <p:cNvPr id="28" name="Text 21"/>
          <p:cNvSpPr txBox="1"/>
          <p:nvPr/>
        </p:nvSpPr>
        <p:spPr>
          <a:xfrm>
            <a:off x="3474720" y="368046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What the model gets to see</a:t>
            </a:r>
            <a:endParaRPr lang="en-US" sz="1200" dirty="0"/>
          </a:p>
        </p:txBody>
      </p:sp>
      <p:sp>
        <p:nvSpPr>
          <p:cNvPr id="29" name="Shape 22"/>
          <p:cNvSpPr/>
          <p:nvPr/>
        </p:nvSpPr>
        <p:spPr>
          <a:xfrm>
            <a:off x="6126480" y="2994660"/>
            <a:ext cx="2560320" cy="1394460"/>
          </a:xfrm>
          <a:prstGeom prst="roundRect">
            <a:avLst>
              <a:gd name="adj" fmla="val 5246"/>
            </a:avLst>
          </a:prstGeom>
          <a:solidFill>
            <a:srgbClr val="EFEBFC"/>
          </a:solidFill>
          <a:ln w="12700">
            <a:solidFill>
              <a:srgbClr val="EFEBFC"/>
            </a:solidFill>
            <a:prstDash val="solid"/>
          </a:ln>
        </p:spPr>
      </p:sp>
      <p:sp>
        <p:nvSpPr>
          <p:cNvPr id="30" name="Shape 23"/>
          <p:cNvSpPr/>
          <p:nvPr/>
        </p:nvSpPr>
        <p:spPr>
          <a:xfrm>
            <a:off x="6309360" y="3177540"/>
            <a:ext cx="384048" cy="384048"/>
          </a:xfrm>
          <a:prstGeom prst="ellipse">
            <a:avLst/>
          </a:prstGeom>
          <a:solidFill>
            <a:srgbClr val="512BD4"/>
          </a:solidFill>
          <a:ln w="12700">
            <a:solidFill>
              <a:srgbClr val="512BD4"/>
            </a:solidFill>
            <a:prstDash val="solid"/>
          </a:ln>
        </p:spPr>
      </p:sp>
      <p:pic>
        <p:nvPicPr>
          <p:cNvPr id="31" name="Image 5" descr="preencoded.png">    </p:cNvPr>
          <p:cNvPicPr>
            <a:picLocks noChangeAspect="1"/>
          </p:cNvPicPr>
          <p:nvPr/>
        </p:nvPicPr>
        <p:blipFill>
          <a:blip r:embed="rId6"/>
          <a:stretch>
            <a:fillRect/>
          </a:stretch>
        </p:blipFill>
        <p:spPr>
          <a:xfrm>
            <a:off x="6409212" y="3277392"/>
            <a:ext cx="184343" cy="184343"/>
          </a:xfrm>
          <a:prstGeom prst="rect">
            <a:avLst/>
          </a:prstGeom>
        </p:spPr>
      </p:pic>
      <p:sp>
        <p:nvSpPr>
          <p:cNvPr id="32" name="Text 24"/>
          <p:cNvSpPr txBox="1"/>
          <p:nvPr/>
        </p:nvSpPr>
        <p:spPr>
          <a:xfrm>
            <a:off x="6812280" y="317754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The loop</a:t>
            </a:r>
            <a:endParaRPr lang="en-US" sz="1500" dirty="0"/>
          </a:p>
        </p:txBody>
      </p:sp>
      <p:sp>
        <p:nvSpPr>
          <p:cNvPr id="33" name="Text 25"/>
          <p:cNvSpPr txBox="1"/>
          <p:nvPr/>
        </p:nvSpPr>
        <p:spPr>
          <a:xfrm>
            <a:off x="6309360" y="368046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Keeps going until the task is done</a:t>
            </a:r>
            <a:endParaRPr lang="en-US" sz="1200" dirty="0"/>
          </a:p>
        </p:txBody>
      </p:sp>
      <p:sp>
        <p:nvSpPr>
          <p:cNvPr id="34" name="Text 26"/>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1 — Understanding Coding Agents</a:t>
            </a:r>
            <a:endParaRPr lang="en-US" sz="900" dirty="0"/>
          </a:p>
        </p:txBody>
      </p:sp>
      <p:sp>
        <p:nvSpPr>
          <p:cNvPr id="35" name="Text 27"/>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LAB</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MiniCode architecture</a:t>
            </a:r>
            <a:endParaRPr lang="en-US" sz="2800" dirty="0"/>
          </a:p>
        </p:txBody>
      </p:sp>
      <p:sp>
        <p:nvSpPr>
          <p:cNvPr id="4" name="Shape 2"/>
          <p:cNvSpPr/>
          <p:nvPr/>
        </p:nvSpPr>
        <p:spPr>
          <a:xfrm>
            <a:off x="457200" y="1417320"/>
            <a:ext cx="1367942" cy="1965960"/>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CLI</a:t>
            </a:r>
            <a:endParaRPr lang="en-US" sz="1500" dirty="0"/>
          </a:p>
        </p:txBody>
      </p:sp>
      <p:sp>
        <p:nvSpPr>
          <p:cNvPr id="8" name="Text 5"/>
          <p:cNvSpPr txBox="1"/>
          <p:nvPr/>
        </p:nvSpPr>
        <p:spPr>
          <a:xfrm>
            <a:off x="640080" y="2606040"/>
            <a:ext cx="1047902" cy="68580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Requests in, activity out. No logic.</a:t>
            </a:r>
            <a:endParaRPr lang="en-US" sz="1200" dirty="0"/>
          </a:p>
        </p:txBody>
      </p:sp>
      <p:sp>
        <p:nvSpPr>
          <p:cNvPr id="9" name="Shape 6"/>
          <p:cNvSpPr/>
          <p:nvPr/>
        </p:nvSpPr>
        <p:spPr>
          <a:xfrm>
            <a:off x="1889150" y="2290572"/>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1965960"/>
          </a:xfrm>
          <a:prstGeom prst="roundRect">
            <a:avLst>
              <a:gd name="adj" fmla="val 5348"/>
            </a:avLst>
          </a:prstGeom>
          <a:solidFill>
            <a:srgbClr val="512BD4"/>
          </a:solidFill>
          <a:ln w="12700">
            <a:solidFill>
              <a:srgbClr val="512BD4"/>
            </a:solidFill>
            <a:prstDash val="solid"/>
          </a:ln>
        </p:spPr>
      </p:sp>
      <p:sp>
        <p:nvSpPr>
          <p:cNvPr id="11" name="Shape 8"/>
          <p:cNvSpPr/>
          <p:nvPr/>
        </p:nvSpPr>
        <p:spPr>
          <a:xfrm>
            <a:off x="2355494" y="1618488"/>
            <a:ext cx="457200" cy="457200"/>
          </a:xfrm>
          <a:prstGeom prst="ellipse">
            <a:avLst/>
          </a:prstGeom>
          <a:solidFill>
            <a:srgbClr val="FFFFFF"/>
          </a:solidFill>
          <a:ln w="12700">
            <a:solidFill>
              <a:srgbClr val="FFFFFF"/>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CodingAgent</a:t>
            </a:r>
            <a:endParaRPr lang="en-US" sz="1300" dirty="0"/>
          </a:p>
        </p:txBody>
      </p:sp>
      <p:sp>
        <p:nvSpPr>
          <p:cNvPr id="14" name="Text 10"/>
          <p:cNvSpPr txBox="1"/>
          <p:nvPr/>
        </p:nvSpPr>
        <p:spPr>
          <a:xfrm>
            <a:off x="2355494" y="2606040"/>
            <a:ext cx="1047902" cy="68580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The one agent. Reasons, picks tools.</a:t>
            </a:r>
            <a:endParaRPr lang="en-US" sz="1200" dirty="0"/>
          </a:p>
        </p:txBody>
      </p:sp>
      <p:sp>
        <p:nvSpPr>
          <p:cNvPr id="15" name="Shape 11"/>
          <p:cNvSpPr/>
          <p:nvPr/>
        </p:nvSpPr>
        <p:spPr>
          <a:xfrm>
            <a:off x="3604565" y="2290572"/>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1965960"/>
          </a:xfrm>
          <a:prstGeom prst="roundRect">
            <a:avLst>
              <a:gd name="adj" fmla="val 5348"/>
            </a:avLst>
          </a:prstGeom>
          <a:solidFill>
            <a:srgbClr val="EFEBFC"/>
          </a:solidFill>
          <a:ln w="12700">
            <a:solidFill>
              <a:srgbClr val="EFEBFC"/>
            </a:solidFill>
            <a:prstDash val="solid"/>
          </a:ln>
        </p:spPr>
      </p:sp>
      <p:sp>
        <p:nvSpPr>
          <p:cNvPr id="17" name="Shape 13"/>
          <p:cNvSpPr/>
          <p:nvPr/>
        </p:nvSpPr>
        <p:spPr>
          <a:xfrm>
            <a:off x="4070909"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Tools</a:t>
            </a:r>
            <a:endParaRPr lang="en-US" sz="1500" dirty="0"/>
          </a:p>
        </p:txBody>
      </p:sp>
      <p:sp>
        <p:nvSpPr>
          <p:cNvPr id="20" name="Text 15"/>
          <p:cNvSpPr txBox="1"/>
          <p:nvPr/>
        </p:nvSpPr>
        <p:spPr>
          <a:xfrm>
            <a:off x="4070909" y="2606040"/>
            <a:ext cx="1047902" cy="68580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Declare each capability, shape results</a:t>
            </a:r>
            <a:endParaRPr lang="en-US" sz="1200" dirty="0"/>
          </a:p>
        </p:txBody>
      </p:sp>
      <p:sp>
        <p:nvSpPr>
          <p:cNvPr id="21" name="Shape 16"/>
          <p:cNvSpPr/>
          <p:nvPr/>
        </p:nvSpPr>
        <p:spPr>
          <a:xfrm>
            <a:off x="5319979" y="2290572"/>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1965960"/>
          </a:xfrm>
          <a:prstGeom prst="roundRect">
            <a:avLst>
              <a:gd name="adj" fmla="val 5348"/>
            </a:avLst>
          </a:prstGeom>
          <a:solidFill>
            <a:srgbClr val="EFEBFC"/>
          </a:solidFill>
          <a:ln w="12700">
            <a:solidFill>
              <a:srgbClr val="EFEBFC"/>
            </a:solidFill>
            <a:prstDash val="solid"/>
          </a:ln>
        </p:spPr>
      </p:sp>
      <p:sp>
        <p:nvSpPr>
          <p:cNvPr id="23" name="Shape 18"/>
          <p:cNvSpPr/>
          <p:nvPr/>
        </p:nvSpPr>
        <p:spPr>
          <a:xfrm>
            <a:off x="5786323"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400" b="1" dirty="0">
                <a:solidFill>
                  <a:srgbClr val="1F2937"/>
                </a:solidFill>
                <a:latin typeface="Calibri" pitchFamily="34" charset="0"/>
                <a:ea typeface="Calibri" pitchFamily="34" charset="-122"/>
                <a:cs typeface="Calibri" pitchFamily="34" charset="-120"/>
              </a:rPr>
              <a:t>Workspace</a:t>
            </a:r>
            <a:endParaRPr lang="en-US" sz="1400" dirty="0"/>
          </a:p>
        </p:txBody>
      </p:sp>
      <p:sp>
        <p:nvSpPr>
          <p:cNvPr id="26" name="Text 20"/>
          <p:cNvSpPr txBox="1"/>
          <p:nvPr/>
        </p:nvSpPr>
        <p:spPr>
          <a:xfrm>
            <a:off x="5786323" y="2606040"/>
            <a:ext cx="1047902" cy="68580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search, edit inside the repo</a:t>
            </a:r>
            <a:endParaRPr lang="en-US" sz="1200" dirty="0"/>
          </a:p>
        </p:txBody>
      </p:sp>
      <p:sp>
        <p:nvSpPr>
          <p:cNvPr id="27" name="Shape 21"/>
          <p:cNvSpPr/>
          <p:nvPr/>
        </p:nvSpPr>
        <p:spPr>
          <a:xfrm>
            <a:off x="7035394" y="2290572"/>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1965960"/>
          </a:xfrm>
          <a:prstGeom prst="roundRect">
            <a:avLst>
              <a:gd name="adj" fmla="val 5348"/>
            </a:avLst>
          </a:prstGeom>
          <a:solidFill>
            <a:srgbClr val="EFEBFC"/>
          </a:solidFill>
          <a:ln w="12700">
            <a:solidFill>
              <a:srgbClr val="EFEBFC"/>
            </a:solidFill>
            <a:prstDash val="solid"/>
          </a:ln>
        </p:spPr>
      </p:sp>
      <p:sp>
        <p:nvSpPr>
          <p:cNvPr id="29" name="Shape 23"/>
          <p:cNvSpPr/>
          <p:nvPr/>
        </p:nvSpPr>
        <p:spPr>
          <a:xfrm>
            <a:off x="7501738" y="1618488"/>
            <a:ext cx="457200" cy="457200"/>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400" b="1" dirty="0">
                <a:solidFill>
                  <a:srgbClr val="1F2937"/>
                </a:solidFill>
                <a:latin typeface="Calibri" pitchFamily="34" charset="0"/>
                <a:ea typeface="Calibri" pitchFamily="34" charset="-122"/>
                <a:cs typeface="Calibri" pitchFamily="34" charset="-120"/>
              </a:rPr>
              <a:t>Shell · Git</a:t>
            </a:r>
            <a:endParaRPr lang="en-US" sz="1400" dirty="0"/>
          </a:p>
        </p:txBody>
      </p:sp>
      <p:sp>
        <p:nvSpPr>
          <p:cNvPr id="32" name="Text 25"/>
          <p:cNvSpPr txBox="1"/>
          <p:nvPr/>
        </p:nvSpPr>
        <p:spPr>
          <a:xfrm>
            <a:off x="7501738" y="2606040"/>
            <a:ext cx="1047902" cy="68580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Build, test, status, diff, log</a:t>
            </a:r>
            <a:endParaRPr lang="en-US" sz="1200" dirty="0"/>
          </a:p>
        </p:txBody>
      </p:sp>
      <p:sp>
        <p:nvSpPr>
          <p:cNvPr id="33" name="Text 26"/>
          <p:cNvSpPr txBox="1"/>
          <p:nvPr/>
        </p:nvSpPr>
        <p:spPr>
          <a:xfrm>
            <a:off x="457200" y="370332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One agent. Every arrow ends back at the CodingAgent.</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1 — Understanding Coding Agents</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LAB</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Five projects, one direction</a:t>
            </a:r>
            <a:endParaRPr lang="en-US" sz="2800" dirty="0"/>
          </a:p>
        </p:txBody>
      </p:sp>
      <p:sp>
        <p:nvSpPr>
          <p:cNvPr id="4" name="Shape 2"/>
          <p:cNvSpPr/>
          <p:nvPr/>
        </p:nvSpPr>
        <p:spPr>
          <a:xfrm>
            <a:off x="457200" y="1371600"/>
            <a:ext cx="256032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73736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MiniCode.Cli</a:t>
            </a:r>
            <a:endParaRPr lang="en-US" sz="1300" dirty="0"/>
          </a:p>
        </p:txBody>
      </p:sp>
      <p:sp>
        <p:nvSpPr>
          <p:cNvPr id="8" name="Text 5"/>
          <p:cNvSpPr txBox="1"/>
          <p:nvPr/>
        </p:nvSpPr>
        <p:spPr>
          <a:xfrm>
            <a:off x="640080" y="205740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Terminal interface</a:t>
            </a:r>
            <a:endParaRPr lang="en-US" sz="1200" dirty="0"/>
          </a:p>
        </p:txBody>
      </p:sp>
      <p:sp>
        <p:nvSpPr>
          <p:cNvPr id="9" name="Shape 6"/>
          <p:cNvSpPr/>
          <p:nvPr/>
        </p:nvSpPr>
        <p:spPr>
          <a:xfrm>
            <a:off x="3291840" y="1371600"/>
            <a:ext cx="256032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347472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3574572" y="1654332"/>
            <a:ext cx="184343" cy="184343"/>
          </a:xfrm>
          <a:prstGeom prst="rect">
            <a:avLst/>
          </a:prstGeom>
        </p:spPr>
      </p:pic>
      <p:sp>
        <p:nvSpPr>
          <p:cNvPr id="12" name="Text 8"/>
          <p:cNvSpPr txBox="1"/>
          <p:nvPr/>
        </p:nvSpPr>
        <p:spPr>
          <a:xfrm>
            <a:off x="3977640" y="1554480"/>
            <a:ext cx="173736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MiniCode.Agent</a:t>
            </a:r>
            <a:endParaRPr lang="en-US" sz="1300" dirty="0"/>
          </a:p>
        </p:txBody>
      </p:sp>
      <p:sp>
        <p:nvSpPr>
          <p:cNvPr id="13" name="Text 9"/>
          <p:cNvSpPr txBox="1"/>
          <p:nvPr/>
        </p:nvSpPr>
        <p:spPr>
          <a:xfrm>
            <a:off x="3474720" y="205740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CodingAgent and its loop</a:t>
            </a:r>
            <a:endParaRPr lang="en-US" sz="1200" dirty="0"/>
          </a:p>
        </p:txBody>
      </p:sp>
      <p:sp>
        <p:nvSpPr>
          <p:cNvPr id="14" name="Shape 10"/>
          <p:cNvSpPr/>
          <p:nvPr/>
        </p:nvSpPr>
        <p:spPr>
          <a:xfrm>
            <a:off x="6126480" y="1371600"/>
            <a:ext cx="256032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30936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6409212" y="1654332"/>
            <a:ext cx="184343" cy="184343"/>
          </a:xfrm>
          <a:prstGeom prst="rect">
            <a:avLst/>
          </a:prstGeom>
        </p:spPr>
      </p:pic>
      <p:sp>
        <p:nvSpPr>
          <p:cNvPr id="17" name="Text 12"/>
          <p:cNvSpPr txBox="1"/>
          <p:nvPr/>
        </p:nvSpPr>
        <p:spPr>
          <a:xfrm>
            <a:off x="6812280" y="1554480"/>
            <a:ext cx="173736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MiniCode.Tools</a:t>
            </a:r>
            <a:endParaRPr lang="en-US" sz="1300" dirty="0"/>
          </a:p>
        </p:txBody>
      </p:sp>
      <p:sp>
        <p:nvSpPr>
          <p:cNvPr id="18" name="Text 13"/>
          <p:cNvSpPr txBox="1"/>
          <p:nvPr/>
        </p:nvSpPr>
        <p:spPr>
          <a:xfrm>
            <a:off x="6309360" y="205740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Tool definitions; the work lives below</a:t>
            </a:r>
            <a:endParaRPr lang="en-US" sz="1200" dirty="0"/>
          </a:p>
        </p:txBody>
      </p:sp>
      <p:sp>
        <p:nvSpPr>
          <p:cNvPr id="19" name="Shape 14"/>
          <p:cNvSpPr/>
          <p:nvPr/>
        </p:nvSpPr>
        <p:spPr>
          <a:xfrm>
            <a:off x="457200" y="2994660"/>
            <a:ext cx="256032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64008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739932" y="3277392"/>
            <a:ext cx="184343" cy="184343"/>
          </a:xfrm>
          <a:prstGeom prst="rect">
            <a:avLst/>
          </a:prstGeom>
        </p:spPr>
      </p:pic>
      <p:sp>
        <p:nvSpPr>
          <p:cNvPr id="22" name="Text 16"/>
          <p:cNvSpPr txBox="1"/>
          <p:nvPr/>
        </p:nvSpPr>
        <p:spPr>
          <a:xfrm>
            <a:off x="1143000" y="3177540"/>
            <a:ext cx="1737360" cy="384048"/>
          </a:xfrm>
          <a:prstGeom prst="rect">
            <a:avLst/>
          </a:prstGeom>
          <a:noFill/>
          <a:ln/>
        </p:spPr>
        <p:txBody>
          <a:bodyPr wrap="square" lIns="0" tIns="0" rIns="0" bIns="0" rtlCol="0" anchor="ctr">
            <a:normAutofit/>
          </a:bodyPr>
          <a:lstStyle/>
          <a:p>
            <a:pPr indent="0" marL="0">
              <a:buNone/>
            </a:pPr>
            <a:r>
              <a:rPr lang="en-US" sz="1200" b="1" dirty="0">
                <a:solidFill>
                  <a:srgbClr val="1F2937"/>
                </a:solidFill>
                <a:latin typeface="Calibri" pitchFamily="34" charset="0"/>
                <a:ea typeface="Calibri" pitchFamily="34" charset="-122"/>
                <a:cs typeface="Calibri" pitchFamily="34" charset="-120"/>
              </a:rPr>
              <a:t>MiniCode.Workspace</a:t>
            </a:r>
            <a:endParaRPr lang="en-US" sz="1200" dirty="0"/>
          </a:p>
        </p:txBody>
      </p:sp>
      <p:sp>
        <p:nvSpPr>
          <p:cNvPr id="23" name="Text 17"/>
          <p:cNvSpPr txBox="1"/>
          <p:nvPr/>
        </p:nvSpPr>
        <p:spPr>
          <a:xfrm>
            <a:off x="640080" y="368046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Leaf: the repository boundary</a:t>
            </a:r>
            <a:endParaRPr lang="en-US" sz="1200" dirty="0"/>
          </a:p>
        </p:txBody>
      </p:sp>
      <p:sp>
        <p:nvSpPr>
          <p:cNvPr id="24" name="Shape 18"/>
          <p:cNvSpPr/>
          <p:nvPr/>
        </p:nvSpPr>
        <p:spPr>
          <a:xfrm>
            <a:off x="3291840" y="2994660"/>
            <a:ext cx="2560320" cy="1394460"/>
          </a:xfrm>
          <a:prstGeom prst="roundRect">
            <a:avLst>
              <a:gd name="adj" fmla="val 5246"/>
            </a:avLst>
          </a:prstGeom>
          <a:solidFill>
            <a:srgbClr val="EFEBFC"/>
          </a:solidFill>
          <a:ln w="12700">
            <a:solidFill>
              <a:srgbClr val="EFEBFC"/>
            </a:solidFill>
            <a:prstDash val="solid"/>
          </a:ln>
        </p:spPr>
      </p:sp>
      <p:sp>
        <p:nvSpPr>
          <p:cNvPr id="25" name="Shape 19"/>
          <p:cNvSpPr/>
          <p:nvPr/>
        </p:nvSpPr>
        <p:spPr>
          <a:xfrm>
            <a:off x="3474720" y="3177540"/>
            <a:ext cx="384048" cy="384048"/>
          </a:xfrm>
          <a:prstGeom prst="ellipse">
            <a:avLst/>
          </a:prstGeom>
          <a:solidFill>
            <a:srgbClr val="512BD4"/>
          </a:solidFill>
          <a:ln w="12700">
            <a:solidFill>
              <a:srgbClr val="512BD4"/>
            </a:solidFill>
            <a:prstDash val="solid"/>
          </a:ln>
        </p:spPr>
      </p:sp>
      <p:pic>
        <p:nvPicPr>
          <p:cNvPr id="26" name="Image 4" descr="preencoded.png">    </p:cNvPr>
          <p:cNvPicPr>
            <a:picLocks noChangeAspect="1"/>
          </p:cNvPicPr>
          <p:nvPr/>
        </p:nvPicPr>
        <p:blipFill>
          <a:blip r:embed="rId5"/>
          <a:stretch>
            <a:fillRect/>
          </a:stretch>
        </p:blipFill>
        <p:spPr>
          <a:xfrm>
            <a:off x="3574572" y="3277392"/>
            <a:ext cx="184343" cy="184343"/>
          </a:xfrm>
          <a:prstGeom prst="rect">
            <a:avLst/>
          </a:prstGeom>
        </p:spPr>
      </p:pic>
      <p:sp>
        <p:nvSpPr>
          <p:cNvPr id="27" name="Text 20"/>
          <p:cNvSpPr txBox="1"/>
          <p:nvPr/>
        </p:nvSpPr>
        <p:spPr>
          <a:xfrm>
            <a:off x="3977640" y="3177540"/>
            <a:ext cx="1737360" cy="384048"/>
          </a:xfrm>
          <a:prstGeom prst="rect">
            <a:avLst/>
          </a:prstGeom>
          <a:noFill/>
          <a:ln/>
        </p:spPr>
        <p:txBody>
          <a:bodyPr wrap="square" lIns="0" tIns="0" rIns="0" bIns="0" rtlCol="0" anchor="ctr">
            <a:normAutofit/>
          </a:bodyPr>
          <a:lstStyle/>
          <a:p>
            <a:pPr indent="0" marL="0">
              <a:buNone/>
            </a:pPr>
            <a:r>
              <a:rPr lang="en-US" sz="1100" b="1" dirty="0">
                <a:solidFill>
                  <a:srgbClr val="1F2937"/>
                </a:solidFill>
                <a:latin typeface="Calibri" pitchFamily="34" charset="0"/>
                <a:ea typeface="Calibri" pitchFamily="34" charset="-122"/>
                <a:cs typeface="Calibri" pitchFamily="34" charset="-120"/>
              </a:rPr>
              <a:t>MiniCode.Infrastructure</a:t>
            </a:r>
            <a:endParaRPr lang="en-US" sz="1100" dirty="0"/>
          </a:p>
        </p:txBody>
      </p:sp>
      <p:sp>
        <p:nvSpPr>
          <p:cNvPr id="28" name="Text 21"/>
          <p:cNvSpPr txBox="1"/>
          <p:nvPr/>
        </p:nvSpPr>
        <p:spPr>
          <a:xfrm>
            <a:off x="3474720" y="368046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Leaf: shell, Git, configuration</a:t>
            </a:r>
            <a:endParaRPr lang="en-US" sz="1200" dirty="0"/>
          </a:p>
        </p:txBody>
      </p:sp>
      <p:sp>
        <p:nvSpPr>
          <p:cNvPr id="29" name="Shape 22"/>
          <p:cNvSpPr/>
          <p:nvPr/>
        </p:nvSpPr>
        <p:spPr>
          <a:xfrm>
            <a:off x="6126480" y="2994660"/>
            <a:ext cx="2560320" cy="1394460"/>
          </a:xfrm>
          <a:prstGeom prst="roundRect">
            <a:avLst>
              <a:gd name="adj" fmla="val 5246"/>
            </a:avLst>
          </a:prstGeom>
          <a:solidFill>
            <a:srgbClr val="512BD4"/>
          </a:solidFill>
          <a:ln w="12700">
            <a:solidFill>
              <a:srgbClr val="512BD4"/>
            </a:solidFill>
            <a:prstDash val="solid"/>
          </a:ln>
        </p:spPr>
      </p:sp>
      <p:sp>
        <p:nvSpPr>
          <p:cNvPr id="30" name="Shape 23"/>
          <p:cNvSpPr/>
          <p:nvPr/>
        </p:nvSpPr>
        <p:spPr>
          <a:xfrm>
            <a:off x="6309360" y="3177540"/>
            <a:ext cx="384048" cy="384048"/>
          </a:xfrm>
          <a:prstGeom prst="ellipse">
            <a:avLst/>
          </a:prstGeom>
          <a:solidFill>
            <a:srgbClr val="FFFFFF"/>
          </a:solidFill>
          <a:ln w="12700">
            <a:solidFill>
              <a:srgbClr val="FFFFFF"/>
            </a:solidFill>
            <a:prstDash val="solid"/>
          </a:ln>
        </p:spPr>
      </p:sp>
      <p:pic>
        <p:nvPicPr>
          <p:cNvPr id="31" name="Image 5" descr="preencoded.png">    </p:cNvPr>
          <p:cNvPicPr>
            <a:picLocks noChangeAspect="1"/>
          </p:cNvPicPr>
          <p:nvPr/>
        </p:nvPicPr>
        <p:blipFill>
          <a:blip r:embed="rId6"/>
          <a:stretch>
            <a:fillRect/>
          </a:stretch>
        </p:blipFill>
        <p:spPr>
          <a:xfrm>
            <a:off x="6409212" y="3277392"/>
            <a:ext cx="184343" cy="184343"/>
          </a:xfrm>
          <a:prstGeom prst="rect">
            <a:avLst/>
          </a:prstGeom>
        </p:spPr>
      </p:pic>
      <p:sp>
        <p:nvSpPr>
          <p:cNvPr id="32" name="Text 24"/>
          <p:cNvSpPr txBox="1"/>
          <p:nvPr/>
        </p:nvSpPr>
        <p:spPr>
          <a:xfrm>
            <a:off x="6812280" y="3177540"/>
            <a:ext cx="1737360" cy="384048"/>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No cycles</a:t>
            </a:r>
            <a:endParaRPr lang="en-US" sz="1500" dirty="0"/>
          </a:p>
        </p:txBody>
      </p:sp>
      <p:sp>
        <p:nvSpPr>
          <p:cNvPr id="33" name="Text 25"/>
          <p:cNvSpPr txBox="1"/>
          <p:nvPr/>
        </p:nvSpPr>
        <p:spPr>
          <a:xfrm>
            <a:off x="6309360" y="3680460"/>
            <a:ext cx="2194560" cy="6172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Cli → Agent → Tools → leaves</a:t>
            </a:r>
            <a:endParaRPr lang="en-US" sz="1200" dirty="0"/>
          </a:p>
        </p:txBody>
      </p:sp>
      <p:sp>
        <p:nvSpPr>
          <p:cNvPr id="34" name="Text 26"/>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1 — Understanding Coding Agents</a:t>
            </a:r>
            <a:endParaRPr lang="en-US" sz="900" dirty="0"/>
          </a:p>
        </p:txBody>
      </p:sp>
      <p:sp>
        <p:nvSpPr>
          <p:cNvPr id="35" name="Text 27"/>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OUTPUT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should leave with</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 design</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No code runs in this Module. The deliverable is the design artifact itself.</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Agent vs. chatbot</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Explained through reason, act, observe, repeat</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The diagram</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Redrawn from memory, with each component's job</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One agent</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 single-agent harness, with no multi-agent orchestration</a:t>
            </a:r>
            <a:endParaRPr lang="en-US" sz="1200" dirty="0"/>
          </a:p>
        </p:txBody>
      </p:sp>
      <p:sp>
        <p:nvSpPr>
          <p:cNvPr id="27" name="Text 2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1 — Understanding Coding Agents</a:t>
            </a:r>
            <a:endParaRPr lang="en-US" sz="900" dirty="0"/>
          </a:p>
        </p:txBody>
      </p:sp>
      <p:sp>
        <p:nvSpPr>
          <p:cNvPr id="28" name="Text 2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355092"/>
          </a:xfrm>
          <a:prstGeom prst="roundRect">
            <a:avLst>
              <a:gd name="adj" fmla="val 20601"/>
            </a:avLst>
          </a:prstGeom>
          <a:solidFill>
            <a:srgbClr val="1F2943"/>
          </a:solidFill>
          <a:ln w="12700">
            <a:solidFill>
              <a:srgbClr val="1F2943"/>
            </a:solidFill>
            <a:prstDash val="solid"/>
          </a:ln>
        </p:spPr>
      </p:sp>
      <p:sp>
        <p:nvSpPr>
          <p:cNvPr id="5" name="Text 3"/>
          <p:cNvSpPr txBox="1"/>
          <p:nvPr/>
        </p:nvSpPr>
        <p:spPr>
          <a:xfrm>
            <a:off x="621792" y="123444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conversational agent</a:t>
            </a:r>
            <a:endParaRPr lang="en-US" sz="1300" dirty="0"/>
          </a:p>
        </p:txBody>
      </p:sp>
      <p:sp>
        <p:nvSpPr>
          <p:cNvPr id="6" name="Shape 4"/>
          <p:cNvSpPr/>
          <p:nvPr/>
        </p:nvSpPr>
        <p:spPr>
          <a:xfrm>
            <a:off x="3493008" y="1320546"/>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2a  </a:t>
            </a:r>
            <a:pPr indent="0" marL="0">
              <a:buNone/>
            </a:pPr>
            <a:r>
              <a:rPr lang="en-US" sz="1250" dirty="0">
                <a:solidFill>
                  <a:srgbClr val="FFFFFF"/>
                </a:solidFill>
                <a:latin typeface="Calibri" pitchFamily="34" charset="0"/>
                <a:ea typeface="Calibri" pitchFamily="34" charset="-122"/>
                <a:cs typeface="Calibri" pitchFamily="34" charset="-120"/>
              </a:rPr>
              <a:t>The first MAF agent: a model, a role, a session, streaming</a:t>
            </a:r>
            <a:endParaRPr lang="en-US" sz="1250" dirty="0"/>
          </a:p>
        </p:txBody>
      </p:sp>
      <p:sp>
        <p:nvSpPr>
          <p:cNvPr id="8" name="Shape 6"/>
          <p:cNvSpPr/>
          <p:nvPr/>
        </p:nvSpPr>
        <p:spPr>
          <a:xfrm>
            <a:off x="457200" y="1699260"/>
            <a:ext cx="2926080" cy="355092"/>
          </a:xfrm>
          <a:prstGeom prst="roundRect">
            <a:avLst>
              <a:gd name="adj" fmla="val 20601"/>
            </a:avLst>
          </a:prstGeom>
          <a:solidFill>
            <a:srgbClr val="1F2943"/>
          </a:solidFill>
          <a:ln w="12700">
            <a:solidFill>
              <a:srgbClr val="1F2943"/>
            </a:solidFill>
            <a:prstDash val="solid"/>
          </a:ln>
        </p:spPr>
      </p:sp>
      <p:sp>
        <p:nvSpPr>
          <p:cNvPr id="9" name="Text 7"/>
          <p:cNvSpPr txBox="1"/>
          <p:nvPr/>
        </p:nvSpPr>
        <p:spPr>
          <a:xfrm>
            <a:off x="621792" y="169926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five projects</a:t>
            </a:r>
            <a:endParaRPr lang="en-US" sz="1300" dirty="0"/>
          </a:p>
        </p:txBody>
      </p:sp>
      <p:sp>
        <p:nvSpPr>
          <p:cNvPr id="10" name="Shape 8"/>
          <p:cNvSpPr/>
          <p:nvPr/>
        </p:nvSpPr>
        <p:spPr>
          <a:xfrm>
            <a:off x="3493008" y="1785366"/>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69926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3  </a:t>
            </a:r>
            <a:pPr indent="0" marL="0">
              <a:buNone/>
            </a:pPr>
            <a:r>
              <a:rPr lang="en-US" sz="1250" dirty="0">
                <a:solidFill>
                  <a:srgbClr val="FFFFFF"/>
                </a:solidFill>
                <a:latin typeface="Calibri" pitchFamily="34" charset="0"/>
                <a:ea typeface="Calibri" pitchFamily="34" charset="-122"/>
                <a:cs typeface="Calibri" pitchFamily="34" charset="-120"/>
              </a:rPr>
              <a:t>The real solution structure and its dependency direction</a:t>
            </a:r>
            <a:endParaRPr lang="en-US" sz="1250" dirty="0"/>
          </a:p>
        </p:txBody>
      </p:sp>
      <p:sp>
        <p:nvSpPr>
          <p:cNvPr id="12" name="Shape 10"/>
          <p:cNvSpPr/>
          <p:nvPr/>
        </p:nvSpPr>
        <p:spPr>
          <a:xfrm>
            <a:off x="457200" y="2164080"/>
            <a:ext cx="2926080" cy="355092"/>
          </a:xfrm>
          <a:prstGeom prst="roundRect">
            <a:avLst>
              <a:gd name="adj" fmla="val 20601"/>
            </a:avLst>
          </a:prstGeom>
          <a:solidFill>
            <a:srgbClr val="1F2943"/>
          </a:solidFill>
          <a:ln w="12700">
            <a:solidFill>
              <a:srgbClr val="1F2943"/>
            </a:solidFill>
            <a:prstDash val="solid"/>
          </a:ln>
        </p:spPr>
      </p:sp>
      <p:sp>
        <p:nvSpPr>
          <p:cNvPr id="13" name="Text 11"/>
          <p:cNvSpPr txBox="1"/>
          <p:nvPr/>
        </p:nvSpPr>
        <p:spPr>
          <a:xfrm>
            <a:off x="621792" y="216408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Bounded autonomy</a:t>
            </a:r>
            <a:endParaRPr lang="en-US" sz="1300" dirty="0"/>
          </a:p>
        </p:txBody>
      </p:sp>
      <p:sp>
        <p:nvSpPr>
          <p:cNvPr id="14" name="Shape 12"/>
          <p:cNvSpPr/>
          <p:nvPr/>
        </p:nvSpPr>
        <p:spPr>
          <a:xfrm>
            <a:off x="3493008" y="225018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16408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4  </a:t>
            </a:r>
            <a:pPr indent="0" marL="0">
              <a:buNone/>
            </a:pPr>
            <a:r>
              <a:rPr lang="en-US" sz="1250" dirty="0">
                <a:solidFill>
                  <a:srgbClr val="FFFFFF"/>
                </a:solidFill>
                <a:latin typeface="Calibri" pitchFamily="34" charset="0"/>
                <a:ea typeface="Calibri" pitchFamily="34" charset="-122"/>
                <a:cs typeface="Calibri" pitchFamily="34" charset="-120"/>
              </a:rPr>
              <a:t>The workspace sandbox: no path outside the repository</a:t>
            </a:r>
            <a:endParaRPr lang="en-US" sz="1250" dirty="0"/>
          </a:p>
        </p:txBody>
      </p:sp>
      <p:sp>
        <p:nvSpPr>
          <p:cNvPr id="16" name="Shape 14"/>
          <p:cNvSpPr/>
          <p:nvPr/>
        </p:nvSpPr>
        <p:spPr>
          <a:xfrm>
            <a:off x="457200" y="2628900"/>
            <a:ext cx="2926080" cy="355092"/>
          </a:xfrm>
          <a:prstGeom prst="roundRect">
            <a:avLst>
              <a:gd name="adj" fmla="val 20601"/>
            </a:avLst>
          </a:prstGeom>
          <a:solidFill>
            <a:srgbClr val="1F2943"/>
          </a:solidFill>
          <a:ln w="12700">
            <a:solidFill>
              <a:srgbClr val="1F2943"/>
            </a:solidFill>
            <a:prstDash val="solid"/>
          </a:ln>
        </p:spPr>
      </p:sp>
      <p:sp>
        <p:nvSpPr>
          <p:cNvPr id="17" name="Text 15"/>
          <p:cNvSpPr txBox="1"/>
          <p:nvPr/>
        </p:nvSpPr>
        <p:spPr>
          <a:xfrm>
            <a:off x="621792" y="262890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Tool calling</a:t>
            </a:r>
            <a:endParaRPr lang="en-US" sz="1300" dirty="0"/>
          </a:p>
        </p:txBody>
      </p:sp>
      <p:sp>
        <p:nvSpPr>
          <p:cNvPr id="18" name="Shape 16"/>
          <p:cNvSpPr/>
          <p:nvPr/>
        </p:nvSpPr>
        <p:spPr>
          <a:xfrm>
            <a:off x="3493008" y="2715006"/>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62890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5a  </a:t>
            </a:r>
            <a:pPr indent="0" marL="0">
              <a:buNone/>
            </a:pPr>
            <a:r>
              <a:rPr lang="en-US" sz="1250" dirty="0">
                <a:solidFill>
                  <a:srgbClr val="FFFFFF"/>
                </a:solidFill>
                <a:latin typeface="Calibri" pitchFamily="34" charset="0"/>
                <a:ea typeface="Calibri" pitchFamily="34" charset="-122"/>
                <a:cs typeface="Calibri" pitchFamily="34" charset="-120"/>
              </a:rPr>
              <a:t>The first tool, and the seam every tool call passes through</a:t>
            </a:r>
            <a:endParaRPr lang="en-US" sz="1250" dirty="0"/>
          </a:p>
        </p:txBody>
      </p:sp>
      <p:sp>
        <p:nvSpPr>
          <p:cNvPr id="20" name="Shape 18"/>
          <p:cNvSpPr/>
          <p:nvPr/>
        </p:nvSpPr>
        <p:spPr>
          <a:xfrm>
            <a:off x="457200" y="3093720"/>
            <a:ext cx="2926080" cy="355092"/>
          </a:xfrm>
          <a:prstGeom prst="roundRect">
            <a:avLst>
              <a:gd name="adj" fmla="val 20601"/>
            </a:avLst>
          </a:prstGeom>
          <a:solidFill>
            <a:srgbClr val="1F2943"/>
          </a:solidFill>
          <a:ln w="12700">
            <a:solidFill>
              <a:srgbClr val="1F2943"/>
            </a:solidFill>
            <a:prstDash val="solid"/>
          </a:ln>
        </p:spPr>
      </p:sp>
      <p:sp>
        <p:nvSpPr>
          <p:cNvPr id="21" name="Text 19"/>
          <p:cNvSpPr txBox="1"/>
          <p:nvPr/>
        </p:nvSpPr>
        <p:spPr>
          <a:xfrm>
            <a:off x="621792" y="309372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agentic loop</a:t>
            </a:r>
            <a:endParaRPr lang="en-US" sz="1300" dirty="0"/>
          </a:p>
        </p:txBody>
      </p:sp>
      <p:sp>
        <p:nvSpPr>
          <p:cNvPr id="22" name="Shape 20"/>
          <p:cNvSpPr/>
          <p:nvPr/>
        </p:nvSpPr>
        <p:spPr>
          <a:xfrm>
            <a:off x="3493008" y="3179826"/>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09372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12  </a:t>
            </a:r>
            <a:pPr indent="0" marL="0">
              <a:buNone/>
            </a:pPr>
            <a:r>
              <a:rPr lang="en-US" sz="1250" dirty="0">
                <a:solidFill>
                  <a:srgbClr val="FFFFFF"/>
                </a:solidFill>
                <a:latin typeface="Calibri" pitchFamily="34" charset="0"/>
                <a:ea typeface="Calibri" pitchFamily="34" charset="-122"/>
                <a:cs typeface="Calibri" pitchFamily="34" charset="-120"/>
              </a:rPr>
              <a:t>A guard that stops a loop which never converges</a:t>
            </a:r>
            <a:endParaRPr lang="en-US" sz="1250" dirty="0"/>
          </a:p>
        </p:txBody>
      </p:sp>
      <p:sp>
        <p:nvSpPr>
          <p:cNvPr id="24" name="Shape 22"/>
          <p:cNvSpPr/>
          <p:nvPr/>
        </p:nvSpPr>
        <p:spPr>
          <a:xfrm>
            <a:off x="457200" y="3558540"/>
            <a:ext cx="2926080" cy="355092"/>
          </a:xfrm>
          <a:prstGeom prst="roundRect">
            <a:avLst>
              <a:gd name="adj" fmla="val 20601"/>
            </a:avLst>
          </a:prstGeom>
          <a:solidFill>
            <a:srgbClr val="1F2943"/>
          </a:solidFill>
          <a:ln w="12700">
            <a:solidFill>
              <a:srgbClr val="1F2943"/>
            </a:solidFill>
            <a:prstDash val="solid"/>
          </a:ln>
        </p:spPr>
      </p:sp>
      <p:sp>
        <p:nvSpPr>
          <p:cNvPr id="25" name="Text 23"/>
          <p:cNvSpPr txBox="1"/>
          <p:nvPr/>
        </p:nvSpPr>
        <p:spPr>
          <a:xfrm>
            <a:off x="621792" y="355854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Human in the loop</a:t>
            </a:r>
            <a:endParaRPr lang="en-US" sz="1300" dirty="0"/>
          </a:p>
        </p:txBody>
      </p:sp>
      <p:sp>
        <p:nvSpPr>
          <p:cNvPr id="26" name="Shape 24"/>
          <p:cNvSpPr/>
          <p:nvPr/>
        </p:nvSpPr>
        <p:spPr>
          <a:xfrm>
            <a:off x="3493008" y="3644646"/>
            <a:ext cx="329184" cy="182880"/>
          </a:xfrm>
          <a:prstGeom prst="rightArrow">
            <a:avLst/>
          </a:prstGeom>
          <a:solidFill>
            <a:srgbClr val="F5A623"/>
          </a:solidFill>
          <a:ln w="12700">
            <a:solidFill>
              <a:srgbClr val="F5A623"/>
            </a:solidFill>
            <a:prstDash val="solid"/>
          </a:ln>
        </p:spPr>
      </p:sp>
      <p:sp>
        <p:nvSpPr>
          <p:cNvPr id="27" name="Text 25"/>
          <p:cNvSpPr txBox="1"/>
          <p:nvPr/>
        </p:nvSpPr>
        <p:spPr>
          <a:xfrm>
            <a:off x="3977640" y="355854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15  </a:t>
            </a:r>
            <a:pPr indent="0" marL="0">
              <a:buNone/>
            </a:pPr>
            <a:r>
              <a:rPr lang="en-US" sz="1250" dirty="0">
                <a:solidFill>
                  <a:srgbClr val="FFFFFF"/>
                </a:solidFill>
                <a:latin typeface="Calibri" pitchFamily="34" charset="0"/>
                <a:ea typeface="Calibri" pitchFamily="34" charset="-122"/>
                <a:cs typeface="Calibri" pitchFamily="34" charset="-120"/>
              </a:rPr>
              <a:t>Approval before any tool call that changes something</a:t>
            </a:r>
            <a:endParaRPr lang="en-US" sz="1250" dirty="0"/>
          </a:p>
        </p:txBody>
      </p:sp>
      <p:sp>
        <p:nvSpPr>
          <p:cNvPr id="28" name="Text 26"/>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Phase 1 Capstone — Repository Explorer (v0.1)</a:t>
            </a:r>
            <a:endParaRPr lang="en-US" sz="1300" dirty="0"/>
          </a:p>
        </p:txBody>
      </p:sp>
      <p:sp>
        <p:nvSpPr>
          <p:cNvPr id="29"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MiniCode  ·  Module 1 — Understanding Coding Agents</a:t>
            </a:r>
            <a:endParaRPr lang="en-US" sz="900" dirty="0"/>
          </a:p>
        </p:txBody>
      </p:sp>
      <p:sp>
        <p:nvSpPr>
          <p:cNvPr id="30"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Understanding Coding Agents</dc:title>
  <dc:subject>PptxGenJS Presentation</dc:subject>
  <dc:creator>MiniCode Course</dc:creator>
  <cp:lastModifiedBy>MiniCode Course</cp:lastModifiedBy>
  <cp:revision>1</cp:revision>
  <dcterms:created xsi:type="dcterms:W3CDTF">2026-10-01T22:00:58Z</dcterms:created>
  <dcterms:modified xsi:type="dcterms:W3CDTF">2026-10-01T22:00:58Z</dcterms:modified>
</cp:coreProperties>
</file>