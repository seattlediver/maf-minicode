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783080"/>
            <a:ext cx="7498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 Agents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mental model for MiniCode — the agent harness we’ll build in C# on Microsoft Agent Framework.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38160" y="15544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66760" y="178308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577072" y="178308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87384" y="178308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8366760" y="2103120"/>
            <a:ext cx="29718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 the build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act → observe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repeat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build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FAILED.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 Program.cs...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applying fix...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succeeded.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Chatbots vs. Agents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6B7280"/>
          </a:solidFill>
          <a:ln/>
        </p:spPr>
      </p:sp>
      <p:pic>
        <p:nvPicPr>
          <p:cNvPr id="6" name="Image 0" descr="/home/claude/deck/icons/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928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783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 message and stops.</a:t>
            </a:r>
            <a:endParaRPr lang="en-US" sz="1450" dirty="0"/>
          </a:p>
          <a:p>
            <a:pPr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text, it sends text back — the interaction ends until you send the next message.</a:t>
            </a:r>
            <a:endParaRPr lang="en-US" sz="1450" dirty="0"/>
          </a:p>
          <a:p>
            <a:pPr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it needs is already in the conversation you gave it.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is the build failing?” → it can only guess from what you paste in.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1" name="Image 1" descr="/home/claude/deck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8928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1783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6629400" y="260604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act on the world, observe, and decide what’s next.</a:t>
            </a:r>
            <a:endParaRPr lang="en-US" sz="1450" dirty="0"/>
          </a:p>
          <a:p>
            <a:pPr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the build itself, reads the error output, opens the offending file.</a:t>
            </a:r>
            <a:endParaRPr lang="en-US" sz="1450" dirty="0"/>
          </a:p>
          <a:p>
            <a:pPr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through several rounds of investigation you never had to script.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question, no guessing — it goes and finds out.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UNDERSTANDING CODING AGENTS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Execution Loop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mechanical heart of every agent, including MiniCode.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233172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1A1A2E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4228" y="25328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82422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1546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3502152"/>
            <a:ext cx="2112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decides what to do</a:t>
            </a:r>
            <a:endParaRPr lang="en-US" sz="1100" dirty="0"/>
          </a:p>
        </p:txBody>
      </p:sp>
      <p:pic>
        <p:nvPicPr>
          <p:cNvPr id="10" name="Image 0" descr="/home/claude/deck/icons/arrow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9272" y="3035808"/>
            <a:ext cx="329184" cy="32918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794760" y="233172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3FBFB0"/>
          </a:solidFill>
          <a:ln/>
          <a:effectLst>
            <a:outerShdw sx="100000" sy="100000" kx="0" ky="0" algn="bl" rotWithShape="0" blurRad="101600" dist="38100" dir="5400000">
              <a:srgbClr val="1A1A2E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4588" y="25328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470458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794760" y="31546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3904488" y="3502152"/>
            <a:ext cx="2112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a tool call</a:t>
            </a:r>
            <a:endParaRPr lang="en-US" sz="1100" dirty="0"/>
          </a:p>
        </p:txBody>
      </p:sp>
      <p:pic>
        <p:nvPicPr>
          <p:cNvPr id="16" name="Image 1" descr="/home/claude/deck/icons/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3035808"/>
            <a:ext cx="329184" cy="32918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675120" y="233172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1A1A2E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584948" y="25328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5"/>
          <p:cNvSpPr/>
          <p:nvPr/>
        </p:nvSpPr>
        <p:spPr>
          <a:xfrm>
            <a:off x="758494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675120" y="31546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6784848" y="3502152"/>
            <a:ext cx="2112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tool result</a:t>
            </a:r>
            <a:endParaRPr lang="en-US" sz="1100" dirty="0"/>
          </a:p>
        </p:txBody>
      </p:sp>
      <p:pic>
        <p:nvPicPr>
          <p:cNvPr id="22" name="Image 2" descr="/home/claude/deck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2" y="3035808"/>
            <a:ext cx="329184" cy="32918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9555480" y="233172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3FBFB0"/>
          </a:solidFill>
          <a:ln/>
          <a:effectLst>
            <a:outerShdw sx="100000" sy="100000" kx="0" ky="0" algn="bl" rotWithShape="0" blurRad="101600" dist="38100" dir="5400000">
              <a:srgbClr val="1A1A2E">
                <a:alpha val="2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10465308" y="25328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Text 20"/>
          <p:cNvSpPr/>
          <p:nvPr/>
        </p:nvSpPr>
        <p:spPr>
          <a:xfrm>
            <a:off x="104653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9555480" y="31546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9665208" y="3502152"/>
            <a:ext cx="2112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until answer is final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10721340" y="4069080"/>
            <a:ext cx="0" cy="320040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</a:ln>
        </p:spPr>
      </p:sp>
      <p:sp>
        <p:nvSpPr>
          <p:cNvPr id="29" name="Shape 24"/>
          <p:cNvSpPr/>
          <p:nvPr/>
        </p:nvSpPr>
        <p:spPr>
          <a:xfrm>
            <a:off x="2080260" y="4389120"/>
            <a:ext cx="864108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</a:ln>
        </p:spPr>
      </p:sp>
      <p:sp>
        <p:nvSpPr>
          <p:cNvPr id="30" name="Shape 25"/>
          <p:cNvSpPr/>
          <p:nvPr/>
        </p:nvSpPr>
        <p:spPr>
          <a:xfrm flipV="1">
            <a:off x="2080260" y="4069080"/>
            <a:ext cx="0" cy="320040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31" name="Text 26"/>
          <p:cNvSpPr/>
          <p:nvPr/>
        </p:nvSpPr>
        <p:spPr>
          <a:xfrm>
            <a:off x="2743200" y="45720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...until the model returns a final answer instead of another tool request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48640" y="507492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F4F6FB"/>
          </a:solidFill>
          <a:ln/>
        </p:spPr>
      </p:sp>
      <p:sp>
        <p:nvSpPr>
          <p:cNvPr id="33" name="Text 28"/>
          <p:cNvSpPr/>
          <p:nvPr/>
        </p:nvSpPr>
        <p:spPr>
          <a:xfrm>
            <a:off x="822960" y="51937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loop, not the model, is what makes multi-step autonomous work possible. Every Module between now and Module 12 gives that loop something useful to do.</a:t>
            </a:r>
            <a:endParaRPr lang="en-US" sz="1350" dirty="0"/>
          </a:p>
        </p:txBody>
      </p:sp>
      <p:sp>
        <p:nvSpPr>
          <p:cNvPr id="34" name="Text 2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UNDERSTANDING CODING AGENTS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Autonomy Is a Spectrum, Not a Switch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4572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624828" y="1600200"/>
            <a:ext cx="4896612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161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ONE EDIT, STOP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863840" y="12161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UNSUPERVISED UNTIL DONE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 rot="10800000">
            <a:off x="8337499" y="2075688"/>
            <a:ext cx="274320" cy="201168"/>
          </a:xfrm>
          <a:prstGeom prst="triangle">
            <a:avLst/>
          </a:prstGeom>
          <a:solidFill>
            <a:srgbClr val="3FBFB0"/>
          </a:solidFill>
          <a:ln/>
        </p:spPr>
      </p:sp>
      <p:sp>
        <p:nvSpPr>
          <p:cNvPr id="9" name="Shape 7"/>
          <p:cNvSpPr/>
          <p:nvPr/>
        </p:nvSpPr>
        <p:spPr>
          <a:xfrm>
            <a:off x="7697419" y="228600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3FBFB0"/>
          </a:solidFill>
          <a:ln/>
        </p:spPr>
      </p:sp>
      <p:sp>
        <p:nvSpPr>
          <p:cNvPr id="10" name="Text 8"/>
          <p:cNvSpPr/>
          <p:nvPr/>
        </p:nvSpPr>
        <p:spPr>
          <a:xfrm>
            <a:off x="7697419" y="22860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sits here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28803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"find out why the solution isn’t compiling and fix it," MiniCode chains file discovery, reading, editing, building, and testing on its own — but full autonomy over a real codebase needs limits.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14" name="Image 0" descr="/home/claude/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11480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554480" y="39959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on its own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68680" y="461772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Reading a file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Searching the repository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dotnet build / test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309360" y="3703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1E2761"/>
          </a:solidFill>
          <a:ln/>
        </p:spPr>
      </p:sp>
      <p:sp>
        <p:nvSpPr>
          <p:cNvPr id="18" name="Shape 15"/>
          <p:cNvSpPr/>
          <p:nvPr/>
        </p:nvSpPr>
        <p:spPr>
          <a:xfrm>
            <a:off x="6583680" y="3977640"/>
            <a:ext cx="548640" cy="54864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9" name="Image 1" descr="/home/claude/deck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4114800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315200" y="399592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human approval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6629400" y="461772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Deleting a file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git commit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Installing a package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UNDERSTANDING CODING AGENTS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of the Capability Is the Harness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tempting to think a tool like Claude Code is "just a really good model." In practice: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5120640" cy="4206240"/>
          </a:xfrm>
          <a:prstGeom prst="roundRect">
            <a:avLst>
              <a:gd name="adj" fmla="val 2609"/>
            </a:avLst>
          </a:prstGeom>
          <a:ln w="31750">
            <a:solidFill>
              <a:srgbClr val="3FBFB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03120" y="3200400"/>
            <a:ext cx="2560320" cy="2560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/home/claude/deck/icons/br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88920" y="3886200"/>
            <a:ext cx="1188720" cy="11887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03120" y="5806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92240" y="2011680"/>
            <a:ext cx="128016" cy="12801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1" name="Text 8"/>
          <p:cNvSpPr/>
          <p:nvPr/>
        </p:nvSpPr>
        <p:spPr>
          <a:xfrm>
            <a:off x="6766560" y="185623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definitions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92240" y="2651760"/>
            <a:ext cx="128016" cy="12801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0"/>
          <p:cNvSpPr/>
          <p:nvPr/>
        </p:nvSpPr>
        <p:spPr>
          <a:xfrm>
            <a:off x="6766560" y="249631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boundaries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92240" y="3291840"/>
            <a:ext cx="128016" cy="12801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5" name="Text 12"/>
          <p:cNvSpPr/>
          <p:nvPr/>
        </p:nvSpPr>
        <p:spPr>
          <a:xfrm>
            <a:off x="6766560" y="313639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policy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92240" y="3931920"/>
            <a:ext cx="128016" cy="12801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7" name="Text 14"/>
          <p:cNvSpPr/>
          <p:nvPr/>
        </p:nvSpPr>
        <p:spPr>
          <a:xfrm>
            <a:off x="6766560" y="377647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management strategy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92240" y="4572000"/>
            <a:ext cx="128016" cy="12801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9" name="Text 16"/>
          <p:cNvSpPr/>
          <p:nvPr/>
        </p:nvSpPr>
        <p:spPr>
          <a:xfrm>
            <a:off x="6766560" y="44165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that keeps it going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400800" y="525780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29400" y="53492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supplies reasoning.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supplies structure, safety, and persistence.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UNDERSTANDING CODING AGENTS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MiniCode Architecture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74920" y="141732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4F6FB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74920" y="14173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892040" y="21488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pic>
        <p:nvPicPr>
          <p:cNvPr id="7" name="Image 0" descr="/home/claude/deck/icons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1136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0" y="21488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CLI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17720" y="288036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3FBFB0"/>
          </a:solidFill>
          <a:ln/>
        </p:spPr>
      </p:sp>
      <p:pic>
        <p:nvPicPr>
          <p:cNvPr id="10" name="Image 1" descr="/home/claude/deck/icons/co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2999232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49240" y="288036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MAF Coding Agent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80760" y="1920240"/>
            <a:ext cx="0" cy="2286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80760" y="2651760"/>
            <a:ext cx="0" cy="2286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080760" y="3474720"/>
            <a:ext cx="0" cy="25603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263140" y="3730752"/>
            <a:ext cx="38176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263140" y="3730752"/>
            <a:ext cx="0" cy="246888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080760" y="3474720"/>
            <a:ext cx="0" cy="25603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080760" y="3730752"/>
            <a:ext cx="228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103620" y="3730752"/>
            <a:ext cx="0" cy="246888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6080760" y="3474720"/>
            <a:ext cx="0" cy="25603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080760" y="3730752"/>
            <a:ext cx="386334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944100" y="3730752"/>
            <a:ext cx="0" cy="246888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77240" y="397764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pic>
        <p:nvPicPr>
          <p:cNvPr id="24" name="Image 2" descr="/home/claude/deck/icons/lay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187952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463040" y="4050792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Workspace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1463040" y="43891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· Search · Edit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4617720" y="397764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pic>
        <p:nvPicPr>
          <p:cNvPr id="28" name="Image 3" descr="/home/claude/deck/icons/toolbo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4187952"/>
            <a:ext cx="365760" cy="36576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303520" y="4050792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5303520" y="43891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· Test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8458200" y="397764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pic>
        <p:nvPicPr>
          <p:cNvPr id="32" name="Image 4" descr="/home/claude/deck/icons/bran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4187952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144000" y="4050792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1500" dirty="0"/>
          </a:p>
        </p:txBody>
      </p:sp>
      <p:sp>
        <p:nvSpPr>
          <p:cNvPr id="34" name="Text 27"/>
          <p:cNvSpPr/>
          <p:nvPr/>
        </p:nvSpPr>
        <p:spPr>
          <a:xfrm>
            <a:off x="9144000" y="43891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Diff · Log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263140" y="4754880"/>
            <a:ext cx="0" cy="25603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263140" y="5010912"/>
            <a:ext cx="38176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103620" y="4754880"/>
            <a:ext cx="0" cy="25603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080760" y="5010912"/>
            <a:ext cx="228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9944100" y="4754880"/>
            <a:ext cx="0" cy="25603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6080760" y="5010912"/>
            <a:ext cx="386334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4526280" y="5349240"/>
            <a:ext cx="3108960" cy="548640"/>
          </a:xfrm>
          <a:prstGeom prst="roundRect">
            <a:avLst>
              <a:gd name="adj" fmla="val 50000"/>
            </a:avLst>
          </a:prstGeom>
          <a:solidFill>
            <a:srgbClr val="2A2F45"/>
          </a:solidFill>
          <a:ln/>
        </p:spPr>
      </p:sp>
      <p:sp>
        <p:nvSpPr>
          <p:cNvPr id="42" name="Text 35"/>
          <p:cNvSpPr/>
          <p:nvPr/>
        </p:nvSpPr>
        <p:spPr>
          <a:xfrm>
            <a:off x="4526280" y="53492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Repository</a:t>
            </a:r>
            <a:endParaRPr lang="en-US" sz="1300" dirty="0"/>
          </a:p>
        </p:txBody>
      </p:sp>
      <p:sp>
        <p:nvSpPr>
          <p:cNvPr id="43" name="Shape 36"/>
          <p:cNvSpPr/>
          <p:nvPr/>
        </p:nvSpPr>
        <p:spPr>
          <a:xfrm>
            <a:off x="6080760" y="5212080"/>
            <a:ext cx="0" cy="13716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4" name="Shape 37"/>
          <p:cNvSpPr/>
          <p:nvPr/>
        </p:nvSpPr>
        <p:spPr>
          <a:xfrm>
            <a:off x="548640" y="6080760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/>
        </p:spPr>
      </p:sp>
      <p:sp>
        <p:nvSpPr>
          <p:cNvPr id="45" name="Text 38"/>
          <p:cNvSpPr/>
          <p:nvPr/>
        </p:nvSpPr>
        <p:spPr>
          <a:xfrm>
            <a:off x="777240" y="60807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no exceptions: </a:t>
            </a:r>
            <a:pPr algn="l" indent="0" marL="0">
              <a:buNone/>
            </a:pPr>
            <a:r>
              <a:rPr lang="en-US" sz="12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manager, planner, or reviewer agents — the CodingAgent never touches the filesystem directly.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 Responsibilities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/icons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61848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 CLI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417320" y="19476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MiniCode.Cli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31520" y="237744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interface — accepts requests, streams activity, prompts for approvals.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1960" y="141732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4F6FB"/>
          </a:solidFill>
          <a:ln/>
        </p:spPr>
      </p:sp>
      <p:sp>
        <p:nvSpPr>
          <p:cNvPr id="11" name="Shape 8"/>
          <p:cNvSpPr/>
          <p:nvPr/>
        </p:nvSpPr>
        <p:spPr>
          <a:xfrm>
            <a:off x="4480560" y="1645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/home/claude/deck/icons/co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78308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66360" y="161848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MAF Coding Agent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166360" y="19476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MiniCode.Agent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4480560" y="237744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instructions, reasoning, tool selection, and the execution loop.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01000" y="141732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4F6FB"/>
          </a:solidFill>
          <a:ln/>
        </p:spPr>
      </p:sp>
      <p:sp>
        <p:nvSpPr>
          <p:cNvPr id="17" name="Shape 13"/>
          <p:cNvSpPr/>
          <p:nvPr/>
        </p:nvSpPr>
        <p:spPr>
          <a:xfrm>
            <a:off x="8229600" y="1645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/home/claude/deck/icons/tool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78308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15400" y="161848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Invocation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915400" y="19476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MiniCode.Tools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8229600" y="237744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each capability as a tool and shapes results into text.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02920" y="374904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4F6FB"/>
          </a:solidFill>
          <a:ln/>
        </p:spPr>
      </p:sp>
      <p:sp>
        <p:nvSpPr>
          <p:cNvPr id="23" name="Shape 18"/>
          <p:cNvSpPr/>
          <p:nvPr/>
        </p:nvSpPr>
        <p:spPr>
          <a:xfrm>
            <a:off x="731520" y="3977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3" descr="/home/claude/deck/icons/lay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1480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395020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Workspace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1417320" y="427939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MiniCode.Workspace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731520" y="470916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boundary — path validation, read/search/edit primitives, ignore rules.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251960" y="374904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4F6FB"/>
          </a:solidFill>
          <a:ln/>
        </p:spPr>
      </p:sp>
      <p:sp>
        <p:nvSpPr>
          <p:cNvPr id="29" name="Shape 23"/>
          <p:cNvSpPr/>
          <p:nvPr/>
        </p:nvSpPr>
        <p:spPr>
          <a:xfrm>
            <a:off x="4480560" y="3977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0" name="Image 4" descr="/home/claude/deck/icons/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4114800"/>
            <a:ext cx="274320" cy="27432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166360" y="395020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 + Git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5166360" y="427939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MiniCode.Infrastructure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4480560" y="470916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allowlisted commands and supplies Git status/diff/log, plus approval policy.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001000" y="374904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4F6FB"/>
          </a:solidFill>
          <a:ln/>
        </p:spPr>
      </p:sp>
      <p:sp>
        <p:nvSpPr>
          <p:cNvPr id="35" name="Shape 28"/>
          <p:cNvSpPr/>
          <p:nvPr/>
        </p:nvSpPr>
        <p:spPr>
          <a:xfrm>
            <a:off x="8229600" y="3977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6" name="Image 5" descr="/home/claude/deck/icons/flas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4114800"/>
            <a:ext cx="274320" cy="27432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915400" y="395020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</a:t>
            </a:r>
            <a:endParaRPr lang="en-US" sz="1450" dirty="0"/>
          </a:p>
        </p:txBody>
      </p:sp>
      <p:sp>
        <p:nvSpPr>
          <p:cNvPr id="38" name="Text 30"/>
          <p:cNvSpPr/>
          <p:nvPr/>
        </p:nvSpPr>
        <p:spPr>
          <a:xfrm>
            <a:off x="8915400" y="427939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MiniCode.Tests</a:t>
            </a:r>
            <a:endParaRPr lang="en-US" sz="1000" dirty="0"/>
          </a:p>
        </p:txBody>
      </p:sp>
      <p:sp>
        <p:nvSpPr>
          <p:cNvPr id="39" name="Text 31"/>
          <p:cNvSpPr/>
          <p:nvPr/>
        </p:nvSpPr>
        <p:spPr>
          <a:xfrm>
            <a:off x="8229600" y="470916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everything above — not part of the runtime path, so absent from the diagram.</a:t>
            </a:r>
            <a:endParaRPr lang="en-US" sz="1100" dirty="0"/>
          </a:p>
        </p:txBody>
      </p:sp>
      <p:sp>
        <p:nvSpPr>
          <p:cNvPr id="40" name="Text 3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UNDERSTANDING CODING AGENTS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Should Walk Away With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4592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multi-agent orchestration anywhere in this course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64592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4389120" y="25146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BEATS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17720" y="288036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→ Act → Observe → Repeat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0" y="155448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64592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8229600" y="25146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458200" y="288036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directly onto the architecture diagram</a:t>
            </a:r>
            <a:endParaRPr lang="en-US" sz="1050" dirty="0"/>
          </a:p>
        </p:txBody>
      </p:sp>
      <p:pic>
        <p:nvPicPr>
          <p:cNvPr id="16" name="Image 0" descr="/home/claude/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336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97280" y="395020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Articulate the chatbot-vs-agent difference, grounded in the reason–act–observe–repeat loop.</a:t>
            </a:r>
            <a:endParaRPr lang="en-US" sz="1400" dirty="0"/>
          </a:p>
        </p:txBody>
      </p:sp>
      <p:pic>
        <p:nvPicPr>
          <p:cNvPr id="18" name="Image 1" descr="/home/claude/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81728"/>
            <a:ext cx="292608" cy="29260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97280" y="4608576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Redraw the MiniCode architecture diagram from memory, with correct component responsibilities.</a:t>
            </a:r>
            <a:endParaRPr lang="en-US" sz="1400" dirty="0"/>
          </a:p>
        </p:txBody>
      </p:sp>
      <p:pic>
        <p:nvPicPr>
          <p:cNvPr id="20" name="Image 2" descr="/home/claude/dec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340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097280" y="5266944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MiniCode is a single-agent harness — and why that stays true for the whole course.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548640" y="6080760"/>
            <a:ext cx="11109960" cy="502920"/>
          </a:xfrm>
          <a:prstGeom prst="roundRect">
            <a:avLst>
              <a:gd name="adj" fmla="val 10909"/>
            </a:avLst>
          </a:prstGeom>
          <a:ln w="12700">
            <a:solidFill>
              <a:srgbClr val="3FBFB0"/>
            </a:solidFill>
            <a:prstDash val="dash"/>
          </a:ln>
        </p:spPr>
      </p:sp>
      <p:sp>
        <p:nvSpPr>
          <p:cNvPr id="23" name="Text 18"/>
          <p:cNvSpPr/>
          <p:nvPr/>
        </p:nvSpPr>
        <p:spPr>
          <a:xfrm>
            <a:off x="777240" y="608076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runs this Module — Module 2 starts implementing this architecture as the first MAF console app.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2026-09-08T19:24:36Z</dcterms:created>
  <dcterms:modified xsi:type="dcterms:W3CDTF">2026-09-08T19:24:36Z</dcterms:modified>
</cp:coreProperties>
</file>