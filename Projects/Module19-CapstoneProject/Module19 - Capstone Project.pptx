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Starting point: Phase4-Capstone-DeveloperCli/. Everything from Phases 1–4. This is the course capstone; nothing follows it, and it feeds no Phase Capstone of its own. The version moves to 1.0 because the tool is done, not because anything new was written. The sample must be a Git repository because three of the eleven tools are Git tools and git diff is step fourteen.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step maps onto something that already ships. Nothing in this table was written for the capstone.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Phase 4 Capstone made driving TaskPlan an exercise with no reference implementation, and shipping 1.0 does not change that — WithState, Current, IsComplete and Revise remain written and unused.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sample is not part of MiniCode and does not live in its folder: create it anywhere outside the course repository, then git init and commit it. Alongside these two files sits a tests/CustomerPortal.Tests project with one passing check, and a CustomerPortal.slnx covering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global.json the SDK reports an MTP-versus-VSTest error rather than a result, so /test will not reproduce the captures.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agent edits the test instead of the code, that is a finding about the instructions in AgentInstructions.cs, not a bug — say what you would add to them. For Exercise Two: /status after a turn shows which steps completed; a plan whose steps all complete reports IsComplete; revising never renumbers or removes a step already shown to the operator; and TaskPlan stays immutable, so each change produces a new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/diff has two hunks; the second is on the test file and is omitted because no test code appears in this course. The banner reads MiniCode v1.0 with the workspace resolved to CustomerPortal, and /help lists all eleven commands. That is MiniCode v1.0: finding a defect in a repository it had never seen, fixing it, and proving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882648"/>
            <a:ext cx="5852160" cy="274320"/>
          </a:xfrm>
          <a:prstGeom prst="rect">
            <a:avLst/>
          </a:prstGeom>
          <a:noFill/>
          <a:ln/>
        </p:spPr>
        <p:txBody>
          <a:bodyPr wrap="square" lIns="0" tIns="0" rIns="0" bIns="0" rtlCol="0" anchor="ctr"/>
          <a:lstStyle/>
          <a:p>
            <a:pPr indent="0" marL="0">
              <a:buNone/>
            </a:pPr>
            <a:r>
              <a:rPr lang="en-US" sz="1400" b="1" spc="300" kern="0" dirty="0">
                <a:solidFill>
                  <a:srgbClr val="3FBFB0"/>
                </a:solidFill>
                <a:latin typeface="Calibri" pitchFamily="34" charset="0"/>
                <a:ea typeface="Calibri" pitchFamily="34" charset="-122"/>
                <a:cs typeface="Calibri" pitchFamily="34" charset="-120"/>
              </a:rPr>
              <a:t>MODULE 19 · COURSE CAPSTONE</a:t>
            </a:r>
            <a:endParaRPr lang="en-US" sz="1400" dirty="0"/>
          </a:p>
        </p:txBody>
      </p:sp>
      <p:sp>
        <p:nvSpPr>
          <p:cNvPr id="3" name="Text 1"/>
          <p:cNvSpPr txBox="1"/>
          <p:nvPr/>
        </p:nvSpPr>
        <p:spPr>
          <a:xfrm>
            <a:off x="548640" y="2266696"/>
            <a:ext cx="6309360" cy="678688"/>
          </a:xfrm>
          <a:prstGeom prst="rect">
            <a:avLst/>
          </a:prstGeom>
          <a:noFill/>
          <a:ln/>
        </p:spPr>
        <p:txBody>
          <a:bodyPr wrap="square" lIns="0" tIns="0" rIns="0" bIns="0" rtlCol="0" anchor="t"/>
          <a:lstStyle/>
          <a:p>
            <a:pPr indent="0" marL="0">
              <a:lnSpc>
                <a:spcPct val="112000"/>
              </a:lnSpc>
              <a:buNone/>
            </a:pPr>
            <a:r>
              <a:rPr lang="en-US" sz="4000" b="1" dirty="0">
                <a:solidFill>
                  <a:srgbClr val="FFFFFF"/>
                </a:solidFill>
                <a:latin typeface="Cambria" pitchFamily="34" charset="0"/>
                <a:ea typeface="Cambria" pitchFamily="34" charset="-122"/>
                <a:cs typeface="Cambria" pitchFamily="34" charset="-120"/>
              </a:rPr>
              <a:t>Capstone Project</a:t>
            </a:r>
            <a:endParaRPr lang="en-US" sz="4000" dirty="0"/>
          </a:p>
        </p:txBody>
      </p:sp>
      <p:sp>
        <p:nvSpPr>
          <p:cNvPr id="4" name="Text 2"/>
          <p:cNvSpPr txBox="1"/>
          <p:nvPr/>
        </p:nvSpPr>
        <p:spPr>
          <a:xfrm>
            <a:off x="548640" y="3448304"/>
            <a:ext cx="6309360" cy="1097280"/>
          </a:xfrm>
          <a:prstGeom prst="rect">
            <a:avLst/>
          </a:prstGeom>
          <a:noFill/>
          <a:ln/>
        </p:spPr>
        <p:txBody>
          <a:bodyPr wrap="square" lIns="0" tIns="0" rIns="0" bIns="0" rtlCol="0" anchor="t"/>
          <a:lstStyle/>
          <a:p>
            <a:pPr indent="0" marL="0">
              <a:lnSpc>
                <a:spcPct val="125000"/>
              </a:lnSpc>
              <a:buNone/>
            </a:pPr>
            <a:r>
              <a:rPr lang="en-US" sz="1600" dirty="0">
                <a:solidFill>
                  <a:srgbClr val="CADCFC"/>
                </a:solidFill>
                <a:latin typeface="Calibri" pitchFamily="34" charset="0"/>
                <a:ea typeface="Calibri" pitchFamily="34" charset="-122"/>
                <a:cs typeface="Calibri" pitchFamily="34" charset="-120"/>
              </a:rPr>
              <a:t>MiniCode is finished. This Module adds no capability — it takes v0.4 into a repository that knows nothing about this course, gives it one sentence of English, and watches it inspect, plan, edit, build, test, diagnose, repair and report on its own.</a:t>
            </a:r>
            <a:endParaRPr lang="en-US" sz="1600" dirty="0"/>
          </a:p>
        </p:txBody>
      </p:sp>
      <p:sp>
        <p:nvSpPr>
          <p:cNvPr id="5" name="Text 3"/>
          <p:cNvSpPr txBox="1"/>
          <p:nvPr/>
        </p:nvSpPr>
        <p:spPr>
          <a:xfrm>
            <a:off x="548640" y="5029200"/>
            <a:ext cx="6309360" cy="1051560"/>
          </a:xfrm>
          <a:prstGeom prst="rect">
            <a:avLst/>
          </a:prstGeom>
          <a:noFill/>
          <a:ln/>
        </p:spPr>
        <p:txBody>
          <a:bodyPr wrap="square" lIns="0" tIns="0" rIns="0" bIns="0" rtlCol="0" anchor="t"/>
          <a:lstStyle/>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START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Phase4-Capstone-DeveloperCli/ — everything from Phases 1–4; nothing follows it.</a:t>
            </a:r>
            <a:endParaRPr lang="en-US" sz="950" dirty="0"/>
          </a:p>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SETUP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No new package, variable or project. You will need a small .NET solution that is not MiniCode, and it must be a Git repository.</a:t>
            </a:r>
            <a:endParaRPr lang="en-US" sz="950" dirty="0"/>
          </a:p>
        </p:txBody>
      </p:sp>
      <p:sp>
        <p:nvSpPr>
          <p:cNvPr id="6" name="Text 4"/>
          <p:cNvSpPr txBox="1"/>
          <p:nvPr/>
        </p:nvSpPr>
        <p:spPr>
          <a:xfrm>
            <a:off x="548640" y="6263640"/>
            <a:ext cx="548640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MiniCode Course · Capstone</a:t>
            </a:r>
            <a:endParaRPr lang="en-US" sz="1100" dirty="0"/>
          </a:p>
        </p:txBody>
      </p:sp>
      <p:sp>
        <p:nvSpPr>
          <p:cNvPr id="7" name="Shape 5"/>
          <p:cNvSpPr/>
          <p:nvPr/>
        </p:nvSpPr>
        <p:spPr>
          <a:xfrm>
            <a:off x="7086600" y="1143000"/>
            <a:ext cx="4526280" cy="4389120"/>
          </a:xfrm>
          <a:prstGeom prst="roundRect">
            <a:avLst>
              <a:gd name="adj" fmla="val 2500"/>
            </a:avLst>
          </a:prstGeom>
          <a:solidFill>
            <a:srgbClr val="141B49"/>
          </a:solidFill>
          <a:ln w="12700">
            <a:solidFill>
              <a:srgbClr val="3FBFB0"/>
            </a:solidFill>
            <a:prstDash val="solid"/>
          </a:ln>
        </p:spPr>
      </p:sp>
      <p:sp>
        <p:nvSpPr>
          <p:cNvPr id="8" name="Text 6"/>
          <p:cNvSpPr txBox="1"/>
          <p:nvPr/>
        </p:nvSpPr>
        <p:spPr>
          <a:xfrm>
            <a:off x="7342632" y="1344168"/>
            <a:ext cx="4069080" cy="274320"/>
          </a:xfrm>
          <a:prstGeom prst="rect">
            <a:avLst/>
          </a:prstGeom>
          <a:noFill/>
          <a:ln/>
        </p:spPr>
        <p:txBody>
          <a:bodyPr wrap="square" lIns="0" tIns="0" rIns="0" bIns="0" rtlCol="0" anchor="ctr"/>
          <a:lstStyle/>
          <a:p>
            <a:pPr indent="0" marL="0">
              <a:buNone/>
            </a:pPr>
            <a:r>
              <a:rPr lang="en-US" sz="1200" b="1" dirty="0">
                <a:solidFill>
                  <a:srgbClr val="3FBFB0"/>
                </a:solidFill>
                <a:latin typeface="Courier New" pitchFamily="34" charset="0"/>
                <a:ea typeface="Courier New" pitchFamily="34" charset="-122"/>
                <a:cs typeface="Courier New" pitchFamily="34" charset="-120"/>
              </a:rPr>
              <a:t>v1.0</a:t>
            </a:r>
            <a:endParaRPr lang="en-US" sz="1200" dirty="0"/>
          </a:p>
        </p:txBody>
      </p:sp>
      <p:sp>
        <p:nvSpPr>
          <p:cNvPr id="9" name="Text 7"/>
          <p:cNvSpPr txBox="1"/>
          <p:nvPr/>
        </p:nvSpPr>
        <p:spPr>
          <a:xfrm>
            <a:off x="7360920" y="178308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57 C# files, five projects</a:t>
            </a:r>
            <a:endParaRPr lang="en-US" sz="1050" dirty="0"/>
          </a:p>
        </p:txBody>
      </p:sp>
      <p:sp>
        <p:nvSpPr>
          <p:cNvPr id="10" name="Text 8"/>
          <p:cNvSpPr txBox="1"/>
          <p:nvPr/>
        </p:nvSpPr>
        <p:spPr>
          <a:xfrm>
            <a:off x="7360920" y="2039112"/>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2,346 lines</a:t>
            </a:r>
            <a:endParaRPr lang="en-US" sz="1050" dirty="0"/>
          </a:p>
        </p:txBody>
      </p:sp>
      <p:sp>
        <p:nvSpPr>
          <p:cNvPr id="11" name="Text 9"/>
          <p:cNvSpPr txBox="1"/>
          <p:nvPr/>
        </p:nvSpPr>
        <p:spPr>
          <a:xfrm>
            <a:off x="7360920" y="2295144"/>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eleven tools</a:t>
            </a:r>
            <a:endParaRPr lang="en-US" sz="1050" dirty="0"/>
          </a:p>
        </p:txBody>
      </p:sp>
      <p:sp>
        <p:nvSpPr>
          <p:cNvPr id="12" name="Text 10"/>
          <p:cNvSpPr txBox="1"/>
          <p:nvPr/>
        </p:nvSpPr>
        <p:spPr>
          <a:xfrm>
            <a:off x="7360920" y="2551176"/>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eleven slash commands</a:t>
            </a:r>
            <a:endParaRPr lang="en-US" sz="1050" dirty="0"/>
          </a:p>
        </p:txBody>
      </p:sp>
      <p:sp>
        <p:nvSpPr>
          <p:cNvPr id="13" name="Text 11"/>
          <p:cNvSpPr txBox="1"/>
          <p:nvPr/>
        </p:nvSpPr>
        <p:spPr>
          <a:xfrm>
            <a:off x="7360920" y="2807208"/>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one agent</a:t>
            </a:r>
            <a:endParaRPr lang="en-US" sz="1050" dirty="0"/>
          </a:p>
        </p:txBody>
      </p:sp>
      <p:sp>
        <p:nvSpPr>
          <p:cNvPr id="14" name="Shape 12"/>
          <p:cNvSpPr/>
          <p:nvPr/>
        </p:nvSpPr>
        <p:spPr>
          <a:xfrm>
            <a:off x="7342632" y="3264408"/>
            <a:ext cx="4014216" cy="0"/>
          </a:xfrm>
          <a:prstGeom prst="line">
            <a:avLst/>
          </a:prstGeom>
          <a:noFill/>
          <a:ln w="9525">
            <a:solidFill>
              <a:srgbClr val="6B7280"/>
            </a:solidFill>
            <a:prstDash val="sysDot"/>
          </a:ln>
        </p:spPr>
      </p:sp>
      <p:sp>
        <p:nvSpPr>
          <p:cNvPr id="15" name="Text 13"/>
          <p:cNvSpPr txBox="1"/>
          <p:nvPr/>
        </p:nvSpPr>
        <p:spPr>
          <a:xfrm>
            <a:off x="7342632" y="3429000"/>
            <a:ext cx="4014216" cy="530352"/>
          </a:xfrm>
          <a:prstGeom prst="rect">
            <a:avLst/>
          </a:prstGeom>
          <a:noFill/>
          <a:ln/>
        </p:spPr>
        <p:txBody>
          <a:bodyPr wrap="square" lIns="0" tIns="0" rIns="0" bIns="0" rtlCol="0" anchor="t"/>
          <a:lstStyle/>
          <a:p>
            <a:pPr indent="0" marL="0">
              <a:buNone/>
            </a:pPr>
            <a:r>
              <a:rPr lang="en-US" sz="1050" dirty="0">
                <a:solidFill>
                  <a:srgbClr val="CADCFC"/>
                </a:solidFill>
                <a:latin typeface="Courier New" pitchFamily="34" charset="0"/>
                <a:ea typeface="Courier New" pitchFamily="34" charset="-122"/>
                <a:cs typeface="Courier New" pitchFamily="34" charset="-120"/>
              </a:rPr>
              <a:t>one sentence in</a:t>
            </a:r>
            <a:endParaRPr lang="en-US" sz="1050" dirty="0"/>
          </a:p>
          <a:p>
            <a:pPr indent="0" marL="0">
              <a:buNone/>
            </a:pPr>
            <a:r>
              <a:rPr lang="en-US" sz="1050" dirty="0">
                <a:solidFill>
                  <a:srgbClr val="CADCFC"/>
                </a:solidFill>
                <a:latin typeface="Courier New" pitchFamily="34" charset="0"/>
                <a:ea typeface="Courier New" pitchFamily="34" charset="-122"/>
                <a:cs typeface="Courier New" pitchFamily="34" charset="-120"/>
              </a:rPr>
              <a:t>a finished task out</a:t>
            </a:r>
            <a:endParaRPr lang="en-US" sz="1050" dirty="0"/>
          </a:p>
        </p:txBody>
      </p:sp>
      <p:sp>
        <p:nvSpPr>
          <p:cNvPr id="16" name="Text 14"/>
          <p:cNvSpPr txBox="1"/>
          <p:nvPr/>
        </p:nvSpPr>
        <p:spPr>
          <a:xfrm>
            <a:off x="7342632" y="4069080"/>
            <a:ext cx="4014216" cy="365760"/>
          </a:xfrm>
          <a:prstGeom prst="rect">
            <a:avLst/>
          </a:prstGeom>
          <a:noFill/>
          <a:ln/>
        </p:spPr>
        <p:txBody>
          <a:bodyPr wrap="square" lIns="0" tIns="0" rIns="0" bIns="0" rtlCol="0" anchor="ctr"/>
          <a:lstStyle/>
          <a:p>
            <a:pPr indent="0" marL="0">
              <a:buNone/>
            </a:pPr>
            <a:r>
              <a:rPr lang="en-US" sz="1050" b="1" i="1" dirty="0">
                <a:solidFill>
                  <a:srgbClr val="3FBFB0"/>
                </a:solidFill>
                <a:latin typeface="Calibri" pitchFamily="34" charset="0"/>
                <a:ea typeface="Calibri" pitchFamily="34" charset="-122"/>
                <a:cs typeface="Calibri" pitchFamily="34" charset="-120"/>
              </a:rPr>
              <a:t>The same code, declared finished.</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A Capstone Is a Claim, and the Claim Is Testable</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19 — CAPSTONE PROJECT (V1.0)</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417320"/>
            <a:ext cx="5349240" cy="4297680"/>
          </a:xfrm>
          <a:prstGeom prst="roundRect">
            <a:avLst>
              <a:gd name="adj" fmla="val 2128"/>
            </a:avLst>
          </a:prstGeom>
          <a:solidFill>
            <a:srgbClr val="1E2761"/>
          </a:solidFill>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Verified Against a Sentence, Not a Topic List</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Every Module so far was verified against its own topic list. This one is verified against a sentence a developer would actually type.</a:t>
            </a:r>
            <a:endParaRPr lang="en-US" sz="1350" dirty="0"/>
          </a:p>
        </p:txBody>
      </p:sp>
      <p:sp>
        <p:nvSpPr>
          <p:cNvPr id="11" name="Text 8"/>
          <p:cNvSpPr txBox="1"/>
          <p:nvPr/>
        </p:nvSpPr>
        <p:spPr>
          <a:xfrm>
            <a:off x="86868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Either the tool completes the task without being told which files to open, or it does not.</a:t>
            </a:r>
            <a:endParaRPr lang="en-US" sz="1250" dirty="0"/>
          </a:p>
        </p:txBody>
      </p:sp>
      <p:sp>
        <p:nvSpPr>
          <p:cNvPr id="12" name="Shape 9"/>
          <p:cNvSpPr/>
          <p:nvPr/>
        </p:nvSpPr>
        <p:spPr>
          <a:xfrm>
            <a:off x="6309360" y="1417320"/>
            <a:ext cx="5349240" cy="4297680"/>
          </a:xfrm>
          <a:prstGeom prst="roundRect">
            <a:avLst>
              <a:gd name="adj" fmla="val 2128"/>
            </a:avLst>
          </a:prstGeom>
          <a:solidFill>
            <a:srgbClr val="F4F6FB"/>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No New Code Is the Result, Not a Shortcut</a:t>
            </a:r>
            <a:endParaRPr lang="en-US" sz="1550" dirty="0"/>
          </a:p>
        </p:txBody>
      </p:sp>
      <p:sp>
        <p:nvSpPr>
          <p:cNvPr id="16" name="Text 12"/>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Eleven tools have accumulated across eighteen Modules, each added for its own reason. The capstone asks whether they compose into an agent.</a:t>
            </a:r>
            <a:endParaRPr lang="en-US" sz="1350" dirty="0"/>
          </a:p>
        </p:txBody>
      </p:sp>
      <p:sp>
        <p:nvSpPr>
          <p:cNvPr id="17" name="Shape 13"/>
          <p:cNvSpPr/>
          <p:nvPr/>
        </p:nvSpPr>
        <p:spPr>
          <a:xfrm>
            <a:off x="6492240" y="4892040"/>
            <a:ext cx="4983480" cy="594360"/>
          </a:xfrm>
          <a:prstGeom prst="roundRect">
            <a:avLst>
              <a:gd name="adj" fmla="val 9231"/>
            </a:avLst>
          </a:prstGeom>
          <a:solidFill>
            <a:srgbClr val="141B49"/>
          </a:solidFill>
          <a:ln/>
        </p:spPr>
      </p:sp>
      <p:sp>
        <p:nvSpPr>
          <p:cNvPr id="18" name="Text 14"/>
          <p:cNvSpPr txBox="1"/>
          <p:nvPr/>
        </p:nvSpPr>
        <p:spPr>
          <a:xfrm>
            <a:off x="6629400" y="4892040"/>
            <a:ext cx="4709160" cy="594360"/>
          </a:xfrm>
          <a:prstGeom prst="rect">
            <a:avLst/>
          </a:prstGeom>
          <a:noFill/>
          <a:ln/>
        </p:spPr>
        <p:txBody>
          <a:bodyPr wrap="square" lIns="0" tIns="0" rIns="0" bIns="0" rtlCol="0" anchor="ctr"/>
          <a:lstStyle/>
          <a:p>
            <a:pPr indent="0" marL="0">
              <a:buNone/>
            </a:pPr>
            <a:r>
              <a:rPr lang="en-US" sz="1200" i="1" dirty="0">
                <a:solidFill>
                  <a:srgbClr val="3FBFB0"/>
                </a:solidFill>
                <a:latin typeface="Calibri" pitchFamily="34" charset="0"/>
                <a:ea typeface="Calibri" pitchFamily="34" charset="-122"/>
                <a:cs typeface="Calibri" pitchFamily="34" charset="-120"/>
              </a:rPr>
              <a:t>Composition is something you demonstrate, not something you implement.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Intelligence Is Centralised; Capability Is Not</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19 — CAPSTONE PROJECT (V1.0)</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548640" y="1417320"/>
            <a:ext cx="5349240" cy="4297680"/>
          </a:xfrm>
          <a:prstGeom prst="roundRect">
            <a:avLst>
              <a:gd name="adj" fmla="val 2128"/>
            </a:avLst>
          </a:prstGeom>
          <a:solidFill>
            <a:srgbClr val="3FBFB0"/>
          </a:solidFill>
          <a:ln/>
        </p:spPr>
      </p:sp>
      <p:sp>
        <p:nvSpPr>
          <p:cNvPr id="7" name="Shape 5"/>
          <p:cNvSpPr/>
          <p:nvPr/>
        </p:nvSpPr>
        <p:spPr>
          <a:xfrm>
            <a:off x="868680" y="1737360"/>
            <a:ext cx="640080" cy="64008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One MAF Agent. It Decides.</a:t>
            </a:r>
            <a:endParaRPr lang="en-US" sz="1550" dirty="0"/>
          </a:p>
        </p:txBody>
      </p:sp>
      <p:sp>
        <p:nvSpPr>
          <p:cNvPr id="10" name="Text 7"/>
          <p:cNvSpPr txBox="1"/>
          <p:nvPr/>
        </p:nvSpPr>
        <p:spPr>
          <a:xfrm>
            <a:off x="868680" y="2606040"/>
            <a:ext cx="4709160" cy="2743200"/>
          </a:xfrm>
          <a:prstGeom prst="rect">
            <a:avLst/>
          </a:prstGeom>
          <a:noFill/>
          <a:ln/>
        </p:spPr>
        <p:txBody>
          <a:bodyPr wrap="square" lIns="0" tIns="0" rIns="0" bIns="0" rtlCol="0" anchor="t"/>
          <a:lstStyle/>
          <a:p>
            <a:pPr indent="0" marL="0">
              <a:lnSpc>
                <a:spcPct val="125000"/>
              </a:lnSpc>
              <a:buNone/>
            </a:pPr>
            <a:r>
              <a:rPr lang="en-US" sz="1350" dirty="0">
                <a:solidFill>
                  <a:srgbClr val="FFFFFF"/>
                </a:solidFill>
                <a:latin typeface="Calibri" pitchFamily="34" charset="0"/>
                <a:ea typeface="Calibri" pitchFamily="34" charset="-122"/>
                <a:cs typeface="Calibri" pitchFamily="34" charset="-120"/>
              </a:rPr>
              <a:t>There is a single agent, and choosing what to do is entirely its job — which file to open, which command to run, when the work is done. Nothing in the C# second-guesses that choice.</a:t>
            </a:r>
            <a:endParaRPr lang="en-US" sz="1350" dirty="0"/>
          </a:p>
        </p:txBody>
      </p:sp>
      <p:sp>
        <p:nvSpPr>
          <p:cNvPr id="11" name="Shape 8"/>
          <p:cNvSpPr/>
          <p:nvPr/>
        </p:nvSpPr>
        <p:spPr>
          <a:xfrm>
            <a:off x="6309360" y="1417320"/>
            <a:ext cx="5349240" cy="4297680"/>
          </a:xfrm>
          <a:prstGeom prst="roundRect">
            <a:avLst>
              <a:gd name="adj" fmla="val 2128"/>
            </a:avLst>
          </a:prstGeom>
          <a:solidFill>
            <a:srgbClr val="1E2761"/>
          </a:solidFill>
          <a:ln w="12700">
            <a:solidFill>
              <a:srgbClr val="3FBFB0"/>
            </a:solidFill>
            <a:prstDash val="solid"/>
          </a:ln>
        </p:spPr>
      </p:sp>
      <p:sp>
        <p:nvSpPr>
          <p:cNvPr id="12" name="Shape 9"/>
          <p:cNvSpPr/>
          <p:nvPr/>
        </p:nvSpPr>
        <p:spPr>
          <a:xfrm>
            <a:off x="6629400" y="1737360"/>
            <a:ext cx="640080" cy="640080"/>
          </a:xfrm>
          <a:prstGeom prst="ellipse">
            <a:avLst/>
          </a:prstGeom>
          <a:solidFill>
            <a:srgbClr val="3FBFB0"/>
          </a:solidFill>
          <a:ln/>
        </p:spPr>
      </p:sp>
      <p:pic>
        <p:nvPicPr>
          <p:cNvPr id="13"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4" name="Text 10"/>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Every Irreversible Thing Lives in Deterministic C#</a:t>
            </a:r>
            <a:endParaRPr lang="en-US" sz="1550" dirty="0"/>
          </a:p>
        </p:txBody>
      </p:sp>
      <p:sp>
        <p:nvSpPr>
          <p:cNvPr id="15" name="Text 11"/>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A path boundary. A fixed command allow list. An approval prompt. An edit that refuses a stale fingerprint. None of them ask the model for permission, and none of them can be talked out of it.</a:t>
            </a:r>
            <a:endParaRPr lang="en-US" sz="1350" dirty="0"/>
          </a:p>
        </p:txBody>
      </p:sp>
      <p:sp>
        <p:nvSpPr>
          <p:cNvPr id="16" name="Text 12"/>
          <p:cNvSpPr txBox="1"/>
          <p:nvPr/>
        </p:nvSpPr>
        <p:spPr>
          <a:xfrm>
            <a:off x="662940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The model chooses what; the C# decides whether.</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The Fifteen Steps Are Eleven Tools</a:t>
            </a:r>
            <a:endParaRPr lang="en-US" sz="3200" dirty="0"/>
          </a:p>
        </p:txBody>
      </p:sp>
      <p:sp>
        <p:nvSpPr>
          <p:cNvPr id="4" name="Text 2"/>
          <p:cNvSpPr txBox="1"/>
          <p:nvPr/>
        </p:nvSpPr>
        <p:spPr>
          <a:xfrm>
            <a:off x="548640" y="1207008"/>
            <a:ext cx="11064240" cy="365760"/>
          </a:xfrm>
          <a:prstGeom prst="rect">
            <a:avLst/>
          </a:prstGeom>
          <a:noFill/>
          <a:ln/>
        </p:spPr>
        <p:txBody>
          <a:bodyPr wrap="square" lIns="0" tIns="0" rIns="0" bIns="0" rtlCol="0" anchor="t"/>
          <a:lstStyle/>
          <a:p>
            <a:pPr indent="0" marL="0">
              <a:buNone/>
            </a:pPr>
            <a:r>
              <a:rPr lang="en-US" sz="1250" i="1" dirty="0">
                <a:solidFill>
                  <a:srgbClr val="2A2F45"/>
                </a:solidFill>
                <a:latin typeface="Calibri" pitchFamily="34" charset="0"/>
                <a:ea typeface="Calibri" pitchFamily="34" charset="-122"/>
                <a:cs typeface="Calibri" pitchFamily="34" charset="-120"/>
              </a:rPr>
              <a:t>The assignment reads as a long procedure. It is not a pipeline anyone wrote — it is what the model does with the tools it was handed.</a:t>
            </a:r>
            <a:endParaRPr lang="en-US" sz="1250" dirty="0"/>
          </a:p>
        </p:txBody>
      </p:sp>
      <p:sp>
        <p:nvSpPr>
          <p:cNvPr id="5" name="Text 3"/>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19 — CAPSTONE PROJECT (V1.0)</a:t>
            </a:r>
            <a:endParaRPr lang="en-US" sz="900" dirty="0"/>
          </a:p>
        </p:txBody>
      </p:sp>
      <p:sp>
        <p:nvSpPr>
          <p:cNvPr id="6" name="Text 4"/>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548640" y="1965960"/>
            <a:ext cx="11064240" cy="411480"/>
          </a:xfrm>
          <a:prstGeom prst="rect">
            <a:avLst/>
          </a:prstGeom>
          <a:solidFill>
            <a:srgbClr val="1E2761"/>
          </a:solidFill>
          <a:ln/>
        </p:spPr>
      </p:sp>
      <p:sp>
        <p:nvSpPr>
          <p:cNvPr id="8" name="Text 6"/>
          <p:cNvSpPr txBox="1"/>
          <p:nvPr/>
        </p:nvSpPr>
        <p:spPr>
          <a:xfrm>
            <a:off x="676656" y="1965960"/>
            <a:ext cx="795528" cy="411480"/>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Steps</a:t>
            </a:r>
            <a:endParaRPr lang="en-US" sz="1150" dirty="0"/>
          </a:p>
        </p:txBody>
      </p:sp>
      <p:sp>
        <p:nvSpPr>
          <p:cNvPr id="9" name="Text 7"/>
          <p:cNvSpPr txBox="1"/>
          <p:nvPr/>
        </p:nvSpPr>
        <p:spPr>
          <a:xfrm>
            <a:off x="1728216" y="1965960"/>
            <a:ext cx="4636008" cy="411480"/>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What the agent does</a:t>
            </a:r>
            <a:endParaRPr lang="en-US" sz="1150" dirty="0"/>
          </a:p>
        </p:txBody>
      </p:sp>
      <p:sp>
        <p:nvSpPr>
          <p:cNvPr id="10" name="Text 8"/>
          <p:cNvSpPr txBox="1"/>
          <p:nvPr/>
        </p:nvSpPr>
        <p:spPr>
          <a:xfrm>
            <a:off x="6620256" y="1965960"/>
            <a:ext cx="4864608" cy="411480"/>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Tool</a:t>
            </a:r>
            <a:endParaRPr lang="en-US" sz="1150" dirty="0"/>
          </a:p>
        </p:txBody>
      </p:sp>
      <p:sp>
        <p:nvSpPr>
          <p:cNvPr id="11" name="Shape 9"/>
          <p:cNvSpPr/>
          <p:nvPr/>
        </p:nvSpPr>
        <p:spPr>
          <a:xfrm>
            <a:off x="548640" y="2377440"/>
            <a:ext cx="11064240" cy="484632"/>
          </a:xfrm>
          <a:prstGeom prst="rect">
            <a:avLst/>
          </a:prstGeom>
          <a:solidFill>
            <a:srgbClr val="F4F6FB"/>
          </a:solidFill>
          <a:ln/>
        </p:spPr>
      </p:sp>
      <p:sp>
        <p:nvSpPr>
          <p:cNvPr id="12" name="Text 10"/>
          <p:cNvSpPr txBox="1"/>
          <p:nvPr/>
        </p:nvSpPr>
        <p:spPr>
          <a:xfrm>
            <a:off x="676656" y="2377440"/>
            <a:ext cx="795528" cy="484632"/>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1</a:t>
            </a:r>
            <a:endParaRPr lang="en-US" sz="1100" dirty="0"/>
          </a:p>
        </p:txBody>
      </p:sp>
      <p:sp>
        <p:nvSpPr>
          <p:cNvPr id="13" name="Text 11"/>
          <p:cNvSpPr txBox="1"/>
          <p:nvPr/>
        </p:nvSpPr>
        <p:spPr>
          <a:xfrm>
            <a:off x="1728216" y="2377440"/>
            <a:ext cx="4636008" cy="484632"/>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Inspect the repository</a:t>
            </a:r>
            <a:endParaRPr lang="en-US" sz="1100" dirty="0"/>
          </a:p>
        </p:txBody>
      </p:sp>
      <p:sp>
        <p:nvSpPr>
          <p:cNvPr id="14" name="Text 12"/>
          <p:cNvSpPr txBox="1"/>
          <p:nvPr/>
        </p:nvSpPr>
        <p:spPr>
          <a:xfrm>
            <a:off x="6620256" y="2377440"/>
            <a:ext cx="4864608" cy="48463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describe_repository, list_files</a:t>
            </a:r>
            <a:endParaRPr lang="en-US" sz="950" dirty="0"/>
          </a:p>
        </p:txBody>
      </p:sp>
      <p:sp>
        <p:nvSpPr>
          <p:cNvPr id="15" name="Shape 13"/>
          <p:cNvSpPr/>
          <p:nvPr/>
        </p:nvSpPr>
        <p:spPr>
          <a:xfrm>
            <a:off x="548640" y="2862072"/>
            <a:ext cx="11064240" cy="484632"/>
          </a:xfrm>
          <a:prstGeom prst="rect">
            <a:avLst/>
          </a:prstGeom>
          <a:solidFill>
            <a:srgbClr val="FFFFFF"/>
          </a:solidFill>
          <a:ln/>
        </p:spPr>
      </p:sp>
      <p:sp>
        <p:nvSpPr>
          <p:cNvPr id="16" name="Text 14"/>
          <p:cNvSpPr txBox="1"/>
          <p:nvPr/>
        </p:nvSpPr>
        <p:spPr>
          <a:xfrm>
            <a:off x="676656" y="2862072"/>
            <a:ext cx="795528" cy="484632"/>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2–4</a:t>
            </a:r>
            <a:endParaRPr lang="en-US" sz="1100" dirty="0"/>
          </a:p>
        </p:txBody>
      </p:sp>
      <p:sp>
        <p:nvSpPr>
          <p:cNvPr id="17" name="Text 15"/>
          <p:cNvSpPr txBox="1"/>
          <p:nvPr/>
        </p:nvSpPr>
        <p:spPr>
          <a:xfrm>
            <a:off x="1728216" y="2862072"/>
            <a:ext cx="4636008" cy="484632"/>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Locate CustomerService, Customer, the tests</a:t>
            </a:r>
            <a:endParaRPr lang="en-US" sz="1100" dirty="0"/>
          </a:p>
        </p:txBody>
      </p:sp>
      <p:sp>
        <p:nvSpPr>
          <p:cNvPr id="18" name="Text 16"/>
          <p:cNvSpPr txBox="1"/>
          <p:nvPr/>
        </p:nvSpPr>
        <p:spPr>
          <a:xfrm>
            <a:off x="6620256" y="2862072"/>
            <a:ext cx="4864608" cy="48463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search_files, read_file</a:t>
            </a:r>
            <a:endParaRPr lang="en-US" sz="950" dirty="0"/>
          </a:p>
        </p:txBody>
      </p:sp>
      <p:sp>
        <p:nvSpPr>
          <p:cNvPr id="19" name="Shape 17"/>
          <p:cNvSpPr/>
          <p:nvPr/>
        </p:nvSpPr>
        <p:spPr>
          <a:xfrm>
            <a:off x="548640" y="3346704"/>
            <a:ext cx="11064240" cy="484632"/>
          </a:xfrm>
          <a:prstGeom prst="rect">
            <a:avLst/>
          </a:prstGeom>
          <a:solidFill>
            <a:srgbClr val="F4F6FB"/>
          </a:solidFill>
          <a:ln/>
        </p:spPr>
      </p:sp>
      <p:sp>
        <p:nvSpPr>
          <p:cNvPr id="20" name="Text 18"/>
          <p:cNvSpPr txBox="1"/>
          <p:nvPr/>
        </p:nvSpPr>
        <p:spPr>
          <a:xfrm>
            <a:off x="676656" y="3346704"/>
            <a:ext cx="795528" cy="484632"/>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5</a:t>
            </a:r>
            <a:endParaRPr lang="en-US" sz="1100" dirty="0"/>
          </a:p>
        </p:txBody>
      </p:sp>
      <p:sp>
        <p:nvSpPr>
          <p:cNvPr id="21" name="Text 19"/>
          <p:cNvSpPr txBox="1"/>
          <p:nvPr/>
        </p:nvSpPr>
        <p:spPr>
          <a:xfrm>
            <a:off x="1728216" y="3346704"/>
            <a:ext cx="4636008" cy="484632"/>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Decide the change</a:t>
            </a:r>
            <a:endParaRPr lang="en-US" sz="1100" dirty="0"/>
          </a:p>
        </p:txBody>
      </p:sp>
      <p:sp>
        <p:nvSpPr>
          <p:cNvPr id="22" name="Text 20"/>
          <p:cNvSpPr txBox="1"/>
          <p:nvPr/>
        </p:nvSpPr>
        <p:spPr>
          <a:xfrm>
            <a:off x="6620256" y="3346704"/>
            <a:ext cx="4864608" cy="48463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the plan, from PlanAsync</a:t>
            </a:r>
            <a:endParaRPr lang="en-US" sz="950" dirty="0"/>
          </a:p>
        </p:txBody>
      </p:sp>
      <p:sp>
        <p:nvSpPr>
          <p:cNvPr id="23" name="Shape 21"/>
          <p:cNvSpPr/>
          <p:nvPr/>
        </p:nvSpPr>
        <p:spPr>
          <a:xfrm>
            <a:off x="548640" y="3831336"/>
            <a:ext cx="11064240" cy="484632"/>
          </a:xfrm>
          <a:prstGeom prst="rect">
            <a:avLst/>
          </a:prstGeom>
          <a:solidFill>
            <a:srgbClr val="FFFFFF"/>
          </a:solidFill>
          <a:ln/>
        </p:spPr>
      </p:sp>
      <p:sp>
        <p:nvSpPr>
          <p:cNvPr id="24" name="Text 22"/>
          <p:cNvSpPr txBox="1"/>
          <p:nvPr/>
        </p:nvSpPr>
        <p:spPr>
          <a:xfrm>
            <a:off x="676656" y="3831336"/>
            <a:ext cx="795528" cy="484632"/>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6–7</a:t>
            </a:r>
            <a:endParaRPr lang="en-US" sz="1100" dirty="0"/>
          </a:p>
        </p:txBody>
      </p:sp>
      <p:sp>
        <p:nvSpPr>
          <p:cNvPr id="25" name="Text 23"/>
          <p:cNvSpPr txBox="1"/>
          <p:nvPr/>
        </p:nvSpPr>
        <p:spPr>
          <a:xfrm>
            <a:off x="1728216" y="3831336"/>
            <a:ext cx="4636008" cy="484632"/>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Modify production code, add a test</a:t>
            </a:r>
            <a:endParaRPr lang="en-US" sz="1100" dirty="0"/>
          </a:p>
        </p:txBody>
      </p:sp>
      <p:sp>
        <p:nvSpPr>
          <p:cNvPr id="26" name="Text 24"/>
          <p:cNvSpPr txBox="1"/>
          <p:nvPr/>
        </p:nvSpPr>
        <p:spPr>
          <a:xfrm>
            <a:off x="6620256" y="3831336"/>
            <a:ext cx="4864608" cy="48463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edit_file, write_file</a:t>
            </a:r>
            <a:endParaRPr lang="en-US" sz="950" dirty="0"/>
          </a:p>
        </p:txBody>
      </p:sp>
      <p:sp>
        <p:nvSpPr>
          <p:cNvPr id="27" name="Shape 25"/>
          <p:cNvSpPr/>
          <p:nvPr/>
        </p:nvSpPr>
        <p:spPr>
          <a:xfrm>
            <a:off x="548640" y="4315968"/>
            <a:ext cx="11064240" cy="484632"/>
          </a:xfrm>
          <a:prstGeom prst="rect">
            <a:avLst/>
          </a:prstGeom>
          <a:solidFill>
            <a:srgbClr val="F4F6FB"/>
          </a:solidFill>
          <a:ln/>
        </p:spPr>
      </p:sp>
      <p:sp>
        <p:nvSpPr>
          <p:cNvPr id="28" name="Text 26"/>
          <p:cNvSpPr txBox="1"/>
          <p:nvPr/>
        </p:nvSpPr>
        <p:spPr>
          <a:xfrm>
            <a:off x="676656" y="4315968"/>
            <a:ext cx="795528" cy="484632"/>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8–9</a:t>
            </a:r>
            <a:endParaRPr lang="en-US" sz="1100" dirty="0"/>
          </a:p>
        </p:txBody>
      </p:sp>
      <p:sp>
        <p:nvSpPr>
          <p:cNvPr id="29" name="Text 27"/>
          <p:cNvSpPr txBox="1"/>
          <p:nvPr/>
        </p:nvSpPr>
        <p:spPr>
          <a:xfrm>
            <a:off x="1728216" y="4315968"/>
            <a:ext cx="4636008" cy="484632"/>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Build; fix compilation errors</a:t>
            </a:r>
            <a:endParaRPr lang="en-US" sz="1100" dirty="0"/>
          </a:p>
        </p:txBody>
      </p:sp>
      <p:sp>
        <p:nvSpPr>
          <p:cNvPr id="30" name="Text 28"/>
          <p:cNvSpPr txBox="1"/>
          <p:nvPr/>
        </p:nvSpPr>
        <p:spPr>
          <a:xfrm>
            <a:off x="6620256" y="4315968"/>
            <a:ext cx="4864608" cy="48463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run_command  dotnet build</a:t>
            </a:r>
            <a:endParaRPr lang="en-US" sz="950" dirty="0"/>
          </a:p>
        </p:txBody>
      </p:sp>
      <p:sp>
        <p:nvSpPr>
          <p:cNvPr id="31" name="Shape 29"/>
          <p:cNvSpPr/>
          <p:nvPr/>
        </p:nvSpPr>
        <p:spPr>
          <a:xfrm>
            <a:off x="548640" y="4800600"/>
            <a:ext cx="11064240" cy="484632"/>
          </a:xfrm>
          <a:prstGeom prst="rect">
            <a:avLst/>
          </a:prstGeom>
          <a:solidFill>
            <a:srgbClr val="FFFFFF"/>
          </a:solidFill>
          <a:ln/>
        </p:spPr>
      </p:sp>
      <p:sp>
        <p:nvSpPr>
          <p:cNvPr id="32" name="Text 30"/>
          <p:cNvSpPr txBox="1"/>
          <p:nvPr/>
        </p:nvSpPr>
        <p:spPr>
          <a:xfrm>
            <a:off x="676656" y="4800600"/>
            <a:ext cx="795528" cy="484632"/>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10–13</a:t>
            </a:r>
            <a:endParaRPr lang="en-US" sz="1100" dirty="0"/>
          </a:p>
        </p:txBody>
      </p:sp>
      <p:sp>
        <p:nvSpPr>
          <p:cNvPr id="33" name="Text 31"/>
          <p:cNvSpPr txBox="1"/>
          <p:nvPr/>
        </p:nvSpPr>
        <p:spPr>
          <a:xfrm>
            <a:off x="1728216" y="4800600"/>
            <a:ext cx="4636008" cy="484632"/>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Test, diagnose, correct, re-test</a:t>
            </a:r>
            <a:endParaRPr lang="en-US" sz="1100" dirty="0"/>
          </a:p>
        </p:txBody>
      </p:sp>
      <p:sp>
        <p:nvSpPr>
          <p:cNvPr id="34" name="Text 32"/>
          <p:cNvSpPr txBox="1"/>
          <p:nvPr/>
        </p:nvSpPr>
        <p:spPr>
          <a:xfrm>
            <a:off x="6620256" y="4800600"/>
            <a:ext cx="4864608" cy="48463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run_command  dotnet test, edit_file</a:t>
            </a:r>
            <a:endParaRPr lang="en-US" sz="950" dirty="0"/>
          </a:p>
        </p:txBody>
      </p:sp>
      <p:sp>
        <p:nvSpPr>
          <p:cNvPr id="35" name="Shape 33"/>
          <p:cNvSpPr/>
          <p:nvPr/>
        </p:nvSpPr>
        <p:spPr>
          <a:xfrm>
            <a:off x="548640" y="5285232"/>
            <a:ext cx="11064240" cy="484632"/>
          </a:xfrm>
          <a:prstGeom prst="rect">
            <a:avLst/>
          </a:prstGeom>
          <a:solidFill>
            <a:srgbClr val="F4F6FB"/>
          </a:solidFill>
          <a:ln/>
        </p:spPr>
      </p:sp>
      <p:sp>
        <p:nvSpPr>
          <p:cNvPr id="36" name="Text 34"/>
          <p:cNvSpPr txBox="1"/>
          <p:nvPr/>
        </p:nvSpPr>
        <p:spPr>
          <a:xfrm>
            <a:off x="676656" y="5285232"/>
            <a:ext cx="795528" cy="484632"/>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14</a:t>
            </a:r>
            <a:endParaRPr lang="en-US" sz="1100" dirty="0"/>
          </a:p>
        </p:txBody>
      </p:sp>
      <p:sp>
        <p:nvSpPr>
          <p:cNvPr id="37" name="Text 35"/>
          <p:cNvSpPr txBox="1"/>
          <p:nvPr/>
        </p:nvSpPr>
        <p:spPr>
          <a:xfrm>
            <a:off x="1728216" y="5285232"/>
            <a:ext cx="4636008" cy="484632"/>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Inspect the change</a:t>
            </a:r>
            <a:endParaRPr lang="en-US" sz="1100" dirty="0"/>
          </a:p>
        </p:txBody>
      </p:sp>
      <p:sp>
        <p:nvSpPr>
          <p:cNvPr id="38" name="Text 36"/>
          <p:cNvSpPr txBox="1"/>
          <p:nvPr/>
        </p:nvSpPr>
        <p:spPr>
          <a:xfrm>
            <a:off x="6620256" y="5285232"/>
            <a:ext cx="4864608" cy="48463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git_diff</a:t>
            </a:r>
            <a:endParaRPr lang="en-US" sz="950" dirty="0"/>
          </a:p>
        </p:txBody>
      </p:sp>
      <p:sp>
        <p:nvSpPr>
          <p:cNvPr id="39" name="Shape 37"/>
          <p:cNvSpPr/>
          <p:nvPr/>
        </p:nvSpPr>
        <p:spPr>
          <a:xfrm>
            <a:off x="548640" y="5769864"/>
            <a:ext cx="11064240" cy="484632"/>
          </a:xfrm>
          <a:prstGeom prst="rect">
            <a:avLst/>
          </a:prstGeom>
          <a:solidFill>
            <a:srgbClr val="FFFFFF"/>
          </a:solidFill>
          <a:ln/>
        </p:spPr>
      </p:sp>
      <p:sp>
        <p:nvSpPr>
          <p:cNvPr id="40" name="Text 38"/>
          <p:cNvSpPr txBox="1"/>
          <p:nvPr/>
        </p:nvSpPr>
        <p:spPr>
          <a:xfrm>
            <a:off x="676656" y="5769864"/>
            <a:ext cx="795528" cy="484632"/>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15</a:t>
            </a:r>
            <a:endParaRPr lang="en-US" sz="1100" dirty="0"/>
          </a:p>
        </p:txBody>
      </p:sp>
      <p:sp>
        <p:nvSpPr>
          <p:cNvPr id="41" name="Text 39"/>
          <p:cNvSpPr txBox="1"/>
          <p:nvPr/>
        </p:nvSpPr>
        <p:spPr>
          <a:xfrm>
            <a:off x="1728216" y="5769864"/>
            <a:ext cx="4636008" cy="484632"/>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Explain what was done</a:t>
            </a:r>
            <a:endParaRPr lang="en-US" sz="1100" dirty="0"/>
          </a:p>
        </p:txBody>
      </p:sp>
      <p:sp>
        <p:nvSpPr>
          <p:cNvPr id="42" name="Text 40"/>
          <p:cNvSpPr txBox="1"/>
          <p:nvPr/>
        </p:nvSpPr>
        <p:spPr>
          <a:xfrm>
            <a:off x="6620256" y="5769864"/>
            <a:ext cx="4864608" cy="48463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the model's own words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Search Before Read, and a Loop Rather Than a Line</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19 — CAPSTONE PROJECT (V1.0)</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
        <p:nvSpPr>
          <p:cNvPr id="6" name="Shape 4"/>
          <p:cNvSpPr/>
          <p:nvPr/>
        </p:nvSpPr>
        <p:spPr>
          <a:xfrm>
            <a:off x="548640" y="1417320"/>
            <a:ext cx="5349240" cy="4297680"/>
          </a:xfrm>
          <a:prstGeom prst="roundRect">
            <a:avLst>
              <a:gd name="adj" fmla="val 2128"/>
            </a:avLst>
          </a:prstGeom>
          <a:solidFill>
            <a:srgbClr val="1E2761"/>
          </a:solidFill>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Search Before Read Is What Makes Step 2 Possible</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The agent is never told where CustomerService lives. search_files returns path:line: text, so one call turns a type name into a file path without reading anything.</a:t>
            </a:r>
            <a:endParaRPr lang="en-US" sz="1350" dirty="0"/>
          </a:p>
        </p:txBody>
      </p:sp>
      <p:sp>
        <p:nvSpPr>
          <p:cNvPr id="11" name="Text 8"/>
          <p:cNvSpPr txBox="1"/>
          <p:nvPr/>
        </p:nvSpPr>
        <p:spPr>
          <a:xfrm>
            <a:off x="86868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The whole reason Module 8a put search ahead of read in the instructions.</a:t>
            </a:r>
            <a:endParaRPr lang="en-US" sz="1250" dirty="0"/>
          </a:p>
        </p:txBody>
      </p:sp>
      <p:sp>
        <p:nvSpPr>
          <p:cNvPr id="12" name="Shape 9"/>
          <p:cNvSpPr/>
          <p:nvPr/>
        </p:nvSpPr>
        <p:spPr>
          <a:xfrm>
            <a:off x="6309360" y="1417320"/>
            <a:ext cx="5349240" cy="4297680"/>
          </a:xfrm>
          <a:prstGeom prst="roundRect">
            <a:avLst>
              <a:gd name="adj" fmla="val 2128"/>
            </a:avLst>
          </a:prstGeom>
          <a:solidFill>
            <a:srgbClr val="F4F6FB"/>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The Repair Loop Is the Interesting Part</a:t>
            </a:r>
            <a:endParaRPr lang="en-US" sz="1550" dirty="0"/>
          </a:p>
        </p:txBody>
      </p:sp>
      <p:sp>
        <p:nvSpPr>
          <p:cNvPr id="16" name="Text 12"/>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Steps 10–13 are a cycle, not a line. dotnet test fails, TestOutputParser reduces the output to a summary plus the failing tests only, the model reads the assertion message, edits, runs again. Module 13 built that.</a:t>
            </a:r>
            <a:endParaRPr lang="en-US" sz="1350" dirty="0"/>
          </a:p>
        </p:txBody>
      </p:sp>
      <p:sp>
        <p:nvSpPr>
          <p:cNvPr id="17" name="Shape 13"/>
          <p:cNvSpPr/>
          <p:nvPr/>
        </p:nvSpPr>
        <p:spPr>
          <a:xfrm>
            <a:off x="6492240" y="4892040"/>
            <a:ext cx="4983480" cy="594360"/>
          </a:xfrm>
          <a:prstGeom prst="roundRect">
            <a:avLst>
              <a:gd name="adj" fmla="val 9231"/>
            </a:avLst>
          </a:prstGeom>
          <a:solidFill>
            <a:srgbClr val="141B49"/>
          </a:solidFill>
          <a:ln/>
        </p:spPr>
      </p:sp>
      <p:sp>
        <p:nvSpPr>
          <p:cNvPr id="18" name="Text 14"/>
          <p:cNvSpPr txBox="1"/>
          <p:nvPr/>
        </p:nvSpPr>
        <p:spPr>
          <a:xfrm>
            <a:off x="6629400" y="4892040"/>
            <a:ext cx="4709160" cy="594360"/>
          </a:xfrm>
          <a:prstGeom prst="rect">
            <a:avLst/>
          </a:prstGeom>
          <a:noFill/>
          <a:ln/>
        </p:spPr>
        <p:txBody>
          <a:bodyPr wrap="square" lIns="0" tIns="0" rIns="0" bIns="0" rtlCol="0" anchor="ctr"/>
          <a:lstStyle/>
          <a:p>
            <a:pPr indent="0" marL="0">
              <a:buNone/>
            </a:pPr>
            <a:r>
              <a:rPr lang="en-US" sz="1200" i="1" dirty="0">
                <a:solidFill>
                  <a:srgbClr val="3FBFB0"/>
                </a:solidFill>
                <a:latin typeface="Calibri" pitchFamily="34" charset="0"/>
                <a:ea typeface="Calibri" pitchFamily="34" charset="-122"/>
                <a:cs typeface="Calibri" pitchFamily="34" charset="-120"/>
              </a:rPr>
              <a:t>A first attempt that compiles and passes is the exception.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What v1.0 Is — and What It Is Not</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19 — CAPSTONE PROJECT (V1.0)</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548640" y="1417320"/>
            <a:ext cx="5349240" cy="4297680"/>
          </a:xfrm>
          <a:prstGeom prst="roundRect">
            <a:avLst>
              <a:gd name="adj" fmla="val 2128"/>
            </a:avLst>
          </a:prstGeom>
          <a:solidFill>
            <a:srgbClr val="3FBFB0"/>
          </a:solidFill>
          <a:ln/>
        </p:spPr>
      </p:sp>
      <p:sp>
        <p:nvSpPr>
          <p:cNvPr id="7" name="Shape 5"/>
          <p:cNvSpPr/>
          <p:nvPr/>
        </p:nvSpPr>
        <p:spPr>
          <a:xfrm>
            <a:off x="868680" y="1737360"/>
            <a:ext cx="640080" cy="64008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A Coding Agent You Install Once and Run Anywhere</a:t>
            </a:r>
            <a:endParaRPr lang="en-US" sz="1550" dirty="0"/>
          </a:p>
        </p:txBody>
      </p:sp>
      <p:sp>
        <p:nvSpPr>
          <p:cNvPr id="10" name="Text 7"/>
          <p:cNvSpPr txBox="1"/>
          <p:nvPr/>
        </p:nvSpPr>
        <p:spPr>
          <a:xfrm>
            <a:off x="868680" y="2606040"/>
            <a:ext cx="4709160" cy="2743200"/>
          </a:xfrm>
          <a:prstGeom prst="rect">
            <a:avLst/>
          </a:prstGeom>
          <a:noFill/>
          <a:ln/>
        </p:spPr>
        <p:txBody>
          <a:bodyPr wrap="square" lIns="0" tIns="0" rIns="0" bIns="0" rtlCol="0" anchor="t"/>
          <a:lstStyle/>
          <a:p>
            <a:pPr indent="0" marL="0">
              <a:lnSpc>
                <a:spcPct val="125000"/>
              </a:lnSpc>
              <a:buNone/>
            </a:pPr>
            <a:r>
              <a:rPr lang="en-US" sz="1350" dirty="0">
                <a:solidFill>
                  <a:srgbClr val="FFFFFF"/>
                </a:solidFill>
                <a:latin typeface="Calibri" pitchFamily="34" charset="0"/>
                <a:ea typeface="Calibri" pitchFamily="34" charset="-122"/>
                <a:cs typeface="Calibri" pitchFamily="34" charset="-120"/>
              </a:rPr>
              <a:t>It reads and writes inside a workspace boundary, runs five allow-listed commands, uses Git, plans before acting, asks before changing anything, answers eleven slash commands, writes a full stderr trace, and completes a real development task from one sentence.</a:t>
            </a:r>
            <a:endParaRPr lang="en-US" sz="1350" dirty="0"/>
          </a:p>
        </p:txBody>
      </p:sp>
      <p:sp>
        <p:nvSpPr>
          <p:cNvPr id="11" name="Shape 8"/>
          <p:cNvSpPr/>
          <p:nvPr/>
        </p:nvSpPr>
        <p:spPr>
          <a:xfrm>
            <a:off x="6309360" y="1417320"/>
            <a:ext cx="5349240" cy="4297680"/>
          </a:xfrm>
          <a:prstGeom prst="roundRect">
            <a:avLst>
              <a:gd name="adj" fmla="val 2128"/>
            </a:avLst>
          </a:prstGeom>
          <a:solidFill>
            <a:srgbClr val="1E2761"/>
          </a:solidFill>
          <a:ln w="12700">
            <a:solidFill>
              <a:srgbClr val="3FBFB0"/>
            </a:solidFill>
            <a:prstDash val="solid"/>
          </a:ln>
        </p:spPr>
      </p:sp>
      <p:sp>
        <p:nvSpPr>
          <p:cNvPr id="12" name="Shape 9"/>
          <p:cNvSpPr/>
          <p:nvPr/>
        </p:nvSpPr>
        <p:spPr>
          <a:xfrm>
            <a:off x="6629400" y="1737360"/>
            <a:ext cx="640080" cy="640080"/>
          </a:xfrm>
          <a:prstGeom prst="ellipse">
            <a:avLst/>
          </a:prstGeom>
          <a:solidFill>
            <a:srgbClr val="3FBFB0"/>
          </a:solidFill>
          <a:ln/>
        </p:spPr>
      </p:sp>
      <p:pic>
        <p:nvPicPr>
          <p:cNvPr id="13"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4" name="Text 10"/>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One Agent, One Session, One Workspace</a:t>
            </a:r>
            <a:endParaRPr lang="en-US" sz="1550" dirty="0"/>
          </a:p>
        </p:txBody>
      </p:sp>
      <p:sp>
        <p:nvSpPr>
          <p:cNvPr id="15" name="Text 11"/>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No sub-agents, no parallel tool calls, no persistence across restarts. Context is managed by search-and-summarise, not embeddings. The trace is text on stderr, with no structured events and no OpenTelemetry. And TaskPlan's state machine is still called from nowhere in src/.</a:t>
            </a:r>
            <a:endParaRPr lang="en-US" sz="1350" dirty="0"/>
          </a:p>
        </p:txBody>
      </p:sp>
      <p:sp>
        <p:nvSpPr>
          <p:cNvPr id="16" name="Text 12"/>
          <p:cNvSpPr txBox="1"/>
          <p:nvPr/>
        </p:nvSpPr>
        <p:spPr>
          <a:xfrm>
            <a:off x="662940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Twice-promised and undelivered would be worse than named and left open.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THE CODE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Two Literals, and a Repository It Has Never Seen</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19 — CAPSTONE PROJECT (V1.0)</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548640" y="1417320"/>
            <a:ext cx="5349240" cy="4754880"/>
          </a:xfrm>
          <a:prstGeom prst="roundRect">
            <a:avLst>
              <a:gd name="adj" fmla="val 1923"/>
            </a:avLst>
          </a:prstGeom>
          <a:solidFill>
            <a:srgbClr val="141B49"/>
          </a:solidFill>
          <a:ln w="12700">
            <a:solidFill>
              <a:srgbClr val="3FBFB0"/>
            </a:solidFill>
            <a:prstDash val="solid"/>
          </a:ln>
        </p:spPr>
      </p:sp>
      <p:sp>
        <p:nvSpPr>
          <p:cNvPr id="7" name="Text 5"/>
          <p:cNvSpPr txBox="1"/>
          <p:nvPr/>
        </p:nvSpPr>
        <p:spPr>
          <a:xfrm>
            <a:off x="877824" y="1673352"/>
            <a:ext cx="4690872" cy="10637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src/MiniCode.Cli/MiniCodeVersion.cs</a:t>
            </a:r>
            <a:endParaRPr lang="en-US" sz="950" dirty="0"/>
          </a:p>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It moves at a Capstone and nowhere else: 0.1 was</a:t>
            </a:r>
            <a:endParaRPr lang="en-US" sz="950" dirty="0"/>
          </a:p>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the read-only Repository Explorer, 0.2 the Planning</a:t>
            </a:r>
            <a:endParaRPr lang="en-US" sz="950" dirty="0"/>
          </a:p>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Agent, 0.3 the Autonomous Fixer, 0.4 the Developer</a:t>
            </a:r>
            <a:endParaRPr lang="en-US" sz="950" dirty="0"/>
          </a:p>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CLI that closed Phase 4 — and 1.0 is the course</a:t>
            </a:r>
            <a:endParaRPr lang="en-US" sz="950" dirty="0"/>
          </a:p>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capstone: the same code, declared finished.</a:t>
            </a:r>
            <a:endParaRPr lang="en-US" sz="950" dirty="0"/>
          </a:p>
        </p:txBody>
      </p:sp>
      <p:sp>
        <p:nvSpPr>
          <p:cNvPr id="8" name="Text 6"/>
          <p:cNvSpPr txBox="1"/>
          <p:nvPr/>
        </p:nvSpPr>
        <p:spPr>
          <a:xfrm>
            <a:off x="877824" y="2846832"/>
            <a:ext cx="4690872" cy="4033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internal static class MiniCodeVersion</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
        <p:nvSpPr>
          <p:cNvPr id="9" name="Text 7"/>
          <p:cNvSpPr txBox="1"/>
          <p:nvPr/>
        </p:nvSpPr>
        <p:spPr>
          <a:xfrm>
            <a:off x="877824" y="3177032"/>
            <a:ext cx="4690872" cy="2382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public const string Current = "1.0";</a:t>
            </a:r>
            <a:endParaRPr lang="en-US" sz="950" dirty="0"/>
          </a:p>
        </p:txBody>
      </p:sp>
      <p:sp>
        <p:nvSpPr>
          <p:cNvPr id="10" name="Text 8"/>
          <p:cNvSpPr txBox="1"/>
          <p:nvPr/>
        </p:nvSpPr>
        <p:spPr>
          <a:xfrm>
            <a:off x="877824" y="3342132"/>
            <a:ext cx="4690872" cy="2382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
        <p:nvSpPr>
          <p:cNvPr id="11" name="Text 9"/>
          <p:cNvSpPr txBox="1"/>
          <p:nvPr/>
        </p:nvSpPr>
        <p:spPr>
          <a:xfrm>
            <a:off x="877824" y="3507232"/>
            <a:ext cx="4690872" cy="5684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&lt;Version&gt; in MiniCode.Cli.csproj moves with it,</a:t>
            </a:r>
            <a:endParaRPr lang="en-US" sz="950" dirty="0"/>
          </a:p>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0.4.0 to 1.0.0. That is the entire diff against</a:t>
            </a:r>
            <a:endParaRPr lang="en-US" sz="950" dirty="0"/>
          </a:p>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the Phase 4 Capstone.</a:t>
            </a:r>
            <a:endParaRPr lang="en-US" sz="950" dirty="0"/>
          </a:p>
        </p:txBody>
      </p:sp>
      <p:sp>
        <p:nvSpPr>
          <p:cNvPr id="12" name="Text 10"/>
          <p:cNvSpPr txBox="1"/>
          <p:nvPr/>
        </p:nvSpPr>
        <p:spPr>
          <a:xfrm>
            <a:off x="87782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It lives in the CLI because the banner is terminal output. Nothing reads either literal from the other.</a:t>
            </a:r>
            <a:endParaRPr lang="en-US" sz="1050" dirty="0"/>
          </a:p>
        </p:txBody>
      </p:sp>
      <p:sp>
        <p:nvSpPr>
          <p:cNvPr id="13" name="Shape 11"/>
          <p:cNvSpPr/>
          <p:nvPr/>
        </p:nvSpPr>
        <p:spPr>
          <a:xfrm>
            <a:off x="6309360" y="1417320"/>
            <a:ext cx="5349240" cy="4754880"/>
          </a:xfrm>
          <a:prstGeom prst="roundRect">
            <a:avLst>
              <a:gd name="adj" fmla="val 1923"/>
            </a:avLst>
          </a:prstGeom>
          <a:solidFill>
            <a:srgbClr val="141B49"/>
          </a:solidFill>
          <a:ln w="12700">
            <a:solidFill>
              <a:srgbClr val="3FBFB0"/>
            </a:solidFill>
            <a:prstDash val="solid"/>
          </a:ln>
        </p:spPr>
      </p:sp>
      <p:sp>
        <p:nvSpPr>
          <p:cNvPr id="14" name="Text 12"/>
          <p:cNvSpPr txBox="1"/>
          <p:nvPr/>
        </p:nvSpPr>
        <p:spPr>
          <a:xfrm>
            <a:off x="6638544" y="167335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sample repo — CustomerPortal.Core/Customer.cs</a:t>
            </a:r>
            <a:endParaRPr lang="en-US" sz="950" dirty="0"/>
          </a:p>
        </p:txBody>
      </p:sp>
      <p:sp>
        <p:nvSpPr>
          <p:cNvPr id="15" name="Text 13"/>
          <p:cNvSpPr txBox="1"/>
          <p:nvPr/>
        </p:nvSpPr>
        <p:spPr>
          <a:xfrm>
            <a:off x="6638544" y="2021332"/>
            <a:ext cx="4690872" cy="4033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public sealed record Customer(</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string Name, string? Email);</a:t>
            </a:r>
            <a:endParaRPr lang="en-US" sz="950" dirty="0"/>
          </a:p>
        </p:txBody>
      </p:sp>
      <p:sp>
        <p:nvSpPr>
          <p:cNvPr id="16" name="Text 14"/>
          <p:cNvSpPr txBox="1"/>
          <p:nvPr/>
        </p:nvSpPr>
        <p:spPr>
          <a:xfrm>
            <a:off x="6638544" y="235153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sample repo — CustomerService.cs</a:t>
            </a:r>
            <a:endParaRPr lang="en-US" sz="950" dirty="0"/>
          </a:p>
        </p:txBody>
      </p:sp>
      <p:sp>
        <p:nvSpPr>
          <p:cNvPr id="17" name="Text 15"/>
          <p:cNvSpPr txBox="1"/>
          <p:nvPr/>
        </p:nvSpPr>
        <p:spPr>
          <a:xfrm>
            <a:off x="6638544" y="2699512"/>
            <a:ext cx="4690872" cy="10637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public sealed class CustomerService</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private readonly List&lt;Customer&gt; _customers = [];</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public IReadOnlyList&lt;Customer&gt; Customers</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=&gt; _customers;</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public Customer Create(</a:t>
            </a:r>
            <a:endParaRPr lang="en-US" sz="950" dirty="0"/>
          </a:p>
        </p:txBody>
      </p:sp>
      <p:sp>
        <p:nvSpPr>
          <p:cNvPr id="18" name="Text 16"/>
          <p:cNvSpPr txBox="1"/>
          <p:nvPr/>
        </p:nvSpPr>
        <p:spPr>
          <a:xfrm>
            <a:off x="6638544" y="3690112"/>
            <a:ext cx="4690872" cy="2382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string name, string? email)</a:t>
            </a:r>
            <a:endParaRPr lang="en-US" sz="950" dirty="0"/>
          </a:p>
        </p:txBody>
      </p:sp>
      <p:sp>
        <p:nvSpPr>
          <p:cNvPr id="19" name="Text 17"/>
          <p:cNvSpPr txBox="1"/>
          <p:nvPr/>
        </p:nvSpPr>
        <p:spPr>
          <a:xfrm>
            <a:off x="6638544" y="3855212"/>
            <a:ext cx="4690872" cy="10637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var customer = new Customer(name, email);</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_customers.Add(customer);</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return customer;</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
        <p:nvSpPr>
          <p:cNvPr id="20" name="Text 18"/>
          <p:cNvSpPr txBox="1"/>
          <p:nvPr/>
        </p:nvSpPr>
        <p:spPr>
          <a:xfrm>
            <a:off x="663854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Create accepts a null email. That is the defect the assignment describes — and one the compiler is perfectly happy with.</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WALKTHROUGH</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Six Things to Get Right Before You Type a Sentence</a:t>
            </a:r>
            <a:endParaRPr lang="en-US" sz="28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19 — CAPSTONE PROJECT (V1.0)</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
        <p:nvSpPr>
          <p:cNvPr id="6" name="Shape 4"/>
          <p:cNvSpPr/>
          <p:nvPr/>
        </p:nvSpPr>
        <p:spPr>
          <a:xfrm>
            <a:off x="548640" y="1417320"/>
            <a:ext cx="5326380" cy="1572768"/>
          </a:xfrm>
          <a:prstGeom prst="roundRect">
            <a:avLst>
              <a:gd name="adj" fmla="val 5814"/>
            </a:avLst>
          </a:prstGeom>
          <a:solidFill>
            <a:srgbClr val="1E2761"/>
          </a:solidFill>
          <a:ln w="12700">
            <a:solidFill>
              <a:srgbClr val="3FBFB0"/>
            </a:solidFill>
            <a:prstDash val="solid"/>
          </a:ln>
        </p:spPr>
      </p:sp>
      <p:sp>
        <p:nvSpPr>
          <p:cNvPr id="7" name="Shape 5"/>
          <p:cNvSpPr/>
          <p:nvPr/>
        </p:nvSpPr>
        <p:spPr>
          <a:xfrm>
            <a:off x="822960" y="1645920"/>
            <a:ext cx="384048" cy="384048"/>
          </a:xfrm>
          <a:prstGeom prst="ellipse">
            <a:avLst/>
          </a:prstGeom>
          <a:solidFill>
            <a:srgbClr val="3FBFB0"/>
          </a:solidFill>
          <a:ln/>
        </p:spPr>
      </p:sp>
      <p:sp>
        <p:nvSpPr>
          <p:cNvPr id="8" name="Text 6"/>
          <p:cNvSpPr txBox="1"/>
          <p:nvPr/>
        </p:nvSpPr>
        <p:spPr>
          <a:xfrm>
            <a:off x="82296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1</a:t>
            </a:r>
            <a:endParaRPr lang="en-US" sz="1100" dirty="0"/>
          </a:p>
        </p:txBody>
      </p:sp>
      <p:sp>
        <p:nvSpPr>
          <p:cNvPr id="9" name="Text 7"/>
          <p:cNvSpPr txBox="1"/>
          <p:nvPr/>
        </p:nvSpPr>
        <p:spPr>
          <a:xfrm>
            <a:off x="137160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The version bump is the whole code change</a:t>
            </a:r>
            <a:endParaRPr lang="en-US" sz="1250" dirty="0"/>
          </a:p>
        </p:txBody>
      </p:sp>
      <p:sp>
        <p:nvSpPr>
          <p:cNvPr id="10" name="Text 8"/>
          <p:cNvSpPr txBox="1"/>
          <p:nvPr/>
        </p:nvSpPr>
        <p:spPr>
          <a:xfrm>
            <a:off x="1371600" y="2130552"/>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Two literals in two files that nothing reads from each other. This is the last time either moves.</a:t>
            </a:r>
            <a:endParaRPr lang="en-US" sz="1050" dirty="0"/>
          </a:p>
        </p:txBody>
      </p:sp>
      <p:sp>
        <p:nvSpPr>
          <p:cNvPr id="11" name="Shape 9"/>
          <p:cNvSpPr/>
          <p:nvPr/>
        </p:nvSpPr>
        <p:spPr>
          <a:xfrm>
            <a:off x="6286500" y="1417320"/>
            <a:ext cx="5326380" cy="1572768"/>
          </a:xfrm>
          <a:prstGeom prst="roundRect">
            <a:avLst>
              <a:gd name="adj" fmla="val 5814"/>
            </a:avLst>
          </a:prstGeom>
          <a:solidFill>
            <a:srgbClr val="1E2761"/>
          </a:solidFill>
          <a:ln w="12700">
            <a:solidFill>
              <a:srgbClr val="3FBFB0"/>
            </a:solidFill>
            <a:prstDash val="solid"/>
          </a:ln>
        </p:spPr>
      </p:sp>
      <p:sp>
        <p:nvSpPr>
          <p:cNvPr id="12" name="Shape 10"/>
          <p:cNvSpPr/>
          <p:nvPr/>
        </p:nvSpPr>
        <p:spPr>
          <a:xfrm>
            <a:off x="6560820" y="1645920"/>
            <a:ext cx="384048" cy="384048"/>
          </a:xfrm>
          <a:prstGeom prst="ellipse">
            <a:avLst/>
          </a:prstGeom>
          <a:solidFill>
            <a:srgbClr val="3FBFB0"/>
          </a:solidFill>
          <a:ln/>
        </p:spPr>
      </p:sp>
      <p:sp>
        <p:nvSpPr>
          <p:cNvPr id="13" name="Text 11"/>
          <p:cNvSpPr txBox="1"/>
          <p:nvPr/>
        </p:nvSpPr>
        <p:spPr>
          <a:xfrm>
            <a:off x="656082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2</a:t>
            </a:r>
            <a:endParaRPr lang="en-US" sz="1100" dirty="0"/>
          </a:p>
        </p:txBody>
      </p:sp>
      <p:sp>
        <p:nvSpPr>
          <p:cNvPr id="14" name="Text 12"/>
          <p:cNvSpPr txBox="1"/>
          <p:nvPr/>
        </p:nvSpPr>
        <p:spPr>
          <a:xfrm>
            <a:off x="710946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The defect compiles cleanly</a:t>
            </a:r>
            <a:endParaRPr lang="en-US" sz="1250" dirty="0"/>
          </a:p>
        </p:txBody>
      </p:sp>
      <p:sp>
        <p:nvSpPr>
          <p:cNvPr id="15" name="Text 13"/>
          <p:cNvSpPr txBox="1"/>
          <p:nvPr/>
        </p:nvSpPr>
        <p:spPr>
          <a:xfrm>
            <a:off x="7109460" y="2130552"/>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string? email says a null email is allowed, explicitly. A tool that only fixed compiler errors would find nothing here.</a:t>
            </a:r>
            <a:endParaRPr lang="en-US" sz="1050" dirty="0"/>
          </a:p>
        </p:txBody>
      </p:sp>
      <p:sp>
        <p:nvSpPr>
          <p:cNvPr id="16" name="Shape 14"/>
          <p:cNvSpPr/>
          <p:nvPr/>
        </p:nvSpPr>
        <p:spPr>
          <a:xfrm>
            <a:off x="548640" y="3118104"/>
            <a:ext cx="5326380" cy="1572768"/>
          </a:xfrm>
          <a:prstGeom prst="roundRect">
            <a:avLst>
              <a:gd name="adj" fmla="val 5814"/>
            </a:avLst>
          </a:prstGeom>
          <a:solidFill>
            <a:srgbClr val="1E2761"/>
          </a:solidFill>
          <a:ln w="12700">
            <a:solidFill>
              <a:srgbClr val="3FBFB0"/>
            </a:solidFill>
            <a:prstDash val="solid"/>
          </a:ln>
        </p:spPr>
      </p:sp>
      <p:sp>
        <p:nvSpPr>
          <p:cNvPr id="17" name="Shape 15"/>
          <p:cNvSpPr/>
          <p:nvPr/>
        </p:nvSpPr>
        <p:spPr>
          <a:xfrm>
            <a:off x="822960" y="3346704"/>
            <a:ext cx="384048" cy="384048"/>
          </a:xfrm>
          <a:prstGeom prst="ellipse">
            <a:avLst/>
          </a:prstGeom>
          <a:solidFill>
            <a:srgbClr val="3FBFB0"/>
          </a:solidFill>
          <a:ln/>
        </p:spPr>
      </p:sp>
      <p:sp>
        <p:nvSpPr>
          <p:cNvPr id="18" name="Text 16"/>
          <p:cNvSpPr txBox="1"/>
          <p:nvPr/>
        </p:nvSpPr>
        <p:spPr>
          <a:xfrm>
            <a:off x="822960" y="3346704"/>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3</a:t>
            </a:r>
            <a:endParaRPr lang="en-US" sz="1100" dirty="0"/>
          </a:p>
        </p:txBody>
      </p:sp>
      <p:sp>
        <p:nvSpPr>
          <p:cNvPr id="19" name="Text 17"/>
          <p:cNvSpPr txBox="1"/>
          <p:nvPr/>
        </p:nvSpPr>
        <p:spPr>
          <a:xfrm>
            <a:off x="1371600" y="3319272"/>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The sample is deliberately ordinary</a:t>
            </a:r>
            <a:endParaRPr lang="en-US" sz="1250" dirty="0"/>
          </a:p>
        </p:txBody>
      </p:sp>
      <p:sp>
        <p:nvSpPr>
          <p:cNvPr id="20" name="Text 18"/>
          <p:cNvSpPr txBox="1"/>
          <p:nvPr/>
        </p:nvSpPr>
        <p:spPr>
          <a:xfrm>
            <a:off x="1371600" y="3831336"/>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Two projects, a records-and-service shape, one existing test. Nothing about it is tuned for the agent — that is the point.</a:t>
            </a:r>
            <a:endParaRPr lang="en-US" sz="1050" dirty="0"/>
          </a:p>
        </p:txBody>
      </p:sp>
      <p:sp>
        <p:nvSpPr>
          <p:cNvPr id="21" name="Shape 19"/>
          <p:cNvSpPr/>
          <p:nvPr/>
        </p:nvSpPr>
        <p:spPr>
          <a:xfrm>
            <a:off x="6286500" y="3118104"/>
            <a:ext cx="5326380" cy="1572768"/>
          </a:xfrm>
          <a:prstGeom prst="roundRect">
            <a:avLst>
              <a:gd name="adj" fmla="val 5814"/>
            </a:avLst>
          </a:prstGeom>
          <a:solidFill>
            <a:srgbClr val="1E2761"/>
          </a:solidFill>
          <a:ln w="12700">
            <a:solidFill>
              <a:srgbClr val="3FBFB0"/>
            </a:solidFill>
            <a:prstDash val="solid"/>
          </a:ln>
        </p:spPr>
      </p:sp>
      <p:sp>
        <p:nvSpPr>
          <p:cNvPr id="22" name="Shape 20"/>
          <p:cNvSpPr/>
          <p:nvPr/>
        </p:nvSpPr>
        <p:spPr>
          <a:xfrm>
            <a:off x="6560820" y="3346704"/>
            <a:ext cx="384048" cy="384048"/>
          </a:xfrm>
          <a:prstGeom prst="ellipse">
            <a:avLst/>
          </a:prstGeom>
          <a:solidFill>
            <a:srgbClr val="3FBFB0"/>
          </a:solidFill>
          <a:ln/>
        </p:spPr>
      </p:sp>
      <p:sp>
        <p:nvSpPr>
          <p:cNvPr id="23" name="Text 21"/>
          <p:cNvSpPr txBox="1"/>
          <p:nvPr/>
        </p:nvSpPr>
        <p:spPr>
          <a:xfrm>
            <a:off x="6560820" y="3346704"/>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4</a:t>
            </a:r>
            <a:endParaRPr lang="en-US" sz="1100" dirty="0"/>
          </a:p>
        </p:txBody>
      </p:sp>
      <p:sp>
        <p:nvSpPr>
          <p:cNvPr id="24" name="Text 22"/>
          <p:cNvSpPr txBox="1"/>
          <p:nvPr/>
        </p:nvSpPr>
        <p:spPr>
          <a:xfrm>
            <a:off x="7109460" y="3319272"/>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git init matters</a:t>
            </a:r>
            <a:endParaRPr lang="en-US" sz="1250" dirty="0"/>
          </a:p>
        </p:txBody>
      </p:sp>
      <p:sp>
        <p:nvSpPr>
          <p:cNvPr id="25" name="Text 23"/>
          <p:cNvSpPr txBox="1"/>
          <p:nvPr/>
        </p:nvSpPr>
        <p:spPr>
          <a:xfrm>
            <a:off x="7109460" y="3831336"/>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Step 14 is git diff, and /diff, /review and /commit all go through GitClient. Against a non-repository they return Git’s own error, which is correct but is not the demonstration.</a:t>
            </a:r>
            <a:endParaRPr lang="en-US" sz="1050" dirty="0"/>
          </a:p>
        </p:txBody>
      </p:sp>
      <p:sp>
        <p:nvSpPr>
          <p:cNvPr id="26" name="Shape 24"/>
          <p:cNvSpPr/>
          <p:nvPr/>
        </p:nvSpPr>
        <p:spPr>
          <a:xfrm>
            <a:off x="548640" y="4818888"/>
            <a:ext cx="5326380" cy="1572768"/>
          </a:xfrm>
          <a:prstGeom prst="roundRect">
            <a:avLst>
              <a:gd name="adj" fmla="val 5814"/>
            </a:avLst>
          </a:prstGeom>
          <a:solidFill>
            <a:srgbClr val="1E2761"/>
          </a:solidFill>
          <a:ln w="12700">
            <a:solidFill>
              <a:srgbClr val="3FBFB0"/>
            </a:solidFill>
            <a:prstDash val="solid"/>
          </a:ln>
        </p:spPr>
      </p:sp>
      <p:sp>
        <p:nvSpPr>
          <p:cNvPr id="27" name="Shape 25"/>
          <p:cNvSpPr/>
          <p:nvPr/>
        </p:nvSpPr>
        <p:spPr>
          <a:xfrm>
            <a:off x="822960" y="5047488"/>
            <a:ext cx="384048" cy="384048"/>
          </a:xfrm>
          <a:prstGeom prst="ellipse">
            <a:avLst/>
          </a:prstGeom>
          <a:solidFill>
            <a:srgbClr val="3FBFB0"/>
          </a:solidFill>
          <a:ln/>
        </p:spPr>
      </p:sp>
      <p:sp>
        <p:nvSpPr>
          <p:cNvPr id="28" name="Text 26"/>
          <p:cNvSpPr txBox="1"/>
          <p:nvPr/>
        </p:nvSpPr>
        <p:spPr>
          <a:xfrm>
            <a:off x="822960" y="5047488"/>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5</a:t>
            </a:r>
            <a:endParaRPr lang="en-US" sz="1100" dirty="0"/>
          </a:p>
        </p:txBody>
      </p:sp>
      <p:sp>
        <p:nvSpPr>
          <p:cNvPr id="29" name="Text 27"/>
          <p:cNvSpPr txBox="1"/>
          <p:nvPr/>
        </p:nvSpPr>
        <p:spPr>
          <a:xfrm>
            <a:off x="1371600" y="5020056"/>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Run MiniCode from the sample’s directory</a:t>
            </a:r>
            <a:endParaRPr lang="en-US" sz="1250" dirty="0"/>
          </a:p>
        </p:txBody>
      </p:sp>
      <p:sp>
        <p:nvSpPr>
          <p:cNvPr id="30" name="Text 28"/>
          <p:cNvSpPr txBox="1"/>
          <p:nvPr/>
        </p:nvSpPr>
        <p:spPr>
          <a:xfrm>
            <a:off x="1371600" y="5532120"/>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The workspace root is the current directory unless you pass one, and IWorkspace resolves every path the model supplies against it before anything opens a file.</a:t>
            </a:r>
            <a:endParaRPr lang="en-US" sz="1050" dirty="0"/>
          </a:p>
        </p:txBody>
      </p:sp>
      <p:sp>
        <p:nvSpPr>
          <p:cNvPr id="31" name="Shape 29"/>
          <p:cNvSpPr/>
          <p:nvPr/>
        </p:nvSpPr>
        <p:spPr>
          <a:xfrm>
            <a:off x="6286500" y="4818888"/>
            <a:ext cx="5326380" cy="1572768"/>
          </a:xfrm>
          <a:prstGeom prst="roundRect">
            <a:avLst>
              <a:gd name="adj" fmla="val 5814"/>
            </a:avLst>
          </a:prstGeom>
          <a:solidFill>
            <a:srgbClr val="1E2761"/>
          </a:solidFill>
          <a:ln w="12700">
            <a:solidFill>
              <a:srgbClr val="3FBFB0"/>
            </a:solidFill>
            <a:prstDash val="solid"/>
          </a:ln>
        </p:spPr>
      </p:sp>
      <p:sp>
        <p:nvSpPr>
          <p:cNvPr id="32" name="Shape 30"/>
          <p:cNvSpPr/>
          <p:nvPr/>
        </p:nvSpPr>
        <p:spPr>
          <a:xfrm>
            <a:off x="6560820" y="5047488"/>
            <a:ext cx="384048" cy="384048"/>
          </a:xfrm>
          <a:prstGeom prst="ellipse">
            <a:avLst/>
          </a:prstGeom>
          <a:solidFill>
            <a:srgbClr val="3FBFB0"/>
          </a:solidFill>
          <a:ln/>
        </p:spPr>
      </p:sp>
      <p:sp>
        <p:nvSpPr>
          <p:cNvPr id="33" name="Text 31"/>
          <p:cNvSpPr txBox="1"/>
          <p:nvPr/>
        </p:nvSpPr>
        <p:spPr>
          <a:xfrm>
            <a:off x="6560820" y="5047488"/>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6</a:t>
            </a:r>
            <a:endParaRPr lang="en-US" sz="1100" dirty="0"/>
          </a:p>
        </p:txBody>
      </p:sp>
      <p:sp>
        <p:nvSpPr>
          <p:cNvPr id="34" name="Text 32"/>
          <p:cNvSpPr txBox="1"/>
          <p:nvPr/>
        </p:nvSpPr>
        <p:spPr>
          <a:xfrm>
            <a:off x="7109460" y="5020056"/>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Two details the test run needs</a:t>
            </a:r>
            <a:endParaRPr lang="en-US" sz="1250" dirty="0"/>
          </a:p>
        </p:txBody>
      </p:sp>
      <p:sp>
        <p:nvSpPr>
          <p:cNvPr id="35" name="Text 33"/>
          <p:cNvSpPr txBox="1"/>
          <p:nvPr/>
        </p:nvSpPr>
        <p:spPr>
          <a:xfrm>
            <a:off x="7109460" y="5532120"/>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xunit.v3 4.0.0 with &lt;OutputType&gt;Exe&lt;/OutputType&gt; and no Microsoft.NET.Test.Sdk; plus a global.json setting the runner to Microsoft.Testing.Platform, or the .NET 10 SDK refuses the run.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EXERCISE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Break It on Purpose, Then Drive the Plan</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19 — CAPSTONE PROJECT (V1.0)</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
        <p:nvSpPr>
          <p:cNvPr id="6" name="Shape 4"/>
          <p:cNvSpPr/>
          <p:nvPr/>
        </p:nvSpPr>
        <p:spPr>
          <a:xfrm>
            <a:off x="548640" y="1417320"/>
            <a:ext cx="5349240" cy="4297680"/>
          </a:xfrm>
          <a:prstGeom prst="roundRect">
            <a:avLst>
              <a:gd name="adj" fmla="val 2128"/>
            </a:avLst>
          </a:prstGeom>
          <a:solidFill>
            <a:srgbClr val="F4F6FB"/>
          </a:solidFill>
          <a:ln/>
        </p:spPr>
      </p:sp>
      <p:sp>
        <p:nvSpPr>
          <p:cNvPr id="7" name="Shape 5"/>
          <p:cNvSpPr/>
          <p:nvPr/>
        </p:nvSpPr>
        <p:spPr>
          <a:xfrm>
            <a:off x="868680" y="1737360"/>
            <a:ext cx="640080" cy="64008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One: the second scenario in the assignment</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Commit the completed change, then break it deliberately — invert the validation, or delete the null check while leaving the test in place — and give MiniCode nothing but: "The CustomerService tests are failing. Find the problem and fix it."</a:t>
            </a:r>
            <a:endParaRPr lang="en-US" sz="1350" dirty="0"/>
          </a:p>
        </p:txBody>
      </p:sp>
      <p:sp>
        <p:nvSpPr>
          <p:cNvPr id="11" name="Shape 8"/>
          <p:cNvSpPr/>
          <p:nvPr/>
        </p:nvSpPr>
        <p:spPr>
          <a:xfrm>
            <a:off x="731520" y="4892040"/>
            <a:ext cx="4983480" cy="594360"/>
          </a:xfrm>
          <a:prstGeom prst="roundRect">
            <a:avLst>
              <a:gd name="adj" fmla="val 9231"/>
            </a:avLst>
          </a:prstGeom>
          <a:solidFill>
            <a:srgbClr val="141B49"/>
          </a:solidFill>
          <a:ln/>
        </p:spPr>
      </p:sp>
      <p:sp>
        <p:nvSpPr>
          <p:cNvPr id="12" name="Text 9"/>
          <p:cNvSpPr txBox="1"/>
          <p:nvPr/>
        </p:nvSpPr>
        <p:spPr>
          <a:xfrm>
            <a:off x="868680" y="4892040"/>
            <a:ext cx="4709160" cy="594360"/>
          </a:xfrm>
          <a:prstGeom prst="rect">
            <a:avLst/>
          </a:prstGeom>
          <a:noFill/>
          <a:ln/>
        </p:spPr>
        <p:txBody>
          <a:bodyPr wrap="square" lIns="0" tIns="0" rIns="0" bIns="0" rtlCol="0" anchor="ctr"/>
          <a:lstStyle/>
          <a:p>
            <a:pPr indent="0" marL="0">
              <a:buNone/>
            </a:pPr>
            <a:r>
              <a:rPr lang="en-US" sz="1200" i="1" dirty="0">
                <a:solidFill>
                  <a:srgbClr val="3FBFB0"/>
                </a:solidFill>
                <a:latin typeface="Calibri" pitchFamily="34" charset="0"/>
                <a:ea typeface="Calibri" pitchFamily="34" charset="-122"/>
                <a:cs typeface="Calibri" pitchFamily="34" charset="-120"/>
              </a:rPr>
              <a:t>It runs dotnet test unasked, names the failing test and the file before editing, edits production code rather than the test, and /diff shows a change confined to CustomerService.cs.</a:t>
            </a:r>
            <a:endParaRPr lang="en-US" sz="1200" dirty="0"/>
          </a:p>
        </p:txBody>
      </p:sp>
      <p:sp>
        <p:nvSpPr>
          <p:cNvPr id="13" name="Shape 10"/>
          <p:cNvSpPr/>
          <p:nvPr/>
        </p:nvSpPr>
        <p:spPr>
          <a:xfrm>
            <a:off x="6309360" y="1417320"/>
            <a:ext cx="5349240" cy="4297680"/>
          </a:xfrm>
          <a:prstGeom prst="roundRect">
            <a:avLst>
              <a:gd name="adj" fmla="val 2128"/>
            </a:avLst>
          </a:prstGeom>
          <a:solidFill>
            <a:srgbClr val="1E2761"/>
          </a:solidFill>
          <a:ln/>
        </p:spPr>
      </p:sp>
      <p:sp>
        <p:nvSpPr>
          <p:cNvPr id="14" name="Shape 11"/>
          <p:cNvSpPr/>
          <p:nvPr/>
        </p:nvSpPr>
        <p:spPr>
          <a:xfrm>
            <a:off x="6629400" y="1737360"/>
            <a:ext cx="640080" cy="640080"/>
          </a:xfrm>
          <a:prstGeom prst="ellipse">
            <a:avLst/>
          </a:prstGeom>
          <a:solidFill>
            <a:srgbClr val="3FBFB0"/>
          </a:solidFill>
          <a:ln/>
        </p:spPr>
      </p:sp>
      <p:pic>
        <p:nvPicPr>
          <p:cNvPr id="15"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6" name="Text 12"/>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Two: drive the plan</a:t>
            </a:r>
            <a:endParaRPr lang="en-US" sz="1550" dirty="0"/>
          </a:p>
        </p:txBody>
      </p:sp>
      <p:sp>
        <p:nvSpPr>
          <p:cNvPr id="17" name="Text 13"/>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Still open, still unimplemented, still the most valuable thing left in the solution. Make RunStreamingAsync advance the plan it was given — mark a step Complete as the model finishes it, and use TaskPlan.Revise when the model's actual course diverges.</a:t>
            </a:r>
            <a:endParaRPr lang="en-US" sz="1350" dirty="0"/>
          </a:p>
        </p:txBody>
      </p:sp>
      <p:sp>
        <p:nvSpPr>
          <p:cNvPr id="18" name="Text 14"/>
          <p:cNvSpPr txBox="1"/>
          <p:nvPr/>
        </p:nvSpPr>
        <p:spPr>
          <a:xfrm>
            <a:off x="662940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There is no later Module and no reference implementation: the acceptance criteria are the specification.</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EXPECTED OUTPUT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The Repair Loop, Captured</a:t>
            </a:r>
            <a:endParaRPr lang="en-US" sz="3200" dirty="0"/>
          </a:p>
        </p:txBody>
      </p:sp>
      <p:sp>
        <p:nvSpPr>
          <p:cNvPr id="4" name="Text 2"/>
          <p:cNvSpPr txBox="1"/>
          <p:nvPr/>
        </p:nvSpPr>
        <p:spPr>
          <a:xfrm>
            <a:off x="548640" y="1207008"/>
            <a:ext cx="11064240" cy="365760"/>
          </a:xfrm>
          <a:prstGeom prst="rect">
            <a:avLst/>
          </a:prstGeom>
          <a:noFill/>
          <a:ln/>
        </p:spPr>
        <p:txBody>
          <a:bodyPr wrap="square" lIns="0" tIns="0" rIns="0" bIns="0" rtlCol="0" anchor="t"/>
          <a:lstStyle/>
          <a:p>
            <a:pPr indent="0" marL="0">
              <a:buNone/>
            </a:pPr>
            <a:r>
              <a:rPr lang="en-US" sz="1250" i="1" dirty="0">
                <a:solidFill>
                  <a:srgbClr val="CADCFC"/>
                </a:solidFill>
                <a:latin typeface="Calibri" pitchFamily="34" charset="0"/>
                <a:ea typeface="Calibri" pitchFamily="34" charset="-122"/>
                <a:cs typeface="Calibri" pitchFamily="34" charset="-120"/>
              </a:rPr>
              <a:t>Real terminal output against the sample repository. What is absent is the model's own narration — no request was sent to OpenAI for any capture, so this is the deterministic half.</a:t>
            </a:r>
            <a:endParaRPr lang="en-US" sz="1250" dirty="0"/>
          </a:p>
        </p:txBody>
      </p:sp>
      <p:sp>
        <p:nvSpPr>
          <p:cNvPr id="5" name="Text 3"/>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19 — CAPSTONE PROJECT (V1.0)</a:t>
            </a:r>
            <a:endParaRPr lang="en-US" sz="900" dirty="0"/>
          </a:p>
        </p:txBody>
      </p:sp>
      <p:sp>
        <p:nvSpPr>
          <p:cNvPr id="6" name="Text 4"/>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548640" y="1874520"/>
            <a:ext cx="5349240" cy="4297680"/>
          </a:xfrm>
          <a:prstGeom prst="roundRect">
            <a:avLst>
              <a:gd name="adj" fmla="val 2128"/>
            </a:avLst>
          </a:prstGeom>
          <a:solidFill>
            <a:srgbClr val="141B49"/>
          </a:solidFill>
          <a:ln w="12700">
            <a:solidFill>
              <a:srgbClr val="3FBFB0"/>
            </a:solidFill>
            <a:prstDash val="solid"/>
          </a:ln>
        </p:spPr>
      </p:sp>
      <p:sp>
        <p:nvSpPr>
          <p:cNvPr id="8" name="Text 6"/>
          <p:cNvSpPr txBox="1"/>
          <p:nvPr/>
        </p:nvSpPr>
        <p:spPr>
          <a:xfrm>
            <a:off x="877824" y="2130552"/>
            <a:ext cx="4690872" cy="2255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step 10: the repair loop starts ===</a:t>
            </a:r>
            <a:endParaRPr lang="en-US" sz="950" dirty="0"/>
          </a:p>
        </p:txBody>
      </p:sp>
      <p:sp>
        <p:nvSpPr>
          <p:cNvPr id="9" name="Text 7"/>
          <p:cNvSpPr txBox="1"/>
          <p:nvPr/>
        </p:nvSpPr>
        <p:spPr>
          <a:xfrm>
            <a:off x="877824" y="2465832"/>
            <a:ext cx="4690872" cy="2255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&gt; /test</a:t>
            </a:r>
            <a:endParaRPr lang="en-US" sz="950" dirty="0"/>
          </a:p>
        </p:txBody>
      </p:sp>
      <p:sp>
        <p:nvSpPr>
          <p:cNvPr id="10" name="Text 8"/>
          <p:cNvSpPr txBox="1"/>
          <p:nvPr/>
        </p:nvSpPr>
        <p:spPr>
          <a:xfrm>
            <a:off x="877824" y="2618232"/>
            <a:ext cx="4690872" cy="1444752"/>
          </a:xfrm>
          <a:prstGeom prst="rect">
            <a:avLst/>
          </a:prstGeom>
          <a:noFill/>
          <a:ln/>
        </p:spPr>
        <p:txBody>
          <a:bodyPr wrap="square" lIns="0" tIns="0" rIns="0" bIns="0" rtlCol="0" anchor="t"/>
          <a:lstStyle/>
          <a:p>
            <a:pPr indent="0" marL="0">
              <a:lnSpc>
                <a:spcPts val="1200"/>
              </a:lnSpc>
              <a:buNone/>
            </a:pPr>
            <a:r>
              <a:rPr lang="en-US" sz="900" dirty="0">
                <a:solidFill>
                  <a:srgbClr val="F87171"/>
                </a:solidFill>
                <a:latin typeface="Courier New" pitchFamily="34" charset="0"/>
                <a:ea typeface="Courier New" pitchFamily="34" charset="-122"/>
                <a:cs typeface="Courier New" pitchFamily="34" charset="-120"/>
              </a:rPr>
              <a:t>Exit code 2</a:t>
            </a:r>
            <a:endParaRPr lang="en-US" sz="900" dirty="0"/>
          </a:p>
          <a:p>
            <a:pPr indent="0" marL="0">
              <a:lnSpc>
                <a:spcPts val="1200"/>
              </a:lnSpc>
              <a:buNone/>
            </a:pPr>
            <a:r>
              <a:rPr lang="en-US" sz="900" dirty="0">
                <a:solidFill>
                  <a:srgbClr val="F87171"/>
                </a:solidFill>
                <a:latin typeface="Courier New" pitchFamily="34" charset="0"/>
                <a:ea typeface="Courier New" pitchFamily="34" charset="-122"/>
                <a:cs typeface="Courier New" pitchFamily="34" charset="-120"/>
              </a:rPr>
              <a:t>Test run summary: Failed!</a:t>
            </a:r>
            <a:endParaRPr lang="en-US" sz="900" dirty="0"/>
          </a:p>
          <a:p>
            <a:pPr indent="0" marL="0">
              <a:lnSpc>
                <a:spcPts val="1200"/>
              </a:lnSpc>
              <a:buNone/>
            </a:pPr>
            <a:r>
              <a:rPr lang="en-US" sz="900" dirty="0">
                <a:solidFill>
                  <a:srgbClr val="F87171"/>
                </a:solidFill>
                <a:latin typeface="Courier New" pitchFamily="34" charset="0"/>
                <a:ea typeface="Courier New" pitchFamily="34" charset="-122"/>
                <a:cs typeface="Courier New" pitchFamily="34" charset="-120"/>
              </a:rPr>
              <a:t>  total: 2   failed: 1   succeeded: 1</a:t>
            </a:r>
            <a:endParaRPr lang="en-US" sz="900" dirty="0"/>
          </a:p>
          <a:p>
            <a:pPr indent="0" marL="0">
              <a:lnSpc>
                <a:spcPts val="1200"/>
              </a:lnSpc>
              <a:buNone/>
            </a:pPr>
            <a:r>
              <a:rPr lang="en-US" sz="900" dirty="0">
                <a:solidFill>
                  <a:srgbClr val="F87171"/>
                </a:solidFill>
                <a:latin typeface="Courier New" pitchFamily="34" charset="0"/>
                <a:ea typeface="Courier New" pitchFamily="34" charset="-122"/>
                <a:cs typeface="Courier New" pitchFamily="34" charset="-120"/>
              </a:rPr>
              <a:t>failed CustomerPortal.Tests</a:t>
            </a:r>
            <a:endParaRPr lang="en-US" sz="900" dirty="0"/>
          </a:p>
          <a:p>
            <a:pPr indent="0" marL="0">
              <a:lnSpc>
                <a:spcPts val="1200"/>
              </a:lnSpc>
              <a:buNone/>
            </a:pPr>
            <a:r>
              <a:rPr lang="en-US" sz="900" dirty="0">
                <a:solidFill>
                  <a:srgbClr val="F87171"/>
                </a:solidFill>
                <a:latin typeface="Courier New" pitchFamily="34" charset="0"/>
                <a:ea typeface="Courier New" pitchFamily="34" charset="-122"/>
                <a:cs typeface="Courier New" pitchFamily="34" charset="-120"/>
              </a:rPr>
              <a:t>  .CustomerServiceTests</a:t>
            </a:r>
            <a:endParaRPr lang="en-US" sz="900" dirty="0"/>
          </a:p>
          <a:p>
            <a:pPr indent="0" marL="0">
              <a:lnSpc>
                <a:spcPts val="1200"/>
              </a:lnSpc>
              <a:buNone/>
            </a:pPr>
            <a:r>
              <a:rPr lang="en-US" sz="900" dirty="0">
                <a:solidFill>
                  <a:srgbClr val="F87171"/>
                </a:solidFill>
                <a:latin typeface="Courier New" pitchFamily="34" charset="0"/>
                <a:ea typeface="Courier New" pitchFamily="34" charset="-122"/>
                <a:cs typeface="Courier New" pitchFamily="34" charset="-120"/>
              </a:rPr>
              <a:t>  .Create_WithoutEmail_Throws (2ms)</a:t>
            </a:r>
            <a:endParaRPr lang="en-US" sz="900" dirty="0"/>
          </a:p>
          <a:p>
            <a:pPr indent="0" marL="0">
              <a:lnSpc>
                <a:spcPts val="1200"/>
              </a:lnSpc>
              <a:buNone/>
            </a:pPr>
            <a:r>
              <a:rPr lang="en-US" sz="900" dirty="0">
                <a:solidFill>
                  <a:srgbClr val="F87171"/>
                </a:solidFill>
                <a:latin typeface="Courier New" pitchFamily="34" charset="0"/>
                <a:ea typeface="Courier New" pitchFamily="34" charset="-122"/>
                <a:cs typeface="Courier New" pitchFamily="34" charset="-120"/>
              </a:rPr>
              <a:t>  Assert.Throws() Failure: No exception</a:t>
            </a:r>
            <a:endParaRPr lang="en-US" sz="900" dirty="0"/>
          </a:p>
          <a:p>
            <a:pPr indent="0" marL="0">
              <a:lnSpc>
                <a:spcPts val="1200"/>
              </a:lnSpc>
              <a:buNone/>
            </a:pPr>
            <a:r>
              <a:rPr lang="en-US" sz="900" dirty="0">
                <a:solidFill>
                  <a:srgbClr val="F87171"/>
                </a:solidFill>
                <a:latin typeface="Courier New" pitchFamily="34" charset="0"/>
                <a:ea typeface="Courier New" pitchFamily="34" charset="-122"/>
                <a:cs typeface="Courier New" pitchFamily="34" charset="-120"/>
              </a:rPr>
              <a:t>    was thrown</a:t>
            </a:r>
            <a:endParaRPr lang="en-US" sz="900" dirty="0"/>
          </a:p>
          <a:p>
            <a:pPr indent="0" marL="0">
              <a:lnSpc>
                <a:spcPts val="1200"/>
              </a:lnSpc>
              <a:buNone/>
            </a:pPr>
            <a:r>
              <a:rPr lang="en-US" sz="900" dirty="0">
                <a:solidFill>
                  <a:srgbClr val="F87171"/>
                </a:solidFill>
                <a:latin typeface="Courier New" pitchFamily="34" charset="0"/>
                <a:ea typeface="Courier New" pitchFamily="34" charset="-122"/>
                <a:cs typeface="Courier New" pitchFamily="34" charset="-120"/>
              </a:rPr>
              <a:t>  Expected: typeof(ArgumentException)</a:t>
            </a:r>
            <a:endParaRPr lang="en-US" sz="900" dirty="0"/>
          </a:p>
        </p:txBody>
      </p:sp>
      <p:sp>
        <p:nvSpPr>
          <p:cNvPr id="11" name="Text 9"/>
          <p:cNvSpPr txBox="1"/>
          <p:nvPr/>
        </p:nvSpPr>
        <p:spPr>
          <a:xfrm>
            <a:off x="877824" y="3989832"/>
            <a:ext cx="4690872" cy="2255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steps 8 and 13: the guard lands ===</a:t>
            </a:r>
            <a:endParaRPr lang="en-US" sz="950" dirty="0"/>
          </a:p>
        </p:txBody>
      </p:sp>
      <p:sp>
        <p:nvSpPr>
          <p:cNvPr id="12" name="Text 10"/>
          <p:cNvSpPr txBox="1"/>
          <p:nvPr/>
        </p:nvSpPr>
        <p:spPr>
          <a:xfrm>
            <a:off x="877824" y="4325112"/>
            <a:ext cx="4690872" cy="2255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&gt; /build</a:t>
            </a:r>
            <a:endParaRPr lang="en-US" sz="950" dirty="0"/>
          </a:p>
        </p:txBody>
      </p:sp>
      <p:sp>
        <p:nvSpPr>
          <p:cNvPr id="13" name="Text 11"/>
          <p:cNvSpPr txBox="1"/>
          <p:nvPr/>
        </p:nvSpPr>
        <p:spPr>
          <a:xfrm>
            <a:off x="877824" y="4477512"/>
            <a:ext cx="4690872" cy="225552"/>
          </a:xfrm>
          <a:prstGeom prst="rect">
            <a:avLst/>
          </a:prstGeom>
          <a:noFill/>
          <a:ln/>
        </p:spPr>
        <p:txBody>
          <a:bodyPr wrap="square" lIns="0" tIns="0" rIns="0" bIns="0" rtlCol="0" anchor="t"/>
          <a:lstStyle/>
          <a:p>
            <a:pPr indent="0" marL="0">
              <a:lnSpc>
                <a:spcPts val="1200"/>
              </a:lnSpc>
              <a:buNone/>
            </a:pPr>
            <a:r>
              <a:rPr lang="en-US" sz="950" dirty="0">
                <a:solidFill>
                  <a:srgbClr val="4ADE80"/>
                </a:solidFill>
                <a:latin typeface="Courier New" pitchFamily="34" charset="0"/>
                <a:ea typeface="Courier New" pitchFamily="34" charset="-122"/>
                <a:cs typeface="Courier New" pitchFamily="34" charset="-120"/>
              </a:rPr>
              <a:t>Exit code 0    Build succeeded.</a:t>
            </a:r>
            <a:endParaRPr lang="en-US" sz="950" dirty="0"/>
          </a:p>
        </p:txBody>
      </p:sp>
      <p:sp>
        <p:nvSpPr>
          <p:cNvPr id="14" name="Text 12"/>
          <p:cNvSpPr txBox="1"/>
          <p:nvPr/>
        </p:nvSpPr>
        <p:spPr>
          <a:xfrm>
            <a:off x="877824" y="4629912"/>
            <a:ext cx="4690872" cy="2255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&gt; /test</a:t>
            </a:r>
            <a:endParaRPr lang="en-US" sz="950" dirty="0"/>
          </a:p>
        </p:txBody>
      </p:sp>
      <p:sp>
        <p:nvSpPr>
          <p:cNvPr id="15" name="Text 13"/>
          <p:cNvSpPr txBox="1"/>
          <p:nvPr/>
        </p:nvSpPr>
        <p:spPr>
          <a:xfrm>
            <a:off x="877824" y="4782312"/>
            <a:ext cx="4690872" cy="530352"/>
          </a:xfrm>
          <a:prstGeom prst="rect">
            <a:avLst/>
          </a:prstGeom>
          <a:noFill/>
          <a:ln/>
        </p:spPr>
        <p:txBody>
          <a:bodyPr wrap="square" lIns="0" tIns="0" rIns="0" bIns="0" rtlCol="0" anchor="t"/>
          <a:lstStyle/>
          <a:p>
            <a:pPr indent="0" marL="0">
              <a:lnSpc>
                <a:spcPts val="1200"/>
              </a:lnSpc>
              <a:buNone/>
            </a:pPr>
            <a:r>
              <a:rPr lang="en-US" sz="950" dirty="0">
                <a:solidFill>
                  <a:srgbClr val="4ADE80"/>
                </a:solidFill>
                <a:latin typeface="Courier New" pitchFamily="34" charset="0"/>
                <a:ea typeface="Courier New" pitchFamily="34" charset="-122"/>
                <a:cs typeface="Courier New" pitchFamily="34" charset="-120"/>
              </a:rPr>
              <a:t>Exit code 0</a:t>
            </a:r>
            <a:endParaRPr lang="en-US" sz="950" dirty="0"/>
          </a:p>
          <a:p>
            <a:pPr indent="0" marL="0">
              <a:lnSpc>
                <a:spcPts val="1200"/>
              </a:lnSpc>
              <a:buNone/>
            </a:pPr>
            <a:r>
              <a:rPr lang="en-US" sz="950" dirty="0">
                <a:solidFill>
                  <a:srgbClr val="4ADE80"/>
                </a:solidFill>
                <a:latin typeface="Courier New" pitchFamily="34" charset="0"/>
                <a:ea typeface="Courier New" pitchFamily="34" charset="-122"/>
                <a:cs typeface="Courier New" pitchFamily="34" charset="-120"/>
              </a:rPr>
              <a:t>Test run summary: Passed!</a:t>
            </a:r>
            <a:endParaRPr lang="en-US" sz="950" dirty="0"/>
          </a:p>
          <a:p>
            <a:pPr indent="0" marL="0">
              <a:lnSpc>
                <a:spcPts val="1200"/>
              </a:lnSpc>
              <a:buNone/>
            </a:pPr>
            <a:r>
              <a:rPr lang="en-US" sz="950" dirty="0">
                <a:solidFill>
                  <a:srgbClr val="4ADE80"/>
                </a:solidFill>
                <a:latin typeface="Courier New" pitchFamily="34" charset="0"/>
                <a:ea typeface="Courier New" pitchFamily="34" charset="-122"/>
                <a:cs typeface="Courier New" pitchFamily="34" charset="-120"/>
              </a:rPr>
              <a:t>  total: 2   failed: 0   succeeded: 2</a:t>
            </a:r>
            <a:endParaRPr lang="en-US" sz="950" dirty="0"/>
          </a:p>
        </p:txBody>
      </p:sp>
      <p:sp>
        <p:nvSpPr>
          <p:cNvPr id="16" name="Text 14"/>
          <p:cNvSpPr txBox="1"/>
          <p:nvPr/>
        </p:nvSpPr>
        <p:spPr>
          <a:xfrm>
            <a:off x="87782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The assertion message, expected type and line number are everything the model needs. It never sees the passing test.</a:t>
            </a:r>
            <a:endParaRPr lang="en-US" sz="1050" dirty="0"/>
          </a:p>
        </p:txBody>
      </p:sp>
      <p:sp>
        <p:nvSpPr>
          <p:cNvPr id="17" name="Shape 15"/>
          <p:cNvSpPr/>
          <p:nvPr/>
        </p:nvSpPr>
        <p:spPr>
          <a:xfrm>
            <a:off x="6309360" y="1874520"/>
            <a:ext cx="5349240" cy="4297680"/>
          </a:xfrm>
          <a:prstGeom prst="roundRect">
            <a:avLst>
              <a:gd name="adj" fmla="val 2128"/>
            </a:avLst>
          </a:prstGeom>
          <a:solidFill>
            <a:srgbClr val="141B49"/>
          </a:solidFill>
          <a:ln w="12700">
            <a:solidFill>
              <a:srgbClr val="3FBFB0"/>
            </a:solidFill>
            <a:prstDash val="solid"/>
          </a:ln>
        </p:spPr>
      </p:sp>
      <p:sp>
        <p:nvSpPr>
          <p:cNvPr id="18" name="Text 16"/>
          <p:cNvSpPr txBox="1"/>
          <p:nvPr/>
        </p:nvSpPr>
        <p:spPr>
          <a:xfrm>
            <a:off x="6638544" y="2130552"/>
            <a:ext cx="4690872" cy="2255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step 14: /diff ===</a:t>
            </a:r>
            <a:endParaRPr lang="en-US" sz="950" dirty="0"/>
          </a:p>
        </p:txBody>
      </p:sp>
      <p:sp>
        <p:nvSpPr>
          <p:cNvPr id="19" name="Text 17"/>
          <p:cNvSpPr txBox="1"/>
          <p:nvPr/>
        </p:nvSpPr>
        <p:spPr>
          <a:xfrm>
            <a:off x="6638544" y="2465832"/>
            <a:ext cx="4690872" cy="6827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-11,6 +11,11 @@ class CustomerService</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public Customer Create(</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string name, string? email)</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p:txBody>
      </p:sp>
      <p:sp>
        <p:nvSpPr>
          <p:cNvPr id="20" name="Text 18"/>
          <p:cNvSpPr txBox="1"/>
          <p:nvPr/>
        </p:nvSpPr>
        <p:spPr>
          <a:xfrm>
            <a:off x="6638544" y="3075432"/>
            <a:ext cx="4690872" cy="1139952"/>
          </a:xfrm>
          <a:prstGeom prst="rect">
            <a:avLst/>
          </a:prstGeom>
          <a:noFill/>
          <a:ln/>
        </p:spPr>
        <p:txBody>
          <a:bodyPr wrap="square" lIns="0" tIns="0" rIns="0" bIns="0" rtlCol="0" anchor="t"/>
          <a:lstStyle/>
          <a:p>
            <a:pPr indent="0" marL="0">
              <a:lnSpc>
                <a:spcPts val="1200"/>
              </a:lnSpc>
              <a:buNone/>
            </a:pPr>
            <a:r>
              <a:rPr lang="en-US" sz="950" dirty="0">
                <a:solidFill>
                  <a:srgbClr val="4ADE80"/>
                </a:solidFill>
                <a:latin typeface="Courier New" pitchFamily="34" charset="0"/>
                <a:ea typeface="Courier New" pitchFamily="34" charset="-122"/>
                <a:cs typeface="Courier New" pitchFamily="34" charset="-120"/>
              </a:rPr>
              <a:t>+        if (string.IsNullOrWhiteSpace(email))</a:t>
            </a:r>
            <a:endParaRPr lang="en-US" sz="950" dirty="0"/>
          </a:p>
          <a:p>
            <a:pPr indent="0" marL="0">
              <a:lnSpc>
                <a:spcPts val="1200"/>
              </a:lnSpc>
              <a:buNone/>
            </a:pPr>
            <a:r>
              <a:rPr lang="en-US" sz="950" dirty="0">
                <a:solidFill>
                  <a:srgbClr val="4ADE80"/>
                </a:solidFill>
                <a:latin typeface="Courier New" pitchFamily="34" charset="0"/>
                <a:ea typeface="Courier New" pitchFamily="34" charset="-122"/>
                <a:cs typeface="Courier New" pitchFamily="34" charset="-120"/>
              </a:rPr>
              <a:t>+        {</a:t>
            </a:r>
            <a:endParaRPr lang="en-US" sz="950" dirty="0"/>
          </a:p>
          <a:p>
            <a:pPr indent="0" marL="0">
              <a:lnSpc>
                <a:spcPts val="1200"/>
              </a:lnSpc>
              <a:buNone/>
            </a:pPr>
            <a:r>
              <a:rPr lang="en-US" sz="950" dirty="0">
                <a:solidFill>
                  <a:srgbClr val="4ADE80"/>
                </a:solidFill>
                <a:latin typeface="Courier New" pitchFamily="34" charset="0"/>
                <a:ea typeface="Courier New" pitchFamily="34" charset="-122"/>
                <a:cs typeface="Courier New" pitchFamily="34" charset="-120"/>
              </a:rPr>
              <a:t>+            throw new ArgumentException(</a:t>
            </a:r>
            <a:endParaRPr lang="en-US" sz="950" dirty="0"/>
          </a:p>
          <a:p>
            <a:pPr indent="0" marL="0">
              <a:lnSpc>
                <a:spcPts val="1200"/>
              </a:lnSpc>
              <a:buNone/>
            </a:pPr>
            <a:r>
              <a:rPr lang="en-US" sz="950" dirty="0">
                <a:solidFill>
                  <a:srgbClr val="4ADE80"/>
                </a:solidFill>
                <a:latin typeface="Courier New" pitchFamily="34" charset="0"/>
                <a:ea typeface="Courier New" pitchFamily="34" charset="-122"/>
                <a:cs typeface="Courier New" pitchFamily="34" charset="-120"/>
              </a:rPr>
              <a:t>+                "A customer requires an email</a:t>
            </a:r>
            <a:endParaRPr lang="en-US" sz="950" dirty="0"/>
          </a:p>
          <a:p>
            <a:pPr indent="0" marL="0">
              <a:lnSpc>
                <a:spcPts val="1200"/>
              </a:lnSpc>
              <a:buNone/>
            </a:pPr>
            <a:r>
              <a:rPr lang="en-US" sz="950" dirty="0">
                <a:solidFill>
                  <a:srgbClr val="4ADE80"/>
                </a:solidFill>
                <a:latin typeface="Courier New" pitchFamily="34" charset="0"/>
                <a:ea typeface="Courier New" pitchFamily="34" charset="-122"/>
                <a:cs typeface="Courier New" pitchFamily="34" charset="-120"/>
              </a:rPr>
              <a:t>+                 address.", nameof(email));</a:t>
            </a:r>
            <a:endParaRPr lang="en-US" sz="950" dirty="0"/>
          </a:p>
          <a:p>
            <a:pPr indent="0" marL="0">
              <a:lnSpc>
                <a:spcPts val="1200"/>
              </a:lnSpc>
              <a:buNone/>
            </a:pPr>
            <a:r>
              <a:rPr lang="en-US" sz="950" dirty="0">
                <a:solidFill>
                  <a:srgbClr val="4ADE80"/>
                </a:solidFill>
                <a:latin typeface="Courier New" pitchFamily="34" charset="0"/>
                <a:ea typeface="Courier New" pitchFamily="34" charset="-122"/>
                <a:cs typeface="Courier New" pitchFamily="34" charset="-120"/>
              </a:rPr>
              <a:t>+        }</a:t>
            </a:r>
            <a:endParaRPr lang="en-US" sz="950" dirty="0"/>
          </a:p>
          <a:p>
            <a:pPr indent="0" marL="0">
              <a:lnSpc>
                <a:spcPts val="1200"/>
              </a:lnSpc>
              <a:buNone/>
            </a:pPr>
            <a:r>
              <a:rPr lang="en-US" sz="950" dirty="0">
                <a:solidFill>
                  <a:srgbClr val="4ADE80"/>
                </a:solidFill>
                <a:latin typeface="Courier New" pitchFamily="34" charset="0"/>
                <a:ea typeface="Courier New" pitchFamily="34" charset="-122"/>
                <a:cs typeface="Courier New" pitchFamily="34" charset="-120"/>
              </a:rPr>
              <a:t>+</a:t>
            </a:r>
            <a:endParaRPr lang="en-US" sz="950" dirty="0"/>
          </a:p>
        </p:txBody>
      </p:sp>
      <p:sp>
        <p:nvSpPr>
          <p:cNvPr id="21" name="Text 19"/>
          <p:cNvSpPr txBox="1"/>
          <p:nvPr/>
        </p:nvSpPr>
        <p:spPr>
          <a:xfrm>
            <a:off x="6638544" y="4142232"/>
            <a:ext cx="4690872" cy="3779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var customer = new Customer(</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name, email);</a:t>
            </a:r>
            <a:endParaRPr lang="en-US" sz="950" dirty="0"/>
          </a:p>
        </p:txBody>
      </p:sp>
      <p:sp>
        <p:nvSpPr>
          <p:cNvPr id="22" name="Text 20"/>
          <p:cNvSpPr txBox="1"/>
          <p:nvPr/>
        </p:nvSpPr>
        <p:spPr>
          <a:xfrm>
            <a:off x="6638544" y="4447032"/>
            <a:ext cx="4690872" cy="2255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the same session, 2&gt; trace.log ===</a:t>
            </a:r>
            <a:endParaRPr lang="en-US" sz="950" dirty="0"/>
          </a:p>
        </p:txBody>
      </p:sp>
      <p:sp>
        <p:nvSpPr>
          <p:cNvPr id="23" name="Text 21"/>
          <p:cNvSpPr txBox="1"/>
          <p:nvPr/>
        </p:nvSpPr>
        <p:spPr>
          <a:xfrm>
            <a:off x="6638544" y="4782312"/>
            <a:ext cx="4690872" cy="6827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[Tool] run_command</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[Result] Exit code 0 (3348ms)</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[Tool] git_diff</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[Result] diff --git a/src/... (103ms)</a:t>
            </a:r>
            <a:endParaRPr lang="en-US" sz="950" dirty="0"/>
          </a:p>
        </p:txBody>
      </p:sp>
      <p:sp>
        <p:nvSpPr>
          <p:cNvPr id="24" name="Text 22"/>
          <p:cNvSpPr txBox="1"/>
          <p:nvPr/>
        </p:nvSpPr>
        <p:spPr>
          <a:xfrm>
            <a:off x="663854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The banner and the eleven-command /help round out the captures.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MiniCode Course</dc:creator>
  <cp:lastModifiedBy>MiniCode Course</cp:lastModifiedBy>
  <cp:revision>1</cp:revision>
  <dcterms:created xsi:type="dcterms:W3CDTF">2026-09-10T18:45:35Z</dcterms:created>
  <dcterms:modified xsi:type="dcterms:W3CDTF">2026-09-10T18:45:35Z</dcterms:modified>
</cp:coreProperties>
</file>