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Module of Phase 2. Ships as part of Phase 2 Capstone — Planning Agent (v0.2).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6: NoChangesNotice is a constant on Planner, so the promise and the code that keeps it live in the same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has a reference implementation in a later Module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59816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9 · PHASE 2</a:t>
            </a:r>
            <a:endParaRPr lang="en-US" sz="1400" dirty="0"/>
          </a:p>
        </p:txBody>
      </p:sp>
      <p:sp>
        <p:nvSpPr>
          <p:cNvPr id="3" name="Text 1"/>
          <p:cNvSpPr txBox="1"/>
          <p:nvPr/>
        </p:nvSpPr>
        <p:spPr>
          <a:xfrm>
            <a:off x="548640" y="1982216"/>
            <a:ext cx="6309360" cy="124764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Planning and</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Task State</a:t>
            </a:r>
            <a:endParaRPr lang="en-US" sz="4000" dirty="0"/>
          </a:p>
        </p:txBody>
      </p:sp>
      <p:sp>
        <p:nvSpPr>
          <p:cNvPr id="4" name="Text 2"/>
          <p:cNvSpPr txBox="1"/>
          <p:nvPr/>
        </p:nvSpPr>
        <p:spPr>
          <a:xfrm>
            <a:off x="548640" y="373278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Before MiniCode does anything to a repository, it says what it intends to do. We turn a request into a numbered plan the operator can read, track how far each step has got, and revise it when the repository turns out not to be what we assumed.</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Module08b-WorkingStateAndCompaction/ — a plan is the structured version of "what was asked", and Module 3’s ICodingAgent grows one member here.</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2</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revised, not renumbered</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1. [x] Inspect CustomerService</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2. [x] Identify caching infra</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8. [ ] Add IMemoryCache to DI</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9. [ ] Modify the service</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10. [ ] Add tests</a:t>
            </a:r>
            <a:endParaRPr lang="en-US" sz="1050" dirty="0"/>
          </a:p>
        </p:txBody>
      </p:sp>
      <p:sp>
        <p:nvSpPr>
          <p:cNvPr id="14" name="Shape 12"/>
          <p:cNvSpPr/>
          <p:nvPr/>
        </p:nvSpPr>
        <p:spPr>
          <a:xfrm>
            <a:off x="7342632" y="3264408"/>
            <a:ext cx="4014216" cy="0"/>
          </a:xfrm>
          <a:prstGeom prst="line">
            <a:avLst/>
          </a:prstGeom>
          <a:noFill/>
          <a:ln w="9525">
            <a:solidFill>
              <a:srgbClr val="6B7280"/>
            </a:solidFill>
            <a:prstDash val="sysDot"/>
          </a:ln>
        </p:spPr>
      </p:sp>
      <p:sp>
        <p:nvSpPr>
          <p:cNvPr id="15" name="Text 13"/>
          <p:cNvSpPr txBox="1"/>
          <p:nvPr/>
        </p:nvSpPr>
        <p:spPr>
          <a:xfrm>
            <a:off x="7342632" y="3429000"/>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the jump 2 -&gt; 8 is the point</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nothing was renumbered</a:t>
            </a:r>
            <a:endParaRPr lang="en-US" sz="1050" dirty="0"/>
          </a:p>
        </p:txBody>
      </p:sp>
      <p:sp>
        <p:nvSpPr>
          <p:cNvPr id="16" name="Text 14"/>
          <p:cNvSpPr txBox="1"/>
          <p:nvPr/>
        </p:nvSpPr>
        <p:spPr>
          <a:xfrm>
            <a:off x="7342632" y="4069080"/>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Nothing is modified. In Module 16 this becomes /plan.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 Plan Is a Promise You Can Check Before It Is Kept</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It Moves the Moment to Say No to the Front</a:t>
            </a:r>
            <a:endParaRPr lang="en-US" sz="1550" dirty="0"/>
          </a:p>
        </p:txBody>
      </p:sp>
      <p:sp>
        <p:nvSpPr>
          <p:cNvPr id="10" name="Text 7"/>
          <p:cNvSpPr txBox="1"/>
          <p:nvPr/>
        </p:nvSpPr>
        <p:spPr>
          <a:xfrm>
            <a:off x="86868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An agent that starts working and narrates as it goes gives you no moment to say no, not like that.</a:t>
            </a:r>
            <a:endParaRPr lang="en-US" sz="1350" dirty="0"/>
          </a:p>
        </p:txBody>
      </p:sp>
      <p:sp>
        <p:nvSpPr>
          <p:cNvPr id="11" name="Text 8"/>
          <p:cNvSpPr txBox="1"/>
          <p:nvPr/>
        </p:nvSpPr>
        <p:spPr>
          <a:xfrm>
            <a:off x="868680" y="388620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At the front, that moment is cheap.</a:t>
            </a:r>
            <a:endParaRPr lang="en-US" sz="1250" dirty="0"/>
          </a:p>
        </p:txBody>
      </p:sp>
      <p:sp>
        <p:nvSpPr>
          <p:cNvPr id="12" name="Shape 9"/>
          <p:cNvSpPr/>
          <p:nvPr/>
        </p:nvSpPr>
        <p:spPr>
          <a:xfrm>
            <a:off x="6309360" y="1417320"/>
            <a:ext cx="5349240" cy="3291840"/>
          </a:xfrm>
          <a:prstGeom prst="roundRect">
            <a:avLst>
              <a:gd name="adj" fmla="val 277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Planning Is a Separate Call With No Tools</a:t>
            </a:r>
            <a:endParaRPr lang="en-US" sz="1550" dirty="0"/>
          </a:p>
        </p:txBody>
      </p:sp>
      <p:sp>
        <p:nvSpPr>
          <p:cNvPr id="16" name="Text 12"/>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The planning request is made with Tools = null and ToolMode = None, so the model physically cannot invoke anything while planning — it can only think and answer. Today MiniCode has no write tools anyway; from Module 10 it is the difference between showing a plan and quietly executing one.</a:t>
            </a:r>
            <a:endParaRPr lang="en-US" sz="1350" dirty="0"/>
          </a:p>
        </p:txBody>
      </p:sp>
      <p:sp>
        <p:nvSpPr>
          <p:cNvPr id="17" name="Shape 13"/>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8" name="Text 14"/>
          <p:cNvSpPr txBox="1"/>
          <p:nvPr/>
        </p:nvSpPr>
        <p:spPr>
          <a:xfrm>
            <a:off x="877824" y="5193792"/>
            <a:ext cx="10405872" cy="3779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Every plan is followed by one line. Not because it is technically necessary, but</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because the operator should never have to wonder.</a:t>
            </a:r>
            <a:endParaRPr lang="en-US" sz="950" dirty="0"/>
          </a:p>
        </p:txBody>
      </p:sp>
      <p:sp>
        <p:nvSpPr>
          <p:cNvPr id="19" name="Text 15"/>
          <p:cNvSpPr txBox="1"/>
          <p:nvPr/>
        </p:nvSpPr>
        <p:spPr>
          <a:xfrm>
            <a:off x="877824" y="5681472"/>
            <a:ext cx="10405872" cy="225552"/>
          </a:xfrm>
          <a:prstGeom prst="rect">
            <a:avLst/>
          </a:prstGeom>
          <a:noFill/>
          <a:ln/>
        </p:spPr>
        <p:txBody>
          <a:bodyPr wrap="square" lIns="0" tIns="0" rIns="0" bIns="0" rtlCol="0" anchor="t"/>
          <a:lstStyle/>
          <a:p>
            <a:pPr indent="0" marL="0">
              <a:lnSpc>
                <a:spcPts val="1200"/>
              </a:lnSpc>
              <a:buNone/>
            </a:pPr>
            <a:r>
              <a:rPr lang="en-US" sz="1050" dirty="0">
                <a:solidFill>
                  <a:srgbClr val="3FBFB0"/>
                </a:solidFill>
                <a:latin typeface="Courier New" pitchFamily="34" charset="0"/>
                <a:ea typeface="Courier New" pitchFamily="34" charset="-122"/>
                <a:cs typeface="Courier New" pitchFamily="34" charset="-120"/>
              </a:rPr>
              <a:t>No files have been modified.</a:t>
            </a:r>
            <a:endParaRPr lang="en-US" sz="1050" dirty="0"/>
          </a:p>
        </p:txBody>
      </p:sp>
      <p:sp>
        <p:nvSpPr>
          <p:cNvPr id="20" name="Text 16"/>
          <p:cNvSpPr txBox="1"/>
          <p:nvPr/>
        </p:nvSpPr>
        <p:spPr>
          <a:xfrm>
            <a:off x="877824" y="5833872"/>
            <a:ext cx="10405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 guarantee nobody states is a guarantee nobody trusts.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Four States, and Identity That Is Not Position</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Blocked Is the Interesting One</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Pending, in-progress and complete are bookkeeping. Blocked is the state that stops an agent inventing its way past a problem — it carries a note saying why, and the plan halts there rather than continuing to step four as though step three had worked.</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Current returns a blocked step deliberately: that is where the plan actually stands.</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A Step’s Id Is Assigned Once and Never Reused</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That matters the moment a plan is revised: renumbering would make the operator's memory wrong, and would let a finished step silently become a different step.</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A revised plan legitimately reads 1, 2, 8, 9, 10 — the gap is the point.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Immutable, and Forgiving About Prose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297680"/>
          </a:xfrm>
          <a:prstGeom prst="roundRect">
            <a:avLst>
              <a:gd name="adj" fmla="val 2128"/>
            </a:avLst>
          </a:prstGeom>
          <a:solidFill>
            <a:srgbClr val="3FBFB0"/>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Revising Keeps What Is Finished and Replaces What Is Not</a:t>
            </a:r>
            <a:endParaRPr lang="en-US" sz="1550" dirty="0"/>
          </a:p>
        </p:txBody>
      </p:sp>
      <p:sp>
        <p:nvSpPr>
          <p:cNvPr id="10" name="Text 7"/>
          <p:cNvSpPr txBox="1"/>
          <p:nvPr/>
        </p:nvSpPr>
        <p:spPr>
          <a:xfrm>
            <a:off x="86868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MiniCode discovers things — there is no cache layer, the class is in a different project, the tests do not compile. When that happens the remaining steps are wrong and the completed ones are still true. Revise encodes exactly that, so replanning cannot rewrite history the operator already watched happen.</a:t>
            </a:r>
            <a:endParaRPr lang="en-US" sz="1350" dirty="0"/>
          </a:p>
        </p:txBody>
      </p:sp>
      <p:sp>
        <p:nvSpPr>
          <p:cNvPr id="11" name="Shape 8"/>
          <p:cNvSpPr/>
          <p:nvPr/>
        </p:nvSpPr>
        <p:spPr>
          <a:xfrm>
            <a:off x="6309360" y="1417320"/>
            <a:ext cx="5349240" cy="4297680"/>
          </a:xfrm>
          <a:prstGeom prst="roundRect">
            <a:avLst>
              <a:gd name="adj" fmla="val 2128"/>
            </a:avLst>
          </a:prstGeom>
          <a:solidFill>
            <a:srgbClr val="1E2761"/>
          </a:solidFill>
          <a:ln/>
        </p:spPr>
      </p:sp>
      <p:sp>
        <p:nvSpPr>
          <p:cNvPr id="12" name="Shape 9"/>
          <p:cNvSpPr/>
          <p:nvPr/>
        </p:nvSpPr>
        <p:spPr>
          <a:xfrm>
            <a:off x="6629400" y="1737360"/>
            <a:ext cx="640080" cy="640080"/>
          </a:xfrm>
          <a:prstGeom prst="ellipse">
            <a:avLst/>
          </a:prstGeom>
          <a:solidFill>
            <a:srgbClr val="3FBFB0"/>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Every Change Returns a New Plan</a:t>
            </a:r>
            <a:endParaRPr lang="en-US" sz="1550" dirty="0"/>
          </a:p>
        </p:txBody>
      </p:sp>
      <p:sp>
        <p:nvSpPr>
          <p:cNvPr id="15" name="Text 11"/>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 plan that was printed cannot become a different plan afterwards, which is what makes "here is what I am going to do" mean anything. And parsing is forgiving about prose and strict about steps: models wrap lists in explanation, so we take the numbered lines and ignore everything else.</a:t>
            </a:r>
            <a:endParaRPr lang="en-US" sz="1350" dirty="0"/>
          </a:p>
        </p:txBody>
      </p:sp>
      <p:sp>
        <p:nvSpPr>
          <p:cNvPr id="16" name="Text 12"/>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Rather than demanding JSON and failing when a helpful sentence appears above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A Record, Four States, and One Toolless Call</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src/MiniCode.Agent/TaskState.cs</a:t>
            </a:r>
            <a:endParaRPr lang="en-US" sz="950" dirty="0"/>
          </a:p>
        </p:txBody>
      </p:sp>
      <p:sp>
        <p:nvSpPr>
          <p:cNvPr id="8" name="Text 6"/>
          <p:cNvSpPr txBox="1"/>
          <p:nvPr/>
        </p:nvSpPr>
        <p:spPr>
          <a:xfrm>
            <a:off x="877824" y="19959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enum TaskState</a:t>
            </a:r>
            <a:endParaRPr lang="en-US" sz="950" dirty="0"/>
          </a:p>
        </p:txBody>
      </p:sp>
      <p:sp>
        <p:nvSpPr>
          <p:cNvPr id="9" name="Text 7"/>
          <p:cNvSpPr txBox="1"/>
          <p:nvPr/>
        </p:nvSpPr>
        <p:spPr>
          <a:xfrm>
            <a:off x="877824" y="21356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Pending, InProgress, Complete, Blocked }</a:t>
            </a:r>
            <a:endParaRPr lang="en-US" sz="950" dirty="0"/>
          </a:p>
        </p:txBody>
      </p:sp>
      <p:sp>
        <p:nvSpPr>
          <p:cNvPr id="10" name="Text 8"/>
          <p:cNvSpPr txBox="1"/>
          <p:nvPr/>
        </p:nvSpPr>
        <p:spPr>
          <a:xfrm>
            <a:off x="877824" y="227533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src/MiniCode.Agent/PlanTask.cs</a:t>
            </a:r>
            <a:endParaRPr lang="en-US" sz="950" dirty="0"/>
          </a:p>
        </p:txBody>
      </p:sp>
      <p:sp>
        <p:nvSpPr>
          <p:cNvPr id="11" name="Text 9"/>
          <p:cNvSpPr txBox="1"/>
          <p:nvPr/>
        </p:nvSpPr>
        <p:spPr>
          <a:xfrm>
            <a:off x="877824" y="2597912"/>
            <a:ext cx="4690872" cy="9113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sealed record PlanTask(</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int Id, string Title, TaskState State,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Note = null)</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public string Marker =&gt; State switch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12" name="Text 10"/>
          <p:cNvSpPr txBox="1"/>
          <p:nvPr/>
        </p:nvSpPr>
        <p:spPr>
          <a:xfrm>
            <a:off x="877824" y="343611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TaskState.Complete =&gt; "x",</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TaskState.InProgress =&gt; "&gt;",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TaskState.Blocked =&gt; "!", _ =&gt; " ",</a:t>
            </a:r>
            <a:endParaRPr lang="en-US" sz="950" dirty="0"/>
          </a:p>
        </p:txBody>
      </p:sp>
      <p:sp>
        <p:nvSpPr>
          <p:cNvPr id="13" name="Text 11"/>
          <p:cNvSpPr txBox="1"/>
          <p:nvPr/>
        </p:nvSpPr>
        <p:spPr>
          <a:xfrm>
            <a:off x="877824" y="38552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4" name="Text 12"/>
          <p:cNvSpPr txBox="1"/>
          <p:nvPr/>
        </p:nvSpPr>
        <p:spPr>
          <a:xfrm>
            <a:off x="877824" y="413461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Planner.CreateAsync — no tools at all</a:t>
            </a:r>
            <a:endParaRPr lang="en-US" sz="950" dirty="0"/>
          </a:p>
        </p:txBody>
      </p:sp>
      <p:sp>
        <p:nvSpPr>
          <p:cNvPr id="15" name="Text 13"/>
          <p:cNvSpPr txBox="1"/>
          <p:nvPr/>
        </p:nvSpPr>
        <p:spPr>
          <a:xfrm>
            <a:off x="877824" y="445719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ChatResponse response = await client.GetResponseAsync(</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[new ChatMessage(ChatRole.System, Prompt),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new ChatMessage(ChatRole.User, request)],</a:t>
            </a:r>
            <a:endParaRPr lang="en-US" sz="950" dirty="0"/>
          </a:p>
        </p:txBody>
      </p:sp>
      <p:sp>
        <p:nvSpPr>
          <p:cNvPr id="16" name="Text 14"/>
          <p:cNvSpPr txBox="1"/>
          <p:nvPr/>
        </p:nvSpPr>
        <p:spPr>
          <a:xfrm>
            <a:off x="877824" y="487629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new ChatOptions { Tools = null,</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ToolMode = ChatToolMode.None },</a:t>
            </a:r>
            <a:endParaRPr lang="en-US" sz="950" dirty="0"/>
          </a:p>
        </p:txBody>
      </p:sp>
      <p:sp>
        <p:nvSpPr>
          <p:cNvPr id="17" name="Text 15"/>
          <p:cNvSpPr txBox="1"/>
          <p:nvPr/>
        </p:nvSpPr>
        <p:spPr>
          <a:xfrm>
            <a:off x="877824" y="515569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cancellationToken);</a:t>
            </a:r>
            <a:endParaRPr lang="en-US" sz="950" dirty="0"/>
          </a:p>
        </p:txBody>
      </p:sp>
      <p:sp>
        <p:nvSpPr>
          <p:cNvPr id="18" name="Text 16"/>
          <p:cNvSpPr txBox="1"/>
          <p:nvPr/>
        </p:nvSpPr>
        <p:spPr>
          <a:xfrm>
            <a:off x="87782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Parse keeps lines matching ^\d+[.)]\s+(?&lt;title&gt;.+)$ and discards the rest.</a:t>
            </a:r>
            <a:endParaRPr lang="en-US" sz="1050" dirty="0"/>
          </a:p>
        </p:txBody>
      </p:sp>
      <p:sp>
        <p:nvSpPr>
          <p:cNvPr id="19" name="Shape 17"/>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20" name="Text 18"/>
          <p:cNvSpPr txBox="1"/>
          <p:nvPr/>
        </p:nvSpPr>
        <p:spPr>
          <a:xfrm>
            <a:off x="663854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src/MiniCode.Agent/TaskPlan.cs</a:t>
            </a:r>
            <a:endParaRPr lang="en-US" sz="950" dirty="0"/>
          </a:p>
        </p:txBody>
      </p:sp>
      <p:sp>
        <p:nvSpPr>
          <p:cNvPr id="21" name="Text 19"/>
          <p:cNvSpPr txBox="1"/>
          <p:nvPr/>
        </p:nvSpPr>
        <p:spPr>
          <a:xfrm>
            <a:off x="6638544" y="20086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sealed record TaskPlan(string Goal,</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IReadOnlyList&lt;PlanTask&gt; Tasks)</a:t>
            </a:r>
            <a:endParaRPr lang="en-US" sz="950" dirty="0"/>
          </a:p>
        </p:txBody>
      </p:sp>
      <p:sp>
        <p:nvSpPr>
          <p:cNvPr id="22" name="Text 20"/>
          <p:cNvSpPr txBox="1"/>
          <p:nvPr/>
        </p:nvSpPr>
        <p:spPr>
          <a:xfrm>
            <a:off x="6638544" y="23134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public PlanTask? Current =&gt; Tasks.FirstOrDefault(</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t =&gt; t.State is not TaskState.Complete);</a:t>
            </a:r>
            <a:endParaRPr lang="en-US" sz="950" dirty="0"/>
          </a:p>
        </p:txBody>
      </p:sp>
      <p:sp>
        <p:nvSpPr>
          <p:cNvPr id="23" name="Text 21"/>
          <p:cNvSpPr txBox="1"/>
          <p:nvPr/>
        </p:nvSpPr>
        <p:spPr>
          <a:xfrm>
            <a:off x="6638544" y="2618232"/>
            <a:ext cx="4690872" cy="1292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bool IsComplete =&gt; !IsEmpty</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&amp;&amp; Tasks.All(t =&gt; t.State == TaskState.Complete);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TaskPlan WithState(int id, TaskState state,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note = null) =&gt;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this with { Tasks = [.. Tasks.Select(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t =&gt; t.Id == id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t with { State = state, Note = note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t)] };</a:t>
            </a:r>
            <a:endParaRPr lang="en-US" sz="950" dirty="0"/>
          </a:p>
        </p:txBody>
      </p:sp>
      <p:sp>
        <p:nvSpPr>
          <p:cNvPr id="24" name="Text 22"/>
          <p:cNvSpPr txBox="1"/>
          <p:nvPr/>
        </p:nvSpPr>
        <p:spPr>
          <a:xfrm>
            <a:off x="6638544" y="38374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public TaskPlan Revise(</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IEnumerable&lt;string&gt; remainingTitles)</a:t>
            </a:r>
            <a:endParaRPr lang="en-US" sz="950" dirty="0"/>
          </a:p>
        </p:txBody>
      </p:sp>
      <p:sp>
        <p:nvSpPr>
          <p:cNvPr id="25" name="Text 23"/>
          <p:cNvSpPr txBox="1"/>
          <p:nvPr/>
        </p:nvSpPr>
        <p:spPr>
          <a:xfrm>
            <a:off x="6638544" y="414223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List&lt;PlanTask&gt; kept = [.. Tasks.Where(</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t =&gt; t.State == TaskState.Complete)];</a:t>
            </a:r>
            <a:endParaRPr lang="en-US" sz="950" dirty="0"/>
          </a:p>
        </p:txBody>
      </p:sp>
      <p:sp>
        <p:nvSpPr>
          <p:cNvPr id="26" name="Text 24"/>
          <p:cNvSpPr txBox="1"/>
          <p:nvPr/>
        </p:nvSpPr>
        <p:spPr>
          <a:xfrm>
            <a:off x="6638544" y="459943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int next = Tasks.Count == 0</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1 : Tasks.Max(t =&gt; t.Id) + 1;</a:t>
            </a:r>
            <a:endParaRPr lang="en-US" sz="950" dirty="0"/>
          </a:p>
        </p:txBody>
      </p:sp>
      <p:sp>
        <p:nvSpPr>
          <p:cNvPr id="27" name="Text 25"/>
          <p:cNvSpPr txBox="1"/>
          <p:nvPr/>
        </p:nvSpPr>
        <p:spPr>
          <a:xfrm>
            <a:off x="6638544" y="490423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return this with { Tasks = [.. kept,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remainingTitles.Select(title =&gt;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new PlanTask(next++, title, Pending))]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Seven Reasons the Plan Behaves</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TaskPlan.None rather than null</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 missing plan and an empty plan are the same thing to every caller, and one of them cannot throw.</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Current returns a blocked step, deliberately</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blocked step is where the plan currently stands, and hiding it would make the plan look like it was progressing.</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WithState rebuilds the list</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Cheap at seven steps, and it means no caller can hold a step and mutate it behind the plan’s back.</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Revise computes the next id from Max(Id) + 1</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 from the count. That is what produces 1, 2, 8, 9 and what stops a new step inheriting a finished step’s number.</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Tools = null and ToolMode = None, both</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Belt and braces: one says there is nothing to call, the other says do not try.</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prompt caps the plan at seven steps</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And tells the model to ask a question rather than guess when the request is too vague. A plan of twenty steps is not a plan; it is a transcript.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Make Read-Only Structural; Then Drive the Plan</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417320"/>
            <a:ext cx="5349240" cy="4297680"/>
          </a:xfrm>
          <a:prstGeom prst="roundRect">
            <a:avLst>
              <a:gd name="adj" fmla="val 2128"/>
            </a:avLst>
          </a:prstGeom>
          <a:solidFill>
            <a:srgbClr val="F4F6FB"/>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One: a ReadOnlyChatClient</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CreateAsync passes Tools = null at the call site — which works, and which the next person to add a parameter can silently undo. Write a wrapper that clones whatever ChatOptions it is handed, forces Tools = null and ToolMode = None, and have Planner wrap its client in one.</a:t>
            </a:r>
            <a:endParaRPr lang="en-US" sz="1350" dirty="0"/>
          </a:p>
        </p:txBody>
      </p:sp>
      <p:sp>
        <p:nvSpPr>
          <p:cNvPr id="11" name="Shape 8"/>
          <p:cNvSpPr/>
          <p:nvPr/>
        </p:nvSpPr>
        <p:spPr>
          <a:xfrm>
            <a:off x="731520" y="4892040"/>
            <a:ext cx="4983480" cy="594360"/>
          </a:xfrm>
          <a:prstGeom prst="roundRect">
            <a:avLst>
              <a:gd name="adj" fmla="val 9231"/>
            </a:avLst>
          </a:prstGeom>
          <a:solidFill>
            <a:srgbClr val="141B49"/>
          </a:solidFill>
          <a:ln/>
        </p:spPr>
      </p:sp>
      <p:sp>
        <p:nvSpPr>
          <p:cNvPr id="12" name="Text 9"/>
          <p:cNvSpPr txBox="1"/>
          <p:nvPr/>
        </p:nvSpPr>
        <p:spPr>
          <a:xfrm>
            <a:off x="86868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Test it by handing it an options object with a tool named write_file — a tool that does not exist yet, and will in Module 10.</a:t>
            </a:r>
            <a:endParaRPr lang="en-US" sz="1200" dirty="0"/>
          </a:p>
        </p:txBody>
      </p:sp>
      <p:sp>
        <p:nvSpPr>
          <p:cNvPr id="13" name="Shape 10"/>
          <p:cNvSpPr/>
          <p:nvPr/>
        </p:nvSpPr>
        <p:spPr>
          <a:xfrm>
            <a:off x="6309360" y="1417320"/>
            <a:ext cx="5349240" cy="4297680"/>
          </a:xfrm>
          <a:prstGeom prst="roundRect">
            <a:avLst>
              <a:gd name="adj" fmla="val 2128"/>
            </a:avLst>
          </a:prstGeom>
          <a:solidFill>
            <a:srgbClr val="1E2761"/>
          </a:solidFill>
          <a:ln/>
        </p:spPr>
      </p:sp>
      <p:sp>
        <p:nvSpPr>
          <p:cNvPr id="14" name="Shape 11"/>
          <p:cNvSpPr/>
          <p:nvPr/>
        </p:nvSpPr>
        <p:spPr>
          <a:xfrm>
            <a:off x="6629400" y="1737360"/>
            <a:ext cx="640080" cy="640080"/>
          </a:xfrm>
          <a:prstGeom prst="ellipse">
            <a:avLst/>
          </a:prstGeom>
          <a:solidFill>
            <a:srgbClr val="3FBFB0"/>
          </a:solidFill>
          <a:ln/>
        </p:spPr>
      </p:sp>
      <p:pic>
        <p:nvPicPr>
          <p:cNvPr id="15"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6" name="Text 12"/>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Two: let the operator drive the plan</a:t>
            </a:r>
            <a:endParaRPr lang="en-US" sz="1550" dirty="0"/>
          </a:p>
        </p:txBody>
      </p:sp>
      <p:sp>
        <p:nvSpPr>
          <p:cNvPr id="17" name="Text 13"/>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Add commands to move a step — mark 3 in progress, mark 3 done, block 3 with a reason — and print the plan after each. Module 16 turns this into real CLI commands; the point here is that TaskPlan’s API is already enough to do it.</a:t>
            </a:r>
            <a:endParaRPr lang="en-US" sz="1350" dirty="0"/>
          </a:p>
        </p:txBody>
      </p:sp>
      <p:sp>
        <p:nvSpPr>
          <p:cNvPr id="18" name="Text 14"/>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Marking complete moves Current on; blocking keeps it as Current and shows the reason; the plan is never mutated in place.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Parsed Out of Prose, Tracked, Then Revised</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CADCFC"/>
                </a:solidFill>
                <a:latin typeface="Calibri" pitchFamily="34" charset="0"/>
                <a:ea typeface="Calibri" pitchFamily="34" charset="-122"/>
                <a:cs typeface="Calibri" pitchFamily="34" charset="-120"/>
              </a:rPr>
              <a:t>Real output from this Module’s code, from a model reply that also contained explanation around the list.</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9 — PLANNING AND TASK STATE</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548640" y="1874520"/>
            <a:ext cx="5349240" cy="4297680"/>
          </a:xfrm>
          <a:prstGeom prst="roundRect">
            <a:avLst>
              <a:gd name="adj" fmla="val 2128"/>
            </a:avLst>
          </a:prstGeom>
          <a:solidFill>
            <a:srgbClr val="141B49"/>
          </a:solidFill>
          <a:ln w="12700">
            <a:solidFill>
              <a:srgbClr val="3FBFB0"/>
            </a:solidFill>
            <a:prstDash val="solid"/>
          </a:ln>
        </p:spPr>
      </p:sp>
      <p:sp>
        <p:nvSpPr>
          <p:cNvPr id="8" name="Text 6"/>
          <p:cNvSpPr txBox="1"/>
          <p:nvPr/>
        </p:nvSpPr>
        <p:spPr>
          <a:xfrm>
            <a:off x="877824" y="2130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 plan, as printed ===</a:t>
            </a:r>
            <a:endParaRPr lang="en-US" sz="950" dirty="0"/>
          </a:p>
        </p:txBody>
      </p:sp>
      <p:sp>
        <p:nvSpPr>
          <p:cNvPr id="9" name="Text 7"/>
          <p:cNvSpPr txBox="1"/>
          <p:nvPr/>
        </p:nvSpPr>
        <p:spPr>
          <a:xfrm>
            <a:off x="877824" y="2478532"/>
            <a:ext cx="4690872" cy="12288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1. [ ] Inspect CustomerService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2. [ ] Identify existing caching infrastructure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3. [ ] Determine an appropriate cache lifetime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4. [ ] Modify the service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5. [ ] Add tests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6. [ ] Build</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7. [ ] Test</a:t>
            </a:r>
            <a:endParaRPr lang="en-US" sz="950" dirty="0"/>
          </a:p>
        </p:txBody>
      </p:sp>
      <p:sp>
        <p:nvSpPr>
          <p:cNvPr id="10" name="Text 8"/>
          <p:cNvSpPr txBox="1"/>
          <p:nvPr/>
        </p:nvSpPr>
        <p:spPr>
          <a:xfrm>
            <a:off x="877824" y="36342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No files have been modified.</a:t>
            </a:r>
            <a:endParaRPr lang="en-US" sz="950" dirty="0"/>
          </a:p>
        </p:txBody>
      </p:sp>
      <p:sp>
        <p:nvSpPr>
          <p:cNvPr id="11" name="Text 9"/>
          <p:cNvSpPr txBox="1"/>
          <p:nvPr/>
        </p:nvSpPr>
        <p:spPr>
          <a:xfrm>
            <a:off x="877824" y="37993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two done, one under way ===</a:t>
            </a:r>
            <a:endParaRPr lang="en-US" sz="950" dirty="0"/>
          </a:p>
        </p:txBody>
      </p:sp>
      <p:sp>
        <p:nvSpPr>
          <p:cNvPr id="12" name="Text 10"/>
          <p:cNvSpPr txBox="1"/>
          <p:nvPr/>
        </p:nvSpPr>
        <p:spPr>
          <a:xfrm>
            <a:off x="877824" y="414731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1. [x] Inspect CustomerService</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2. [x] Identify existing caching infrastructure</a:t>
            </a:r>
            <a:endParaRPr lang="en-US" sz="950" dirty="0"/>
          </a:p>
        </p:txBody>
      </p:sp>
      <p:sp>
        <p:nvSpPr>
          <p:cNvPr id="13" name="Text 11"/>
          <p:cNvSpPr txBox="1"/>
          <p:nvPr/>
        </p:nvSpPr>
        <p:spPr>
          <a:xfrm>
            <a:off x="877824" y="4477512"/>
            <a:ext cx="4690872" cy="5684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3. [&gt;] Determine an appropriate cache lifetime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current: Determine an appropriate cache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lifetime   complete: False</a:t>
            </a:r>
            <a:endParaRPr lang="en-US" sz="950" dirty="0"/>
          </a:p>
        </p:txBody>
      </p:sp>
      <p:sp>
        <p:nvSpPr>
          <p:cNvPr id="14" name="Shape 12"/>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5" name="Text 13"/>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replanned: there is no cache layer ===</a:t>
            </a:r>
            <a:endParaRPr lang="en-US" sz="950" dirty="0"/>
          </a:p>
        </p:txBody>
      </p:sp>
      <p:sp>
        <p:nvSpPr>
          <p:cNvPr id="16" name="Text 14"/>
          <p:cNvSpPr txBox="1"/>
          <p:nvPr/>
        </p:nvSpPr>
        <p:spPr>
          <a:xfrm>
            <a:off x="6638544" y="24785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1. [x] Inspect CustomerService</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2. [x] Identify existing caching infrastructure</a:t>
            </a:r>
            <a:endParaRPr lang="en-US" sz="950" dirty="0"/>
          </a:p>
        </p:txBody>
      </p:sp>
      <p:sp>
        <p:nvSpPr>
          <p:cNvPr id="17" name="Text 15"/>
          <p:cNvSpPr txBox="1"/>
          <p:nvPr/>
        </p:nvSpPr>
        <p:spPr>
          <a:xfrm>
            <a:off x="6638544" y="28087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8. [ ] Add IMemoryCache to the DI container</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9. [ ] Modify the service</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10. [ ] Add tests</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11. [ ] Build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12. [ ] Test</a:t>
            </a:r>
            <a:endParaRPr lang="en-US" sz="950" dirty="0"/>
          </a:p>
        </p:txBody>
      </p:sp>
      <p:sp>
        <p:nvSpPr>
          <p:cNvPr id="18" name="Text 16"/>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jump from 2 to 8 is the whole idea. Steps 3 through 7 were never done and are gone; steps 1 and 2 were done and keep the numbers the operator already saw. Nothing has been renumbered to make the list look tidy.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2026-09-10T20:15:54Z</dcterms:created>
  <dcterms:modified xsi:type="dcterms:W3CDTF">2026-09-10T20:15:54Z</dcterms:modified>
</cp:coreProperties>
</file>