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4 gave MiniCode the things that make it a tool rather than a demo: Git, human approval, slash commands, plan and review modes, a stderr trace, and a dotnet tool install. This Capstone consolidates them into v0.4 by fixing three faults that only exist between those Modules, none of which any single Module could have seen. We start from the Module 18 folder. This is the last Capstone; Module 19 builds the course capstone on top of what ships here. Setup: nothing new. No package, no environment variable, no project. Every change is to code that already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Phase 4 is in this folder: Git integration from Module 14, human approval from Module 15, slash-command dispatch and the informational commands from Module 16a, the plan and review modes from Module 16b, structured tracing from Module 17, and packaging as a .NET global tool from Module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Phase is where the interactions surface. A Module is written against its own topic list and verified on its own terms, and it can be entirely correct on those terms while still leaving a gap that only opens once the next Module lands beside it. All three fixes in this Capstone are that shape: each one is the seam between two Modules that were individually right. Four files differ from Module 18: CodingAgent.cs, ChatClientFactory.cs, MiniCodeVersion.cs and MiniCode.Cli.csproj. Everything else in the solution is byte-for-byte what Module 18 shipped.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Module 18 panel is an illustration built from the v0.4 capture minus its last line; the v0.4 panel is real output. Seam one: a turn that dies mid-stream leaves no trace. Module 17 told operators to capture a session with 2&gt; trace.log, and Module 16a wrapped the loop in a broad catch that prints Error: to stdout. Put those together and the trace, the thing meant to be the record of what happened, is the one place the failure does not appear. It ends at the last thing that worked, with no indication that anything went wrong at all. Cancellation is the same hole, and not the same event. Ctrl+C also ends the stream, and Module 16a already distinguishes it in the terminal: Cancelled., not Error:. The trace keeps that distinction, logging Task cancelled rather than filing a deliberate interruption as a fault. The trace format constrains how a failure is logged: BracketLoggerProvider renders only the message template, so an exception passed as the LogError exception argument never reaches the output. The exception type has to be in the template, or the trace says Task failed and nothing more. And Task completed now means what it says: a run that faults or is cancelled never reaches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yield return cannot live inside a try that has a catch. This is a C# language restriction, not a MAF one: error CS1626. An iterator that wants to catch mid-enumeration has to drive the enumerator by hand, so the try covers only the move and every yield sits outside it. It is more code than await foreach, and it is the reason this fix did not simply happen in Module 17. GetAsyncEnumerator replaces await foreach, and nothing else about the loop changes; await using on the enumerator is what await foreach was doing invisibly. break inside the try is fine; it is yield that the compiler refuses. The catch blocks rethrow, so InteractiveCommandLoop still prints Cancelled. or Error:. This fix adds a line to the trace and changes nothing the user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Module 18 panel is an illustration of the tool lines alone; the v0.4 panel is real output. Seam two: half of what MiniCode does was never traced. Module 17 instrumented RunStreamingAsync, which was the whole story when it was written. Module 16b then added /plan and /review, genuine model calls that bypass that method entirely. TracingInvoker still logs the tools they use, so /review shows its git_diff; what was missing is any [Agent] line saying why the tool ran. Module 16b shipped before Module 17 and Module 17 only knew about the streaming loop, so neither could see it. Now PlanAsync logs Planning: and Plan: N steps, review logs Reviewing unstaged changes and Review complete, and ClearSession logs Session cleared. PlanAsync is called on every ordinary chat turn too, not only by /plan, so a normal turn's trace now opens with Planning: and Plan: N steps before Task started. That call was always happening and always costing tokens; it simply was not visible. Every new log call is a single line, because BracketLogger prefixes the category once per call; that is why the plan is logged as a step count rather than rendered.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Seam three: two ways of reading an environment variable, in one file. Module 18 added MINICODE_MODEL with is { Length: &gt; 0 } and said why: an exported-but-empty variable means unset, and nobody should be asking the provider for a model named empty string. It left Read, the guard every provider key goes through, exactly as Module 2b wrote it: a ??, which catches only null. So the reasoning Module 18 applied to the new variable was never applied to the old one, and OPENAI_API_KEY= skipped the friendly message and reached OpenAIClient, which threw an unhandled ArgumentException and a stack trace. Packaging is what exposed it: an installed tool gets run from shells that export empty variables. In v0.4, Read tests Length, and the MINI_CODE_LLM read at the top of Create gets the same test in place of its ??, so an exported-but-empty value means OpenAI rather than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v0.4 is: a coding agent you install once and run anywhere. It reads and writes inside a workspace boundary, runs allow-listed commands, uses Git, plans before it acts, asks before it changes anything, answers eleven slash commands, and writes a complete stderr trace of what it did. It can also commit on its own initiative: Module 16a added git commit to the allow list so /commit would work, and that list is shared with the model's own run_command, so v0.4 can decide to commit mid-turn as well. Module 15's approval gates it either way, but no lesson had said this out loud, and it is a real consequence of a change made for a different reason. What v0.4 is not: the plan is still not driven. TaskPlan.WithState, Current, IsComplete and Revise have been written and unused since Module 9. The Phase 3 Capstone promised a real driver in the Developer CLI Modules; Module 16b gave the plan a slash command and left the state machine alone. This Capstone does not change that; re-promising it is the pattern that already failed once, so it is Exercise Two instead. Beyond that: one agent, one session, one workspace, with no sub-agents, no parallel tool calls and no persistence across restarts; /clear and process exit are equally final. And the trace is text on stderr, with no structured events, no correlation IDs and no OpenTelemetry.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One: trace the calls seam one does not cover. PlanAsync and ReviewAsync are single awaits, so an ordinary try/catch works where the iterator needed a hand-driven enumerator. Give each the same treatment in src/MiniCode.Agent/CodingAgent.cs. Acceptance criteria: a fault in either logs one [Agent] line naming the exception type and message, then rethrows so InteractiveCommandLoop prints what it prints today; a cancellation logs as a cancellation, not a failure; a successful call's trace is unchanged. Exercise Two: drive the plan. Make RunStreamingAsync advance the plan it was given: mark a step Complete as the model finishes it, and use TaskPlan.Revise when the model's actual course diverges from the plan. Acceptance criteria: /status after a turn shows which steps were completed; a plan whose steps all complete reports IsComplete; revising never renumbers or removes a step already shown to the operator; TaskPlan's immutability is preserved, so each change produces a new instance. This is a stretch beyond what MiniCode requires, and the acceptance criteria are the specification. Neither has a reference implementation in a later Module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Seam three, from the actually-installed tool, with OPENAI_API_KEY first removed from the environment and then set to an empty string. Both now reach the same message; in Module 18 the second printed an unhandled ArgumentException and a stack trace. Then v0.4 packed, installed to an isolated tool path and run from a directory outside this repository; the full install command adds --add-source ./nupkg MiniCode --version 0.4.0, and the dotnet pack step before it is omitted here, as is the install's 'You can invoke the tool using the following command: minicode' line. That banner is where Phase 4 ends: a version number that moved, printed by a command on the path, in a repository that knows nothing about this course. The seam-one and seam-two traces on the earlier slides are also real output: the seam-one traces come from the loop reproduced line for line against a real ChatClientAgent whose chat client was scripted to fail mid-stream, and the seam-two trace from this Capstone's own BracketLoggerProvider and TracingInvoker around a stubbed git_diff. No request was sent to OpenAI for any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after this Capstone happens in Module 19, which adds no capability. v0.4 is pointed at a repository it has never seen and given one sentence of English. The assignment's fifteen steps turn out to be the eleven tools that already ship. The trace this Capstone completed is the record of that run. The plan state machine is still not driven; Module 19 leaves it as Exercise Two with no reference implementation. And the version moves one last time, to 1.0: the same code, declared finished. What v0.4 deliberately does not do, multiple agents, belongs to a subsequent advanced MAF course, per the syllabus Scope Boundary. No persistence across restarts, no parallel tool calls and no OpenTelemetry are also left open: no later Module adds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PHASE 4 CAPSTONE  ·  V0.4</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Developer CLI</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Phase 4 — Governance, CLI &amp; Delivery, consolidated</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Module18-PackagingMiniCode/</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Phase4-Capstone-DeveloperCli/</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Why a Phase is where the interactions between Modules surface</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Seam one: a turn that fails mid-stream now reaches the trace</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Seam two: /plan, /review and /clear are traced too</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Seam three: an empty variable means unset, everywhere</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What v0.4 is, and what it still is not</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MiniCode  ·  Phase 4 Capstone — Developer CLI</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WHERE WE ARE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Everything Phase 4 built</a:t>
            </a:r>
            <a:endParaRPr lang="en-US" sz="2800" dirty="0"/>
          </a:p>
        </p:txBody>
      </p:sp>
      <p:sp>
        <p:nvSpPr>
          <p:cNvPr id="4" name="Shape 2"/>
          <p:cNvSpPr/>
          <p:nvPr/>
        </p:nvSpPr>
        <p:spPr>
          <a:xfrm>
            <a:off x="457200" y="1371600"/>
            <a:ext cx="256032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Module 14</a:t>
            </a:r>
            <a:endParaRPr lang="en-US" sz="1500" dirty="0"/>
          </a:p>
        </p:txBody>
      </p:sp>
      <p:sp>
        <p:nvSpPr>
          <p:cNvPr id="8" name="Text 5"/>
          <p:cNvSpPr txBox="1"/>
          <p:nvPr/>
        </p:nvSpPr>
        <p:spPr>
          <a:xfrm>
            <a:off x="640080" y="205740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Git status, diff and log, read-only</a:t>
            </a:r>
            <a:endParaRPr lang="en-US" sz="1200" dirty="0"/>
          </a:p>
        </p:txBody>
      </p:sp>
      <p:sp>
        <p:nvSpPr>
          <p:cNvPr id="9" name="Shape 6"/>
          <p:cNvSpPr/>
          <p:nvPr/>
        </p:nvSpPr>
        <p:spPr>
          <a:xfrm>
            <a:off x="3291840" y="1371600"/>
            <a:ext cx="256032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347472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3574572" y="1654332"/>
            <a:ext cx="184343" cy="184343"/>
          </a:xfrm>
          <a:prstGeom prst="rect">
            <a:avLst/>
          </a:prstGeom>
        </p:spPr>
      </p:pic>
      <p:sp>
        <p:nvSpPr>
          <p:cNvPr id="12" name="Text 8"/>
          <p:cNvSpPr txBox="1"/>
          <p:nvPr/>
        </p:nvSpPr>
        <p:spPr>
          <a:xfrm>
            <a:off x="397764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Module 15</a:t>
            </a:r>
            <a:endParaRPr lang="en-US" sz="1500" dirty="0"/>
          </a:p>
        </p:txBody>
      </p:sp>
      <p:sp>
        <p:nvSpPr>
          <p:cNvPr id="13" name="Text 9"/>
          <p:cNvSpPr txBox="1"/>
          <p:nvPr/>
        </p:nvSpPr>
        <p:spPr>
          <a:xfrm>
            <a:off x="3474720" y="205740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Approval before any call that changes something</a:t>
            </a:r>
            <a:endParaRPr lang="en-US" sz="1200" dirty="0"/>
          </a:p>
        </p:txBody>
      </p:sp>
      <p:sp>
        <p:nvSpPr>
          <p:cNvPr id="14" name="Shape 10"/>
          <p:cNvSpPr/>
          <p:nvPr/>
        </p:nvSpPr>
        <p:spPr>
          <a:xfrm>
            <a:off x="6126480" y="1371600"/>
            <a:ext cx="256032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30936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6409212" y="1654332"/>
            <a:ext cx="184343" cy="184343"/>
          </a:xfrm>
          <a:prstGeom prst="rect">
            <a:avLst/>
          </a:prstGeom>
        </p:spPr>
      </p:pic>
      <p:sp>
        <p:nvSpPr>
          <p:cNvPr id="17" name="Text 12"/>
          <p:cNvSpPr txBox="1"/>
          <p:nvPr/>
        </p:nvSpPr>
        <p:spPr>
          <a:xfrm>
            <a:off x="681228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Module 16a</a:t>
            </a:r>
            <a:endParaRPr lang="en-US" sz="1500" dirty="0"/>
          </a:p>
        </p:txBody>
      </p:sp>
      <p:sp>
        <p:nvSpPr>
          <p:cNvPr id="18" name="Text 13"/>
          <p:cNvSpPr txBox="1"/>
          <p:nvPr/>
        </p:nvSpPr>
        <p:spPr>
          <a:xfrm>
            <a:off x="6309360" y="205740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Slash commands, run with no model call</a:t>
            </a:r>
            <a:endParaRPr lang="en-US" sz="1200" dirty="0"/>
          </a:p>
        </p:txBody>
      </p:sp>
      <p:sp>
        <p:nvSpPr>
          <p:cNvPr id="19" name="Shape 14"/>
          <p:cNvSpPr/>
          <p:nvPr/>
        </p:nvSpPr>
        <p:spPr>
          <a:xfrm>
            <a:off x="457200" y="2994660"/>
            <a:ext cx="256032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64008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39932" y="3277392"/>
            <a:ext cx="184343" cy="184343"/>
          </a:xfrm>
          <a:prstGeom prst="rect">
            <a:avLst/>
          </a:prstGeom>
        </p:spPr>
      </p:pic>
      <p:sp>
        <p:nvSpPr>
          <p:cNvPr id="22" name="Text 16"/>
          <p:cNvSpPr txBox="1"/>
          <p:nvPr/>
        </p:nvSpPr>
        <p:spPr>
          <a:xfrm>
            <a:off x="1143000" y="317754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Module 16b</a:t>
            </a:r>
            <a:endParaRPr lang="en-US" sz="1500" dirty="0"/>
          </a:p>
        </p:txBody>
      </p:sp>
      <p:sp>
        <p:nvSpPr>
          <p:cNvPr id="23" name="Text 17"/>
          <p:cNvSpPr txBox="1"/>
          <p:nvPr/>
        </p:nvSpPr>
        <p:spPr>
          <a:xfrm>
            <a:off x="640080" y="368046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/plan and /review, read-only modes</a:t>
            </a:r>
            <a:endParaRPr lang="en-US" sz="1200" dirty="0"/>
          </a:p>
        </p:txBody>
      </p:sp>
      <p:sp>
        <p:nvSpPr>
          <p:cNvPr id="24" name="Shape 18"/>
          <p:cNvSpPr/>
          <p:nvPr/>
        </p:nvSpPr>
        <p:spPr>
          <a:xfrm>
            <a:off x="3291840" y="2994660"/>
            <a:ext cx="2560320" cy="1394460"/>
          </a:xfrm>
          <a:prstGeom prst="roundRect">
            <a:avLst>
              <a:gd name="adj" fmla="val 5246"/>
            </a:avLst>
          </a:prstGeom>
          <a:solidFill>
            <a:srgbClr val="EFEBFC"/>
          </a:solidFill>
          <a:ln w="12700">
            <a:solidFill>
              <a:srgbClr val="EFEBFC"/>
            </a:solidFill>
            <a:prstDash val="solid"/>
          </a:ln>
        </p:spPr>
      </p:sp>
      <p:sp>
        <p:nvSpPr>
          <p:cNvPr id="25" name="Shape 19"/>
          <p:cNvSpPr/>
          <p:nvPr/>
        </p:nvSpPr>
        <p:spPr>
          <a:xfrm>
            <a:off x="3474720" y="3177540"/>
            <a:ext cx="384048" cy="384048"/>
          </a:xfrm>
          <a:prstGeom prst="ellipse">
            <a:avLst/>
          </a:prstGeom>
          <a:solidFill>
            <a:srgbClr val="512BD4"/>
          </a:solidFill>
          <a:ln w="12700">
            <a:solidFill>
              <a:srgbClr val="512BD4"/>
            </a:solidFill>
            <a:prstDash val="solid"/>
          </a:ln>
        </p:spPr>
      </p:sp>
      <p:pic>
        <p:nvPicPr>
          <p:cNvPr id="26" name="Image 4" descr="preencoded.png">    </p:cNvPr>
          <p:cNvPicPr>
            <a:picLocks noChangeAspect="1"/>
          </p:cNvPicPr>
          <p:nvPr/>
        </p:nvPicPr>
        <p:blipFill>
          <a:blip r:embed="rId5"/>
          <a:stretch>
            <a:fillRect/>
          </a:stretch>
        </p:blipFill>
        <p:spPr>
          <a:xfrm>
            <a:off x="3574572" y="3277392"/>
            <a:ext cx="184343" cy="184343"/>
          </a:xfrm>
          <a:prstGeom prst="rect">
            <a:avLst/>
          </a:prstGeom>
        </p:spPr>
      </p:pic>
      <p:sp>
        <p:nvSpPr>
          <p:cNvPr id="27" name="Text 20"/>
          <p:cNvSpPr txBox="1"/>
          <p:nvPr/>
        </p:nvSpPr>
        <p:spPr>
          <a:xfrm>
            <a:off x="3977640" y="317754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Module 17</a:t>
            </a:r>
            <a:endParaRPr lang="en-US" sz="1500" dirty="0"/>
          </a:p>
        </p:txBody>
      </p:sp>
      <p:sp>
        <p:nvSpPr>
          <p:cNvPr id="28" name="Text 21"/>
          <p:cNvSpPr txBox="1"/>
          <p:nvPr/>
        </p:nvSpPr>
        <p:spPr>
          <a:xfrm>
            <a:off x="3474720" y="368046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stderr trace of every request and tool call</a:t>
            </a:r>
            <a:endParaRPr lang="en-US" sz="1200" dirty="0"/>
          </a:p>
        </p:txBody>
      </p:sp>
      <p:sp>
        <p:nvSpPr>
          <p:cNvPr id="29" name="Shape 22"/>
          <p:cNvSpPr/>
          <p:nvPr/>
        </p:nvSpPr>
        <p:spPr>
          <a:xfrm>
            <a:off x="6126480" y="2994660"/>
            <a:ext cx="2560320" cy="1394460"/>
          </a:xfrm>
          <a:prstGeom prst="roundRect">
            <a:avLst>
              <a:gd name="adj" fmla="val 5246"/>
            </a:avLst>
          </a:prstGeom>
          <a:solidFill>
            <a:srgbClr val="EFEBFC"/>
          </a:solidFill>
          <a:ln w="12700">
            <a:solidFill>
              <a:srgbClr val="EFEBFC"/>
            </a:solidFill>
            <a:prstDash val="solid"/>
          </a:ln>
        </p:spPr>
      </p:sp>
      <p:sp>
        <p:nvSpPr>
          <p:cNvPr id="30" name="Shape 23"/>
          <p:cNvSpPr/>
          <p:nvPr/>
        </p:nvSpPr>
        <p:spPr>
          <a:xfrm>
            <a:off x="6309360" y="3177540"/>
            <a:ext cx="384048" cy="384048"/>
          </a:xfrm>
          <a:prstGeom prst="ellipse">
            <a:avLst/>
          </a:prstGeom>
          <a:solidFill>
            <a:srgbClr val="512BD4"/>
          </a:solidFill>
          <a:ln w="12700">
            <a:solidFill>
              <a:srgbClr val="512BD4"/>
            </a:solidFill>
            <a:prstDash val="solid"/>
          </a:ln>
        </p:spPr>
      </p:sp>
      <p:pic>
        <p:nvPicPr>
          <p:cNvPr id="31" name="Image 5" descr="preencoded.png">    </p:cNvPr>
          <p:cNvPicPr>
            <a:picLocks noChangeAspect="1"/>
          </p:cNvPicPr>
          <p:nvPr/>
        </p:nvPicPr>
        <p:blipFill>
          <a:blip r:embed="rId6"/>
          <a:stretch>
            <a:fillRect/>
          </a:stretch>
        </p:blipFill>
        <p:spPr>
          <a:xfrm>
            <a:off x="6409212" y="3277392"/>
            <a:ext cx="184343" cy="184343"/>
          </a:xfrm>
          <a:prstGeom prst="rect">
            <a:avLst/>
          </a:prstGeom>
        </p:spPr>
      </p:pic>
      <p:sp>
        <p:nvSpPr>
          <p:cNvPr id="32" name="Text 24"/>
          <p:cNvSpPr txBox="1"/>
          <p:nvPr/>
        </p:nvSpPr>
        <p:spPr>
          <a:xfrm>
            <a:off x="6812280" y="317754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Module 18</a:t>
            </a:r>
            <a:endParaRPr lang="en-US" sz="1500" dirty="0"/>
          </a:p>
        </p:txBody>
      </p:sp>
      <p:sp>
        <p:nvSpPr>
          <p:cNvPr id="33" name="Text 25"/>
          <p:cNvSpPr txBox="1"/>
          <p:nvPr/>
        </p:nvSpPr>
        <p:spPr>
          <a:xfrm>
            <a:off x="6309360" y="3680460"/>
            <a:ext cx="219456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dotnet tool install -g MiniCode</a:t>
            </a:r>
            <a:endParaRPr lang="en-US" sz="1200" dirty="0"/>
          </a:p>
        </p:txBody>
      </p:sp>
      <p:sp>
        <p:nvSpPr>
          <p:cNvPr id="34" name="Text 26"/>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Phase 4 Capstone — Developer CLI</a:t>
            </a:r>
            <a:endParaRPr lang="en-US" sz="900" dirty="0"/>
          </a:p>
        </p:txBody>
      </p:sp>
      <p:sp>
        <p:nvSpPr>
          <p:cNvPr id="35" name="Text 27"/>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 Phase is where the interactions surface</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Three seams</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Each between two Modules that were individually right.</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Seam one</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Modules 16a and 17: a failed turn leaves no trace</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Seam two</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Modules 16b and 17: /plan and /review are never traced</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Seam three</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Modules 2b and 18: two ways to read one variable</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Four files differ from Module 18. Everything else is byte-for-byte.</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Phase 4 Capstone — Developer CLI</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SEAM ONE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A turn that dies mid-stream leaves no trace</a:t>
            </a:r>
            <a:endParaRPr lang="en-US" sz="2800" dirty="0"/>
          </a:p>
        </p:txBody>
      </p:sp>
      <p:sp>
        <p:nvSpPr>
          <p:cNvPr id="4" name="Shape 2"/>
          <p:cNvSpPr/>
          <p:nvPr/>
        </p:nvSpPr>
        <p:spPr>
          <a:xfrm>
            <a:off x="457200" y="1371600"/>
            <a:ext cx="3931920" cy="2606040"/>
          </a:xfrm>
          <a:prstGeom prst="roundRect">
            <a:avLst>
              <a:gd name="adj" fmla="val 2807"/>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Module 18</a:t>
            </a:r>
            <a:endParaRPr lang="en-US" sz="1700" dirty="0"/>
          </a:p>
        </p:txBody>
      </p:sp>
      <p:sp>
        <p:nvSpPr>
          <p:cNvPr id="8" name="Text 5"/>
          <p:cNvSpPr txBox="1"/>
          <p:nvPr/>
        </p:nvSpPr>
        <p:spPr>
          <a:xfrm>
            <a:off x="685800" y="2194560"/>
            <a:ext cx="3474720" cy="36576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Error: ... goes to stdout only</a:t>
            </a:r>
            <a:endParaRPr lang="en-US" sz="1300" dirty="0"/>
          </a:p>
        </p:txBody>
      </p:sp>
      <p:sp>
        <p:nvSpPr>
          <p:cNvPr id="9" name="Shape 6"/>
          <p:cNvSpPr/>
          <p:nvPr/>
        </p:nvSpPr>
        <p:spPr>
          <a:xfrm>
            <a:off x="685800" y="2633472"/>
            <a:ext cx="3474720" cy="1143000"/>
          </a:xfrm>
          <a:prstGeom prst="roundRect">
            <a:avLst>
              <a:gd name="adj" fmla="val 6400"/>
            </a:avLst>
          </a:prstGeom>
          <a:solidFill>
            <a:srgbClr val="0F1420"/>
          </a:solidFill>
          <a:ln w="12700">
            <a:solidFill>
              <a:srgbClr val="0F1420"/>
            </a:solidFill>
            <a:prstDash val="solid"/>
          </a:ln>
        </p:spPr>
      </p:sp>
      <p:sp>
        <p:nvSpPr>
          <p:cNvPr id="10" name="Text 7"/>
          <p:cNvSpPr txBox="1"/>
          <p:nvPr/>
        </p:nvSpPr>
        <p:spPr>
          <a:xfrm>
            <a:off x="868680" y="2770632"/>
            <a:ext cx="3108960" cy="86868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 An illustration, not captured output</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[Agent] Task started</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[Agent] Reading Program.cs</a:t>
            </a:r>
            <a:endParaRPr lang="en-US" sz="1100" dirty="0"/>
          </a:p>
        </p:txBody>
      </p:sp>
      <p:sp>
        <p:nvSpPr>
          <p:cNvPr id="11" name="Shape 8"/>
          <p:cNvSpPr/>
          <p:nvPr/>
        </p:nvSpPr>
        <p:spPr>
          <a:xfrm>
            <a:off x="4754880" y="1371600"/>
            <a:ext cx="3931920" cy="2606040"/>
          </a:xfrm>
          <a:prstGeom prst="roundRect">
            <a:avLst>
              <a:gd name="adj" fmla="val 2807"/>
            </a:avLst>
          </a:prstGeom>
          <a:solidFill>
            <a:srgbClr val="EFEBFC"/>
          </a:solidFill>
          <a:ln w="12700">
            <a:solidFill>
              <a:srgbClr val="EFEBFC"/>
            </a:solidFill>
            <a:prstDash val="solid"/>
          </a:ln>
        </p:spPr>
      </p:sp>
      <p:sp>
        <p:nvSpPr>
          <p:cNvPr id="12" name="Shape 9"/>
          <p:cNvSpPr/>
          <p:nvPr/>
        </p:nvSpPr>
        <p:spPr>
          <a:xfrm>
            <a:off x="4983480" y="1600200"/>
            <a:ext cx="438912" cy="438912"/>
          </a:xfrm>
          <a:prstGeom prst="ellipse">
            <a:avLst/>
          </a:prstGeom>
          <a:solidFill>
            <a:srgbClr val="16A34A"/>
          </a:solidFill>
          <a:ln w="12700">
            <a:solidFill>
              <a:srgbClr val="16A34A"/>
            </a:solidFill>
            <a:prstDash val="solid"/>
          </a:ln>
        </p:spPr>
      </p:sp>
      <p:pic>
        <p:nvPicPr>
          <p:cNvPr id="13"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4" name="Text 10"/>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v0.4</a:t>
            </a:r>
            <a:endParaRPr lang="en-US" sz="1700" dirty="0"/>
          </a:p>
        </p:txBody>
      </p:sp>
      <p:sp>
        <p:nvSpPr>
          <p:cNvPr id="15" name="Text 11"/>
          <p:cNvSpPr txBox="1"/>
          <p:nvPr/>
        </p:nvSpPr>
        <p:spPr>
          <a:xfrm>
            <a:off x="4983480" y="2194560"/>
            <a:ext cx="3474720" cy="36576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trace records how it ended</a:t>
            </a:r>
            <a:endParaRPr lang="en-US" sz="1300" dirty="0"/>
          </a:p>
        </p:txBody>
      </p:sp>
      <p:sp>
        <p:nvSpPr>
          <p:cNvPr id="16" name="Shape 12"/>
          <p:cNvSpPr/>
          <p:nvPr/>
        </p:nvSpPr>
        <p:spPr>
          <a:xfrm>
            <a:off x="4983480" y="2633472"/>
            <a:ext cx="3474720" cy="1143000"/>
          </a:xfrm>
          <a:prstGeom prst="roundRect">
            <a:avLst>
              <a:gd name="adj" fmla="val 6400"/>
            </a:avLst>
          </a:prstGeom>
          <a:solidFill>
            <a:srgbClr val="0F1420"/>
          </a:solidFill>
          <a:ln w="12700">
            <a:solidFill>
              <a:srgbClr val="0F1420"/>
            </a:solidFill>
            <a:prstDash val="solid"/>
          </a:ln>
        </p:spPr>
      </p:sp>
      <p:sp>
        <p:nvSpPr>
          <p:cNvPr id="17" name="Text 13"/>
          <p:cNvSpPr txBox="1"/>
          <p:nvPr/>
        </p:nvSpPr>
        <p:spPr>
          <a:xfrm>
            <a:off x="5166360" y="2770632"/>
            <a:ext cx="3108960" cy="86868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[Agent] Task started</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[Agent] Reading Program.cs</a:t>
            </a:r>
            <a:endParaRPr lang="en-US" sz="1100" dirty="0"/>
          </a:p>
          <a:p>
            <a:pPr indent="0" marL="0">
              <a:buNone/>
            </a:pPr>
            <a:r>
              <a:rPr lang="en-US" sz="1100" dirty="0">
                <a:solidFill>
                  <a:srgbClr val="FF9B9B"/>
                </a:solidFill>
                <a:latin typeface="Courier New" pitchFamily="34" charset="0"/>
                <a:ea typeface="Courier New" pitchFamily="34" charset="-122"/>
                <a:cs typeface="Courier New" pitchFamily="34" charset="-120"/>
              </a:rPr>
              <a:t>[Agent] Task failed: HttpRequestException:</a:t>
            </a:r>
            <a:endParaRPr lang="en-US" sz="1100" dirty="0"/>
          </a:p>
          <a:p>
            <a:pPr indent="0" marL="0">
              <a:buNone/>
            </a:pPr>
            <a:r>
              <a:rPr lang="en-US" sz="1100" dirty="0">
                <a:solidFill>
                  <a:srgbClr val="FF9B9B"/>
                </a:solidFill>
                <a:latin typeface="Courier New" pitchFamily="34" charset="0"/>
                <a:ea typeface="Courier New" pitchFamily="34" charset="-122"/>
                <a:cs typeface="Courier New" pitchFamily="34" charset="-120"/>
              </a:rPr>
              <a:t>The response ended prematurely.</a:t>
            </a:r>
            <a:endParaRPr lang="en-US" sz="1100" dirty="0"/>
          </a:p>
        </p:txBody>
      </p:sp>
      <p:sp>
        <p:nvSpPr>
          <p:cNvPr id="18" name="Text 14"/>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Ctrl+C logs Task cancelled: a decision, not a fault.</a:t>
            </a:r>
            <a:endParaRPr lang="en-US" sz="1400" dirty="0"/>
          </a:p>
        </p:txBody>
      </p:sp>
      <p:sp>
        <p:nvSpPr>
          <p:cNvPr id="19"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Phase 4 Capstone — Developer CLI</a:t>
            </a:r>
            <a:endParaRPr lang="en-US" sz="900" dirty="0"/>
          </a:p>
        </p:txBody>
      </p:sp>
      <p:sp>
        <p:nvSpPr>
          <p:cNvPr id="20"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SEAM ONE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Why the loop drives its enumerator by hand</a:t>
            </a:r>
            <a:endParaRPr lang="en-US" sz="2800" dirty="0"/>
          </a:p>
        </p:txBody>
      </p:sp>
      <p:sp>
        <p:nvSpPr>
          <p:cNvPr id="4" name="Shape 2"/>
          <p:cNvSpPr/>
          <p:nvPr/>
        </p:nvSpPr>
        <p:spPr>
          <a:xfrm>
            <a:off x="457200" y="1417320"/>
            <a:ext cx="2511552" cy="1993392"/>
          </a:xfrm>
          <a:prstGeom prst="roundRect">
            <a:avLst>
              <a:gd name="adj" fmla="val 3670"/>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2191512"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await foreach</a:t>
            </a:r>
            <a:endParaRPr lang="en-US" sz="1500" dirty="0"/>
          </a:p>
        </p:txBody>
      </p:sp>
      <p:sp>
        <p:nvSpPr>
          <p:cNvPr id="8" name="Text 5"/>
          <p:cNvSpPr txBox="1"/>
          <p:nvPr/>
        </p:nvSpPr>
        <p:spPr>
          <a:xfrm>
            <a:off x="640080" y="2606040"/>
            <a:ext cx="219151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What Module 17 wrote. Every yield sits inside the loop.</a:t>
            </a:r>
            <a:endParaRPr lang="en-US" sz="1200" dirty="0"/>
          </a:p>
        </p:txBody>
      </p:sp>
      <p:sp>
        <p:nvSpPr>
          <p:cNvPr id="9" name="Shape 6"/>
          <p:cNvSpPr/>
          <p:nvPr/>
        </p:nvSpPr>
        <p:spPr>
          <a:xfrm>
            <a:off x="3032760" y="2304288"/>
            <a:ext cx="219456" cy="219456"/>
          </a:xfrm>
          <a:prstGeom prst="rightArrow">
            <a:avLst/>
          </a:prstGeom>
          <a:solidFill>
            <a:srgbClr val="F5A623"/>
          </a:solidFill>
          <a:ln w="12700">
            <a:solidFill>
              <a:srgbClr val="F5A623"/>
            </a:solidFill>
            <a:prstDash val="solid"/>
          </a:ln>
        </p:spPr>
      </p:sp>
      <p:sp>
        <p:nvSpPr>
          <p:cNvPr id="10" name="Shape 7"/>
          <p:cNvSpPr/>
          <p:nvPr/>
        </p:nvSpPr>
        <p:spPr>
          <a:xfrm>
            <a:off x="3316224" y="1417320"/>
            <a:ext cx="2511552" cy="1993392"/>
          </a:xfrm>
          <a:prstGeom prst="roundRect">
            <a:avLst>
              <a:gd name="adj" fmla="val 3670"/>
            </a:avLst>
          </a:prstGeom>
          <a:solidFill>
            <a:srgbClr val="EFEBFC"/>
          </a:solidFill>
          <a:ln w="12700">
            <a:solidFill>
              <a:srgbClr val="EFEBFC"/>
            </a:solidFill>
            <a:prstDash val="solid"/>
          </a:ln>
        </p:spPr>
      </p:sp>
      <p:sp>
        <p:nvSpPr>
          <p:cNvPr id="11" name="Shape 8"/>
          <p:cNvSpPr/>
          <p:nvPr/>
        </p:nvSpPr>
        <p:spPr>
          <a:xfrm>
            <a:off x="349910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17976" y="1737360"/>
            <a:ext cx="219456" cy="219456"/>
          </a:xfrm>
          <a:prstGeom prst="rect">
            <a:avLst/>
          </a:prstGeom>
        </p:spPr>
      </p:pic>
      <p:sp>
        <p:nvSpPr>
          <p:cNvPr id="13" name="Text 9"/>
          <p:cNvSpPr txBox="1"/>
          <p:nvPr/>
        </p:nvSpPr>
        <p:spPr>
          <a:xfrm>
            <a:off x="3499104" y="2194560"/>
            <a:ext cx="2191512"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error CS1626</a:t>
            </a:r>
            <a:endParaRPr lang="en-US" sz="1500" dirty="0"/>
          </a:p>
        </p:txBody>
      </p:sp>
      <p:sp>
        <p:nvSpPr>
          <p:cNvPr id="14" name="Text 10"/>
          <p:cNvSpPr txBox="1"/>
          <p:nvPr/>
        </p:nvSpPr>
        <p:spPr>
          <a:xfrm>
            <a:off x="3499104" y="2606040"/>
            <a:ext cx="219151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 forbids yield return inside a try that has a catch</a:t>
            </a:r>
            <a:endParaRPr lang="en-US" sz="1200" dirty="0"/>
          </a:p>
        </p:txBody>
      </p:sp>
      <p:sp>
        <p:nvSpPr>
          <p:cNvPr id="15" name="Shape 11"/>
          <p:cNvSpPr/>
          <p:nvPr/>
        </p:nvSpPr>
        <p:spPr>
          <a:xfrm>
            <a:off x="5891784" y="2304288"/>
            <a:ext cx="219456" cy="219456"/>
          </a:xfrm>
          <a:prstGeom prst="rightArrow">
            <a:avLst/>
          </a:prstGeom>
          <a:solidFill>
            <a:srgbClr val="F5A623"/>
          </a:solidFill>
          <a:ln w="12700">
            <a:solidFill>
              <a:srgbClr val="F5A623"/>
            </a:solidFill>
            <a:prstDash val="solid"/>
          </a:ln>
        </p:spPr>
      </p:sp>
      <p:sp>
        <p:nvSpPr>
          <p:cNvPr id="16" name="Shape 12"/>
          <p:cNvSpPr/>
          <p:nvPr/>
        </p:nvSpPr>
        <p:spPr>
          <a:xfrm>
            <a:off x="6175248" y="1417320"/>
            <a:ext cx="2511552" cy="1993392"/>
          </a:xfrm>
          <a:prstGeom prst="roundRect">
            <a:avLst>
              <a:gd name="adj" fmla="val 3670"/>
            </a:avLst>
          </a:prstGeom>
          <a:solidFill>
            <a:srgbClr val="512BD4"/>
          </a:solidFill>
          <a:ln w="12700">
            <a:solidFill>
              <a:srgbClr val="512BD4"/>
            </a:solidFill>
            <a:prstDash val="solid"/>
          </a:ln>
        </p:spPr>
      </p:sp>
      <p:sp>
        <p:nvSpPr>
          <p:cNvPr id="17" name="Shape 13"/>
          <p:cNvSpPr/>
          <p:nvPr/>
        </p:nvSpPr>
        <p:spPr>
          <a:xfrm>
            <a:off x="6358128" y="1618488"/>
            <a:ext cx="457200" cy="457200"/>
          </a:xfrm>
          <a:prstGeom prst="ellipse">
            <a:avLst/>
          </a:prstGeom>
          <a:solidFill>
            <a:srgbClr val="FFFFFF"/>
          </a:solidFill>
          <a:ln w="127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6477000" y="1737360"/>
            <a:ext cx="219456" cy="219456"/>
          </a:xfrm>
          <a:prstGeom prst="rect">
            <a:avLst/>
          </a:prstGeom>
        </p:spPr>
      </p:pic>
      <p:sp>
        <p:nvSpPr>
          <p:cNvPr id="19" name="Text 14"/>
          <p:cNvSpPr txBox="1"/>
          <p:nvPr/>
        </p:nvSpPr>
        <p:spPr>
          <a:xfrm>
            <a:off x="6358128" y="2194560"/>
            <a:ext cx="2191512"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By hand</a:t>
            </a:r>
            <a:endParaRPr lang="en-US" sz="1500" dirty="0"/>
          </a:p>
        </p:txBody>
      </p:sp>
      <p:sp>
        <p:nvSpPr>
          <p:cNvPr id="20" name="Text 15"/>
          <p:cNvSpPr txBox="1"/>
          <p:nvPr/>
        </p:nvSpPr>
        <p:spPr>
          <a:xfrm>
            <a:off x="6358128" y="2606040"/>
            <a:ext cx="2191512" cy="71323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try covers only MoveNextAsync; every yield sits outside it</a:t>
            </a:r>
            <a:endParaRPr lang="en-US" sz="1200" dirty="0"/>
          </a:p>
        </p:txBody>
      </p:sp>
      <p:sp>
        <p:nvSpPr>
          <p:cNvPr id="21" name="Text 16"/>
          <p:cNvSpPr txBox="1"/>
          <p:nvPr/>
        </p:nvSpPr>
        <p:spPr>
          <a:xfrm>
            <a:off x="457200" y="3730752"/>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catches rethrow, so the terminal still prints exactly what it did.</a:t>
            </a:r>
            <a:endParaRPr lang="en-US" sz="1400" dirty="0"/>
          </a:p>
        </p:txBody>
      </p:sp>
      <p:sp>
        <p:nvSpPr>
          <p:cNvPr id="22" name="Text 1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Phase 4 Capstone — Developer CLI</a:t>
            </a:r>
            <a:endParaRPr lang="en-US" sz="900" dirty="0"/>
          </a:p>
        </p:txBody>
      </p:sp>
      <p:sp>
        <p:nvSpPr>
          <p:cNvPr id="23" name="Text 1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SEAM TWO</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Half of what MiniCode does was never traced</a:t>
            </a:r>
            <a:endParaRPr lang="en-US" sz="2800" dirty="0"/>
          </a:p>
        </p:txBody>
      </p:sp>
      <p:sp>
        <p:nvSpPr>
          <p:cNvPr id="4" name="Shape 2"/>
          <p:cNvSpPr/>
          <p:nvPr/>
        </p:nvSpPr>
        <p:spPr>
          <a:xfrm>
            <a:off x="457200" y="1371600"/>
            <a:ext cx="3931920" cy="2606040"/>
          </a:xfrm>
          <a:prstGeom prst="roundRect">
            <a:avLst>
              <a:gd name="adj" fmla="val 2807"/>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6B7280"/>
          </a:solidFill>
          <a:ln w="12700">
            <a:solidFill>
              <a:srgbClr val="6B7280"/>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Module 18</a:t>
            </a:r>
            <a:endParaRPr lang="en-US" sz="1700" dirty="0"/>
          </a:p>
        </p:txBody>
      </p:sp>
      <p:sp>
        <p:nvSpPr>
          <p:cNvPr id="8" name="Text 5"/>
          <p:cNvSpPr txBox="1"/>
          <p:nvPr/>
        </p:nvSpPr>
        <p:spPr>
          <a:xfrm>
            <a:off x="685800" y="2194560"/>
            <a:ext cx="3474720" cy="36576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/review shows its tool, not why it ran</a:t>
            </a:r>
            <a:endParaRPr lang="en-US" sz="1300" dirty="0"/>
          </a:p>
        </p:txBody>
      </p:sp>
      <p:sp>
        <p:nvSpPr>
          <p:cNvPr id="9" name="Shape 6"/>
          <p:cNvSpPr/>
          <p:nvPr/>
        </p:nvSpPr>
        <p:spPr>
          <a:xfrm>
            <a:off x="685800" y="2633472"/>
            <a:ext cx="3474720" cy="1143000"/>
          </a:xfrm>
          <a:prstGeom prst="roundRect">
            <a:avLst>
              <a:gd name="adj" fmla="val 6400"/>
            </a:avLst>
          </a:prstGeom>
          <a:solidFill>
            <a:srgbClr val="0F1420"/>
          </a:solidFill>
          <a:ln w="12700">
            <a:solidFill>
              <a:srgbClr val="0F1420"/>
            </a:solidFill>
            <a:prstDash val="solid"/>
          </a:ln>
        </p:spPr>
      </p:sp>
      <p:sp>
        <p:nvSpPr>
          <p:cNvPr id="10" name="Text 7"/>
          <p:cNvSpPr txBox="1"/>
          <p:nvPr/>
        </p:nvSpPr>
        <p:spPr>
          <a:xfrm>
            <a:off x="868680" y="2770632"/>
            <a:ext cx="3108960" cy="86868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 An illustration, not captured output</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[Tool] git_diff</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[Result] diff --git ...</a:t>
            </a:r>
            <a:endParaRPr lang="en-US" sz="1100" dirty="0"/>
          </a:p>
        </p:txBody>
      </p:sp>
      <p:sp>
        <p:nvSpPr>
          <p:cNvPr id="11" name="Shape 8"/>
          <p:cNvSpPr/>
          <p:nvPr/>
        </p:nvSpPr>
        <p:spPr>
          <a:xfrm>
            <a:off x="4754880" y="1371600"/>
            <a:ext cx="3931920" cy="2606040"/>
          </a:xfrm>
          <a:prstGeom prst="roundRect">
            <a:avLst>
              <a:gd name="adj" fmla="val 2807"/>
            </a:avLst>
          </a:prstGeom>
          <a:solidFill>
            <a:srgbClr val="EFEBFC"/>
          </a:solidFill>
          <a:ln w="12700">
            <a:solidFill>
              <a:srgbClr val="EFEBFC"/>
            </a:solidFill>
            <a:prstDash val="solid"/>
          </a:ln>
        </p:spPr>
      </p:sp>
      <p:sp>
        <p:nvSpPr>
          <p:cNvPr id="12" name="Shape 9"/>
          <p:cNvSpPr/>
          <p:nvPr/>
        </p:nvSpPr>
        <p:spPr>
          <a:xfrm>
            <a:off x="4983480" y="1600200"/>
            <a:ext cx="438912" cy="438912"/>
          </a:xfrm>
          <a:prstGeom prst="ellipse">
            <a:avLst/>
          </a:prstGeom>
          <a:solidFill>
            <a:srgbClr val="512BD4"/>
          </a:solidFill>
          <a:ln w="12700">
            <a:solidFill>
              <a:srgbClr val="512BD4"/>
            </a:solidFill>
            <a:prstDash val="solid"/>
          </a:ln>
        </p:spPr>
      </p:sp>
      <p:pic>
        <p:nvPicPr>
          <p:cNvPr id="13"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4" name="Text 10"/>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v0.4</a:t>
            </a:r>
            <a:endParaRPr lang="en-US" sz="1700" dirty="0"/>
          </a:p>
        </p:txBody>
      </p:sp>
      <p:sp>
        <p:nvSpPr>
          <p:cNvPr id="15" name="Text 11"/>
          <p:cNvSpPr txBox="1"/>
          <p:nvPr/>
        </p:nvSpPr>
        <p:spPr>
          <a:xfrm>
            <a:off x="4983480" y="2194560"/>
            <a:ext cx="3474720" cy="36576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Every model call says what it is for</a:t>
            </a:r>
            <a:endParaRPr lang="en-US" sz="1300" dirty="0"/>
          </a:p>
        </p:txBody>
      </p:sp>
      <p:sp>
        <p:nvSpPr>
          <p:cNvPr id="16" name="Shape 12"/>
          <p:cNvSpPr/>
          <p:nvPr/>
        </p:nvSpPr>
        <p:spPr>
          <a:xfrm>
            <a:off x="4983480" y="2633472"/>
            <a:ext cx="3474720" cy="1143000"/>
          </a:xfrm>
          <a:prstGeom prst="roundRect">
            <a:avLst>
              <a:gd name="adj" fmla="val 6400"/>
            </a:avLst>
          </a:prstGeom>
          <a:solidFill>
            <a:srgbClr val="0F1420"/>
          </a:solidFill>
          <a:ln w="12700">
            <a:solidFill>
              <a:srgbClr val="0F1420"/>
            </a:solidFill>
            <a:prstDash val="solid"/>
          </a:ln>
        </p:spPr>
      </p:sp>
      <p:sp>
        <p:nvSpPr>
          <p:cNvPr id="17" name="Text 13"/>
          <p:cNvSpPr txBox="1"/>
          <p:nvPr/>
        </p:nvSpPr>
        <p:spPr>
          <a:xfrm>
            <a:off x="5166360" y="2770632"/>
            <a:ext cx="3108960" cy="86868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[Agent] Reviewing unstaged changes</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[Tool] git_diff</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[Result] diff --git ... (23ms)</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[Agent] Review complete</a:t>
            </a:r>
            <a:endParaRPr lang="en-US" sz="1100" dirty="0"/>
          </a:p>
        </p:txBody>
      </p:sp>
      <p:sp>
        <p:nvSpPr>
          <p:cNvPr id="18" name="Text 14"/>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PlanAsync runs on every ordinary turn too, so its cost is now visible.</a:t>
            </a:r>
            <a:endParaRPr lang="en-US" sz="1400" dirty="0"/>
          </a:p>
        </p:txBody>
      </p:sp>
      <p:sp>
        <p:nvSpPr>
          <p:cNvPr id="19"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Phase 4 Capstone — Developer CLI</a:t>
            </a:r>
            <a:endParaRPr lang="en-US" sz="900" dirty="0"/>
          </a:p>
        </p:txBody>
      </p:sp>
      <p:sp>
        <p:nvSpPr>
          <p:cNvPr id="20"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SEAM THREE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Two ways of reading a variable, in one file</a:t>
            </a:r>
            <a:endParaRPr lang="en-US" sz="2800" dirty="0"/>
          </a:p>
        </p:txBody>
      </p:sp>
      <p:sp>
        <p:nvSpPr>
          <p:cNvPr id="4" name="Shape 2"/>
          <p:cNvSpPr/>
          <p:nvPr/>
        </p:nvSpPr>
        <p:spPr>
          <a:xfrm>
            <a:off x="457200" y="1371600"/>
            <a:ext cx="2560320" cy="1737360"/>
          </a:xfrm>
          <a:prstGeom prst="roundRect">
            <a:avLst>
              <a:gd name="adj" fmla="val 4211"/>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Module 2b</a:t>
            </a:r>
            <a:endParaRPr lang="en-US" sz="1500" dirty="0"/>
          </a:p>
        </p:txBody>
      </p:sp>
      <p:sp>
        <p:nvSpPr>
          <p:cNvPr id="8" name="Text 5"/>
          <p:cNvSpPr txBox="1"/>
          <p:nvPr/>
        </p:nvSpPr>
        <p:spPr>
          <a:xfrm>
            <a:off x="640080" y="2057400"/>
            <a:ext cx="2194560" cy="9601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uses ??, which catches only null</a:t>
            </a:r>
            <a:endParaRPr lang="en-US" sz="1200" dirty="0"/>
          </a:p>
        </p:txBody>
      </p:sp>
      <p:sp>
        <p:nvSpPr>
          <p:cNvPr id="9" name="Shape 6"/>
          <p:cNvSpPr/>
          <p:nvPr/>
        </p:nvSpPr>
        <p:spPr>
          <a:xfrm>
            <a:off x="3291840" y="1371600"/>
            <a:ext cx="2560320" cy="1737360"/>
          </a:xfrm>
          <a:prstGeom prst="roundRect">
            <a:avLst>
              <a:gd name="adj" fmla="val 4211"/>
            </a:avLst>
          </a:prstGeom>
          <a:solidFill>
            <a:srgbClr val="EFEBFC"/>
          </a:solidFill>
          <a:ln w="12700">
            <a:solidFill>
              <a:srgbClr val="EFEBFC"/>
            </a:solidFill>
            <a:prstDash val="solid"/>
          </a:ln>
        </p:spPr>
      </p:sp>
      <p:sp>
        <p:nvSpPr>
          <p:cNvPr id="10" name="Shape 7"/>
          <p:cNvSpPr/>
          <p:nvPr/>
        </p:nvSpPr>
        <p:spPr>
          <a:xfrm>
            <a:off x="347472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3574572" y="1654332"/>
            <a:ext cx="184343" cy="184343"/>
          </a:xfrm>
          <a:prstGeom prst="rect">
            <a:avLst/>
          </a:prstGeom>
        </p:spPr>
      </p:pic>
      <p:sp>
        <p:nvSpPr>
          <p:cNvPr id="12" name="Text 8"/>
          <p:cNvSpPr txBox="1"/>
          <p:nvPr/>
        </p:nvSpPr>
        <p:spPr>
          <a:xfrm>
            <a:off x="397764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Module 18</a:t>
            </a:r>
            <a:endParaRPr lang="en-US" sz="1500" dirty="0"/>
          </a:p>
        </p:txBody>
      </p:sp>
      <p:sp>
        <p:nvSpPr>
          <p:cNvPr id="13" name="Text 9"/>
          <p:cNvSpPr txBox="1"/>
          <p:nvPr/>
        </p:nvSpPr>
        <p:spPr>
          <a:xfrm>
            <a:off x="3474720" y="2057400"/>
            <a:ext cx="2194560" cy="9601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MINICODE_MODEL: an empty value means unset</a:t>
            </a:r>
            <a:endParaRPr lang="en-US" sz="1200" dirty="0"/>
          </a:p>
        </p:txBody>
      </p:sp>
      <p:sp>
        <p:nvSpPr>
          <p:cNvPr id="14" name="Shape 10"/>
          <p:cNvSpPr/>
          <p:nvPr/>
        </p:nvSpPr>
        <p:spPr>
          <a:xfrm>
            <a:off x="6126480" y="1371600"/>
            <a:ext cx="2560320" cy="1737360"/>
          </a:xfrm>
          <a:prstGeom prst="roundRect">
            <a:avLst>
              <a:gd name="adj" fmla="val 4211"/>
            </a:avLst>
          </a:prstGeom>
          <a:solidFill>
            <a:srgbClr val="512BD4"/>
          </a:solidFill>
          <a:ln w="12700">
            <a:solidFill>
              <a:srgbClr val="512BD4"/>
            </a:solidFill>
            <a:prstDash val="solid"/>
          </a:ln>
        </p:spPr>
      </p:sp>
      <p:sp>
        <p:nvSpPr>
          <p:cNvPr id="15" name="Shape 11"/>
          <p:cNvSpPr/>
          <p:nvPr/>
        </p:nvSpPr>
        <p:spPr>
          <a:xfrm>
            <a:off x="6309360" y="1554480"/>
            <a:ext cx="384048" cy="384048"/>
          </a:xfrm>
          <a:prstGeom prst="ellipse">
            <a:avLst/>
          </a:prstGeom>
          <a:solidFill>
            <a:srgbClr val="FFFFFF"/>
          </a:solidFill>
          <a:ln w="12700">
            <a:solidFill>
              <a:srgbClr val="FFFFFF"/>
            </a:solidFill>
            <a:prstDash val="solid"/>
          </a:ln>
        </p:spPr>
      </p:sp>
      <p:pic>
        <p:nvPicPr>
          <p:cNvPr id="16" name="Image 2" descr="preencoded.png">    </p:cNvPr>
          <p:cNvPicPr>
            <a:picLocks noChangeAspect="1"/>
          </p:cNvPicPr>
          <p:nvPr/>
        </p:nvPicPr>
        <p:blipFill>
          <a:blip r:embed="rId3"/>
          <a:stretch>
            <a:fillRect/>
          </a:stretch>
        </p:blipFill>
        <p:spPr>
          <a:xfrm>
            <a:off x="6409212" y="1654332"/>
            <a:ext cx="184343" cy="184343"/>
          </a:xfrm>
          <a:prstGeom prst="rect">
            <a:avLst/>
          </a:prstGeom>
        </p:spPr>
      </p:pic>
      <p:sp>
        <p:nvSpPr>
          <p:cNvPr id="17" name="Text 12"/>
          <p:cNvSpPr txBox="1"/>
          <p:nvPr/>
        </p:nvSpPr>
        <p:spPr>
          <a:xfrm>
            <a:off x="6812280" y="1554480"/>
            <a:ext cx="173736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v0.4</a:t>
            </a:r>
            <a:endParaRPr lang="en-US" sz="1500" dirty="0"/>
          </a:p>
        </p:txBody>
      </p:sp>
      <p:sp>
        <p:nvSpPr>
          <p:cNvPr id="18" name="Text 13"/>
          <p:cNvSpPr txBox="1"/>
          <p:nvPr/>
        </p:nvSpPr>
        <p:spPr>
          <a:xfrm>
            <a:off x="6309360" y="2057400"/>
            <a:ext cx="2194560" cy="96012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Every read tests Length, MINI_CODE_LLM included</a:t>
            </a:r>
            <a:endParaRPr lang="en-US" sz="1200" dirty="0"/>
          </a:p>
        </p:txBody>
      </p:sp>
      <p:sp>
        <p:nvSpPr>
          <p:cNvPr id="19" name="Text 14"/>
          <p:cNvSpPr txBox="1"/>
          <p:nvPr/>
        </p:nvSpPr>
        <p:spPr>
          <a:xfrm>
            <a:off x="457200" y="33375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Packaging exposed it: installed tools run from shells that export empty variables.</a:t>
            </a:r>
            <a:endParaRPr lang="en-US" sz="1400" dirty="0"/>
          </a:p>
        </p:txBody>
      </p:sp>
      <p:sp>
        <p:nvSpPr>
          <p:cNvPr id="20"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Phase 4 Capstone — Developer CLI</a:t>
            </a:r>
            <a:endParaRPr lang="en-US" sz="900" dirty="0"/>
          </a:p>
        </p:txBody>
      </p:sp>
      <p:sp>
        <p:nvSpPr>
          <p:cNvPr id="21"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v0.4 is, and what it is not</a:t>
            </a:r>
            <a:endParaRPr lang="en-US" sz="2800" dirty="0"/>
          </a:p>
        </p:txBody>
      </p:sp>
      <p:sp>
        <p:nvSpPr>
          <p:cNvPr id="4" name="Shape 2"/>
          <p:cNvSpPr/>
          <p:nvPr/>
        </p:nvSpPr>
        <p:spPr>
          <a:xfrm>
            <a:off x="457200" y="1371600"/>
            <a:ext cx="3931920" cy="2103120"/>
          </a:xfrm>
          <a:prstGeom prst="roundRect">
            <a:avLst>
              <a:gd name="adj" fmla="val 3478"/>
            </a:avLst>
          </a:prstGeom>
          <a:solidFill>
            <a:srgbClr val="EFEBFC"/>
          </a:solidFill>
          <a:ln w="12700">
            <a:solidFill>
              <a:srgbClr val="EFEBFC"/>
            </a:solidFill>
            <a:prstDash val="solid"/>
          </a:ln>
        </p:spPr>
      </p:sp>
      <p:sp>
        <p:nvSpPr>
          <p:cNvPr id="5" name="Shape 3"/>
          <p:cNvSpPr/>
          <p:nvPr/>
        </p:nvSpPr>
        <p:spPr>
          <a:xfrm>
            <a:off x="685800" y="1600200"/>
            <a:ext cx="438912" cy="438912"/>
          </a:xfrm>
          <a:prstGeom prst="ellipse">
            <a:avLst/>
          </a:prstGeom>
          <a:solidFill>
            <a:srgbClr val="16A34A"/>
          </a:solidFill>
          <a:ln w="12700">
            <a:solidFill>
              <a:srgbClr val="16A34A"/>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v0.4 is</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Installed once, run in any repository</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Plans first, and asks before it changes anything</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Eleven slash commands and a full stderr trace</a:t>
            </a:r>
            <a:endParaRPr lang="en-US" sz="1300" dirty="0"/>
          </a:p>
        </p:txBody>
      </p:sp>
      <p:sp>
        <p:nvSpPr>
          <p:cNvPr id="9" name="Shape 6"/>
          <p:cNvSpPr/>
          <p:nvPr/>
        </p:nvSpPr>
        <p:spPr>
          <a:xfrm>
            <a:off x="4754880" y="1371600"/>
            <a:ext cx="3931920" cy="2103120"/>
          </a:xfrm>
          <a:prstGeom prst="roundRect">
            <a:avLst>
              <a:gd name="adj" fmla="val 3478"/>
            </a:avLst>
          </a:prstGeom>
          <a:solidFill>
            <a:srgbClr val="F6F4FE"/>
          </a:solidFill>
          <a:ln w="12700">
            <a:solidFill>
              <a:srgbClr val="F6F4FE"/>
            </a:solidFill>
            <a:prstDash val="solid"/>
          </a:ln>
        </p:spPr>
      </p:sp>
      <p:sp>
        <p:nvSpPr>
          <p:cNvPr id="10" name="Shape 7"/>
          <p:cNvSpPr/>
          <p:nvPr/>
        </p:nvSpPr>
        <p:spPr>
          <a:xfrm>
            <a:off x="4983480" y="1600200"/>
            <a:ext cx="438912" cy="438912"/>
          </a:xfrm>
          <a:prstGeom prst="ellipse">
            <a:avLst/>
          </a:prstGeom>
          <a:solidFill>
            <a:srgbClr val="6B7280"/>
          </a:solidFill>
          <a:ln w="12700">
            <a:solidFill>
              <a:srgbClr val="6B7280"/>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v0.4 is not</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Driving its plan: TaskPlan's states go unused</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More than one agent, session or workspace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Structured telemetry: the trace is text</a:t>
            </a:r>
            <a:endParaRPr lang="en-US" sz="1300" dirty="0"/>
          </a:p>
        </p:txBody>
      </p:sp>
      <p:sp>
        <p:nvSpPr>
          <p:cNvPr id="14" name="Text 10"/>
          <p:cNvSpPr txBox="1"/>
          <p:nvPr/>
        </p:nvSpPr>
        <p:spPr>
          <a:xfrm>
            <a:off x="457200" y="374904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It can also commit mid-turn. Module 15's approval still gates it.</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Phase 4 Capstone — Developer CLI</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Trace the rest, then drive the plan</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One: trace a fault or cancellation in PlanAsync and ReviewAsync. Two, a stretch: make RunStreamingAsync advance the plan it was given.</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950" dirty="0">
                <a:solidFill>
                  <a:srgbClr val="B8B2E6"/>
                </a:solidFill>
                <a:latin typeface="Courier New" pitchFamily="34" charset="0"/>
                <a:ea typeface="Courier New" pitchFamily="34" charset="-122"/>
                <a:cs typeface="Courier New" pitchFamily="34" charset="-120"/>
              </a:rPr>
              <a:t>src/MiniCode.Agent/CodingAgent.cs</a:t>
            </a:r>
            <a:endParaRPr lang="en-US" sz="9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fault logs one [Agent] line naming the type and message, then rethrows</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cancellation logs as a cancellation; a successful call's trace is unchanged</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/status shows completed steps, and an all-complete plan reports IsComplete</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Revise never renumbers or removes a shown step, and TaskPlan stays immutable</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Phase 4 Capstone — Developer CLI</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OUTPUT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v0.4, installed and run anywhere</a:t>
            </a:r>
            <a:endParaRPr lang="en-US" sz="2800" dirty="0"/>
          </a:p>
        </p:txBody>
      </p:sp>
      <p:sp>
        <p:nvSpPr>
          <p:cNvPr id="4" name="Shape 2"/>
          <p:cNvSpPr/>
          <p:nvPr/>
        </p:nvSpPr>
        <p:spPr>
          <a:xfrm>
            <a:off x="457200" y="1325880"/>
            <a:ext cx="5257800" cy="2834640"/>
          </a:xfrm>
          <a:prstGeom prst="roundRect">
            <a:avLst>
              <a:gd name="adj" fmla="val 2581"/>
            </a:avLst>
          </a:prstGeom>
          <a:solidFill>
            <a:srgbClr val="0F1420"/>
          </a:solidFill>
          <a:ln w="12700">
            <a:solidFill>
              <a:srgbClr val="0F1420"/>
            </a:solidFill>
            <a:prstDash val="solid"/>
          </a:ln>
        </p:spPr>
      </p:sp>
      <p:sp>
        <p:nvSpPr>
          <p:cNvPr id="5" name="Text 3"/>
          <p:cNvSpPr txBox="1"/>
          <p:nvPr/>
        </p:nvSpPr>
        <p:spPr>
          <a:xfrm>
            <a:off x="640080" y="1463040"/>
            <a:ext cx="4892040" cy="2560320"/>
          </a:xfrm>
          <a:prstGeom prst="rect">
            <a:avLst/>
          </a:prstGeom>
          <a:noFill/>
          <a:ln/>
        </p:spPr>
        <p:txBody>
          <a:bodyPr wrap="square" lIns="0" tIns="0" rIns="0" bIns="0" rtlCol="0" anchor="t"/>
          <a:lstStyle/>
          <a:p>
            <a:pPr indent="0" marL="0">
              <a:buNone/>
            </a:pPr>
            <a:r>
              <a:rPr lang="en-US" sz="1000" dirty="0">
                <a:solidFill>
                  <a:srgbClr val="D7E3F4"/>
                </a:solidFill>
                <a:latin typeface="Courier New" pitchFamily="34" charset="0"/>
                <a:ea typeface="Courier New" pitchFamily="34" charset="-122"/>
                <a:cs typeface="Courier New" pitchFamily="34" charset="-120"/>
              </a:rPr>
              <a:t># OPENAI_API_KEY set to an empty string:</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&gt; minicode</a:t>
            </a:r>
            <a:endParaRPr lang="en-US" sz="1000" dirty="0"/>
          </a:p>
          <a:p>
            <a:pPr indent="0" marL="0">
              <a:buNone/>
            </a:pPr>
            <a:r>
              <a:rPr lang="en-US" sz="1000" dirty="0">
                <a:solidFill>
                  <a:srgbClr val="FF9B9B"/>
                </a:solidFill>
                <a:latin typeface="Courier New" pitchFamily="34" charset="0"/>
                <a:ea typeface="Courier New" pitchFamily="34" charset="-122"/>
                <a:cs typeface="Courier New" pitchFamily="34" charset="-120"/>
              </a:rPr>
              <a:t>OPENAI_API_KEY is not set. Set it before running MiniCode.</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&gt; dotnet tool install --tool-path ./toolpath ...</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Tool 'minicode' (version '0.4.0') was successfully installed.</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&gt; cd CustomerPortal</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&gt; minicode</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MiniCode v0.4</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Workspace: C:\Users\...\CustomerPortal</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MiniCode. Type 'exit' to quit, or /help for commands.</a:t>
            </a:r>
            <a:endParaRPr lang="en-US" sz="10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Empty is unset</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Same message as a missing key; no stack trace</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Installed</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Packed as 0.4.0, run outside this repository</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v0.4</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version moved, so Phase 4 ends here</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MiniCode  ·  Phase 4 Capstone — Developer CLI</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355092"/>
          </a:xfrm>
          <a:prstGeom prst="roundRect">
            <a:avLst>
              <a:gd name="adj" fmla="val 20601"/>
            </a:avLst>
          </a:prstGeom>
          <a:solidFill>
            <a:srgbClr val="1F2943"/>
          </a:solidFill>
          <a:ln w="12700">
            <a:solidFill>
              <a:srgbClr val="1F2943"/>
            </a:solidFill>
            <a:prstDash val="solid"/>
          </a:ln>
        </p:spPr>
      </p:sp>
      <p:sp>
        <p:nvSpPr>
          <p:cNvPr id="5" name="Text 3"/>
          <p:cNvSpPr txBox="1"/>
          <p:nvPr/>
        </p:nvSpPr>
        <p:spPr>
          <a:xfrm>
            <a:off x="621792" y="123444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v0.4 runs in any repository</a:t>
            </a:r>
            <a:endParaRPr lang="en-US" sz="1300" dirty="0"/>
          </a:p>
        </p:txBody>
      </p:sp>
      <p:sp>
        <p:nvSpPr>
          <p:cNvPr id="6" name="Shape 4"/>
          <p:cNvSpPr/>
          <p:nvPr/>
        </p:nvSpPr>
        <p:spPr>
          <a:xfrm>
            <a:off x="3493008" y="1320546"/>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19  </a:t>
            </a:r>
            <a:pPr indent="0" marL="0">
              <a:buNone/>
            </a:pPr>
            <a:r>
              <a:rPr lang="en-US" sz="1250" dirty="0">
                <a:solidFill>
                  <a:srgbClr val="FFFFFF"/>
                </a:solidFill>
                <a:latin typeface="Calibri" pitchFamily="34" charset="0"/>
                <a:ea typeface="Calibri" pitchFamily="34" charset="-122"/>
                <a:cs typeface="Calibri" pitchFamily="34" charset="-120"/>
              </a:rPr>
              <a:t>Pointed at a repository it has never seen, from one sentence</a:t>
            </a:r>
            <a:endParaRPr lang="en-US" sz="1250" dirty="0"/>
          </a:p>
        </p:txBody>
      </p:sp>
      <p:sp>
        <p:nvSpPr>
          <p:cNvPr id="8" name="Shape 6"/>
          <p:cNvSpPr/>
          <p:nvPr/>
        </p:nvSpPr>
        <p:spPr>
          <a:xfrm>
            <a:off x="457200" y="1699260"/>
            <a:ext cx="2926080" cy="355092"/>
          </a:xfrm>
          <a:prstGeom prst="roundRect">
            <a:avLst>
              <a:gd name="adj" fmla="val 20601"/>
            </a:avLst>
          </a:prstGeom>
          <a:solidFill>
            <a:srgbClr val="1F2943"/>
          </a:solidFill>
          <a:ln w="12700">
            <a:solidFill>
              <a:srgbClr val="1F2943"/>
            </a:solidFill>
            <a:prstDash val="solid"/>
          </a:ln>
        </p:spPr>
      </p:sp>
      <p:sp>
        <p:nvSpPr>
          <p:cNvPr id="9" name="Text 7"/>
          <p:cNvSpPr txBox="1"/>
          <p:nvPr/>
        </p:nvSpPr>
        <p:spPr>
          <a:xfrm>
            <a:off x="621792" y="169926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Eleven tools, one agent</a:t>
            </a:r>
            <a:endParaRPr lang="en-US" sz="1300" dirty="0"/>
          </a:p>
        </p:txBody>
      </p:sp>
      <p:sp>
        <p:nvSpPr>
          <p:cNvPr id="10" name="Shape 8"/>
          <p:cNvSpPr/>
          <p:nvPr/>
        </p:nvSpPr>
        <p:spPr>
          <a:xfrm>
            <a:off x="3493008" y="1785366"/>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69926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19  </a:t>
            </a:r>
            <a:pPr indent="0" marL="0">
              <a:buNone/>
            </a:pPr>
            <a:r>
              <a:rPr lang="en-US" sz="1250" dirty="0">
                <a:solidFill>
                  <a:srgbClr val="FFFFFF"/>
                </a:solidFill>
                <a:latin typeface="Calibri" pitchFamily="34" charset="0"/>
                <a:ea typeface="Calibri" pitchFamily="34" charset="-122"/>
                <a:cs typeface="Calibri" pitchFamily="34" charset="-120"/>
              </a:rPr>
              <a:t>The assignment's fifteen steps map onto tools that already ship</a:t>
            </a:r>
            <a:endParaRPr lang="en-US" sz="1250" dirty="0"/>
          </a:p>
        </p:txBody>
      </p:sp>
      <p:sp>
        <p:nvSpPr>
          <p:cNvPr id="12" name="Shape 10"/>
          <p:cNvSpPr/>
          <p:nvPr/>
        </p:nvSpPr>
        <p:spPr>
          <a:xfrm>
            <a:off x="457200" y="2164080"/>
            <a:ext cx="2926080" cy="355092"/>
          </a:xfrm>
          <a:prstGeom prst="roundRect">
            <a:avLst>
              <a:gd name="adj" fmla="val 20601"/>
            </a:avLst>
          </a:prstGeom>
          <a:solidFill>
            <a:srgbClr val="1F2943"/>
          </a:solidFill>
          <a:ln w="12700">
            <a:solidFill>
              <a:srgbClr val="1F2943"/>
            </a:solidFill>
            <a:prstDash val="solid"/>
          </a:ln>
        </p:spPr>
      </p:sp>
      <p:sp>
        <p:nvSpPr>
          <p:cNvPr id="13" name="Text 11"/>
          <p:cNvSpPr txBox="1"/>
          <p:nvPr/>
        </p:nvSpPr>
        <p:spPr>
          <a:xfrm>
            <a:off x="621792" y="216408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trace that records failures</a:t>
            </a:r>
            <a:endParaRPr lang="en-US" sz="1300" dirty="0"/>
          </a:p>
        </p:txBody>
      </p:sp>
      <p:sp>
        <p:nvSpPr>
          <p:cNvPr id="14" name="Shape 12"/>
          <p:cNvSpPr/>
          <p:nvPr/>
        </p:nvSpPr>
        <p:spPr>
          <a:xfrm>
            <a:off x="3493008" y="225018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16408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19  </a:t>
            </a:r>
            <a:pPr indent="0" marL="0">
              <a:buNone/>
            </a:pPr>
            <a:r>
              <a:rPr lang="en-US" sz="1250" dirty="0">
                <a:solidFill>
                  <a:srgbClr val="FFFFFF"/>
                </a:solidFill>
                <a:latin typeface="Calibri" pitchFamily="34" charset="0"/>
                <a:ea typeface="Calibri" pitchFamily="34" charset="-122"/>
                <a:cs typeface="Calibri" pitchFamily="34" charset="-120"/>
              </a:rPr>
              <a:t>trace.log is the record of what actually ran</a:t>
            </a:r>
            <a:endParaRPr lang="en-US" sz="1250" dirty="0"/>
          </a:p>
        </p:txBody>
      </p:sp>
      <p:sp>
        <p:nvSpPr>
          <p:cNvPr id="16" name="Shape 14"/>
          <p:cNvSpPr/>
          <p:nvPr/>
        </p:nvSpPr>
        <p:spPr>
          <a:xfrm>
            <a:off x="457200" y="2628900"/>
            <a:ext cx="2926080" cy="355092"/>
          </a:xfrm>
          <a:prstGeom prst="roundRect">
            <a:avLst>
              <a:gd name="adj" fmla="val 20601"/>
            </a:avLst>
          </a:prstGeom>
          <a:solidFill>
            <a:srgbClr val="1F2943"/>
          </a:solidFill>
          <a:ln w="12700">
            <a:solidFill>
              <a:srgbClr val="1F2943"/>
            </a:solidFill>
            <a:prstDash val="solid"/>
          </a:ln>
        </p:spPr>
      </p:sp>
      <p:sp>
        <p:nvSpPr>
          <p:cNvPr id="17" name="Text 15"/>
          <p:cNvSpPr txBox="1"/>
          <p:nvPr/>
        </p:nvSpPr>
        <p:spPr>
          <a:xfrm>
            <a:off x="621792" y="262890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plan is still not driven</a:t>
            </a:r>
            <a:endParaRPr lang="en-US" sz="1300" dirty="0"/>
          </a:p>
        </p:txBody>
      </p:sp>
      <p:sp>
        <p:nvSpPr>
          <p:cNvPr id="18" name="Shape 16"/>
          <p:cNvSpPr/>
          <p:nvPr/>
        </p:nvSpPr>
        <p:spPr>
          <a:xfrm>
            <a:off x="3493008" y="2715006"/>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62890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19  </a:t>
            </a:r>
            <a:pPr indent="0" marL="0">
              <a:buNone/>
            </a:pPr>
            <a:r>
              <a:rPr lang="en-US" sz="1250" dirty="0">
                <a:solidFill>
                  <a:srgbClr val="FFFFFF"/>
                </a:solidFill>
                <a:latin typeface="Calibri" pitchFamily="34" charset="0"/>
                <a:ea typeface="Calibri" pitchFamily="34" charset="-122"/>
                <a:cs typeface="Calibri" pitchFamily="34" charset="-120"/>
              </a:rPr>
              <a:t>Still Exercise Two, with no reference implementation</a:t>
            </a:r>
            <a:endParaRPr lang="en-US" sz="1250" dirty="0"/>
          </a:p>
        </p:txBody>
      </p:sp>
      <p:sp>
        <p:nvSpPr>
          <p:cNvPr id="20" name="Shape 18"/>
          <p:cNvSpPr/>
          <p:nvPr/>
        </p:nvSpPr>
        <p:spPr>
          <a:xfrm>
            <a:off x="457200" y="3093720"/>
            <a:ext cx="2926080" cy="355092"/>
          </a:xfrm>
          <a:prstGeom prst="roundRect">
            <a:avLst>
              <a:gd name="adj" fmla="val 20601"/>
            </a:avLst>
          </a:prstGeom>
          <a:solidFill>
            <a:srgbClr val="1F2943"/>
          </a:solidFill>
          <a:ln w="12700">
            <a:solidFill>
              <a:srgbClr val="1F2943"/>
            </a:solidFill>
            <a:prstDash val="solid"/>
          </a:ln>
        </p:spPr>
      </p:sp>
      <p:sp>
        <p:nvSpPr>
          <p:cNvPr id="21" name="Text 19"/>
          <p:cNvSpPr txBox="1"/>
          <p:nvPr/>
        </p:nvSpPr>
        <p:spPr>
          <a:xfrm>
            <a:off x="621792" y="309372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version moves at a Capstone</a:t>
            </a:r>
            <a:endParaRPr lang="en-US" sz="1300" dirty="0"/>
          </a:p>
        </p:txBody>
      </p:sp>
      <p:sp>
        <p:nvSpPr>
          <p:cNvPr id="22" name="Shape 20"/>
          <p:cNvSpPr/>
          <p:nvPr/>
        </p:nvSpPr>
        <p:spPr>
          <a:xfrm>
            <a:off x="3493008" y="3179826"/>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09372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Module 19  </a:t>
            </a:r>
            <a:pPr indent="0" marL="0">
              <a:buNone/>
            </a:pPr>
            <a:r>
              <a:rPr lang="en-US" sz="1250" dirty="0">
                <a:solidFill>
                  <a:srgbClr val="FFFFFF"/>
                </a:solidFill>
                <a:latin typeface="Calibri" pitchFamily="34" charset="0"/>
                <a:ea typeface="Calibri" pitchFamily="34" charset="-122"/>
                <a:cs typeface="Calibri" pitchFamily="34" charset="-120"/>
              </a:rPr>
              <a:t>1.0: the same code, declared finished</a:t>
            </a:r>
            <a:endParaRPr lang="en-US" sz="1250" dirty="0"/>
          </a:p>
        </p:txBody>
      </p:sp>
      <p:sp>
        <p:nvSpPr>
          <p:cNvPr id="24" name="Shape 22"/>
          <p:cNvSpPr/>
          <p:nvPr/>
        </p:nvSpPr>
        <p:spPr>
          <a:xfrm>
            <a:off x="457200" y="3558540"/>
            <a:ext cx="2926080" cy="355092"/>
          </a:xfrm>
          <a:prstGeom prst="roundRect">
            <a:avLst>
              <a:gd name="adj" fmla="val 20601"/>
            </a:avLst>
          </a:prstGeom>
          <a:solidFill>
            <a:srgbClr val="1F2943"/>
          </a:solidFill>
          <a:ln w="12700">
            <a:solidFill>
              <a:srgbClr val="1F2943"/>
            </a:solidFill>
            <a:prstDash val="solid"/>
          </a:ln>
        </p:spPr>
      </p:sp>
      <p:sp>
        <p:nvSpPr>
          <p:cNvPr id="25" name="Text 23"/>
          <p:cNvSpPr txBox="1"/>
          <p:nvPr/>
        </p:nvSpPr>
        <p:spPr>
          <a:xfrm>
            <a:off x="621792" y="3558540"/>
            <a:ext cx="2651760" cy="3550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agent, by design</a:t>
            </a:r>
            <a:endParaRPr lang="en-US" sz="1300" dirty="0"/>
          </a:p>
        </p:txBody>
      </p:sp>
      <p:sp>
        <p:nvSpPr>
          <p:cNvPr id="26" name="Shape 24"/>
          <p:cNvSpPr/>
          <p:nvPr/>
        </p:nvSpPr>
        <p:spPr>
          <a:xfrm>
            <a:off x="3493008" y="3644646"/>
            <a:ext cx="329184" cy="182880"/>
          </a:xfrm>
          <a:prstGeom prst="rightArrow">
            <a:avLst/>
          </a:prstGeom>
          <a:solidFill>
            <a:srgbClr val="F5A623"/>
          </a:solidFill>
          <a:ln w="12700">
            <a:solidFill>
              <a:srgbClr val="F5A623"/>
            </a:solidFill>
            <a:prstDash val="solid"/>
          </a:ln>
        </p:spPr>
      </p:sp>
      <p:sp>
        <p:nvSpPr>
          <p:cNvPr id="27" name="Text 25"/>
          <p:cNvSpPr txBox="1"/>
          <p:nvPr/>
        </p:nvSpPr>
        <p:spPr>
          <a:xfrm>
            <a:off x="3977640" y="3558540"/>
            <a:ext cx="4709160" cy="355092"/>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Next course  </a:t>
            </a:r>
            <a:pPr indent="0" marL="0">
              <a:buNone/>
            </a:pPr>
            <a:r>
              <a:rPr lang="en-US" sz="1250" dirty="0">
                <a:solidFill>
                  <a:srgbClr val="FFFFFF"/>
                </a:solidFill>
                <a:latin typeface="Calibri" pitchFamily="34" charset="0"/>
                <a:ea typeface="Calibri" pitchFamily="34" charset="-122"/>
                <a:cs typeface="Calibri" pitchFamily="34" charset="-120"/>
              </a:rPr>
              <a:t>Multi-agent orchestration, per the syllabus Scope Boundary</a:t>
            </a:r>
            <a:endParaRPr lang="en-US" sz="1250" dirty="0"/>
          </a:p>
        </p:txBody>
      </p:sp>
      <p:sp>
        <p:nvSpPr>
          <p:cNvPr id="28" name="Text 26"/>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MiniCode v0.4 — Developer CLI</a:t>
            </a:r>
            <a:endParaRPr lang="en-US" sz="1300" dirty="0"/>
          </a:p>
        </p:txBody>
      </p:sp>
      <p:sp>
        <p:nvSpPr>
          <p:cNvPr id="29"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MiniCode  ·  Phase 4 Capstone — Developer CLI</a:t>
            </a:r>
            <a:endParaRPr lang="en-US" sz="900" dirty="0"/>
          </a:p>
        </p:txBody>
      </p:sp>
      <p:sp>
        <p:nvSpPr>
          <p:cNvPr id="30"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Phase 4 Capstone — Developer CLI (v0.4)</dc:title>
  <dc:subject>PptxGenJS Presentation</dc:subject>
  <dc:creator>MiniCode Course</dc:creator>
  <cp:lastModifiedBy>MiniCode Course</cp:lastModifiedBy>
  <cp:revision>1</cp:revision>
  <dcterms:created xsi:type="dcterms:W3CDTF">2026-10-01T23:15:19Z</dcterms:created>
  <dcterms:modified xsi:type="dcterms:W3CDTF">2026-10-01T23:15:19Z</dcterms:modified>
</cp:coreProperties>
</file>