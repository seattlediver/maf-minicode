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agent its first tool, and, more importantly, we decide how every tool call will be dispatched for the rest of the course. Modules 15 and 17 both need to wrap every call the model makes; getting that seam right now is the difference between adding a decorator later and reopening every tool file. We start from the Module 4 folder: Module 3's project layout and ICodingAgent, and Module 4's IWorkspace. Module 4's first exercise, wiring the workspace root into startup, is delivered here, because the first tool is what finally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package, in MiniCode.Tools: Microsoft.Extensions.AI 10.10.0, for AIFunctionFactory, AIFunction, AITool and DelegatingAIFunction. It goes in MiniCode.Tools, not MiniCode.Agent: tool definitions are the Tools project's job. Currency note: tools are built with AIFunctionFactory.Create, which reads the method signature and its description to produce the JSON schema the model sees. AIFunction.InvokeAsync is not virtual; the extension point is protected virtual InvokeCoreAsync, and Microsoft.Extensions.AI ships a concrete DelegatingAIFunction to derive from. Older samples hand-roll an AIFunction subclass; that is no longer necessary. And ChatClientAgent wires up function invocation itself, so you do not need UseFunctionInvocation() on the IChatClient.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is a C# method the model is allowed to call. You write an ordinary method; AIFunctionFactory.Create turns it into an AIFunction by reading its parameters and the description you supply. The description is not documentation: it is the model's only instruction on when and how to call the thing, and a vague one produces a tool the model misuses. Our first tool, workspace_root, has one job. It exists so you can watch a tool call happen end to end, and because its description is where the model is told that every other path is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never calls your code directly. It emits a request to call a named function. The framework matches the name, binds the arguments, invokes the function, and feeds the return value back into the conversation as a result the model then reasons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Later we will need to intervene in every call. Module 15 puts a human in front of dangerous operations. Module 17 records what happened. Both need to sit between 'the model asked' and 'the code ran', for every tool, including ones not written yet. The naive approach fails, and it fails silently. If each tool asks for approval itself, then approval is only as good as the least careful tool author, and adding logging means editing every file again. The alternative, one chokepoint, is worth arranging before there are tools to retrofit.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put a chokepoint just anywhere, because MAF does not call us. It calls the function object it was handed at agent-construction time. A gate placed anywhere else is a gate the framework routes around. So the interception has to live in the function object itself. DelegatingAIFunction is exactly that hook. It forwards the name, description and JSON schema to the function it wraps, so the model sees an identical tool, and leaves one method, InvokeCoreAsync, for us to override. The invocation carries the inner, undecorated function, which is what prevents infinite recursion: pass the wrapper and the innermost invoker would re-enter the chain forever. ToolCatalog's Intercept method is private, and every entry in GetTools goes through it, so 'no tool bypasses the seam' is a property of the code rather than a convention. ToolInvocation is deliberately thin, a function and its arguments, so an interceptor never needs to know which tool it is 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seam's contract: an interceptor must never throw. Its return value goes into the model's context. With the framework's defaults, an escaping exception reaches the model as the bare string 'Error: Function failed.' and a few in a row end the run, so the agent loses its turn and learns nothing. A refusal has to be a sentence the model can act on. Today the chain has one link: DirectToolInvoker runs the tool, and it is where the never-throw rule is enforced rather than merely stated. A tool's own bug becomes 'read_file failed: Access to the path is denied.', text the model can react to. The one exception is cancellation: an abandoned run is not a tool failure, so that propagates. That is deliberately boring. The point of this Module is that later invokers wrap this one and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a second invoker and compose it. Create src/MiniCode.Tools/CountingToolInvoker.cs that wraps another IToolInvoker, counts the calls it sees, and passes each one through unchanged. Then in CodingAgentFactory, build the catalog with a CountingToolInvoker around a DirectToolInvoker, and print the count when the session ends. Acceptance criteria: the model's behaviour is identical, because the wrapper changes nothing the model can observe. Asking MiniCode where it is working increments the count by exactly one. The counting invoker does not throw, even if the inner one returns a failure sentence. No file in MiniCode.Tools other than your new one changes. That last criterion is the real lesson: you just added cross-cutting behaviour to every tool in the system without opening a single tool. Module 15 does the same thing with an approval prompt, and Module 17 with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with the workspace root as the first argument. The banner line Workspace: D:\Repos\CustomerPortal is Module 4's first exercise, delivered. Ask 'Which repository are you working in?' and the answer names the root. Short, and the interesting part is invisible: answering that question required the model to decide it needed a tool, emit a call to workspace_root, and read the result back. The call travelled through InterceptedFunction into DirectToolInvoker, the same path that will carry an approval prompt in Module 15 and a trace line in Module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the seam goes. In Module 5b, list_files, read_file and search_files are registered through the same private Intercept, and the never-throw rule means a sandbox refusal reaches the model as a sentence without any error-handling code in the tools. Then the seam gets wrapped, never edited. Module 12's LoopGuardInvoker stops a chain of calls that never converges. Module 15's ApprovalInvoker asks a human before calls that change something. Module 17's TracingInvoker logs every call and its duration. And because cancellation propagates instead of becoming a failure sentence, Module 16a can make Ctrl+C end a turn rather than the process. This ships in the Phase 1 Capstone, Repository Explorer, version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MODULE 5A  ·  PHASE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The Interception Seam</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Giving the Agent Read Access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050" dirty="0">
                <a:solidFill>
                  <a:srgbClr val="FFFFFF"/>
                </a:solidFill>
                <a:latin typeface="Courier New" pitchFamily="34" charset="0"/>
                <a:ea typeface="Courier New" pitchFamily="34" charset="-122"/>
                <a:cs typeface="Courier New" pitchFamily="34" charset="-120"/>
              </a:rPr>
              <a:t>Module04-BuildingTheWorkspaceSandbox/</a:t>
            </a:r>
            <a:endParaRPr lang="en-US" sz="105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Module05a-TheInterceptionSeam/</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Turning a C# method into a tool the model can call</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What happens between the model's request and your code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Why every tool call needs one chokepoint</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Building that chokepoint with DelegatingAIFunction</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The never-throw rule for anything in the chain</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5a — The Interception Seam</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package, in MiniCode.Tools</a:t>
            </a:r>
            <a:endParaRPr lang="en-US" sz="2800" dirty="0"/>
          </a:p>
        </p:txBody>
      </p:sp>
      <p:sp>
        <p:nvSpPr>
          <p:cNvPr id="4" name="Shape 2"/>
          <p:cNvSpPr/>
          <p:nvPr/>
        </p:nvSpPr>
        <p:spPr>
          <a:xfrm>
            <a:off x="457200" y="1371600"/>
            <a:ext cx="2560320" cy="1737360"/>
          </a:xfrm>
          <a:prstGeom prst="roundRect">
            <a:avLst>
              <a:gd name="adj" fmla="val 4211"/>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Microsoft.Extensions.AI</a:t>
            </a:r>
            <a:endParaRPr lang="en-US" sz="1300" dirty="0"/>
          </a:p>
        </p:txBody>
      </p:sp>
      <p:sp>
        <p:nvSpPr>
          <p:cNvPr id="8" name="Text 5"/>
          <p:cNvSpPr txBox="1"/>
          <p:nvPr/>
        </p:nvSpPr>
        <p:spPr>
          <a:xfrm>
            <a:off x="640080" y="2057400"/>
            <a:ext cx="2194560" cy="9601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10.10.0, in MiniCode.Tools. Tool definitions are the Tools project's job.</a:t>
            </a:r>
            <a:endParaRPr lang="en-US" sz="1200" dirty="0"/>
          </a:p>
        </p:txBody>
      </p:sp>
      <p:sp>
        <p:nvSpPr>
          <p:cNvPr id="9" name="Shape 6"/>
          <p:cNvSpPr/>
          <p:nvPr/>
        </p:nvSpPr>
        <p:spPr>
          <a:xfrm>
            <a:off x="3291840" y="1371600"/>
            <a:ext cx="2560320" cy="1737360"/>
          </a:xfrm>
          <a:prstGeom prst="roundRect">
            <a:avLst>
              <a:gd name="adj" fmla="val 4211"/>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Not virtual</a:t>
            </a:r>
            <a:endParaRPr lang="en-US" sz="1500" dirty="0"/>
          </a:p>
        </p:txBody>
      </p:sp>
      <p:sp>
        <p:nvSpPr>
          <p:cNvPr id="13" name="Text 9"/>
          <p:cNvSpPr txBox="1"/>
          <p:nvPr/>
        </p:nvSpPr>
        <p:spPr>
          <a:xfrm>
            <a:off x="3474720" y="2057400"/>
            <a:ext cx="21945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AIFunction.InvokeAsync isn't. Override InvokeCoreAsync via DelegatingAIFunction.</a:t>
            </a:r>
            <a:endParaRPr lang="en-US" sz="1200" dirty="0"/>
          </a:p>
        </p:txBody>
      </p:sp>
      <p:sp>
        <p:nvSpPr>
          <p:cNvPr id="14" name="Shape 10"/>
          <p:cNvSpPr/>
          <p:nvPr/>
        </p:nvSpPr>
        <p:spPr>
          <a:xfrm>
            <a:off x="6126480" y="1371600"/>
            <a:ext cx="2560320" cy="1737360"/>
          </a:xfrm>
          <a:prstGeom prst="roundRect">
            <a:avLst>
              <a:gd name="adj" fmla="val 4211"/>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No extra wiring</a:t>
            </a:r>
            <a:endParaRPr lang="en-US" sz="1500" dirty="0"/>
          </a:p>
        </p:txBody>
      </p:sp>
      <p:sp>
        <p:nvSpPr>
          <p:cNvPr id="18" name="Text 13"/>
          <p:cNvSpPr txBox="1"/>
          <p:nvPr/>
        </p:nvSpPr>
        <p:spPr>
          <a:xfrm>
            <a:off x="6309360" y="2057400"/>
            <a:ext cx="21945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ChatClientAgent invokes functions itself. No UseFunctionInvocation().</a:t>
            </a:r>
            <a:endParaRPr lang="en-US" sz="1200" dirty="0"/>
          </a:p>
        </p:txBody>
      </p:sp>
      <p:sp>
        <p:nvSpPr>
          <p:cNvPr id="19" name="Text 14"/>
          <p:cNvSpPr txBox="1"/>
          <p:nvPr/>
        </p:nvSpPr>
        <p:spPr>
          <a:xfrm>
            <a:off x="457200" y="33375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Older samples hand-roll an AIFunction subclass. That is no longer necessary.</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tool is a C# method the model may call</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685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AIFunctionFactory</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.Create</a:t>
            </a:r>
            <a:endParaRPr lang="en-US" sz="1600" dirty="0"/>
          </a:p>
        </p:txBody>
      </p:sp>
      <p:sp>
        <p:nvSpPr>
          <p:cNvPr id="8" name="Text 5"/>
          <p:cNvSpPr txBox="1"/>
          <p:nvPr/>
        </p:nvSpPr>
        <p:spPr>
          <a:xfrm>
            <a:off x="685800" y="2990088"/>
            <a:ext cx="2057400"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Turns an ordinary method into an AIFunction.</a:t>
            </a:r>
            <a:endParaRPr lang="en-US" sz="12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 method</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Ordinary C#: workspace_root returns the root</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Description</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model's only instruction on when and how to call it</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Schema</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Read from the parameters, sent to the model</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 vague description produces a tool the model misuses.</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model never calls your code</a:t>
            </a:r>
            <a:endParaRPr lang="en-US" sz="2800" dirty="0"/>
          </a:p>
        </p:txBody>
      </p:sp>
      <p:sp>
        <p:nvSpPr>
          <p:cNvPr id="4" name="Shape 2"/>
          <p:cNvSpPr/>
          <p:nvPr/>
        </p:nvSpPr>
        <p:spPr>
          <a:xfrm>
            <a:off x="457200" y="1417320"/>
            <a:ext cx="1796796" cy="1993392"/>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Model</a:t>
            </a:r>
            <a:endParaRPr lang="en-US" sz="1500" dirty="0"/>
          </a:p>
        </p:txBody>
      </p:sp>
      <p:sp>
        <p:nvSpPr>
          <p:cNvPr id="8" name="Text 5"/>
          <p:cNvSpPr txBox="1"/>
          <p:nvPr/>
        </p:nvSpPr>
        <p:spPr>
          <a:xfrm>
            <a:off x="640080"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Emits a request to call a named function</a:t>
            </a:r>
            <a:endParaRPr lang="en-US" sz="1200" dirty="0"/>
          </a:p>
        </p:txBody>
      </p:sp>
      <p:sp>
        <p:nvSpPr>
          <p:cNvPr id="9" name="Shape 6"/>
          <p:cNvSpPr/>
          <p:nvPr/>
        </p:nvSpPr>
        <p:spPr>
          <a:xfrm>
            <a:off x="2318004"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1993392"/>
          </a:xfrm>
          <a:prstGeom prst="roundRect">
            <a:avLst>
              <a:gd name="adj" fmla="val 4071"/>
            </a:avLst>
          </a:prstGeom>
          <a:solidFill>
            <a:srgbClr val="EFEBFC"/>
          </a:solidFill>
          <a:ln w="12700">
            <a:solidFill>
              <a:srgbClr val="EFEBFC"/>
            </a:solidFill>
            <a:prstDash val="solid"/>
          </a:ln>
        </p:spPr>
      </p:sp>
      <p:sp>
        <p:nvSpPr>
          <p:cNvPr id="11" name="Shape 8"/>
          <p:cNvSpPr/>
          <p:nvPr/>
        </p:nvSpPr>
        <p:spPr>
          <a:xfrm>
            <a:off x="2784348"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Framework</a:t>
            </a:r>
            <a:endParaRPr lang="en-US" sz="1500" dirty="0"/>
          </a:p>
        </p:txBody>
      </p:sp>
      <p:sp>
        <p:nvSpPr>
          <p:cNvPr id="14" name="Text 10"/>
          <p:cNvSpPr txBox="1"/>
          <p:nvPr/>
        </p:nvSpPr>
        <p:spPr>
          <a:xfrm>
            <a:off x="2784348"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Matches the name, binds the arguments</a:t>
            </a:r>
            <a:endParaRPr lang="en-US" sz="1200" dirty="0"/>
          </a:p>
        </p:txBody>
      </p:sp>
      <p:sp>
        <p:nvSpPr>
          <p:cNvPr id="15" name="Shape 11"/>
          <p:cNvSpPr/>
          <p:nvPr/>
        </p:nvSpPr>
        <p:spPr>
          <a:xfrm>
            <a:off x="4462272"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1993392"/>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Function</a:t>
            </a:r>
            <a:endParaRPr lang="en-US" sz="1500" dirty="0"/>
          </a:p>
        </p:txBody>
      </p:sp>
      <p:sp>
        <p:nvSpPr>
          <p:cNvPr id="20" name="Text 15"/>
          <p:cNvSpPr txBox="1"/>
          <p:nvPr/>
        </p:nvSpPr>
        <p:spPr>
          <a:xfrm>
            <a:off x="4928616"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Runs, and returns a value</a:t>
            </a:r>
            <a:endParaRPr lang="en-US" sz="1200" dirty="0"/>
          </a:p>
        </p:txBody>
      </p:sp>
      <p:sp>
        <p:nvSpPr>
          <p:cNvPr id="21" name="Shape 16"/>
          <p:cNvSpPr/>
          <p:nvPr/>
        </p:nvSpPr>
        <p:spPr>
          <a:xfrm>
            <a:off x="6606540"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1993392"/>
          </a:xfrm>
          <a:prstGeom prst="roundRect">
            <a:avLst>
              <a:gd name="adj" fmla="val 4071"/>
            </a:avLst>
          </a:prstGeom>
          <a:solidFill>
            <a:srgbClr val="EFEBFC"/>
          </a:solidFill>
          <a:ln w="12700">
            <a:solidFill>
              <a:srgbClr val="EFEBFC"/>
            </a:solidFill>
            <a:prstDash val="solid"/>
          </a:ln>
        </p:spPr>
      </p:sp>
      <p:sp>
        <p:nvSpPr>
          <p:cNvPr id="23" name="Shape 18"/>
          <p:cNvSpPr/>
          <p:nvPr/>
        </p:nvSpPr>
        <p:spPr>
          <a:xfrm>
            <a:off x="7072884"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Result</a:t>
            </a:r>
            <a:endParaRPr lang="en-US" sz="1500" dirty="0"/>
          </a:p>
        </p:txBody>
      </p:sp>
      <p:sp>
        <p:nvSpPr>
          <p:cNvPr id="26" name="Text 20"/>
          <p:cNvSpPr txBox="1"/>
          <p:nvPr/>
        </p:nvSpPr>
        <p:spPr>
          <a:xfrm>
            <a:off x="7072884"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Fed back into the conversation to reason about</a:t>
            </a:r>
            <a:endParaRPr lang="en-US" sz="1200" dirty="0"/>
          </a:p>
        </p:txBody>
      </p:sp>
      <p:sp>
        <p:nvSpPr>
          <p:cNvPr id="27" name="Text 2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8" name="Text 2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Every call needs one chokepoint</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Each tool gates itself</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Only as good as the least careful tool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Adding logging means editing every file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Fails silently</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One chokepoint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Between "the model asked" and "the code ran"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Covers tools not written yet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Arranged before there is anything to retrofit</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Module 15 puts a human in front of dangerous calls. Module 17 records them.</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chokepoint lives in the function object</a:t>
            </a:r>
            <a:endParaRPr lang="en-US" sz="2800" dirty="0"/>
          </a:p>
        </p:txBody>
      </p:sp>
      <p:sp>
        <p:nvSpPr>
          <p:cNvPr id="4" name="Shape 2"/>
          <p:cNvSpPr/>
          <p:nvPr/>
        </p:nvSpPr>
        <p:spPr>
          <a:xfrm>
            <a:off x="457200" y="1417320"/>
            <a:ext cx="1796796" cy="2414016"/>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6400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MAF</a:t>
            </a:r>
            <a:endParaRPr lang="en-US" sz="1500" dirty="0"/>
          </a:p>
        </p:txBody>
      </p:sp>
      <p:sp>
        <p:nvSpPr>
          <p:cNvPr id="8" name="Text 5"/>
          <p:cNvSpPr txBox="1"/>
          <p:nvPr/>
        </p:nvSpPr>
        <p:spPr>
          <a:xfrm>
            <a:off x="640080" y="28346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Calls the function object it was handed at construction</a:t>
            </a:r>
            <a:endParaRPr lang="en-US" sz="1200" dirty="0"/>
          </a:p>
        </p:txBody>
      </p:sp>
      <p:sp>
        <p:nvSpPr>
          <p:cNvPr id="9" name="Shape 6"/>
          <p:cNvSpPr/>
          <p:nvPr/>
        </p:nvSpPr>
        <p:spPr>
          <a:xfrm>
            <a:off x="2318004" y="2514600"/>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2414016"/>
          </a:xfrm>
          <a:prstGeom prst="roundRect">
            <a:avLst>
              <a:gd name="adj" fmla="val 4071"/>
            </a:avLst>
          </a:prstGeom>
          <a:solidFill>
            <a:srgbClr val="512BD4"/>
          </a:solidFill>
          <a:ln w="12700">
            <a:solidFill>
              <a:srgbClr val="512BD4"/>
            </a:solidFill>
            <a:prstDash val="solid"/>
          </a:ln>
        </p:spPr>
      </p:sp>
      <p:sp>
        <p:nvSpPr>
          <p:cNvPr id="11" name="Shape 8"/>
          <p:cNvSpPr/>
          <p:nvPr/>
        </p:nvSpPr>
        <p:spPr>
          <a:xfrm>
            <a:off x="2784348" y="1618488"/>
            <a:ext cx="457200" cy="45720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6400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InterceptedFunction</a:t>
            </a:r>
            <a:endParaRPr lang="en-US" sz="1300" dirty="0"/>
          </a:p>
        </p:txBody>
      </p:sp>
      <p:sp>
        <p:nvSpPr>
          <p:cNvPr id="14" name="Text 10"/>
          <p:cNvSpPr txBox="1"/>
          <p:nvPr/>
        </p:nvSpPr>
        <p:spPr>
          <a:xfrm>
            <a:off x="2784348" y="2834640"/>
            <a:ext cx="1476756"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DelegatingAIFunction: same name, description and schema</a:t>
            </a:r>
            <a:endParaRPr lang="en-US" sz="1200" dirty="0"/>
          </a:p>
        </p:txBody>
      </p:sp>
      <p:sp>
        <p:nvSpPr>
          <p:cNvPr id="15" name="Shape 11"/>
          <p:cNvSpPr/>
          <p:nvPr/>
        </p:nvSpPr>
        <p:spPr>
          <a:xfrm>
            <a:off x="4462272" y="2514600"/>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2414016"/>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6400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IToolInvoker</a:t>
            </a:r>
            <a:endParaRPr lang="en-US" sz="1500" dirty="0"/>
          </a:p>
        </p:txBody>
      </p:sp>
      <p:sp>
        <p:nvSpPr>
          <p:cNvPr id="20" name="Text 15"/>
          <p:cNvSpPr txBox="1"/>
          <p:nvPr/>
        </p:nvSpPr>
        <p:spPr>
          <a:xfrm>
            <a:off x="4928616" y="28346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Runs, refuses or observes the call</a:t>
            </a:r>
            <a:endParaRPr lang="en-US" sz="1200" dirty="0"/>
          </a:p>
        </p:txBody>
      </p:sp>
      <p:sp>
        <p:nvSpPr>
          <p:cNvPr id="21" name="Shape 16"/>
          <p:cNvSpPr/>
          <p:nvPr/>
        </p:nvSpPr>
        <p:spPr>
          <a:xfrm>
            <a:off x="6606540" y="2514600"/>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2414016"/>
          </a:xfrm>
          <a:prstGeom prst="roundRect">
            <a:avLst>
              <a:gd name="adj" fmla="val 4071"/>
            </a:avLst>
          </a:prstGeom>
          <a:solidFill>
            <a:srgbClr val="EFEBFC"/>
          </a:solidFill>
          <a:ln w="12700">
            <a:solidFill>
              <a:srgbClr val="EFEBFC"/>
            </a:solidFill>
            <a:prstDash val="solid"/>
          </a:ln>
        </p:spPr>
      </p:sp>
      <p:sp>
        <p:nvSpPr>
          <p:cNvPr id="23" name="Shape 18"/>
          <p:cNvSpPr/>
          <p:nvPr/>
        </p:nvSpPr>
        <p:spPr>
          <a:xfrm>
            <a:off x="7072884"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6400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Inner function</a:t>
            </a:r>
            <a:endParaRPr lang="en-US" sz="1500" dirty="0"/>
          </a:p>
        </p:txBody>
      </p:sp>
      <p:sp>
        <p:nvSpPr>
          <p:cNvPr id="26" name="Text 20"/>
          <p:cNvSpPr txBox="1"/>
          <p:nvPr/>
        </p:nvSpPr>
        <p:spPr>
          <a:xfrm>
            <a:off x="7072884" y="2834640"/>
            <a:ext cx="1476756"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undecorated tool, run once</a:t>
            </a:r>
            <a:endParaRPr lang="en-US" sz="1200" dirty="0"/>
          </a:p>
        </p:txBody>
      </p:sp>
      <p:sp>
        <p:nvSpPr>
          <p:cNvPr id="27" name="Text 21"/>
          <p:cNvSpPr txBox="1"/>
          <p:nvPr/>
        </p:nvSpPr>
        <p:spPr>
          <a:xfrm>
            <a:off x="457200" y="41513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ToolCatalog wraps every tool, so no unwrapped one can exist.</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one link today, and it never throws</a:t>
            </a:r>
            <a:endParaRPr lang="en-US" sz="2800" dirty="0"/>
          </a:p>
        </p:txBody>
      </p:sp>
      <p:sp>
        <p:nvSpPr>
          <p:cNvPr id="4" name="Shape 2"/>
          <p:cNvSpPr/>
          <p:nvPr/>
        </p:nvSpPr>
        <p:spPr>
          <a:xfrm>
            <a:off x="457200" y="1371600"/>
            <a:ext cx="3931920" cy="2286000"/>
          </a:xfrm>
          <a:prstGeom prst="roundRect">
            <a:avLst>
              <a:gd name="adj" fmla="val 32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An exception escapes</a:t>
            </a:r>
            <a:endParaRPr lang="en-US" sz="1700" dirty="0"/>
          </a:p>
        </p:txBody>
      </p:sp>
      <p:sp>
        <p:nvSpPr>
          <p:cNvPr id="8" name="Text 5"/>
          <p:cNvSpPr txBox="1"/>
          <p:nvPr/>
        </p:nvSpPr>
        <p:spPr>
          <a:xfrm>
            <a:off x="68580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few in a row end the run</a:t>
            </a:r>
            <a:endParaRPr lang="en-US" sz="1300" dirty="0"/>
          </a:p>
        </p:txBody>
      </p:sp>
      <p:sp>
        <p:nvSpPr>
          <p:cNvPr id="9" name="Shape 6"/>
          <p:cNvSpPr/>
          <p:nvPr/>
        </p:nvSpPr>
        <p:spPr>
          <a:xfrm>
            <a:off x="685800" y="2633472"/>
            <a:ext cx="3474720" cy="822960"/>
          </a:xfrm>
          <a:prstGeom prst="roundRect">
            <a:avLst>
              <a:gd name="adj" fmla="val 8889"/>
            </a:avLst>
          </a:prstGeom>
          <a:solidFill>
            <a:srgbClr val="0F1420"/>
          </a:solidFill>
          <a:ln w="12700">
            <a:solidFill>
              <a:srgbClr val="0F1420"/>
            </a:solidFill>
            <a:prstDash val="solid"/>
          </a:ln>
        </p:spPr>
      </p:sp>
      <p:sp>
        <p:nvSpPr>
          <p:cNvPr id="10" name="Text 7"/>
          <p:cNvSpPr txBox="1"/>
          <p:nvPr/>
        </p:nvSpPr>
        <p:spPr>
          <a:xfrm>
            <a:off x="868680" y="2770632"/>
            <a:ext cx="3108960" cy="548640"/>
          </a:xfrm>
          <a:prstGeom prst="rect">
            <a:avLst/>
          </a:prstGeom>
          <a:noFill/>
          <a:ln/>
        </p:spPr>
        <p:txBody>
          <a:bodyPr wrap="square" lIns="0" tIns="0" rIns="0" bIns="0" rtlCol="0" anchor="t"/>
          <a:lstStyle/>
          <a:p>
            <a:pPr indent="0" marL="0">
              <a:buNone/>
            </a:pPr>
            <a:r>
              <a:rPr lang="en-US" sz="1100" dirty="0">
                <a:solidFill>
                  <a:srgbClr val="FF9B9B"/>
                </a:solidFill>
                <a:latin typeface="Courier New" pitchFamily="34" charset="0"/>
                <a:ea typeface="Courier New" pitchFamily="34" charset="-122"/>
                <a:cs typeface="Courier New" pitchFamily="34" charset="-120"/>
              </a:rPr>
              <a:t>Error: Function failed.</a:t>
            </a:r>
            <a:endParaRPr lang="en-US" sz="1100" dirty="0"/>
          </a:p>
        </p:txBody>
      </p:sp>
      <p:sp>
        <p:nvSpPr>
          <p:cNvPr id="11" name="Shape 8"/>
          <p:cNvSpPr/>
          <p:nvPr/>
        </p:nvSpPr>
        <p:spPr>
          <a:xfrm>
            <a:off x="4754880" y="1371600"/>
            <a:ext cx="3931920" cy="2286000"/>
          </a:xfrm>
          <a:prstGeom prst="roundRect">
            <a:avLst>
              <a:gd name="adj" fmla="val 3200"/>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16A34A"/>
          </a:solidFill>
          <a:ln w="12700">
            <a:solidFill>
              <a:srgbClr val="16A34A"/>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DirectToolInvoker</a:t>
            </a:r>
            <a:endParaRPr lang="en-US" sz="1700" dirty="0"/>
          </a:p>
        </p:txBody>
      </p:sp>
      <p:sp>
        <p:nvSpPr>
          <p:cNvPr id="15" name="Text 11"/>
          <p:cNvSpPr txBox="1"/>
          <p:nvPr/>
        </p:nvSpPr>
        <p:spPr>
          <a:xfrm>
            <a:off x="498348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Turns the exception into a sentence</a:t>
            </a:r>
            <a:endParaRPr lang="en-US" sz="1300" dirty="0"/>
          </a:p>
        </p:txBody>
      </p:sp>
      <p:sp>
        <p:nvSpPr>
          <p:cNvPr id="16" name="Shape 12"/>
          <p:cNvSpPr/>
          <p:nvPr/>
        </p:nvSpPr>
        <p:spPr>
          <a:xfrm>
            <a:off x="4983480" y="2633472"/>
            <a:ext cx="3474720" cy="822960"/>
          </a:xfrm>
          <a:prstGeom prst="roundRect">
            <a:avLst>
              <a:gd name="adj" fmla="val 8889"/>
            </a:avLst>
          </a:prstGeom>
          <a:solidFill>
            <a:srgbClr val="0F1420"/>
          </a:solidFill>
          <a:ln w="12700">
            <a:solidFill>
              <a:srgbClr val="0F1420"/>
            </a:solidFill>
            <a:prstDash val="solid"/>
          </a:ln>
        </p:spPr>
      </p:sp>
      <p:sp>
        <p:nvSpPr>
          <p:cNvPr id="17" name="Text 13"/>
          <p:cNvSpPr txBox="1"/>
          <p:nvPr/>
        </p:nvSpPr>
        <p:spPr>
          <a:xfrm>
            <a:off x="5166360" y="2770632"/>
            <a:ext cx="3108960" cy="548640"/>
          </a:xfrm>
          <a:prstGeom prst="rect">
            <a:avLst/>
          </a:prstGeom>
          <a:noFill/>
          <a:ln/>
        </p:spPr>
        <p:txBody>
          <a:bodyPr wrap="square" lIns="0" tIns="0" rIns="0" bIns="0" rtlCol="0" anchor="t"/>
          <a:lstStyle/>
          <a:p>
            <a:pPr indent="0" marL="0">
              <a:buNone/>
            </a:pPr>
            <a:r>
              <a:rPr lang="en-US" sz="1100" dirty="0">
                <a:solidFill>
                  <a:srgbClr val="9FE6B8"/>
                </a:solidFill>
                <a:latin typeface="Courier New" pitchFamily="34" charset="0"/>
                <a:ea typeface="Courier New" pitchFamily="34" charset="-122"/>
                <a:cs typeface="Courier New" pitchFamily="34" charset="-120"/>
              </a:rPr>
              <a:t>read_file failed: Access to</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the path is denied.</a:t>
            </a:r>
            <a:endParaRPr lang="en-US" sz="1100" dirty="0"/>
          </a:p>
        </p:txBody>
      </p:sp>
      <p:sp>
        <p:nvSpPr>
          <p:cNvPr id="18" name="Text 14"/>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Cancellation is the exception: an abandoned run still propagates.</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Write a second invoker and compose it</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 CountingToolInvoker wraps another IToolInvoker, counts the calls it sees, and passes each one through unchanged.</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src/MiniCode.Tools/CountingToolInvoker.cs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model's behaviour is identical: the wrapper changes nothing it can observe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Asking where MiniCode is working increments the count by exactly one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It does not throw, even when the inner invoker returns a failure sentence</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No other file in MiniCode.Tools changes</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OUTPUT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first tool call</a:t>
            </a:r>
            <a:endParaRPr lang="en-US" sz="2800" dirty="0"/>
          </a:p>
        </p:txBody>
      </p:sp>
      <p:sp>
        <p:nvSpPr>
          <p:cNvPr id="4" name="Shape 2"/>
          <p:cNvSpPr/>
          <p:nvPr/>
        </p:nvSpPr>
        <p:spPr>
          <a:xfrm>
            <a:off x="457200" y="1325880"/>
            <a:ext cx="5257800" cy="2377440"/>
          </a:xfrm>
          <a:prstGeom prst="roundRect">
            <a:avLst>
              <a:gd name="adj" fmla="val 3077"/>
            </a:avLst>
          </a:prstGeom>
          <a:solidFill>
            <a:srgbClr val="0F1420"/>
          </a:solidFill>
          <a:ln w="12700">
            <a:solidFill>
              <a:srgbClr val="0F1420"/>
            </a:solidFill>
            <a:prstDash val="solid"/>
          </a:ln>
        </p:spPr>
      </p:sp>
      <p:sp>
        <p:nvSpPr>
          <p:cNvPr id="5" name="Text 3"/>
          <p:cNvSpPr txBox="1"/>
          <p:nvPr/>
        </p:nvSpPr>
        <p:spPr>
          <a:xfrm>
            <a:off x="640080" y="1463040"/>
            <a:ext cx="4892040" cy="2103120"/>
          </a:xfrm>
          <a:prstGeom prst="rect">
            <a:avLst/>
          </a:prstGeom>
          <a:noFill/>
          <a:ln/>
        </p:spPr>
        <p:txBody>
          <a:bodyPr wrap="square" lIns="0" tIns="0" rIns="0" bIns="0" rtlCol="0" anchor="t"/>
          <a:lstStyle/>
          <a:p>
            <a:pPr indent="0" marL="0">
              <a:buNone/>
            </a:pPr>
            <a:r>
              <a:rPr lang="en-US" sz="900" dirty="0">
                <a:solidFill>
                  <a:srgbClr val="D7E3F4"/>
                </a:solidFill>
                <a:latin typeface="Courier New" pitchFamily="34" charset="0"/>
                <a:ea typeface="Courier New" pitchFamily="34" charset="-122"/>
                <a:cs typeface="Courier New" pitchFamily="34" charset="-120"/>
              </a:rPr>
              <a:t>&gt; dotnet run --project src/MiniCode.Cli -- D:\Repos\CustomerPortal</a:t>
            </a:r>
            <a:endParaRPr lang="en-US" sz="900" dirty="0"/>
          </a:p>
          <a:p>
            <a:pPr indent="0" marL="0">
              <a:buNone/>
            </a:pPr>
            <a:r>
              <a:rPr lang="en-US" sz="900" dirty="0">
                <a:solidFill>
                  <a:srgbClr val="D7E3F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D7E3F4"/>
                </a:solidFill>
                <a:latin typeface="Courier New" pitchFamily="34" charset="0"/>
                <a:ea typeface="Courier New" pitchFamily="34" charset="-122"/>
                <a:cs typeface="Courier New" pitchFamily="34" charset="-120"/>
              </a:rPr>
              <a:t>Workspace: D:\Repos\CustomerPortal</a:t>
            </a:r>
            <a:endParaRPr lang="en-US" sz="900" dirty="0"/>
          </a:p>
          <a:p>
            <a:pPr indent="0" marL="0">
              <a:buNone/>
            </a:pPr>
            <a:r>
              <a:rPr lang="en-US" sz="900" dirty="0">
                <a:solidFill>
                  <a:srgbClr val="D7E3F4"/>
                </a:solidFill>
                <a:latin typeface="Courier New" pitchFamily="34" charset="0"/>
                <a:ea typeface="Courier New" pitchFamily="34" charset="-122"/>
                <a:cs typeface="Courier New" pitchFamily="34" charset="-120"/>
              </a:rPr>
              <a:t>MiniCode. Type 'exit' to quit.</a:t>
            </a:r>
            <a:endParaRPr lang="en-US" sz="900" dirty="0"/>
          </a:p>
          <a:p>
            <a:pPr indent="0" marL="0">
              <a:buNone/>
            </a:pPr>
            <a:r>
              <a:rPr lang="en-US" sz="900" dirty="0">
                <a:solidFill>
                  <a:srgbClr val="D7E3F4"/>
                </a:solidFill>
                <a:latin typeface="Courier New" pitchFamily="34" charset="0"/>
                <a:ea typeface="Courier New" pitchFamily="34" charset="-122"/>
                <a:cs typeface="Courier New" pitchFamily="34" charset="-120"/>
              </a:rPr>
              <a:t> </a:t>
            </a:r>
            <a:endParaRPr lang="en-US" sz="900" dirty="0"/>
          </a:p>
          <a:p>
            <a:pPr indent="0" marL="0">
              <a:buNone/>
            </a:pPr>
            <a:r>
              <a:rPr lang="en-US" sz="900" b="1" dirty="0">
                <a:solidFill>
                  <a:srgbClr val="F5A623"/>
                </a:solidFill>
                <a:latin typeface="Courier New" pitchFamily="34" charset="0"/>
                <a:ea typeface="Courier New" pitchFamily="34" charset="-122"/>
                <a:cs typeface="Courier New" pitchFamily="34" charset="-120"/>
              </a:rPr>
              <a:t>&gt; Which repository are you working in?</a:t>
            </a:r>
            <a:endParaRPr lang="en-US" sz="900" dirty="0"/>
          </a:p>
          <a:p>
            <a:pPr indent="0" marL="0">
              <a:buNone/>
            </a:pPr>
            <a:r>
              <a:rPr lang="en-US" sz="900" dirty="0">
                <a:solidFill>
                  <a:srgbClr val="D7E3F4"/>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9FE6B8"/>
                </a:solidFill>
                <a:latin typeface="Courier New" pitchFamily="34" charset="0"/>
                <a:ea typeface="Courier New" pitchFamily="34" charset="-122"/>
                <a:cs typeface="Courier New" pitchFamily="34" charset="-120"/>
              </a:rPr>
              <a:t>I'm working in D:\Repos\CustomerPortal.</a:t>
            </a:r>
            <a:endParaRPr lang="en-US" sz="9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Decides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chooses to call a tool</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Calls</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workspace_root, and reads the result back</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Through the seam</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InterceptedFunction into DirectToolInvoker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5a — The Interception Seam</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355092"/>
          </a:xfrm>
          <a:prstGeom prst="roundRect">
            <a:avLst>
              <a:gd name="adj" fmla="val 20601"/>
            </a:avLst>
          </a:prstGeom>
          <a:solidFill>
            <a:srgbClr val="1F2943"/>
          </a:solidFill>
          <a:ln w="12700">
            <a:solidFill>
              <a:srgbClr val="1F2943"/>
            </a:solidFill>
            <a:prstDash val="solid"/>
          </a:ln>
        </p:spPr>
      </p:sp>
      <p:sp>
        <p:nvSpPr>
          <p:cNvPr id="5" name="Text 3"/>
          <p:cNvSpPr txBox="1"/>
          <p:nvPr/>
        </p:nvSpPr>
        <p:spPr>
          <a:xfrm>
            <a:off x="621792" y="12344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ToolCatalog registers tools</a:t>
            </a:r>
            <a:endParaRPr lang="en-US" sz="1300" dirty="0"/>
          </a:p>
        </p:txBody>
      </p:sp>
      <p:sp>
        <p:nvSpPr>
          <p:cNvPr id="6" name="Shape 4"/>
          <p:cNvSpPr/>
          <p:nvPr/>
        </p:nvSpPr>
        <p:spPr>
          <a:xfrm>
            <a:off x="3493008" y="1320546"/>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5b  </a:t>
            </a:r>
            <a:pPr indent="0" marL="0">
              <a:buNone/>
            </a:pPr>
            <a:r>
              <a:rPr lang="en-US" sz="1250" dirty="0">
                <a:solidFill>
                  <a:srgbClr val="FFFFFF"/>
                </a:solidFill>
                <a:latin typeface="Calibri" pitchFamily="34" charset="0"/>
                <a:ea typeface="Calibri" pitchFamily="34" charset="-122"/>
                <a:cs typeface="Calibri" pitchFamily="34" charset="-120"/>
              </a:rPr>
              <a:t>list_files, read_file and search_files join through the same Intercept</a:t>
            </a:r>
            <a:endParaRPr lang="en-US" sz="1250" dirty="0"/>
          </a:p>
        </p:txBody>
      </p:sp>
      <p:sp>
        <p:nvSpPr>
          <p:cNvPr id="8" name="Shape 6"/>
          <p:cNvSpPr/>
          <p:nvPr/>
        </p:nvSpPr>
        <p:spPr>
          <a:xfrm>
            <a:off x="457200" y="1699260"/>
            <a:ext cx="2926080" cy="355092"/>
          </a:xfrm>
          <a:prstGeom prst="roundRect">
            <a:avLst>
              <a:gd name="adj" fmla="val 20601"/>
            </a:avLst>
          </a:prstGeom>
          <a:solidFill>
            <a:srgbClr val="1F2943"/>
          </a:solidFill>
          <a:ln w="12700">
            <a:solidFill>
              <a:srgbClr val="1F2943"/>
            </a:solidFill>
            <a:prstDash val="solid"/>
          </a:ln>
        </p:spPr>
      </p:sp>
      <p:sp>
        <p:nvSpPr>
          <p:cNvPr id="9" name="Text 7"/>
          <p:cNvSpPr txBox="1"/>
          <p:nvPr/>
        </p:nvSpPr>
        <p:spPr>
          <a:xfrm>
            <a:off x="621792" y="169926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Never throw: refusals are text</a:t>
            </a:r>
            <a:endParaRPr lang="en-US" sz="1300" dirty="0"/>
          </a:p>
        </p:txBody>
      </p:sp>
      <p:sp>
        <p:nvSpPr>
          <p:cNvPr id="10" name="Shape 8"/>
          <p:cNvSpPr/>
          <p:nvPr/>
        </p:nvSpPr>
        <p:spPr>
          <a:xfrm>
            <a:off x="3493008" y="1785366"/>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69926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5b  </a:t>
            </a:r>
            <a:pPr indent="0" marL="0">
              <a:buNone/>
            </a:pPr>
            <a:r>
              <a:rPr lang="en-US" sz="1250" dirty="0">
                <a:solidFill>
                  <a:srgbClr val="FFFFFF"/>
                </a:solidFill>
                <a:latin typeface="Calibri" pitchFamily="34" charset="0"/>
                <a:ea typeface="Calibri" pitchFamily="34" charset="-122"/>
                <a:cs typeface="Calibri" pitchFamily="34" charset="-120"/>
              </a:rPr>
              <a:t>Sandbox refusals reach the model as sentences, with no error code in the tools</a:t>
            </a:r>
            <a:endParaRPr lang="en-US" sz="1250" dirty="0"/>
          </a:p>
        </p:txBody>
      </p:sp>
      <p:sp>
        <p:nvSpPr>
          <p:cNvPr id="12" name="Shape 10"/>
          <p:cNvSpPr/>
          <p:nvPr/>
        </p:nvSpPr>
        <p:spPr>
          <a:xfrm>
            <a:off x="457200" y="2164080"/>
            <a:ext cx="2926080" cy="355092"/>
          </a:xfrm>
          <a:prstGeom prst="roundRect">
            <a:avLst>
              <a:gd name="adj" fmla="val 20601"/>
            </a:avLst>
          </a:prstGeom>
          <a:solidFill>
            <a:srgbClr val="1F2943"/>
          </a:solidFill>
          <a:ln w="12700">
            <a:solidFill>
              <a:srgbClr val="1F2943"/>
            </a:solidFill>
            <a:prstDash val="solid"/>
          </a:ln>
        </p:spPr>
      </p:sp>
      <p:sp>
        <p:nvSpPr>
          <p:cNvPr id="13" name="Text 11"/>
          <p:cNvSpPr txBox="1"/>
          <p:nvPr/>
        </p:nvSpPr>
        <p:spPr>
          <a:xfrm>
            <a:off x="621792" y="216408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Wrapped: a loop guard</a:t>
            </a:r>
            <a:endParaRPr lang="en-US" sz="1300" dirty="0"/>
          </a:p>
        </p:txBody>
      </p:sp>
      <p:sp>
        <p:nvSpPr>
          <p:cNvPr id="14" name="Shape 12"/>
          <p:cNvSpPr/>
          <p:nvPr/>
        </p:nvSpPr>
        <p:spPr>
          <a:xfrm>
            <a:off x="3493008" y="225018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16408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12  </a:t>
            </a:r>
            <a:pPr indent="0" marL="0">
              <a:buNone/>
            </a:pPr>
            <a:r>
              <a:rPr lang="en-US" sz="1250" dirty="0">
                <a:solidFill>
                  <a:srgbClr val="FFFFFF"/>
                </a:solidFill>
                <a:latin typeface="Calibri" pitchFamily="34" charset="0"/>
                <a:ea typeface="Calibri" pitchFamily="34" charset="-122"/>
                <a:cs typeface="Calibri" pitchFamily="34" charset="-120"/>
              </a:rPr>
              <a:t>LoopGuardInvoker wraps it to stop a chain that never converges</a:t>
            </a:r>
            <a:endParaRPr lang="en-US" sz="1250" dirty="0"/>
          </a:p>
        </p:txBody>
      </p:sp>
      <p:sp>
        <p:nvSpPr>
          <p:cNvPr id="16" name="Shape 14"/>
          <p:cNvSpPr/>
          <p:nvPr/>
        </p:nvSpPr>
        <p:spPr>
          <a:xfrm>
            <a:off x="457200" y="2628900"/>
            <a:ext cx="2926080" cy="355092"/>
          </a:xfrm>
          <a:prstGeom prst="roundRect">
            <a:avLst>
              <a:gd name="adj" fmla="val 20601"/>
            </a:avLst>
          </a:prstGeom>
          <a:solidFill>
            <a:srgbClr val="1F2943"/>
          </a:solidFill>
          <a:ln w="12700">
            <a:solidFill>
              <a:srgbClr val="1F2943"/>
            </a:solidFill>
            <a:prstDash val="solid"/>
          </a:ln>
        </p:spPr>
      </p:sp>
      <p:sp>
        <p:nvSpPr>
          <p:cNvPr id="17" name="Text 15"/>
          <p:cNvSpPr txBox="1"/>
          <p:nvPr/>
        </p:nvSpPr>
        <p:spPr>
          <a:xfrm>
            <a:off x="621792" y="262890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Wrapped: human approval</a:t>
            </a:r>
            <a:endParaRPr lang="en-US" sz="1300" dirty="0"/>
          </a:p>
        </p:txBody>
      </p:sp>
      <p:sp>
        <p:nvSpPr>
          <p:cNvPr id="18" name="Shape 16"/>
          <p:cNvSpPr/>
          <p:nvPr/>
        </p:nvSpPr>
        <p:spPr>
          <a:xfrm>
            <a:off x="3493008" y="2715006"/>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62890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15  </a:t>
            </a:r>
            <a:pPr indent="0" marL="0">
              <a:buNone/>
            </a:pPr>
            <a:r>
              <a:rPr lang="en-US" sz="1250" dirty="0">
                <a:solidFill>
                  <a:srgbClr val="FFFFFF"/>
                </a:solidFill>
                <a:latin typeface="Calibri" pitchFamily="34" charset="0"/>
                <a:ea typeface="Calibri" pitchFamily="34" charset="-122"/>
                <a:cs typeface="Calibri" pitchFamily="34" charset="-120"/>
              </a:rPr>
              <a:t>ApprovalInvoker asks a human before calls that change something</a:t>
            </a:r>
            <a:endParaRPr lang="en-US" sz="1250" dirty="0"/>
          </a:p>
        </p:txBody>
      </p:sp>
      <p:sp>
        <p:nvSpPr>
          <p:cNvPr id="20" name="Shape 18"/>
          <p:cNvSpPr/>
          <p:nvPr/>
        </p:nvSpPr>
        <p:spPr>
          <a:xfrm>
            <a:off x="457200" y="3093720"/>
            <a:ext cx="2926080" cy="355092"/>
          </a:xfrm>
          <a:prstGeom prst="roundRect">
            <a:avLst>
              <a:gd name="adj" fmla="val 20601"/>
            </a:avLst>
          </a:prstGeom>
          <a:solidFill>
            <a:srgbClr val="1F2943"/>
          </a:solidFill>
          <a:ln w="12700">
            <a:solidFill>
              <a:srgbClr val="1F2943"/>
            </a:solidFill>
            <a:prstDash val="solid"/>
          </a:ln>
        </p:spPr>
      </p:sp>
      <p:sp>
        <p:nvSpPr>
          <p:cNvPr id="21" name="Text 19"/>
          <p:cNvSpPr txBox="1"/>
          <p:nvPr/>
        </p:nvSpPr>
        <p:spPr>
          <a:xfrm>
            <a:off x="621792" y="309372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Wrapped: tracing</a:t>
            </a:r>
            <a:endParaRPr lang="en-US" sz="1300" dirty="0"/>
          </a:p>
        </p:txBody>
      </p:sp>
      <p:sp>
        <p:nvSpPr>
          <p:cNvPr id="22" name="Shape 20"/>
          <p:cNvSpPr/>
          <p:nvPr/>
        </p:nvSpPr>
        <p:spPr>
          <a:xfrm>
            <a:off x="3493008" y="3179826"/>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09372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17  </a:t>
            </a:r>
            <a:pPr indent="0" marL="0">
              <a:buNone/>
            </a:pPr>
            <a:r>
              <a:rPr lang="en-US" sz="1250" dirty="0">
                <a:solidFill>
                  <a:srgbClr val="FFFFFF"/>
                </a:solidFill>
                <a:latin typeface="Calibri" pitchFamily="34" charset="0"/>
                <a:ea typeface="Calibri" pitchFamily="34" charset="-122"/>
                <a:cs typeface="Calibri" pitchFamily="34" charset="-120"/>
              </a:rPr>
              <a:t>TracingInvoker logs every call and how long it took</a:t>
            </a:r>
            <a:endParaRPr lang="en-US" sz="1250" dirty="0"/>
          </a:p>
        </p:txBody>
      </p:sp>
      <p:sp>
        <p:nvSpPr>
          <p:cNvPr id="24" name="Shape 22"/>
          <p:cNvSpPr/>
          <p:nvPr/>
        </p:nvSpPr>
        <p:spPr>
          <a:xfrm>
            <a:off x="457200" y="3558540"/>
            <a:ext cx="2926080" cy="355092"/>
          </a:xfrm>
          <a:prstGeom prst="roundRect">
            <a:avLst>
              <a:gd name="adj" fmla="val 20601"/>
            </a:avLst>
          </a:prstGeom>
          <a:solidFill>
            <a:srgbClr val="1F2943"/>
          </a:solidFill>
          <a:ln w="12700">
            <a:solidFill>
              <a:srgbClr val="1F2943"/>
            </a:solidFill>
            <a:prstDash val="solid"/>
          </a:ln>
        </p:spPr>
      </p:sp>
      <p:sp>
        <p:nvSpPr>
          <p:cNvPr id="25" name="Text 23"/>
          <p:cNvSpPr txBox="1"/>
          <p:nvPr/>
        </p:nvSpPr>
        <p:spPr>
          <a:xfrm>
            <a:off x="621792" y="35585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Cancellation propagates</a:t>
            </a:r>
            <a:endParaRPr lang="en-US" sz="1300" dirty="0"/>
          </a:p>
        </p:txBody>
      </p:sp>
      <p:sp>
        <p:nvSpPr>
          <p:cNvPr id="26" name="Shape 24"/>
          <p:cNvSpPr/>
          <p:nvPr/>
        </p:nvSpPr>
        <p:spPr>
          <a:xfrm>
            <a:off x="3493008" y="3644646"/>
            <a:ext cx="329184" cy="182880"/>
          </a:xfrm>
          <a:prstGeom prst="rightArrow">
            <a:avLst/>
          </a:prstGeom>
          <a:solidFill>
            <a:srgbClr val="F5A623"/>
          </a:solidFill>
          <a:ln w="12700">
            <a:solidFill>
              <a:srgbClr val="F5A623"/>
            </a:solidFill>
            <a:prstDash val="solid"/>
          </a:ln>
        </p:spPr>
      </p:sp>
      <p:sp>
        <p:nvSpPr>
          <p:cNvPr id="27" name="Text 25"/>
          <p:cNvSpPr txBox="1"/>
          <p:nvPr/>
        </p:nvSpPr>
        <p:spPr>
          <a:xfrm>
            <a:off x="3977640" y="35585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16a  </a:t>
            </a:r>
            <a:pPr indent="0" marL="0">
              <a:buNone/>
            </a:pPr>
            <a:r>
              <a:rPr lang="en-US" sz="1250" dirty="0">
                <a:solidFill>
                  <a:srgbClr val="FFFFFF"/>
                </a:solidFill>
                <a:latin typeface="Calibri" pitchFamily="34" charset="0"/>
                <a:ea typeface="Calibri" pitchFamily="34" charset="-122"/>
                <a:cs typeface="Calibri" pitchFamily="34" charset="-120"/>
              </a:rPr>
              <a:t>Ctrl+C ends a turn, not the process</a:t>
            </a:r>
            <a:endParaRPr lang="en-US" sz="1250" dirty="0"/>
          </a:p>
        </p:txBody>
      </p:sp>
      <p:sp>
        <p:nvSpPr>
          <p:cNvPr id="28" name="Text 26"/>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Phase 1 Capstone — Repository Explorer (v0.1)</a:t>
            </a:r>
            <a:endParaRPr lang="en-US" sz="1300" dirty="0"/>
          </a:p>
        </p:txBody>
      </p:sp>
      <p:sp>
        <p:nvSpPr>
          <p:cNvPr id="29"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5a — The Interception Seam</a:t>
            </a:r>
            <a:endParaRPr lang="en-US" sz="900" dirty="0"/>
          </a:p>
        </p:txBody>
      </p:sp>
      <p:sp>
        <p:nvSpPr>
          <p:cNvPr id="30"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5a — Giving the Agent Read Access: The Interception Seam</dc:title>
  <dc:subject>PptxGenJS Presentation</dc:subject>
  <dc:creator>MiniCode Course</dc:creator>
  <cp:lastModifiedBy>MiniCode Course</cp:lastModifiedBy>
  <cp:revision>1</cp:revision>
  <dcterms:created xsi:type="dcterms:W3CDTF">2026-10-01T23:15:01Z</dcterms:created>
  <dcterms:modified xsi:type="dcterms:W3CDTF">2026-10-01T23:15:01Z</dcterms:modified>
</cp:coreProperties>
</file>