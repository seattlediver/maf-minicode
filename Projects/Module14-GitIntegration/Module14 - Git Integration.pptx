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MiniCode can now edit files and run commands, but it has no way to see its own trail. Everything it knows about what changed comes from its own memory of the conversation, which Module 8b's compaction can throw away. This Module gives it three read-only tools, git_status, git_diff and git_log, so it can ask Git directly instead of trusting its own recollection. It cannot commit, push or stage anything yet, and that boundary is deliberate. We start from the Phase 3 Capstone folder; this is the first Module of Phase 4. It builds on Module 11a's IShellExecutor, which Git integration reuses rather than adding a dependency, and on Module 5a's interception seam, which wraps these three tools exactly as it wraps every other one. Setup: nothing to install and no new package. Git integration means running the git binary, which the Module assumes is already on PATH, the same assumption the course already makes about dotnet.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told to check, not to remember. A change report written from the model's memory of what it edited can drift from what is actually on disk: a rejected edit, an untracked file it forgot about. And that memory is exactly what Module 8b's compaction is allowed to discard. The agent's instructions, AgentInstructions.Core, now gain a few sentences: check git_status and git_diff before writing a change report rather than trusting memory of what was edited, use git_log for history, and a reminder that none of these three tools changes anything Git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to Git is just running a process. MiniCode.Infrastructure owns shell and Git for the same reason: there is no Git library here and no new package reference, just git status, git diff and git log run through the exact IShellExecutor Module 11a already built. GitClient is three fixed invocations of it. IGitClient takes a workspaceRoot string, not IWorkspace, because MiniCode.Infrastructure is a leaf project and cannot reference MiniCode.Workspace; the caller resolves the root and passes it in, exactly as IShellExecutor.RunAsync already does. GitTools takes the same two constructor arguments as ShellTools: the client interface it wraps, and IWorkspace for the root. ToolCatalog gains an IGitClient parameter, builds a GitTools, and registers git_status, git_diff and git_log through the same private Intercept as every other tool: three more entries, no new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 invocations need no allow list. Module 11b's allow list exists because run_command lets the model choose the program and its arguments. GitClient never does: every call it can possibly make is one of three hardcoded argument lists baked into the class itself. Every argument list in GitClient is a C# array literal, never user input. run_command builds its argument list from what the model supplies; GitClient builds its own from the source code. That difference is the entire reason one needs an allow list and the other does not. So CodingAgentFactory constructs new GitClient(new ShellExecutor()): a plain ShellExecutor, not the allow-listed one built for run_command, since GitClient has no arbitrary command for an allow list to filter.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Read-only by construction, not by policy. Module 15's later split between safe and approval-gated operations lists git status and git diff as safe, and git commit and git push as gated. This Module does not implement that gate. It simply never writes the code that would call git commit in the first place. A capability that does not exist needs no permission check. IGitClient's own doc comment says so: there is deliberately no method here that changes anything, and Module 15 is what adds permission. git_status runs git status --porcelain, git_diff runs git diff, and git_log runs git log --oneline with a maximum entry count the model can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 result is not always an exception. Running git status in a directory that is not a Git repository is not a bug; it is Git answering the question truthfully. GitTools checks the exit code itself and returns Git's own message as the result: the same never-throw discipline Module 5a established, applied here before an exception would even occur. Format checks ExitCode, not a try/catch. Only a process that could not start at all reaches DirectToolInvoker's catch block. And the three whenEmpty messages are each written for their own tool. git status --porcelain and git diff both print nothing at all when there is nothing to report. That raw silence would read as a stalled tool, not a clean answer, so each result names the actual state: Working tree clean, No unstaged changes, No commits yet. The message on this slide is the lesson's captured output, rewrapped; the first line labels which call produced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GitDiff returns the entire unstaged diff in one call, with no cap, unlike ShellTools.RunCommand, which truncates stdout at ShellTools.MaxOutputLength from Module 11a. A diff touching many files could be large enough to consume a meaningful slice of Module 8a's context budget in a single tool result. Add the same truncation to GitDiff, in src/MiniCode.Tools/GitTools.cs: cap the formatted result at ShellTools.MaxOutputLength characters, appending a notice naming how many characters were cut, the same way ShellTools.Append already does for command output. Acceptance criteria: a diff shorter than the cap is returned unchanged; a diff longer than the cap is cut to exactly the cap's length plus the notice; the notice states the number of characters truncated. No reference implementation ships in a later Module folder, because this Module's own demonstration never produces a diff large enough to trigger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this is real output from this Module's code, calling GitTools through the real GitClient and ShellExecutor against a temporary Git repository with two commits and one uncommitted edit. git_status, after editing a tracked file and adding an untracked one, shows CustomerService.cs modified and CustomerServiceTests.cs untracked. git_diff shows the same edit; on the slide the diff header lines (diff --git, index, the @@ hunk header) and the unchanged context lines are cut where the '...' lines stand, and the added line, which continues '(id, _repository.Find);', is cut short with '...'. git_log with maxEntries 5 shows the two commits, newest first. The Lab, asking MiniCode for a change report, needs a live OPENAI_API_KEY, since it is the model deciding to call these tools and phrase what it finds. What it produces is git_status and git_diff composed the way the instructions now direct: git_status says one file changed and one is untracked, git_diff shows the change was replacing a direct repository call with a cache lookup, and the report describes exactly that, sourced from these tool calls, not from anything it remembers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where this goes. Module 15 classifies git_status, git_diff and git_log as safe, so they never prompt; read-only by construction means approval has nothing to ask about. Module 16a's /diff calls the same git_diff tool directly, through the same seam, with no model call involved. Module 16b's /review fetches whatever git_diff currently returns and hands it to the reviewer. Module 17's traces show that running git status through run_command is refused by the allow list; git_status is the tool for that. And in Module 19, step 14 of the capstone run inspects the change with git_diff before explaining it. All of this ships in the Phase 4 Capstone, Developer CLI, version 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MODULE 14  ·  PHASE 4</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Git Integration</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Asking Git, not memory, what changed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Phase3-Capstone-AutonomousFixer/</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Module14-GitIntegration/</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an agent should ask Git what changed instead of remembering</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Running git through the process runner from Module 11a</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Why three fixed invocations need no allow list</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Read-only by construction, not by policy</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Treating a non-zero exit as an answer, not an error</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14 — Git Integration</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Check, don't remember</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report from memory</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Drifts from what is on disk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Misses a rejected edit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Forgets an untracked file</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A report from Git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Calls git_status and git_diff first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Describes what is actually there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Survives Module 8b's compaction</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agent's instructions now say: check Git before writing a change report.</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Talking to Git is just running a process</a:t>
            </a:r>
            <a:endParaRPr lang="en-US" sz="2800" dirty="0"/>
          </a:p>
        </p:txBody>
      </p:sp>
      <p:sp>
        <p:nvSpPr>
          <p:cNvPr id="4" name="Shape 2"/>
          <p:cNvSpPr/>
          <p:nvPr/>
        </p:nvSpPr>
        <p:spPr>
          <a:xfrm>
            <a:off x="457200" y="1417320"/>
            <a:ext cx="1796796" cy="2185416"/>
          </a:xfrm>
          <a:prstGeom prst="roundRect">
            <a:avLst>
              <a:gd name="adj" fmla="val 4071"/>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GitTools</a:t>
            </a:r>
            <a:endParaRPr lang="en-US" sz="1500" dirty="0"/>
          </a:p>
        </p:txBody>
      </p:sp>
      <p:sp>
        <p:nvSpPr>
          <p:cNvPr id="8" name="Text 5"/>
          <p:cNvSpPr txBox="1"/>
          <p:nvPr/>
        </p:nvSpPr>
        <p:spPr>
          <a:xfrm>
            <a:off x="640080"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What the model is told. In MiniCode.Tools.</a:t>
            </a:r>
            <a:endParaRPr lang="en-US" sz="1200" dirty="0"/>
          </a:p>
        </p:txBody>
      </p:sp>
      <p:sp>
        <p:nvSpPr>
          <p:cNvPr id="9" name="Shape 6"/>
          <p:cNvSpPr/>
          <p:nvPr/>
        </p:nvSpPr>
        <p:spPr>
          <a:xfrm>
            <a:off x="2318004" y="2400300"/>
            <a:ext cx="219456" cy="219456"/>
          </a:xfrm>
          <a:prstGeom prst="rightArrow">
            <a:avLst/>
          </a:prstGeom>
          <a:solidFill>
            <a:srgbClr val="F5A623"/>
          </a:solidFill>
          <a:ln w="12700">
            <a:solidFill>
              <a:srgbClr val="F5A623"/>
            </a:solidFill>
            <a:prstDash val="solid"/>
          </a:ln>
        </p:spPr>
      </p:sp>
      <p:sp>
        <p:nvSpPr>
          <p:cNvPr id="10" name="Shape 7"/>
          <p:cNvSpPr/>
          <p:nvPr/>
        </p:nvSpPr>
        <p:spPr>
          <a:xfrm>
            <a:off x="2601468" y="1417320"/>
            <a:ext cx="1796796" cy="2185416"/>
          </a:xfrm>
          <a:prstGeom prst="roundRect">
            <a:avLst>
              <a:gd name="adj" fmla="val 4071"/>
            </a:avLst>
          </a:prstGeom>
          <a:solidFill>
            <a:srgbClr val="512BD4"/>
          </a:solidFill>
          <a:ln w="12700">
            <a:solidFill>
              <a:srgbClr val="512BD4"/>
            </a:solidFill>
            <a:prstDash val="solid"/>
          </a:ln>
        </p:spPr>
      </p:sp>
      <p:sp>
        <p:nvSpPr>
          <p:cNvPr id="11" name="Shape 8"/>
          <p:cNvSpPr/>
          <p:nvPr/>
        </p:nvSpPr>
        <p:spPr>
          <a:xfrm>
            <a:off x="2784348"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903220" y="1737360"/>
            <a:ext cx="219456" cy="219456"/>
          </a:xfrm>
          <a:prstGeom prst="rect">
            <a:avLst/>
          </a:prstGeom>
        </p:spPr>
      </p:pic>
      <p:sp>
        <p:nvSpPr>
          <p:cNvPr id="13" name="Text 9"/>
          <p:cNvSpPr txBox="1"/>
          <p:nvPr/>
        </p:nvSpPr>
        <p:spPr>
          <a:xfrm>
            <a:off x="2784348" y="2194560"/>
            <a:ext cx="1476756" cy="41148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GitClient</a:t>
            </a:r>
            <a:endParaRPr lang="en-US" sz="1500" dirty="0"/>
          </a:p>
        </p:txBody>
      </p:sp>
      <p:sp>
        <p:nvSpPr>
          <p:cNvPr id="14" name="Text 10"/>
          <p:cNvSpPr txBox="1"/>
          <p:nvPr/>
        </p:nvSpPr>
        <p:spPr>
          <a:xfrm>
            <a:off x="2784348" y="2606040"/>
            <a:ext cx="1476756" cy="905256"/>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Three fixed git invocations, in the Infrastructure project</a:t>
            </a:r>
            <a:endParaRPr lang="en-US" sz="1200" dirty="0"/>
          </a:p>
        </p:txBody>
      </p:sp>
      <p:sp>
        <p:nvSpPr>
          <p:cNvPr id="15" name="Shape 11"/>
          <p:cNvSpPr/>
          <p:nvPr/>
        </p:nvSpPr>
        <p:spPr>
          <a:xfrm>
            <a:off x="4462272" y="2400300"/>
            <a:ext cx="219456" cy="219456"/>
          </a:xfrm>
          <a:prstGeom prst="rightArrow">
            <a:avLst/>
          </a:prstGeom>
          <a:solidFill>
            <a:srgbClr val="F5A623"/>
          </a:solidFill>
          <a:ln w="12700">
            <a:solidFill>
              <a:srgbClr val="F5A623"/>
            </a:solidFill>
            <a:prstDash val="solid"/>
          </a:ln>
        </p:spPr>
      </p:sp>
      <p:sp>
        <p:nvSpPr>
          <p:cNvPr id="16" name="Shape 12"/>
          <p:cNvSpPr/>
          <p:nvPr/>
        </p:nvSpPr>
        <p:spPr>
          <a:xfrm>
            <a:off x="4745736" y="1417320"/>
            <a:ext cx="1796796" cy="2185416"/>
          </a:xfrm>
          <a:prstGeom prst="roundRect">
            <a:avLst>
              <a:gd name="adj" fmla="val 4071"/>
            </a:avLst>
          </a:prstGeom>
          <a:solidFill>
            <a:srgbClr val="EFEBFC"/>
          </a:solidFill>
          <a:ln w="12700">
            <a:solidFill>
              <a:srgbClr val="EFEBFC"/>
            </a:solidFill>
            <a:prstDash val="solid"/>
          </a:ln>
        </p:spPr>
      </p:sp>
      <p:sp>
        <p:nvSpPr>
          <p:cNvPr id="17" name="Shape 13"/>
          <p:cNvSpPr/>
          <p:nvPr/>
        </p:nvSpPr>
        <p:spPr>
          <a:xfrm>
            <a:off x="4928616"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047488" y="1737360"/>
            <a:ext cx="219456" cy="219456"/>
          </a:xfrm>
          <a:prstGeom prst="rect">
            <a:avLst/>
          </a:prstGeom>
        </p:spPr>
      </p:pic>
      <p:sp>
        <p:nvSpPr>
          <p:cNvPr id="19" name="Text 14"/>
          <p:cNvSpPr txBox="1"/>
          <p:nvPr/>
        </p:nvSpPr>
        <p:spPr>
          <a:xfrm>
            <a:off x="4928616" y="2194560"/>
            <a:ext cx="1476756" cy="411480"/>
          </a:xfrm>
          <a:prstGeom prst="rect">
            <a:avLst/>
          </a:prstGeom>
          <a:noFill/>
          <a:ln/>
        </p:spPr>
        <p:txBody>
          <a:bodyPr wrap="square" lIns="0" tIns="0" rIns="0" bIns="0" rtlCol="0" anchor="t"/>
          <a:lstStyle/>
          <a:p>
            <a:pPr indent="0" marL="0">
              <a:buNone/>
            </a:pPr>
            <a:r>
              <a:rPr lang="en-US" sz="1400" b="1" dirty="0">
                <a:solidFill>
                  <a:srgbClr val="1F2937"/>
                </a:solidFill>
                <a:latin typeface="Calibri" pitchFamily="34" charset="0"/>
                <a:ea typeface="Calibri" pitchFamily="34" charset="-122"/>
                <a:cs typeface="Calibri" pitchFamily="34" charset="-120"/>
              </a:rPr>
              <a:t>IShellExecutor</a:t>
            </a:r>
            <a:endParaRPr lang="en-US" sz="1400" dirty="0"/>
          </a:p>
        </p:txBody>
      </p:sp>
      <p:sp>
        <p:nvSpPr>
          <p:cNvPr id="20" name="Text 15"/>
          <p:cNvSpPr txBox="1"/>
          <p:nvPr/>
        </p:nvSpPr>
        <p:spPr>
          <a:xfrm>
            <a:off x="4928616"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Module 11a's process runner, unchanged</a:t>
            </a:r>
            <a:endParaRPr lang="en-US" sz="1200" dirty="0"/>
          </a:p>
        </p:txBody>
      </p:sp>
      <p:sp>
        <p:nvSpPr>
          <p:cNvPr id="21" name="Shape 16"/>
          <p:cNvSpPr/>
          <p:nvPr/>
        </p:nvSpPr>
        <p:spPr>
          <a:xfrm>
            <a:off x="6606540" y="2400300"/>
            <a:ext cx="219456" cy="219456"/>
          </a:xfrm>
          <a:prstGeom prst="rightArrow">
            <a:avLst/>
          </a:prstGeom>
          <a:solidFill>
            <a:srgbClr val="F5A623"/>
          </a:solidFill>
          <a:ln w="12700">
            <a:solidFill>
              <a:srgbClr val="F5A623"/>
            </a:solidFill>
            <a:prstDash val="solid"/>
          </a:ln>
        </p:spPr>
      </p:sp>
      <p:sp>
        <p:nvSpPr>
          <p:cNvPr id="22" name="Shape 17"/>
          <p:cNvSpPr/>
          <p:nvPr/>
        </p:nvSpPr>
        <p:spPr>
          <a:xfrm>
            <a:off x="6890004" y="1417320"/>
            <a:ext cx="1796796" cy="2185416"/>
          </a:xfrm>
          <a:prstGeom prst="roundRect">
            <a:avLst>
              <a:gd name="adj" fmla="val 4071"/>
            </a:avLst>
          </a:prstGeom>
          <a:solidFill>
            <a:srgbClr val="EFEBFC"/>
          </a:solidFill>
          <a:ln w="12700">
            <a:solidFill>
              <a:srgbClr val="EFEBFC"/>
            </a:solidFill>
            <a:prstDash val="solid"/>
          </a:ln>
        </p:spPr>
      </p:sp>
      <p:sp>
        <p:nvSpPr>
          <p:cNvPr id="23" name="Shape 18"/>
          <p:cNvSpPr/>
          <p:nvPr/>
        </p:nvSpPr>
        <p:spPr>
          <a:xfrm>
            <a:off x="7072884"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7191756" y="1737360"/>
            <a:ext cx="219456" cy="219456"/>
          </a:xfrm>
          <a:prstGeom prst="rect">
            <a:avLst/>
          </a:prstGeom>
        </p:spPr>
      </p:pic>
      <p:sp>
        <p:nvSpPr>
          <p:cNvPr id="25" name="Text 19"/>
          <p:cNvSpPr txBox="1"/>
          <p:nvPr/>
        </p:nvSpPr>
        <p:spPr>
          <a:xfrm>
            <a:off x="7072884" y="2194560"/>
            <a:ext cx="1476756" cy="411480"/>
          </a:xfrm>
          <a:prstGeom prst="rect">
            <a:avLst/>
          </a:prstGeom>
          <a:noFill/>
          <a:ln/>
        </p:spPr>
        <p:txBody>
          <a:bodyPr wrap="square" lIns="0" tIns="0" rIns="0" bIns="0" rtlCol="0" anchor="t"/>
          <a:lstStyle/>
          <a:p>
            <a:pPr indent="0" marL="0">
              <a:buNone/>
            </a:pPr>
            <a:r>
              <a:rPr lang="en-US" sz="1500" b="1" dirty="0">
                <a:solidFill>
                  <a:srgbClr val="1F2937"/>
                </a:solidFill>
                <a:latin typeface="Calibri" pitchFamily="34" charset="0"/>
                <a:ea typeface="Calibri" pitchFamily="34" charset="-122"/>
                <a:cs typeface="Calibri" pitchFamily="34" charset="-120"/>
              </a:rPr>
              <a:t>git</a:t>
            </a:r>
            <a:endParaRPr lang="en-US" sz="1500" dirty="0"/>
          </a:p>
        </p:txBody>
      </p:sp>
      <p:sp>
        <p:nvSpPr>
          <p:cNvPr id="26" name="Text 20"/>
          <p:cNvSpPr txBox="1"/>
          <p:nvPr/>
        </p:nvSpPr>
        <p:spPr>
          <a:xfrm>
            <a:off x="7072884" y="2606040"/>
            <a:ext cx="1476756" cy="905256"/>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The binary already on PATH</a:t>
            </a:r>
            <a:endParaRPr lang="en-US" sz="1200" dirty="0"/>
          </a:p>
        </p:txBody>
      </p:sp>
      <p:sp>
        <p:nvSpPr>
          <p:cNvPr id="27" name="Text 21"/>
          <p:cNvSpPr txBox="1"/>
          <p:nvPr/>
        </p:nvSpPr>
        <p:spPr>
          <a:xfrm>
            <a:off x="457200" y="3922776"/>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Git library, no new package. MiniCode.Infrastructure owns shell and Git alike.</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Fixed invocations need no allow list</a:t>
            </a:r>
            <a:endParaRPr lang="en-US" sz="2800" dirty="0"/>
          </a:p>
        </p:txBody>
      </p:sp>
      <p:sp>
        <p:nvSpPr>
          <p:cNvPr id="4" name="Shape 2"/>
          <p:cNvSpPr/>
          <p:nvPr/>
        </p:nvSpPr>
        <p:spPr>
          <a:xfrm>
            <a:off x="457200" y="1371600"/>
            <a:ext cx="3931920" cy="2011680"/>
          </a:xfrm>
          <a:prstGeom prst="roundRect">
            <a:avLst>
              <a:gd name="adj" fmla="val 3636"/>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6B7280"/>
          </a:solidFill>
          <a:ln w="12700">
            <a:solidFill>
              <a:srgbClr val="6B7280"/>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run_command</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picks the program</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model picks the arguments</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Module 11b's allow list guards it</a:t>
            </a:r>
            <a:endParaRPr lang="en-US" sz="1300" dirty="0"/>
          </a:p>
        </p:txBody>
      </p:sp>
      <p:sp>
        <p:nvSpPr>
          <p:cNvPr id="9" name="Shape 6"/>
          <p:cNvSpPr/>
          <p:nvPr/>
        </p:nvSpPr>
        <p:spPr>
          <a:xfrm>
            <a:off x="4754880" y="1371600"/>
            <a:ext cx="3931920" cy="2011680"/>
          </a:xfrm>
          <a:prstGeom prst="roundRect">
            <a:avLst>
              <a:gd name="adj" fmla="val 3636"/>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GitClient</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Three argument lists, written in C#</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comes from the model</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Nothing for an allow list to guard</a:t>
            </a:r>
            <a:endParaRPr lang="en-US" sz="1300" dirty="0"/>
          </a:p>
        </p:txBody>
      </p:sp>
      <p:sp>
        <p:nvSpPr>
          <p:cNvPr id="14" name="Text 10"/>
          <p:cNvSpPr txBox="1"/>
          <p:nvPr/>
        </p:nvSpPr>
        <p:spPr>
          <a:xfrm>
            <a:off x="457200" y="36576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CodingAgentFactory gives GitClient a plain ShellExecutor, not the allow-listed one.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Read-only by construction, not by policy</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IGitClient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Three queries. No method that changes anything.</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git_status</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Modified, added and untracked files</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git_diff</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Unstaged changes, as a unified diff</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git_log</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Recent commits, newest first</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No commit, push or stage method exists, so nothing needs a permission check yet.</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A non-zero exit is an answer</a:t>
            </a:r>
            <a:endParaRPr lang="en-US" sz="2800" dirty="0"/>
          </a:p>
        </p:txBody>
      </p:sp>
      <p:sp>
        <p:nvSpPr>
          <p:cNvPr id="4" name="Shape 2"/>
          <p:cNvSpPr/>
          <p:nvPr/>
        </p:nvSpPr>
        <p:spPr>
          <a:xfrm>
            <a:off x="457200" y="1325880"/>
            <a:ext cx="5257800" cy="2011680"/>
          </a:xfrm>
          <a:prstGeom prst="roundRect">
            <a:avLst>
              <a:gd name="adj" fmla="val 3636"/>
            </a:avLst>
          </a:prstGeom>
          <a:solidFill>
            <a:srgbClr val="0F1420"/>
          </a:solidFill>
          <a:ln w="12700">
            <a:solidFill>
              <a:srgbClr val="0F1420"/>
            </a:solidFill>
            <a:prstDash val="solid"/>
          </a:ln>
        </p:spPr>
      </p:sp>
      <p:sp>
        <p:nvSpPr>
          <p:cNvPr id="5" name="Text 3"/>
          <p:cNvSpPr txBox="1"/>
          <p:nvPr/>
        </p:nvSpPr>
        <p:spPr>
          <a:xfrm>
            <a:off x="640080" y="1463040"/>
            <a:ext cx="4892040" cy="1737360"/>
          </a:xfrm>
          <a:prstGeom prst="rect">
            <a:avLst/>
          </a:prstGeom>
          <a:noFill/>
          <a:ln/>
        </p:spPr>
        <p:txBody>
          <a:bodyPr wrap="square" lIns="0" tIns="0" rIns="0" bIns="0" rtlCol="0" anchor="t"/>
          <a:lstStyle/>
          <a:p>
            <a:pPr indent="0" marL="0">
              <a:buNone/>
            </a:pPr>
            <a:r>
              <a:rPr lang="en-US" sz="1100" dirty="0">
                <a:solidFill>
                  <a:srgbClr val="D7E3F4"/>
                </a:solidFill>
                <a:latin typeface="Courier New" pitchFamily="34" charset="0"/>
                <a:ea typeface="Courier New" pitchFamily="34" charset="-122"/>
                <a:cs typeface="Courier New" pitchFamily="34" charset="-120"/>
              </a:rPr>
              <a:t># git_status, outside any Git repository:</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fatal: not a git repository (or any of the parent</a:t>
            </a:r>
            <a:endParaRPr lang="en-US" sz="1100" dirty="0"/>
          </a:p>
          <a:p>
            <a:pPr indent="0" marL="0">
              <a:buNone/>
            </a:pPr>
            <a:r>
              <a:rPr lang="en-US" sz="1100" dirty="0">
                <a:solidFill>
                  <a:srgbClr val="9FE6B8"/>
                </a:solidFill>
                <a:latin typeface="Courier New" pitchFamily="34" charset="0"/>
                <a:ea typeface="Courier New" pitchFamily="34" charset="-122"/>
                <a:cs typeface="Courier New" pitchFamily="34" charset="-120"/>
              </a:rPr>
              <a:t>directories): .git</a:t>
            </a:r>
            <a:endParaRPr lang="en-US" sz="1100" dirty="0"/>
          </a:p>
        </p:txBody>
      </p:sp>
      <p:sp>
        <p:nvSpPr>
          <p:cNvPr id="6" name="Shape 4"/>
          <p:cNvSpPr/>
          <p:nvPr/>
        </p:nvSpPr>
        <p:spPr>
          <a:xfrm>
            <a:off x="6035040" y="1325880"/>
            <a:ext cx="384048" cy="384048"/>
          </a:xfrm>
          <a:prstGeom prst="ellipse">
            <a:avLst/>
          </a:prstGeom>
          <a:solidFill>
            <a:srgbClr val="16A34A"/>
          </a:solidFill>
          <a:ln w="12700">
            <a:solidFill>
              <a:srgbClr val="16A34A"/>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Exit code, not catch</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Git's own message is the result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Silence gets a name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"Working tree clean." instead of nothing</a:t>
            </a:r>
            <a:endParaRPr lang="en-US" sz="1200" dirty="0"/>
          </a:p>
        </p:txBody>
      </p:sp>
      <p:sp>
        <p:nvSpPr>
          <p:cNvPr id="14" name="Text 10"/>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15" name="Text 11"/>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Cap git_diff like run_command</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A diff touching many files could eat a real slice of Module 8a's context budget in one result. Cap GitDiff at ShellTools.MaxOutputLength, the same way ShellTools already truncates command output.</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950" dirty="0">
                <a:solidFill>
                  <a:srgbClr val="B8B2E6"/>
                </a:solidFill>
                <a:latin typeface="Courier New" pitchFamily="34" charset="0"/>
                <a:ea typeface="Courier New" pitchFamily="34" charset="-122"/>
                <a:cs typeface="Courier New" pitchFamily="34" charset="-120"/>
              </a:rPr>
              <a:t>src/MiniCode.Tools/GitTools.cs</a:t>
            </a:r>
            <a:endParaRPr lang="en-US" sz="9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diff shorter than the cap is returned unchanged</a:t>
            </a:r>
            <a:endParaRPr lang="en-US" sz="1300" dirty="0"/>
          </a:p>
        </p:txBody>
      </p:sp>
      <p:sp>
        <p:nvSpPr>
          <p:cNvPr id="13" name="Shape 9"/>
          <p:cNvSpPr/>
          <p:nvPr/>
        </p:nvSpPr>
        <p:spPr>
          <a:xfrm>
            <a:off x="3931920" y="265480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730886"/>
            <a:ext cx="140452" cy="140452"/>
          </a:xfrm>
          <a:prstGeom prst="rect">
            <a:avLst/>
          </a:prstGeom>
        </p:spPr>
      </p:pic>
      <p:sp>
        <p:nvSpPr>
          <p:cNvPr id="15" name="Text 10"/>
          <p:cNvSpPr txBox="1"/>
          <p:nvPr/>
        </p:nvSpPr>
        <p:spPr>
          <a:xfrm>
            <a:off x="4361688" y="263652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longer diff is cut to exactly the cap's length, plus a notice</a:t>
            </a:r>
            <a:endParaRPr lang="en-US" sz="1300" dirty="0"/>
          </a:p>
        </p:txBody>
      </p:sp>
      <p:sp>
        <p:nvSpPr>
          <p:cNvPr id="16" name="Shape 11"/>
          <p:cNvSpPr/>
          <p:nvPr/>
        </p:nvSpPr>
        <p:spPr>
          <a:xfrm>
            <a:off x="3931920" y="350824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584326"/>
            <a:ext cx="140452" cy="140452"/>
          </a:xfrm>
          <a:prstGeom prst="rect">
            <a:avLst/>
          </a:prstGeom>
        </p:spPr>
      </p:pic>
      <p:sp>
        <p:nvSpPr>
          <p:cNvPr id="18" name="Text 12"/>
          <p:cNvSpPr txBox="1"/>
          <p:nvPr/>
        </p:nvSpPr>
        <p:spPr>
          <a:xfrm>
            <a:off x="4361688" y="3489960"/>
            <a:ext cx="4325112" cy="8077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notice states how many characters were truncated</a:t>
            </a:r>
            <a:endParaRPr lang="en-US" sz="1300" dirty="0"/>
          </a:p>
        </p:txBody>
      </p:sp>
      <p:sp>
        <p:nvSpPr>
          <p:cNvPr id="19"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20"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OUTPUT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Three questions, answered by Git</a:t>
            </a:r>
            <a:endParaRPr lang="en-US" sz="2800" dirty="0"/>
          </a:p>
        </p:txBody>
      </p:sp>
      <p:sp>
        <p:nvSpPr>
          <p:cNvPr id="4" name="Shape 2"/>
          <p:cNvSpPr/>
          <p:nvPr/>
        </p:nvSpPr>
        <p:spPr>
          <a:xfrm>
            <a:off x="457200" y="1325880"/>
            <a:ext cx="5257800" cy="3246120"/>
          </a:xfrm>
          <a:prstGeom prst="roundRect">
            <a:avLst>
              <a:gd name="adj" fmla="val 2254"/>
            </a:avLst>
          </a:prstGeom>
          <a:solidFill>
            <a:srgbClr val="0F1420"/>
          </a:solidFill>
          <a:ln w="12700">
            <a:solidFill>
              <a:srgbClr val="0F1420"/>
            </a:solidFill>
            <a:prstDash val="solid"/>
          </a:ln>
        </p:spPr>
      </p:sp>
      <p:sp>
        <p:nvSpPr>
          <p:cNvPr id="5" name="Text 3"/>
          <p:cNvSpPr txBox="1"/>
          <p:nvPr/>
        </p:nvSpPr>
        <p:spPr>
          <a:xfrm>
            <a:off x="640080" y="1463040"/>
            <a:ext cx="4892040" cy="2971800"/>
          </a:xfrm>
          <a:prstGeom prst="rect">
            <a:avLst/>
          </a:prstGeom>
          <a:noFill/>
          <a:ln/>
        </p:spPr>
        <p:txBody>
          <a:bodyPr wrap="square" lIns="0" tIns="0" rIns="0" bIns="0" rtlCol="0" anchor="t"/>
          <a:lstStyle/>
          <a:p>
            <a:pPr indent="0" marL="0">
              <a:buNone/>
            </a:pPr>
            <a:r>
              <a:rPr lang="en-US" sz="1000" b="1" dirty="0">
                <a:solidFill>
                  <a:srgbClr val="F5A623"/>
                </a:solidFill>
                <a:latin typeface="Courier New" pitchFamily="34" charset="0"/>
                <a:ea typeface="Courier New" pitchFamily="34" charset="-122"/>
                <a:cs typeface="Courier New" pitchFamily="34" charset="-120"/>
              </a:rPr>
              <a:t># git_status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M CustomerService.cs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CustomerServiceTests.cs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git_diff</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a/CustomerService.cs</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b/CustomerService.cs</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FF9B9B"/>
                </a:solidFill>
                <a:latin typeface="Courier New" pitchFamily="34" charset="0"/>
                <a:ea typeface="Courier New" pitchFamily="34" charset="-122"/>
                <a:cs typeface="Courier New" pitchFamily="34" charset="-120"/>
              </a:rPr>
              <a:t>-    public Customer GetById(int id) =&gt; _repository.Find(id);</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    public Customer GetById(int id) =&gt; _cache.GetOrAdd(...</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D7E3F4"/>
                </a:solidFill>
                <a:latin typeface="Courier New" pitchFamily="34" charset="0"/>
                <a:ea typeface="Courier New" pitchFamily="34" charset="-122"/>
                <a:cs typeface="Courier New" pitchFamily="34" charset="-120"/>
              </a:rPr>
              <a:t> </a:t>
            </a:r>
            <a:endParaRPr lang="en-US" sz="1000" dirty="0"/>
          </a:p>
          <a:p>
            <a:pPr indent="0" marL="0">
              <a:buNone/>
            </a:pPr>
            <a:r>
              <a:rPr lang="en-US" sz="1000" b="1" dirty="0">
                <a:solidFill>
                  <a:srgbClr val="F5A623"/>
                </a:solidFill>
                <a:latin typeface="Courier New" pitchFamily="34" charset="0"/>
                <a:ea typeface="Courier New" pitchFamily="34" charset="-122"/>
                <a:cs typeface="Courier New" pitchFamily="34" charset="-120"/>
              </a:rPr>
              <a:t># git_log(maxEntries: 5)</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3b62245 Add Program entry point</a:t>
            </a:r>
            <a:endParaRPr lang="en-US" sz="1000" dirty="0"/>
          </a:p>
          <a:p>
            <a:pPr indent="0" marL="0">
              <a:buNone/>
            </a:pPr>
            <a:r>
              <a:rPr lang="en-US" sz="1000" dirty="0">
                <a:solidFill>
                  <a:srgbClr val="9FE6B8"/>
                </a:solidFill>
                <a:latin typeface="Courier New" pitchFamily="34" charset="0"/>
                <a:ea typeface="Courier New" pitchFamily="34" charset="-122"/>
                <a:cs typeface="Courier New" pitchFamily="34" charset="-120"/>
              </a:rPr>
              <a:t>20bdef2 Add CustomerService</a:t>
            </a:r>
            <a:endParaRPr lang="en-US" sz="100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One edit, one new file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Tracked and untracked, both reported</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real change</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cache lookup replaced a direct call</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The report</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Built from these calls, not from memory</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MiniCode  ·  Module 14 — Git Integration</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48056"/>
          </a:xfrm>
          <a:prstGeom prst="roundRect">
            <a:avLst>
              <a:gd name="adj" fmla="val 16327"/>
            </a:avLst>
          </a:prstGeom>
          <a:solidFill>
            <a:srgbClr val="1F2943"/>
          </a:solidFill>
          <a:ln w="12700">
            <a:solidFill>
              <a:srgbClr val="1F2943"/>
            </a:solidFill>
            <a:prstDash val="solid"/>
          </a:ln>
        </p:spPr>
      </p:sp>
      <p:sp>
        <p:nvSpPr>
          <p:cNvPr id="5" name="Text 3"/>
          <p:cNvSpPr txBox="1"/>
          <p:nvPr/>
        </p:nvSpPr>
        <p:spPr>
          <a:xfrm>
            <a:off x="621792" y="1234440"/>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 tools are read-only</a:t>
            </a:r>
            <a:endParaRPr lang="en-US" sz="1300" dirty="0"/>
          </a:p>
        </p:txBody>
      </p:sp>
      <p:sp>
        <p:nvSpPr>
          <p:cNvPr id="6" name="Shape 4"/>
          <p:cNvSpPr/>
          <p:nvPr/>
        </p:nvSpPr>
        <p:spPr>
          <a:xfrm>
            <a:off x="3493008" y="136702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15  </a:t>
            </a:r>
            <a:pPr indent="0" marL="0">
              <a:buNone/>
            </a:pPr>
            <a:r>
              <a:rPr lang="en-US" sz="1250" dirty="0">
                <a:solidFill>
                  <a:srgbClr val="FFFFFF"/>
                </a:solidFill>
                <a:latin typeface="Calibri" pitchFamily="34" charset="0"/>
                <a:ea typeface="Calibri" pitchFamily="34" charset="-122"/>
                <a:cs typeface="Calibri" pitchFamily="34" charset="-120"/>
              </a:rPr>
              <a:t>git_status, git_diff and git_log are safe: they never prompt for approval</a:t>
            </a:r>
            <a:endParaRPr lang="en-US" sz="1250" dirty="0"/>
          </a:p>
        </p:txBody>
      </p:sp>
      <p:sp>
        <p:nvSpPr>
          <p:cNvPr id="8" name="Shape 6"/>
          <p:cNvSpPr/>
          <p:nvPr/>
        </p:nvSpPr>
        <p:spPr>
          <a:xfrm>
            <a:off x="457200" y="1792224"/>
            <a:ext cx="2926080" cy="448056"/>
          </a:xfrm>
          <a:prstGeom prst="roundRect">
            <a:avLst>
              <a:gd name="adj" fmla="val 16327"/>
            </a:avLst>
          </a:prstGeom>
          <a:solidFill>
            <a:srgbClr val="1F2943"/>
          </a:solidFill>
          <a:ln w="12700">
            <a:solidFill>
              <a:srgbClr val="1F2943"/>
            </a:solidFill>
            <a:prstDash val="solid"/>
          </a:ln>
        </p:spPr>
      </p:sp>
      <p:sp>
        <p:nvSpPr>
          <p:cNvPr id="9" name="Text 7"/>
          <p:cNvSpPr txBox="1"/>
          <p:nvPr/>
        </p:nvSpPr>
        <p:spPr>
          <a:xfrm>
            <a:off x="621792" y="1792224"/>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git_diff, one call away</a:t>
            </a:r>
            <a:endParaRPr lang="en-US" sz="1300" dirty="0"/>
          </a:p>
        </p:txBody>
      </p:sp>
      <p:sp>
        <p:nvSpPr>
          <p:cNvPr id="10" name="Shape 8"/>
          <p:cNvSpPr/>
          <p:nvPr/>
        </p:nvSpPr>
        <p:spPr>
          <a:xfrm>
            <a:off x="3493008" y="192481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792224"/>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16a  </a:t>
            </a:r>
            <a:pPr indent="0" marL="0">
              <a:buNone/>
            </a:pPr>
            <a:r>
              <a:rPr lang="en-US" sz="1250" dirty="0">
                <a:solidFill>
                  <a:srgbClr val="FFFFFF"/>
                </a:solidFill>
                <a:latin typeface="Calibri" pitchFamily="34" charset="0"/>
                <a:ea typeface="Calibri" pitchFamily="34" charset="-122"/>
                <a:cs typeface="Calibri" pitchFamily="34" charset="-120"/>
              </a:rPr>
              <a:t>/diff runs the same git_diff tool directly, with no model call</a:t>
            </a:r>
            <a:endParaRPr lang="en-US" sz="1250" dirty="0"/>
          </a:p>
        </p:txBody>
      </p:sp>
      <p:sp>
        <p:nvSpPr>
          <p:cNvPr id="12" name="Shape 10"/>
          <p:cNvSpPr/>
          <p:nvPr/>
        </p:nvSpPr>
        <p:spPr>
          <a:xfrm>
            <a:off x="457200" y="2350008"/>
            <a:ext cx="2926080" cy="448056"/>
          </a:xfrm>
          <a:prstGeom prst="roundRect">
            <a:avLst>
              <a:gd name="adj" fmla="val 16327"/>
            </a:avLst>
          </a:prstGeom>
          <a:solidFill>
            <a:srgbClr val="1F2943"/>
          </a:solidFill>
          <a:ln w="12700">
            <a:solidFill>
              <a:srgbClr val="1F2943"/>
            </a:solidFill>
            <a:prstDash val="solid"/>
          </a:ln>
        </p:spPr>
      </p:sp>
      <p:sp>
        <p:nvSpPr>
          <p:cNvPr id="13" name="Text 11"/>
          <p:cNvSpPr txBox="1"/>
          <p:nvPr/>
        </p:nvSpPr>
        <p:spPr>
          <a:xfrm>
            <a:off x="621792" y="2350008"/>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The diff is the evidence</a:t>
            </a:r>
            <a:endParaRPr lang="en-US" sz="1300" dirty="0"/>
          </a:p>
        </p:txBody>
      </p:sp>
      <p:sp>
        <p:nvSpPr>
          <p:cNvPr id="14" name="Shape 12"/>
          <p:cNvSpPr/>
          <p:nvPr/>
        </p:nvSpPr>
        <p:spPr>
          <a:xfrm>
            <a:off x="3493008" y="24825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350008"/>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16b  </a:t>
            </a:r>
            <a:pPr indent="0" marL="0">
              <a:buNone/>
            </a:pPr>
            <a:r>
              <a:rPr lang="en-US" sz="1250" dirty="0">
                <a:solidFill>
                  <a:srgbClr val="FFFFFF"/>
                </a:solidFill>
                <a:latin typeface="Calibri" pitchFamily="34" charset="0"/>
                <a:ea typeface="Calibri" pitchFamily="34" charset="-122"/>
                <a:cs typeface="Calibri" pitchFamily="34" charset="-120"/>
              </a:rPr>
              <a:t>/review fetches git_diff and hands it to the reviewer</a:t>
            </a:r>
            <a:endParaRPr lang="en-US" sz="1250" dirty="0"/>
          </a:p>
        </p:txBody>
      </p:sp>
      <p:sp>
        <p:nvSpPr>
          <p:cNvPr id="16" name="Shape 14"/>
          <p:cNvSpPr/>
          <p:nvPr/>
        </p:nvSpPr>
        <p:spPr>
          <a:xfrm>
            <a:off x="457200" y="2907792"/>
            <a:ext cx="2926080" cy="448056"/>
          </a:xfrm>
          <a:prstGeom prst="roundRect">
            <a:avLst>
              <a:gd name="adj" fmla="val 16327"/>
            </a:avLst>
          </a:prstGeom>
          <a:solidFill>
            <a:srgbClr val="1F2943"/>
          </a:solidFill>
          <a:ln w="12700">
            <a:solidFill>
              <a:srgbClr val="1F2943"/>
            </a:solidFill>
            <a:prstDash val="solid"/>
          </a:ln>
        </p:spPr>
      </p:sp>
      <p:sp>
        <p:nvSpPr>
          <p:cNvPr id="17" name="Text 15"/>
          <p:cNvSpPr txBox="1"/>
          <p:nvPr/>
        </p:nvSpPr>
        <p:spPr>
          <a:xfrm>
            <a:off x="621792" y="2907792"/>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git_status, not run_command</a:t>
            </a:r>
            <a:endParaRPr lang="en-US" sz="1300" dirty="0"/>
          </a:p>
        </p:txBody>
      </p:sp>
      <p:sp>
        <p:nvSpPr>
          <p:cNvPr id="18" name="Shape 16"/>
          <p:cNvSpPr/>
          <p:nvPr/>
        </p:nvSpPr>
        <p:spPr>
          <a:xfrm>
            <a:off x="3493008" y="304038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2907792"/>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17  </a:t>
            </a:r>
            <a:pPr indent="0" marL="0">
              <a:buNone/>
            </a:pPr>
            <a:r>
              <a:rPr lang="en-US" sz="1250" dirty="0">
                <a:solidFill>
                  <a:srgbClr val="FFFFFF"/>
                </a:solidFill>
                <a:latin typeface="Calibri" pitchFamily="34" charset="0"/>
                <a:ea typeface="Calibri" pitchFamily="34" charset="-122"/>
                <a:cs typeface="Calibri" pitchFamily="34" charset="-120"/>
              </a:rPr>
              <a:t>A raw git status through run_command is refused; the tool is the way in</a:t>
            </a:r>
            <a:endParaRPr lang="en-US" sz="1250" dirty="0"/>
          </a:p>
        </p:txBody>
      </p:sp>
      <p:sp>
        <p:nvSpPr>
          <p:cNvPr id="20" name="Shape 18"/>
          <p:cNvSpPr/>
          <p:nvPr/>
        </p:nvSpPr>
        <p:spPr>
          <a:xfrm>
            <a:off x="457200" y="3465576"/>
            <a:ext cx="2926080" cy="448056"/>
          </a:xfrm>
          <a:prstGeom prst="roundRect">
            <a:avLst>
              <a:gd name="adj" fmla="val 16327"/>
            </a:avLst>
          </a:prstGeom>
          <a:solidFill>
            <a:srgbClr val="1F2943"/>
          </a:solidFill>
          <a:ln w="12700">
            <a:solidFill>
              <a:srgbClr val="1F2943"/>
            </a:solidFill>
            <a:prstDash val="solid"/>
          </a:ln>
        </p:spPr>
      </p:sp>
      <p:sp>
        <p:nvSpPr>
          <p:cNvPr id="21" name="Text 19"/>
          <p:cNvSpPr txBox="1"/>
          <p:nvPr/>
        </p:nvSpPr>
        <p:spPr>
          <a:xfrm>
            <a:off x="621792" y="3465576"/>
            <a:ext cx="2651760" cy="44805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Check before reporting</a:t>
            </a:r>
            <a:endParaRPr lang="en-US" sz="1300" dirty="0"/>
          </a:p>
        </p:txBody>
      </p:sp>
      <p:sp>
        <p:nvSpPr>
          <p:cNvPr id="22" name="Shape 20"/>
          <p:cNvSpPr/>
          <p:nvPr/>
        </p:nvSpPr>
        <p:spPr>
          <a:xfrm>
            <a:off x="3493008" y="3598164"/>
            <a:ext cx="329184" cy="182880"/>
          </a:xfrm>
          <a:prstGeom prst="rightArrow">
            <a:avLst/>
          </a:prstGeom>
          <a:solidFill>
            <a:srgbClr val="F5A623"/>
          </a:solidFill>
          <a:ln w="12700">
            <a:solidFill>
              <a:srgbClr val="F5A623"/>
            </a:solidFill>
            <a:prstDash val="solid"/>
          </a:ln>
        </p:spPr>
      </p:sp>
      <p:sp>
        <p:nvSpPr>
          <p:cNvPr id="23" name="Text 21"/>
          <p:cNvSpPr txBox="1"/>
          <p:nvPr/>
        </p:nvSpPr>
        <p:spPr>
          <a:xfrm>
            <a:off x="3977640" y="3465576"/>
            <a:ext cx="4709160" cy="44805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Module 19  </a:t>
            </a:r>
            <a:pPr indent="0" marL="0">
              <a:buNone/>
            </a:pPr>
            <a:r>
              <a:rPr lang="en-US" sz="1250" dirty="0">
                <a:solidFill>
                  <a:srgbClr val="FFFFFF"/>
                </a:solidFill>
                <a:latin typeface="Calibri" pitchFamily="34" charset="0"/>
                <a:ea typeface="Calibri" pitchFamily="34" charset="-122"/>
                <a:cs typeface="Calibri" pitchFamily="34" charset="-120"/>
              </a:rPr>
              <a:t>The capstone inspects its change with git_diff before explaining it</a:t>
            </a:r>
            <a:endParaRPr lang="en-US" sz="1250" dirty="0"/>
          </a:p>
        </p:txBody>
      </p:sp>
      <p:sp>
        <p:nvSpPr>
          <p:cNvPr id="24" name="Text 22"/>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Phase 4 Capstone — Developer CLI (v0.4)</a:t>
            </a:r>
            <a:endParaRPr lang="en-US" sz="1300" dirty="0"/>
          </a:p>
        </p:txBody>
      </p:sp>
      <p:sp>
        <p:nvSpPr>
          <p:cNvPr id="25" name="Text 2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MiniCode  ·  Module 14 — Git Integration</a:t>
            </a:r>
            <a:endParaRPr lang="en-US" sz="900" dirty="0"/>
          </a:p>
        </p:txBody>
      </p:sp>
      <p:sp>
        <p:nvSpPr>
          <p:cNvPr id="26" name="Text 2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14 — Git Integration</dc:title>
  <dc:subject>PptxGenJS Presentation</dc:subject>
  <dc:creator>MiniCode Course</dc:creator>
  <cp:lastModifiedBy>MiniCode Course</cp:lastModifiedBy>
  <cp:revision>1</cp:revision>
  <dcterms:created xsi:type="dcterms:W3CDTF">2026-10-01T23:15:09Z</dcterms:created>
  <dcterms:modified xsi:type="dcterms:W3CDTF">2026-10-01T23:15:09Z</dcterms:modified>
</cp:coreProperties>
</file>