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point: Module16b-PlanAndReviewModes/. Fifth Module of Phase 4, shipping as part of the Phase 4 Capstone — Developer CLI (v0.4). Setup adds Microsoft.Extensions.Logging to MiniCode.Agent and Microsoft.Extensions.Logging.Abstractions to MiniCode.Infrastructure, both pinned at 10.0.11 — the exact version already resolving transitively through Microsoft.Extensions.AI.OpenAI. No other package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ChatClientAgent's existing call site gains exactly one named argument: loggerFactory: loggerFactory. MAF's own logging turns on the moment one is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BracketLoggerProvider does not know that "Tool", "Result" or "Agent" are special — it brackets whatever category it is handed, which is what lets MAF's own Microsoft.Agents.AI.ChatClientAgent category appear under its own name rather than being relabelled.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TracingInvoker never inspects a result's meaning, only its shape: FirstLine takes the text up to the first newline whatever that text says — the same discipline ShellTools already applies when it caps output, applied here to what gets logged rather than what gets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denied or refused call still gets traced, because TracingInvoker wraps DirectToolInvoker directly and never asks whether the tool succeeded. Only ApprovalInvoker, sitting outside it, can stop a call before TracingInvoker ever sees it — and a call it stops was never attempted in the first place. Module 5a’s IToolInvoker extension point named this Module as a reason it exists, the same way it named Module 15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 comments are trimmed here for space. BracketLoggerProvider writes to Console.Error, which is what makes stderr redirection the capture mechanism. FirstLine keeps a whole build’s output from being repeated twice in one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CodingAgent's constructor gains an ILoggerFactory parameter, stores it so Dispose() closes it alongside _chatClient, and builds _agentLog from it exactly as TracingInvoker builds its own two loggers. Logging the tool announcement here as well would report the same call under two different categories.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refused call is run_command("git", ["status", "--porcelain"]), which is not on Module 11b's allow list — git_status is the tool for that, and run_command only allows git commit. Trace lines are shown uncoloured here on purpose: the words carry the outcome, which is the point of the no-classifier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17 · PHASE 4</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Observability</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Every prior Module made MiniCode more capable; none made it legible from the outside. Structured tracing names every request, tool call, duration and outcome — written to stderr, so the chat transcript is untouched.</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Module16b-PlanAndReviewModes/ — fifth Module of Phase 4.</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Microsoft.Extensions.Logging (Agent) and .Abstractions (Infrastructure), both pinned at 10.0.11 — the version already resolving transitively through Microsoft.Extensions.AI.OpenAI.</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4</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2&gt; trace.log</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  Task started</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[Tool]   list_files</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[Result] Calculator.cs (10ms)</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[Tool]   run_command</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[Result] run_command failed: … (3ms)</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  I've inspected Calculator.cs …</a:t>
            </a:r>
            <a:endParaRPr lang="en-US" sz="1050" dirty="0"/>
          </a:p>
        </p:txBody>
      </p:sp>
      <p:sp>
        <p:nvSpPr>
          <p:cNvPr id="15" name="Text 13"/>
          <p:cNvSpPr txBox="1"/>
          <p:nvPr/>
        </p:nvSpPr>
        <p:spPr>
          <a:xfrm>
            <a:off x="7360920" y="331927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  Task completed</a:t>
            </a:r>
            <a:endParaRPr lang="en-US" sz="1050" dirty="0"/>
          </a:p>
        </p:txBody>
      </p:sp>
      <p:sp>
        <p:nvSpPr>
          <p:cNvPr id="16" name="Shape 14"/>
          <p:cNvSpPr/>
          <p:nvPr/>
        </p:nvSpPr>
        <p:spPr>
          <a:xfrm>
            <a:off x="7342632" y="3776472"/>
            <a:ext cx="4014216" cy="0"/>
          </a:xfrm>
          <a:prstGeom prst="line">
            <a:avLst/>
          </a:prstGeom>
          <a:noFill/>
          <a:ln w="9525">
            <a:solidFill>
              <a:srgbClr val="6B7280"/>
            </a:solidFill>
            <a:prstDash val="sysDot"/>
          </a:ln>
        </p:spPr>
      </p:sp>
      <p:sp>
        <p:nvSpPr>
          <p:cNvPr id="17" name="Text 15"/>
          <p:cNvSpPr txBox="1"/>
          <p:nvPr/>
        </p:nvSpPr>
        <p:spPr>
          <a:xfrm>
            <a:off x="7342632" y="3941064"/>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stderr → trace.log</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stdout → chat transcript</a:t>
            </a:r>
            <a:endParaRPr lang="en-US" sz="1050" dirty="0"/>
          </a:p>
        </p:txBody>
      </p:sp>
      <p:sp>
        <p:nvSpPr>
          <p:cNvPr id="18" name="Text 16"/>
          <p:cNvSpPr txBox="1"/>
          <p:nvPr/>
        </p:nvSpPr>
        <p:spPr>
          <a:xfrm>
            <a:off x="7342632" y="4581144"/>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Three labels, one sink, nothing added to the chat.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MAF Was Always Willing to Log — Just Coarsely</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ChatClientAgent Already Knew How to Log Itself</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The same simple constructor MiniCode has called since Module 3 has always accepted a trailing ILoggerFactory. Supply one and MAF’s own internals start reporting "Invoking client" and "Invoked client" around every request, at Debug and Information, with no code of MiniCode's own involved.</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Verified by reading what a real ChatClientAgent emitted — not assumed from a changelog.</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Coarse Where the Example Is Fine-Grained</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"Invoked client" brackets a whole streaming call: it says nothing about which tool ran or how long it took. The [Tool] and [Result] granularity is MiniCode's own, built the same way Module 15 built approval — another IToolInvoker decorator.</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One decorator, two log categories.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Category Is the Whole of "Structured"</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Category in Brackets, Then the Message</a:t>
            </a:r>
            <a:endParaRPr lang="en-US" sz="1550" dirty="0"/>
          </a:p>
        </p:txBody>
      </p:sp>
      <p:sp>
        <p:nvSpPr>
          <p:cNvPr id="10" name="Text 7"/>
          <p:cNvSpPr txBox="1"/>
          <p:nvPr/>
        </p:nvSpPr>
        <p:spPr>
          <a:xfrm>
            <a:off x="868680" y="2606040"/>
            <a:ext cx="4709160" cy="118872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BracketLoggerProvider renders a log entry's category, then its message — nothing about severity, timestamps or scopes, because the example shows none. CreateLogger("Tool") and CreateLogger("Result") are what become [Tool] and [Result].</a:t>
            </a:r>
            <a:endParaRPr lang="en-US" sz="1350" dirty="0"/>
          </a:p>
        </p:txBody>
      </p:sp>
      <p:sp>
        <p:nvSpPr>
          <p:cNvPr id="11" name="Text 8"/>
          <p:cNvSpPr txBox="1"/>
          <p:nvPr/>
        </p:nvSpPr>
        <p:spPr>
          <a:xfrm>
            <a:off x="868680" y="388620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It never learns that "Tool" is special.</a:t>
            </a:r>
            <a:endParaRPr lang="en-US" sz="1250" dirty="0"/>
          </a:p>
        </p:txBody>
      </p:sp>
      <p:sp>
        <p:nvSpPr>
          <p:cNvPr id="12" name="Shape 9"/>
          <p:cNvSpPr/>
          <p:nvPr/>
        </p:nvSpPr>
        <p:spPr>
          <a:xfrm>
            <a:off x="6309360" y="1417320"/>
            <a:ext cx="5349240" cy="3291840"/>
          </a:xfrm>
          <a:prstGeom prst="roundRect">
            <a:avLst>
              <a:gd name="adj" fmla="val 277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Trace on stderr, Chat on stdout</a:t>
            </a:r>
            <a:endParaRPr lang="en-US" sz="1550" dirty="0"/>
          </a:p>
        </p:txBody>
      </p:sp>
      <p:sp>
        <p:nvSpPr>
          <p:cNvPr id="16" name="Text 12"/>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Redirecting stderr captures a complete run's trace without a single line of it appearing in the transcript the operator was already reading. Because the provider brackets whatever category it is given, MAF's own category flows through the identical sink, unrelabeled.</a:t>
            </a:r>
            <a:endParaRPr lang="en-US" sz="1350" dirty="0"/>
          </a:p>
        </p:txBody>
      </p:sp>
      <p:sp>
        <p:nvSpPr>
          <p:cNvPr id="17" name="Shape 13"/>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8" name="Text 14"/>
          <p:cNvSpPr txBox="1"/>
          <p:nvPr/>
        </p:nvSpPr>
        <p:spPr>
          <a:xfrm>
            <a:off x="877824" y="5193792"/>
            <a:ext cx="10405872" cy="263652"/>
          </a:xfrm>
          <a:prstGeom prst="rect">
            <a:avLst/>
          </a:prstGeom>
          <a:noFill/>
          <a:ln/>
        </p:spPr>
        <p:txBody>
          <a:bodyPr wrap="square" lIns="0" tIns="0" rIns="0" bIns="0" rtlCol="0" anchor="t"/>
          <a:lstStyle/>
          <a:p>
            <a:pPr indent="0" marL="0">
              <a:lnSpc>
                <a:spcPts val="1500"/>
              </a:lnSpc>
              <a:buNone/>
            </a:pPr>
            <a:r>
              <a:rPr lang="en-US" sz="950" i="1" dirty="0">
                <a:solidFill>
                  <a:srgbClr val="6B7280"/>
                </a:solidFill>
                <a:latin typeface="Courier New" pitchFamily="34" charset="0"/>
                <a:ea typeface="Courier New" pitchFamily="34" charset="-122"/>
                <a:cs typeface="Courier New" pitchFamily="34" charset="-120"/>
              </a:rPr>
              <a:t># capture a whole run's trace; the chat transcript is untouched</a:t>
            </a:r>
            <a:endParaRPr lang="en-US" sz="950" dirty="0"/>
          </a:p>
        </p:txBody>
      </p:sp>
      <p:sp>
        <p:nvSpPr>
          <p:cNvPr id="19" name="Text 15"/>
          <p:cNvSpPr txBox="1"/>
          <p:nvPr/>
        </p:nvSpPr>
        <p:spPr>
          <a:xfrm>
            <a:off x="877824" y="5567172"/>
            <a:ext cx="10405872" cy="263652"/>
          </a:xfrm>
          <a:prstGeom prst="rect">
            <a:avLst/>
          </a:prstGeom>
          <a:noFill/>
          <a:ln/>
        </p:spPr>
        <p:txBody>
          <a:bodyPr wrap="square" lIns="0" tIns="0" rIns="0" bIns="0" rtlCol="0" anchor="t"/>
          <a:lstStyle/>
          <a:p>
            <a:pPr indent="0" marL="0">
              <a:lnSpc>
                <a:spcPts val="1500"/>
              </a:lnSpc>
              <a:buNone/>
            </a:pPr>
            <a:r>
              <a:rPr lang="en-US" sz="1050" dirty="0">
                <a:solidFill>
                  <a:srgbClr val="3FBFB0"/>
                </a:solidFill>
                <a:latin typeface="Courier New" pitchFamily="34" charset="0"/>
                <a:ea typeface="Courier New" pitchFamily="34" charset="-122"/>
                <a:cs typeface="Courier New" pitchFamily="34" charset="-120"/>
              </a:rPr>
              <a:t>dotnet run --project src/MiniCode.Cli -- &lt;path&gt; 2&gt; trace.log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The Tool Already Said What Happened</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Trace Line Needs No Classifier</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Every tool in this solution already says what happened in its own returned text — "Exit code 0", "...failed: ...", "...is not on the allow list." TracingInvoker logs the first line of that text verbatim, and nothing more.</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A failure is visible because its own words say so, not because something inspected the string and decided.</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Two Log Calls, Always in That Order</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[Tool] before inner.InvokeAsync, [Result] after it returns. A trace reader never sees a result without the call that produced it, because nothing between the two can throw past DirectToolInvoker’s never-throw guarantee from Module 5a.</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Name first; outcome and duration second.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Where the Decorator Sits, and Why</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TracingInvoker wraps DirectToolInvoker directly, so a pending Y/N/A prompt is never counted as part of a tool's own duration.</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2377440" y="1874520"/>
            <a:ext cx="7406640" cy="868680"/>
          </a:xfrm>
          <a:prstGeom prst="roundRect">
            <a:avLst>
              <a:gd name="adj" fmla="val 8421"/>
            </a:avLst>
          </a:prstGeom>
          <a:solidFill>
            <a:srgbClr val="1E2761"/>
          </a:solidFill>
          <a:ln/>
        </p:spPr>
      </p:sp>
      <p:sp>
        <p:nvSpPr>
          <p:cNvPr id="8" name="Shape 6"/>
          <p:cNvSpPr/>
          <p:nvPr/>
        </p:nvSpPr>
        <p:spPr>
          <a:xfrm>
            <a:off x="2578608" y="2093976"/>
            <a:ext cx="512064" cy="512064"/>
          </a:xfrm>
          <a:prstGeom prst="ellipse">
            <a:avLst/>
          </a:prstGeom>
          <a:solidFill>
            <a:srgbClr val="3FBFB0"/>
          </a:solidFill>
          <a:ln/>
        </p:spPr>
      </p:sp>
      <p:pic>
        <p:nvPicPr>
          <p:cNvPr id="9" name="Image 0" descr="preencoded.png">    </p:cNvPr>
          <p:cNvPicPr>
            <a:picLocks noChangeAspect="1"/>
          </p:cNvPicPr>
          <p:nvPr/>
        </p:nvPicPr>
        <p:blipFill>
          <a:blip r:embed="rId1"/>
          <a:stretch>
            <a:fillRect/>
          </a:stretch>
        </p:blipFill>
        <p:spPr>
          <a:xfrm>
            <a:off x="2706624" y="2221992"/>
            <a:ext cx="256032" cy="256032"/>
          </a:xfrm>
          <a:prstGeom prst="rect">
            <a:avLst/>
          </a:prstGeom>
        </p:spPr>
      </p:pic>
      <p:sp>
        <p:nvSpPr>
          <p:cNvPr id="10" name="Text 7"/>
          <p:cNvSpPr txBox="1"/>
          <p:nvPr/>
        </p:nvSpPr>
        <p:spPr>
          <a:xfrm>
            <a:off x="3246120" y="2039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LoopGuardInvoker</a:t>
            </a:r>
            <a:endParaRPr lang="en-US" sz="1400" dirty="0"/>
          </a:p>
        </p:txBody>
      </p:sp>
      <p:sp>
        <p:nvSpPr>
          <p:cNvPr id="11" name="Text 8"/>
          <p:cNvSpPr txBox="1"/>
          <p:nvPr/>
        </p:nvSpPr>
        <p:spPr>
          <a:xfrm>
            <a:off x="3246120" y="24048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Module 12 — caps the calls one request may make</a:t>
            </a:r>
            <a:endParaRPr lang="en-US" sz="1050" dirty="0"/>
          </a:p>
        </p:txBody>
      </p:sp>
      <p:sp>
        <p:nvSpPr>
          <p:cNvPr id="12" name="Text 9"/>
          <p:cNvSpPr txBox="1"/>
          <p:nvPr/>
        </p:nvSpPr>
        <p:spPr>
          <a:xfrm>
            <a:off x="5852160" y="2761488"/>
            <a:ext cx="457200" cy="23774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3" name="Shape 10"/>
          <p:cNvSpPr/>
          <p:nvPr/>
        </p:nvSpPr>
        <p:spPr>
          <a:xfrm>
            <a:off x="2377440" y="3017520"/>
            <a:ext cx="7406640" cy="868680"/>
          </a:xfrm>
          <a:prstGeom prst="roundRect">
            <a:avLst>
              <a:gd name="adj" fmla="val 8421"/>
            </a:avLst>
          </a:prstGeom>
          <a:solidFill>
            <a:srgbClr val="1E2761"/>
          </a:solidFill>
          <a:ln/>
        </p:spPr>
      </p:sp>
      <p:sp>
        <p:nvSpPr>
          <p:cNvPr id="14" name="Shape 11"/>
          <p:cNvSpPr/>
          <p:nvPr/>
        </p:nvSpPr>
        <p:spPr>
          <a:xfrm>
            <a:off x="2578608" y="3236976"/>
            <a:ext cx="512064" cy="512064"/>
          </a:xfrm>
          <a:prstGeom prst="ellipse">
            <a:avLst/>
          </a:prstGeom>
          <a:solidFill>
            <a:srgbClr val="3FBFB0"/>
          </a:solidFill>
          <a:ln/>
        </p:spPr>
      </p:sp>
      <p:pic>
        <p:nvPicPr>
          <p:cNvPr id="15" name="Image 1" descr="preencoded.png">    </p:cNvPr>
          <p:cNvPicPr>
            <a:picLocks noChangeAspect="1"/>
          </p:cNvPicPr>
          <p:nvPr/>
        </p:nvPicPr>
        <p:blipFill>
          <a:blip r:embed="rId2"/>
          <a:stretch>
            <a:fillRect/>
          </a:stretch>
        </p:blipFill>
        <p:spPr>
          <a:xfrm>
            <a:off x="2706624" y="3364992"/>
            <a:ext cx="256032" cy="256032"/>
          </a:xfrm>
          <a:prstGeom prst="rect">
            <a:avLst/>
          </a:prstGeom>
        </p:spPr>
      </p:pic>
      <p:sp>
        <p:nvSpPr>
          <p:cNvPr id="16" name="Text 12"/>
          <p:cNvSpPr txBox="1"/>
          <p:nvPr/>
        </p:nvSpPr>
        <p:spPr>
          <a:xfrm>
            <a:off x="3246120" y="3182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ApprovalInvoker</a:t>
            </a:r>
            <a:endParaRPr lang="en-US" sz="1400" dirty="0"/>
          </a:p>
        </p:txBody>
      </p:sp>
      <p:sp>
        <p:nvSpPr>
          <p:cNvPr id="17" name="Text 13"/>
          <p:cNvSpPr txBox="1"/>
          <p:nvPr/>
        </p:nvSpPr>
        <p:spPr>
          <a:xfrm>
            <a:off x="3246120" y="35478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Module 15 — can stop a call before it is ever attempted</a:t>
            </a:r>
            <a:endParaRPr lang="en-US" sz="1050" dirty="0"/>
          </a:p>
        </p:txBody>
      </p:sp>
      <p:sp>
        <p:nvSpPr>
          <p:cNvPr id="18" name="Text 14"/>
          <p:cNvSpPr txBox="1"/>
          <p:nvPr/>
        </p:nvSpPr>
        <p:spPr>
          <a:xfrm>
            <a:off x="5852160" y="3904488"/>
            <a:ext cx="457200" cy="23774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9" name="Shape 15"/>
          <p:cNvSpPr/>
          <p:nvPr/>
        </p:nvSpPr>
        <p:spPr>
          <a:xfrm>
            <a:off x="2377440" y="4160520"/>
            <a:ext cx="7406640" cy="868680"/>
          </a:xfrm>
          <a:prstGeom prst="roundRect">
            <a:avLst>
              <a:gd name="adj" fmla="val 8421"/>
            </a:avLst>
          </a:prstGeom>
          <a:solidFill>
            <a:srgbClr val="3FBFB0"/>
          </a:solidFill>
          <a:ln/>
        </p:spPr>
      </p:sp>
      <p:sp>
        <p:nvSpPr>
          <p:cNvPr id="20" name="Shape 16"/>
          <p:cNvSpPr/>
          <p:nvPr/>
        </p:nvSpPr>
        <p:spPr>
          <a:xfrm>
            <a:off x="2578608" y="4379976"/>
            <a:ext cx="512064" cy="512064"/>
          </a:xfrm>
          <a:prstGeom prst="ellipse">
            <a:avLst/>
          </a:prstGeom>
          <a:solidFill>
            <a:srgbClr val="1E2761"/>
          </a:solidFill>
          <a:ln/>
        </p:spPr>
      </p:sp>
      <p:pic>
        <p:nvPicPr>
          <p:cNvPr id="21" name="Image 2" descr="preencoded.png">    </p:cNvPr>
          <p:cNvPicPr>
            <a:picLocks noChangeAspect="1"/>
          </p:cNvPicPr>
          <p:nvPr/>
        </p:nvPicPr>
        <p:blipFill>
          <a:blip r:embed="rId3"/>
          <a:stretch>
            <a:fillRect/>
          </a:stretch>
        </p:blipFill>
        <p:spPr>
          <a:xfrm>
            <a:off x="2706624" y="4507992"/>
            <a:ext cx="256032" cy="256032"/>
          </a:xfrm>
          <a:prstGeom prst="rect">
            <a:avLst/>
          </a:prstGeom>
        </p:spPr>
      </p:pic>
      <p:sp>
        <p:nvSpPr>
          <p:cNvPr id="22" name="Text 17"/>
          <p:cNvSpPr txBox="1"/>
          <p:nvPr/>
        </p:nvSpPr>
        <p:spPr>
          <a:xfrm>
            <a:off x="3246120" y="4325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TracingInvoker</a:t>
            </a:r>
            <a:endParaRPr lang="en-US" sz="1400" dirty="0"/>
          </a:p>
        </p:txBody>
      </p:sp>
      <p:sp>
        <p:nvSpPr>
          <p:cNvPr id="23" name="Text 18"/>
          <p:cNvSpPr txBox="1"/>
          <p:nvPr/>
        </p:nvSpPr>
        <p:spPr>
          <a:xfrm>
            <a:off x="3246120" y="4690872"/>
            <a:ext cx="630936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Module 17 — [Tool] before, [Result] and elapsed time after</a:t>
            </a:r>
            <a:endParaRPr lang="en-US" sz="1050" dirty="0"/>
          </a:p>
        </p:txBody>
      </p:sp>
      <p:sp>
        <p:nvSpPr>
          <p:cNvPr id="24" name="Text 19"/>
          <p:cNvSpPr txBox="1"/>
          <p:nvPr/>
        </p:nvSpPr>
        <p:spPr>
          <a:xfrm>
            <a:off x="5852160" y="5047488"/>
            <a:ext cx="457200" cy="23774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25" name="Shape 20"/>
          <p:cNvSpPr/>
          <p:nvPr/>
        </p:nvSpPr>
        <p:spPr>
          <a:xfrm>
            <a:off x="2377440" y="5303520"/>
            <a:ext cx="7406640" cy="868680"/>
          </a:xfrm>
          <a:prstGeom prst="roundRect">
            <a:avLst>
              <a:gd name="adj" fmla="val 8421"/>
            </a:avLst>
          </a:prstGeom>
          <a:solidFill>
            <a:srgbClr val="1E2761"/>
          </a:solidFill>
          <a:ln/>
        </p:spPr>
      </p:sp>
      <p:sp>
        <p:nvSpPr>
          <p:cNvPr id="26" name="Shape 21"/>
          <p:cNvSpPr/>
          <p:nvPr/>
        </p:nvSpPr>
        <p:spPr>
          <a:xfrm>
            <a:off x="2578608" y="5522976"/>
            <a:ext cx="512064" cy="512064"/>
          </a:xfrm>
          <a:prstGeom prst="ellipse">
            <a:avLst/>
          </a:prstGeom>
          <a:solidFill>
            <a:srgbClr val="3FBFB0"/>
          </a:solidFill>
          <a:ln/>
        </p:spPr>
      </p:sp>
      <p:pic>
        <p:nvPicPr>
          <p:cNvPr id="27" name="Image 3" descr="preencoded.png">    </p:cNvPr>
          <p:cNvPicPr>
            <a:picLocks noChangeAspect="1"/>
          </p:cNvPicPr>
          <p:nvPr/>
        </p:nvPicPr>
        <p:blipFill>
          <a:blip r:embed="rId4"/>
          <a:stretch>
            <a:fillRect/>
          </a:stretch>
        </p:blipFill>
        <p:spPr>
          <a:xfrm>
            <a:off x="2706624" y="5650992"/>
            <a:ext cx="256032" cy="256032"/>
          </a:xfrm>
          <a:prstGeom prst="rect">
            <a:avLst/>
          </a:prstGeom>
        </p:spPr>
      </p:pic>
      <p:sp>
        <p:nvSpPr>
          <p:cNvPr id="28" name="Text 22"/>
          <p:cNvSpPr txBox="1"/>
          <p:nvPr/>
        </p:nvSpPr>
        <p:spPr>
          <a:xfrm>
            <a:off x="3246120" y="5468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DirectToolInvoker  →  the tool</a:t>
            </a:r>
            <a:endParaRPr lang="en-US" sz="1400" dirty="0"/>
          </a:p>
        </p:txBody>
      </p:sp>
      <p:sp>
        <p:nvSpPr>
          <p:cNvPr id="29" name="Text 23"/>
          <p:cNvSpPr txBox="1"/>
          <p:nvPr/>
        </p:nvSpPr>
        <p:spPr>
          <a:xfrm>
            <a:off x="3246120" y="58338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Module 5a — unchanged, and still never throws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One Sink, One Decorator</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src/MiniCode.Infrastructure/BracketLoggerProvider.cs</a:t>
            </a:r>
            <a:endParaRPr lang="en-US" sz="950" dirty="0"/>
          </a:p>
        </p:txBody>
      </p:sp>
      <p:sp>
        <p:nvSpPr>
          <p:cNvPr id="8" name="Text 6"/>
          <p:cNvSpPr txBox="1"/>
          <p:nvPr/>
        </p:nvSpPr>
        <p:spPr>
          <a:xfrm>
            <a:off x="877824" y="1995932"/>
            <a:ext cx="4690872" cy="25877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sealed class BracketLoggerProvider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ILoggerProvider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ILogger CreateLogger(string categoryName) =&gt;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new BracketLogger(categoryName);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void Dispose()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sealed class BracketLogger(string category)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ILogger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IDisposable? BeginScope&lt;TState&gt;(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TState state) where TState : notnull =&gt; null;</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bool IsEnabled(LogLevel logLevel) =&gt; true;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void Log&lt;TState&gt;(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LogLevel logLevel, EventId eventId,</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TState state, Exception? exception,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Func&lt;TState, Exception?, string&gt; formatter) =&gt;</a:t>
            </a:r>
            <a:endParaRPr lang="en-US" sz="950" dirty="0"/>
          </a:p>
        </p:txBody>
      </p:sp>
      <p:sp>
        <p:nvSpPr>
          <p:cNvPr id="9" name="Text 7"/>
          <p:cNvSpPr txBox="1"/>
          <p:nvPr/>
        </p:nvSpPr>
        <p:spPr>
          <a:xfrm>
            <a:off x="877824" y="45105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Console.Error.WriteLine(</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$"[{category}] {formatter(state, exception)}");</a:t>
            </a:r>
            <a:endParaRPr lang="en-US" sz="950" dirty="0"/>
          </a:p>
        </p:txBody>
      </p:sp>
      <p:sp>
        <p:nvSpPr>
          <p:cNvPr id="10" name="Text 8"/>
          <p:cNvSpPr txBox="1"/>
          <p:nvPr/>
        </p:nvSpPr>
        <p:spPr>
          <a:xfrm>
            <a:off x="877824" y="47899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Shape 9"/>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2" name="Text 10"/>
          <p:cNvSpPr txBox="1"/>
          <p:nvPr/>
        </p:nvSpPr>
        <p:spPr>
          <a:xfrm>
            <a:off x="663854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src/MiniCode.Agent/TracingInvoker.cs</a:t>
            </a:r>
            <a:endParaRPr lang="en-US" sz="950" dirty="0"/>
          </a:p>
        </p:txBody>
      </p:sp>
      <p:sp>
        <p:nvSpPr>
          <p:cNvPr id="13" name="Text 11"/>
          <p:cNvSpPr txBox="1"/>
          <p:nvPr/>
        </p:nvSpPr>
        <p:spPr>
          <a:xfrm>
            <a:off x="6638544" y="1995932"/>
            <a:ext cx="4690872" cy="1749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sealed class TracingInvoker(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IToolInvoker inner, ILoggerFactory loggerFactory)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IToolInvoker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readonly ILogger _toolLog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loggerFactory.CreateLogger("Tool");</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readonly ILogger _resultLog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loggerFactory.CreateLogger("Result");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async ValueTask&lt;object?&gt; InvokeAsync(</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ToolInvocation invocation,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CancellationToken cancellationToken)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14" name="Text 12"/>
          <p:cNvSpPr txBox="1"/>
          <p:nvPr/>
        </p:nvSpPr>
        <p:spPr>
          <a:xfrm>
            <a:off x="6638544" y="36723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_toolLog.LogInformation("{ToolName}", invocation.Name);</a:t>
            </a:r>
            <a:endParaRPr lang="en-US" sz="950" dirty="0"/>
          </a:p>
        </p:txBody>
      </p:sp>
      <p:sp>
        <p:nvSpPr>
          <p:cNvPr id="15" name="Text 13"/>
          <p:cNvSpPr txBox="1"/>
          <p:nvPr/>
        </p:nvSpPr>
        <p:spPr>
          <a:xfrm>
            <a:off x="6638544" y="38120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var stopwatch = Stopwatch.StartNew();</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object? result = await inner.InvokeAsync(</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invocation, cancellationToken);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stopwatch.Stop();</a:t>
            </a:r>
            <a:endParaRPr lang="en-US" sz="950" dirty="0"/>
          </a:p>
        </p:txBody>
      </p:sp>
      <p:sp>
        <p:nvSpPr>
          <p:cNvPr id="16" name="Text 14"/>
          <p:cNvSpPr txBox="1"/>
          <p:nvPr/>
        </p:nvSpPr>
        <p:spPr>
          <a:xfrm>
            <a:off x="6638544" y="437083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_resultLog.LogInformation(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"{Summary} ({ElapsedMilliseconds}ms)",</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FirstLine(result), stopwatch.ElapsedMilliseconds);</a:t>
            </a:r>
            <a:endParaRPr lang="en-US" sz="950" dirty="0"/>
          </a:p>
        </p:txBody>
      </p:sp>
      <p:sp>
        <p:nvSpPr>
          <p:cNvPr id="17" name="Text 15"/>
          <p:cNvSpPr txBox="1"/>
          <p:nvPr/>
        </p:nvSpPr>
        <p:spPr>
          <a:xfrm>
            <a:off x="6638544" y="4789932"/>
            <a:ext cx="4690872" cy="9113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result;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static string FirstLine(object? result) =&gt;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(result?.ToString() ?? string.Empty)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.Split(Environment.NewLine, 2)[0];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Composition Root Turns It On</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CADCFC"/>
                </a:solidFill>
                <a:latin typeface="Calibri" pitchFamily="34" charset="0"/>
                <a:ea typeface="Calibri" pitchFamily="34" charset="-122"/>
                <a:cs typeface="Calibri" pitchFamily="34" charset="-120"/>
              </a:rPr>
              <a:t>Program.cs does not change at all this Module — the logger factory is built and owned entirely inside CodingAgentFactory.</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141B49"/>
          </a:solidFill>
          <a:ln w="12700">
            <a:solidFill>
              <a:srgbClr val="3FBFB0"/>
            </a:solidFill>
            <a:prstDash val="solid"/>
          </a:ln>
        </p:spPr>
      </p:sp>
      <p:sp>
        <p:nvSpPr>
          <p:cNvPr id="8" name="Text 6"/>
          <p:cNvSpPr txBox="1"/>
          <p:nvPr/>
        </p:nvSpPr>
        <p:spPr>
          <a:xfrm>
            <a:off x="877824" y="2130552"/>
            <a:ext cx="4690872" cy="7716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src/MiniCode.Agent/CodingAgentFactory.cs</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The composition root builds this, not MiniCode.Cli —</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the provider lives in MiniCode.Infrastructure,</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which Cli cannot reference. CodingAgent owns</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disposing it, alongside the chat client.</a:t>
            </a:r>
            <a:endParaRPr lang="en-US" sz="950" dirty="0"/>
          </a:p>
        </p:txBody>
      </p:sp>
      <p:sp>
        <p:nvSpPr>
          <p:cNvPr id="9" name="Text 7"/>
          <p:cNvSpPr txBox="1"/>
          <p:nvPr/>
        </p:nvSpPr>
        <p:spPr>
          <a:xfrm>
            <a:off x="877824" y="30119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ILoggerFactory loggerFactory = LoggerFactory.Create(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builder =&gt; builder.AddProvider(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new MiniCode.Infrastructure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.BracketLoggerProvider()));</a:t>
            </a:r>
            <a:endParaRPr lang="en-US" sz="950" dirty="0"/>
          </a:p>
        </p:txBody>
      </p:sp>
      <p:sp>
        <p:nvSpPr>
          <p:cNvPr id="10" name="Text 8"/>
          <p:cNvSpPr txBox="1"/>
          <p:nvPr/>
        </p:nvSpPr>
        <p:spPr>
          <a:xfrm>
            <a:off x="877824" y="357073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var tracing = new TracingInvoker(</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new DirectToolInvoker(), loggerFactory);</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var approval = new ApprovalInvoker(tracing, prompter);</a:t>
            </a:r>
            <a:endParaRPr lang="en-US" sz="950" dirty="0"/>
          </a:p>
        </p:txBody>
      </p:sp>
      <p:sp>
        <p:nvSpPr>
          <p:cNvPr id="11" name="Text 9"/>
          <p:cNvSpPr txBox="1"/>
          <p:nvPr/>
        </p:nvSpPr>
        <p:spPr>
          <a:xfrm>
            <a:off x="877824" y="3989832"/>
            <a:ext cx="4690872" cy="4922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ChatClientAgent's existing call site gains one</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named argument — MAF's own logging turns on the</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moment a factory is supplied.</a:t>
            </a:r>
            <a:endParaRPr lang="en-US" sz="950" dirty="0"/>
          </a:p>
        </p:txBody>
      </p:sp>
      <p:sp>
        <p:nvSpPr>
          <p:cNvPr id="12" name="Text 10"/>
          <p:cNvSpPr txBox="1"/>
          <p:nvPr/>
        </p:nvSpPr>
        <p:spPr>
          <a:xfrm>
            <a:off x="877824" y="459181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loggerFactory: loggerFactory</a:t>
            </a:r>
            <a:endParaRPr lang="en-US" sz="950" dirty="0"/>
          </a:p>
        </p:txBody>
      </p:sp>
      <p:sp>
        <p:nvSpPr>
          <p:cNvPr id="13" name="Shape 11"/>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2"/>
          <p:cNvSpPr txBox="1"/>
          <p:nvPr/>
        </p:nvSpPr>
        <p:spPr>
          <a:xfrm>
            <a:off x="6638544" y="21305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src/MiniCode.Agent/CodingAgent.cs</a:t>
            </a:r>
            <a:endParaRPr lang="en-US" sz="950" dirty="0"/>
          </a:p>
        </p:txBody>
      </p:sp>
      <p:sp>
        <p:nvSpPr>
          <p:cNvPr id="15" name="Text 13"/>
          <p:cNvSpPr txBox="1"/>
          <p:nvPr/>
        </p:nvSpPr>
        <p:spPr>
          <a:xfrm>
            <a:off x="6638544" y="24531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_guard.Reset();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_usedTokens += TokenEstimator.Estimate(request);</a:t>
            </a:r>
            <a:endParaRPr lang="en-US" sz="950" dirty="0"/>
          </a:p>
        </p:txBody>
      </p:sp>
      <p:sp>
        <p:nvSpPr>
          <p:cNvPr id="16" name="Text 14"/>
          <p:cNvSpPr txBox="1"/>
          <p:nvPr/>
        </p:nvSpPr>
        <p:spPr>
          <a:xfrm>
            <a:off x="6638544" y="27325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_agentLog.LogInformation("Task started");</a:t>
            </a:r>
            <a:endParaRPr lang="en-US" sz="950" dirty="0"/>
          </a:p>
        </p:txBody>
      </p:sp>
      <p:sp>
        <p:nvSpPr>
          <p:cNvPr id="17" name="Text 15"/>
          <p:cNvSpPr txBox="1"/>
          <p:nvPr/>
        </p:nvSpPr>
        <p:spPr>
          <a:xfrm>
            <a:off x="6638544" y="2872232"/>
            <a:ext cx="4690872" cy="1609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await foreach (AgentResponseUpdate update in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_agent.RunStreamingAsync(</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request, _session,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cancellationToken: cancellationToken))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 fragment = update.ToString();</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_usedTokens += TokenEstimator.Estimate(fragment)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TokenEstimator.Estimate(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ToolActivityText(update));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if (fragment.Length &gt; 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18" name="Text 16"/>
          <p:cNvSpPr txBox="1"/>
          <p:nvPr/>
        </p:nvSpPr>
        <p:spPr>
          <a:xfrm>
            <a:off x="6638544" y="4408932"/>
            <a:ext cx="4690872" cy="4922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 TracingInvoker logs every tool call</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 already, so only the model's own words</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 are traced here.</a:t>
            </a:r>
            <a:endParaRPr lang="en-US" sz="950" dirty="0"/>
          </a:p>
        </p:txBody>
      </p:sp>
      <p:sp>
        <p:nvSpPr>
          <p:cNvPr id="19" name="Text 17"/>
          <p:cNvSpPr txBox="1"/>
          <p:nvPr/>
        </p:nvSpPr>
        <p:spPr>
          <a:xfrm>
            <a:off x="6638544" y="50109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_agentLog.LogInformation(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"{Text}", fragment.Trim());</a:t>
            </a:r>
            <a:endParaRPr lang="en-US" sz="950" dirty="0"/>
          </a:p>
        </p:txBody>
      </p:sp>
      <p:sp>
        <p:nvSpPr>
          <p:cNvPr id="20" name="Text 18"/>
          <p:cNvSpPr txBox="1"/>
          <p:nvPr/>
        </p:nvSpPr>
        <p:spPr>
          <a:xfrm>
            <a:off x="6638544" y="529031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yield return fragment;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continue;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Log Trouble at a Louder Level</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Every capture below is real — a real TracingInvoker over a temporary Git repository, and a real ChatClientAgent on a scripted IChatClient.</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raise the level for failures</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TracingInvoker reports every tool at LogInformation, so a reader cannot filter for trouble without reading every line. Log the result at LogWarning when its first line contains "failed" or starts with "Exit code" followed by anything other than 0.</a:t>
            </a:r>
            <a:endParaRPr lang="en-US" sz="1350" dirty="0"/>
          </a:p>
        </p:txBody>
      </p:sp>
      <p:sp>
        <p:nvSpPr>
          <p:cNvPr id="12" name="Text 9"/>
          <p:cNvSpPr txBox="1"/>
          <p:nvPr/>
        </p:nvSpPr>
        <p:spPr>
          <a:xfrm>
            <a:off x="868680" y="4389120"/>
            <a:ext cx="4709160"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successful run_command or file write still logs at Information</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nonzero exit code or a "failed:" message logs at Warning</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BracketLoggerProvider needs no change — ILogger.Log's logLevel already reaches it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No reference implementation ships in a later Module folder</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 successful call, then a refused one ===</a:t>
            </a:r>
            <a:endParaRPr lang="en-US" sz="950" dirty="0"/>
          </a:p>
        </p:txBody>
      </p:sp>
      <p:sp>
        <p:nvSpPr>
          <p:cNvPr id="15" name="Text 12"/>
          <p:cNvSpPr txBox="1"/>
          <p:nvPr/>
        </p:nvSpPr>
        <p:spPr>
          <a:xfrm>
            <a:off x="6638544" y="2465832"/>
            <a:ext cx="4690872" cy="1139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[Tool] list_files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[Result] Calculator.cs (10ms)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[Tool] run_command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[Result] run_command failed: 'git status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--porcelain' is not on the allow list.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Allowed: dotnet restore, dotnet build,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dotnet test, dotnet format, git commit. (3ms)</a:t>
            </a:r>
            <a:endParaRPr lang="en-US" sz="950" dirty="0"/>
          </a:p>
        </p:txBody>
      </p:sp>
      <p:sp>
        <p:nvSpPr>
          <p:cNvPr id="16" name="Text 13"/>
          <p:cNvSpPr txBox="1"/>
          <p:nvPr/>
        </p:nvSpPr>
        <p:spPr>
          <a:xfrm>
            <a:off x="6638544" y="353263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MAF's own logging, same ILoggerFactory ===</a:t>
            </a:r>
            <a:endParaRPr lang="en-US" sz="950" dirty="0"/>
          </a:p>
        </p:txBody>
      </p:sp>
      <p:sp>
        <p:nvSpPr>
          <p:cNvPr id="17" name="Text 14"/>
          <p:cNvSpPr txBox="1"/>
          <p:nvPr/>
        </p:nvSpPr>
        <p:spPr>
          <a:xfrm>
            <a:off x="6638544" y="386791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[Microsoft.Agents.AI.ChatClientAgent]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[RunStreamingAsync] Agent 3f3c9be…/MiniCode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Invoking client ScriptedChatClient.</a:t>
            </a:r>
            <a:endParaRPr lang="en-US" sz="950" dirty="0"/>
          </a:p>
        </p:txBody>
      </p:sp>
      <p:sp>
        <p:nvSpPr>
          <p:cNvPr id="18" name="Text 15"/>
          <p:cNvSpPr txBox="1"/>
          <p:nvPr/>
        </p:nvSpPr>
        <p:spPr>
          <a:xfrm>
            <a:off x="6638544" y="432511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[Agent], the model's own words ===</a:t>
            </a:r>
            <a:endParaRPr lang="en-US" sz="950" dirty="0"/>
          </a:p>
        </p:txBody>
      </p:sp>
      <p:sp>
        <p:nvSpPr>
          <p:cNvPr id="19" name="Text 16"/>
          <p:cNvSpPr txBox="1"/>
          <p:nvPr/>
        </p:nvSpPr>
        <p:spPr>
          <a:xfrm>
            <a:off x="6638544" y="466039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[Agent] Task started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[Agent] I've inspected Calculator.cs — Add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looks correct.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[Agent] Task completed</a:t>
            </a:r>
            <a:endParaRPr lang="en-US" sz="950" dirty="0"/>
          </a:p>
        </p:txBody>
      </p:sp>
      <p:sp>
        <p:nvSpPr>
          <p:cNvPr id="20" name="Text 17"/>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A whole autonomous run interleaving all three needs a live OPENAI_API_KEY — what to call is the model's job, not this lesson's code.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2026-09-10T18:44:16Z</dcterms:created>
  <dcterms:modified xsi:type="dcterms:W3CDTF">2026-09-10T18:44:16Z</dcterms:modified>
</cp:coreProperties>
</file>