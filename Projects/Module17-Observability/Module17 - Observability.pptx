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prior Module made MiniCode more capable; none made it legible from the outside. This Module adds structured tracing: [Agent], [Tool] and [Result] lines naming every request, every tool call, its duration and its outcome. They are written to stderr so they never disturb the chat transcript, and along the way we turn on MAF's own built-in agent logging. We start from the Module 16b folder. This builds on Module 5a's IToolInvoker seam, whose own doc comment has named this Module as a reason it exists, the same way it named Module 15 for approval. It also sits in the same chain as Module 15's ApprovalInvoker and Module 12's LoopGuardInvoker. This is the fifth Module of Phase 4, and it ships as part of the Phase 4 Capstone, Developer CLI, version 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Microsoft.Extensions.Logging goes into MiniCode.Agent, and Microsoft.Extensions.Logging.Abstractions into MiniCode.Infrastructure. Both are pinned at 10.0.12, the exact version already resolving transitively through Microsoft.Extensions.AI.OpenAI. No other package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ChatClientAgent already knows how to log itself; it was never asked to. The same simple constructor MiniCode has called since Module 3 has always accepted a trailing ILoggerFactory parameter. Pass one in, and MAF's own internals start reporting 'Invoking client' and 'Invoked client' around every request, at Debug and Information, with no code of MiniCode's own involved. This is the Module's 'MAF telemetry', verified by wiring a real ILoggerFactory into a real ChatClientAgent and reading what came out, not assumed from a changelog. But MAF's own logging is coarse, and the syllabus's example is not. 'Invoked client' brackets a whole streaming call; it says nothing about which tool ran or how long it took. The [Tool] and [Result] granularity the example wants is MiniCode's own, built the same way Module 15 built approval: as another IToolInvoker decorator. CodingAgentFactory's ChatClientAgent call site gains one named argument, loggerFactory, and MAF's logging turns on the moment one is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TracingInvoker sits inside ApprovalInvoker, not outside it. Duration is meant to answer 'how long did the tool take', not 'how long did a human take to decide'. Wrapping DirectToolInvoker directly means a pending Y/N/A prompt is never counted as part of a tool's own time. In CodingAgentFactory the chain is built inside out: TracingInvoker around DirectToolInvoker, ApprovalInvoker around that, and LoopGuardInvoker outermost. Two log calls happen per invocation, always in the same order: [Tool] before the inner call, [Result] after it. A trace reader never sees a result without the call that produced it, because nothing between them can throw past DirectToolInvoker's never-throw guarantee. A denied or refused call is still traced when it reaches a tool. Only ApprovalInvoker, outside, can stop a call before TracingInvoker sees it, and a call it stops was never attempted in the first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trace line does not need a success-or-failure classifier. Every tool in this solution already says what happened in its own returned text: 'Exit code 0', '...failed: ...', '...is not on the allow list.' TracingInvoker logs the first line of that text verbatim. A failed operation is visible because its own words say so, not because something inspected the string and decided. TracingInvoker never inspects a result's meaning, only its shape. FirstLine takes the text up to the first newline, whatever it says. That is the same discipline ShellTools already applies when it caps output, applied here to what gets logged instead of what gets shown, and it avoids repeating a whole build's output in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custom ILoggerProvider is the whole of 'structured logging' here. BracketLoggerProvider renders a log entry's category in brackets, then its message. It adds nothing about severity, timestamps or scopes, because the syllabus's own example shows none. loggerFactory.CreateLogger("Tool") and CreateLogger("Result") are what turn into [Tool] and [Result]; the category is the label. BracketLoggerProvider does not know that Tool, Result or Agent are special. It brackets whatever category it is given, which is what lets MAF's own Microsoft.Agents.AI.ChatClientAgent category flow through the identical sink under its own name. In CodingAgent, RunStreamingAsync logs 'Task started', then each fragment of the model's own text, then 'Task completed'. It does not log tool announcements, because TracingInvoker already logs every tool call, and logging both would report the same call under two categories.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output goes to stderr, and chat output stays on stdout. Running dotnet run --project src/MiniCode.Cli -- &lt;path&gt; 2&gt; trace.log is how an operator captures a complete run's trace without a single line of it appearing in the transcript they were already reading. And CodingAgentFactory builds the logger factory, not MiniCode.Cli. BracketLoggerProvider lives in MiniCode.Infrastructure, which Cli cannot reference, and the composition root already builds everything else the agent needs. CodingAgent's constructor gains an ILoggerFactory parameter and disposes it alongside the chat client. Program.cs does not change at all this Module; its whole effect is invisible to MiniCode.Cli's own two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TracingInvoker reports every tool at the same LogInformation level, so a trace reader cannot filter for trouble without reading every line. Change InvokeAsync, in src/MiniCode.Agent/TracingInvoker.cs, to log the result at LogWarning when its first line contains the word 'failed' or starts with 'Exit code' followed by anything other than 0, and at LogInformation otherwise. Acceptance criteria: a successful run_command or file write still logs at Information; a nonzero exit code or a 'failed:' message logs at Warning; BracketLoggerProvider needs no change, since ILogger.Log's logLevel parameter already reaches it, and nothing in this Module's formatter currently uses it. No reference implementation ships in a later Module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this is real, captured output: a real TracingInvoker over a real temporary Git repository, and a real ChatClientAgent wired to a scripted IChatClient, both logging through the same production BracketLoggerProvider. First, [Tool] and [Result] for a successful call and a refused one. The second is run_command with git status --porcelain, which is not on Module 11b's allow list; git_status is the tool for that, and run_command only allows git commit. Second, MAF's own built-in logging from a real ChatClientAgent given the same ILoggerFactory. Third, what RunStreamingAsync logs under [Agent] for the model's own text. On the slide, the long lines are wrapped and the agent's id is shortened to 3f3c...; the words are unchanged. A complete autonomous run, interleaving all three categories in one session, needs a live OPENAI_API_KEY, since deciding what to inspect and which tools to call is the model's job. What reaches the trace is exactly these three captures, in whatever order the model's own tool calls and text produce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this goes. The Phase 4 Capstone closes two seams this Module left. First, /plan and /review from Module 16b are real model calls that bypass RunStreamingAsync, so in Module 17 they produce no [Agent] line; the Capstone adds them. Second, a turn that dies mid-stream used to leave no trace, because Module 16a's catch printed the error to stdout; the Capstone makes the failure appear in the trace. And in Module 19, the same session captured with 2&gt; trace.log is the record of what a real autonomous run actually did. v1.0's trace is still text on stderr, with no structured events and no OpenTelemetry. This ships in the Phase 4 Capstone, Developer CLI, version 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MODULE 17  ·  PHASE 4</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Observability</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Making a run legible from the outside</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Module16b-PlanAndReviewModes/</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Module17-Observability/</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Switching on the logging MAF already has</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Tracing every tool call with one more invoker</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tracing sits inside approval</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Letting a log category be the whole format</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Keeping the trace on stderr and the chat on stdout</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17 — Observability</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Two logging packages, already in the graph</a:t>
            </a:r>
            <a:endParaRPr lang="en-US" sz="2800" dirty="0"/>
          </a:p>
        </p:txBody>
      </p:sp>
      <p:sp>
        <p:nvSpPr>
          <p:cNvPr id="4" name="Shape 2"/>
          <p:cNvSpPr/>
          <p:nvPr/>
        </p:nvSpPr>
        <p:spPr>
          <a:xfrm>
            <a:off x="457200" y="1371600"/>
            <a:ext cx="2560320" cy="1828800"/>
          </a:xfrm>
          <a:prstGeom prst="roundRect">
            <a:avLst>
              <a:gd name="adj" fmla="val 4000"/>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200" b="1" dirty="0">
                <a:solidFill>
                  <a:srgbClr val="1F2937"/>
                </a:solidFill>
                <a:latin typeface="Calibri" pitchFamily="34" charset="0"/>
                <a:ea typeface="Calibri" pitchFamily="34" charset="-122"/>
                <a:cs typeface="Calibri" pitchFamily="34" charset="-120"/>
              </a:rPr>
              <a:t>Microsoft.Extensions.</a:t>
            </a:r>
            <a:endParaRPr lang="en-US" sz="1200" dirty="0"/>
          </a:p>
          <a:p>
            <a:pPr indent="0" marL="0">
              <a:buNone/>
            </a:pPr>
            <a:r>
              <a:rPr lang="en-US" sz="1200" b="1" dirty="0">
                <a:solidFill>
                  <a:srgbClr val="1F2937"/>
                </a:solidFill>
                <a:latin typeface="Calibri" pitchFamily="34" charset="0"/>
                <a:ea typeface="Calibri" pitchFamily="34" charset="-122"/>
                <a:cs typeface="Calibri" pitchFamily="34" charset="-120"/>
              </a:rPr>
              <a:t>Logging</a:t>
            </a:r>
            <a:endParaRPr lang="en-US" sz="1200" dirty="0"/>
          </a:p>
        </p:txBody>
      </p:sp>
      <p:sp>
        <p:nvSpPr>
          <p:cNvPr id="8" name="Text 5"/>
          <p:cNvSpPr txBox="1"/>
          <p:nvPr/>
        </p:nvSpPr>
        <p:spPr>
          <a:xfrm>
            <a:off x="640080" y="2057400"/>
            <a:ext cx="2194560" cy="10515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10.0.12, in MiniCode.Agent</a:t>
            </a:r>
            <a:endParaRPr lang="en-US" sz="1200" dirty="0"/>
          </a:p>
        </p:txBody>
      </p:sp>
      <p:sp>
        <p:nvSpPr>
          <p:cNvPr id="9" name="Shape 6"/>
          <p:cNvSpPr/>
          <p:nvPr/>
        </p:nvSpPr>
        <p:spPr>
          <a:xfrm>
            <a:off x="3291840" y="1371600"/>
            <a:ext cx="2560320" cy="1828800"/>
          </a:xfrm>
          <a:prstGeom prst="roundRect">
            <a:avLst>
              <a:gd name="adj" fmla="val 4000"/>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200" b="1" dirty="0">
                <a:solidFill>
                  <a:srgbClr val="1F2937"/>
                </a:solidFill>
                <a:latin typeface="Calibri" pitchFamily="34" charset="0"/>
                <a:ea typeface="Calibri" pitchFamily="34" charset="-122"/>
                <a:cs typeface="Calibri" pitchFamily="34" charset="-120"/>
              </a:rPr>
              <a:t>…Logging.Abstractions</a:t>
            </a:r>
            <a:endParaRPr lang="en-US" sz="1200" dirty="0"/>
          </a:p>
        </p:txBody>
      </p:sp>
      <p:sp>
        <p:nvSpPr>
          <p:cNvPr id="13" name="Text 9"/>
          <p:cNvSpPr txBox="1"/>
          <p:nvPr/>
        </p:nvSpPr>
        <p:spPr>
          <a:xfrm>
            <a:off x="3474720" y="2057400"/>
            <a:ext cx="2194560" cy="10515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10.0.12, in MiniCode.Infrastructure</a:t>
            </a:r>
            <a:endParaRPr lang="en-US" sz="1200" dirty="0"/>
          </a:p>
        </p:txBody>
      </p:sp>
      <p:sp>
        <p:nvSpPr>
          <p:cNvPr id="14" name="Shape 10"/>
          <p:cNvSpPr/>
          <p:nvPr/>
        </p:nvSpPr>
        <p:spPr>
          <a:xfrm>
            <a:off x="6126480" y="1371600"/>
            <a:ext cx="2560320" cy="1828800"/>
          </a:xfrm>
          <a:prstGeom prst="roundRect">
            <a:avLst>
              <a:gd name="adj" fmla="val 4000"/>
            </a:avLst>
          </a:prstGeom>
          <a:solidFill>
            <a:srgbClr val="512BD4"/>
          </a:solidFill>
          <a:ln w="12700">
            <a:solidFill>
              <a:srgbClr val="512BD4"/>
            </a:solidFill>
            <a:prstDash val="solid"/>
          </a:ln>
        </p:spPr>
      </p:sp>
      <p:sp>
        <p:nvSpPr>
          <p:cNvPr id="15" name="Shape 11"/>
          <p:cNvSpPr/>
          <p:nvPr/>
        </p:nvSpPr>
        <p:spPr>
          <a:xfrm>
            <a:off x="630936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Already resolving</a:t>
            </a:r>
            <a:endParaRPr lang="en-US" sz="1500" dirty="0"/>
          </a:p>
        </p:txBody>
      </p:sp>
      <p:sp>
        <p:nvSpPr>
          <p:cNvPr id="18" name="Text 13"/>
          <p:cNvSpPr txBox="1"/>
          <p:nvPr/>
        </p:nvSpPr>
        <p:spPr>
          <a:xfrm>
            <a:off x="6309360" y="2057400"/>
            <a:ext cx="2194560" cy="10515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exact version Microsoft.Extensions.AI.OpenAI pulls in. Nothing else changes.</a:t>
            </a:r>
            <a:endParaRPr lang="en-US" sz="1200" dirty="0"/>
          </a:p>
        </p:txBody>
      </p:sp>
      <p:sp>
        <p:nvSpPr>
          <p:cNvPr id="19" name="Text 14"/>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17 — Observability</a:t>
            </a:r>
            <a:endParaRPr lang="en-US" sz="900" dirty="0"/>
          </a:p>
        </p:txBody>
      </p:sp>
      <p:sp>
        <p:nvSpPr>
          <p:cNvPr id="20" name="Text 15"/>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MAF already logs itself, coarsely</a:t>
            </a:r>
            <a:endParaRPr lang="en-US" sz="2800" dirty="0"/>
          </a:p>
        </p:txBody>
      </p:sp>
      <p:sp>
        <p:nvSpPr>
          <p:cNvPr id="4" name="Shape 2"/>
          <p:cNvSpPr/>
          <p:nvPr/>
        </p:nvSpPr>
        <p:spPr>
          <a:xfrm>
            <a:off x="457200" y="1371600"/>
            <a:ext cx="3931920" cy="2011680"/>
          </a:xfrm>
          <a:prstGeom prst="roundRect">
            <a:avLst>
              <a:gd name="adj" fmla="val 3636"/>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ChatClientAgent's own logging</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Turned on by one ILoggerFactory argument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"Invoking client", "Invoked client"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Brackets a whole streaming call</a:t>
            </a:r>
            <a:endParaRPr lang="en-US" sz="1300" dirty="0"/>
          </a:p>
        </p:txBody>
      </p:sp>
      <p:sp>
        <p:nvSpPr>
          <p:cNvPr id="9" name="Shape 6"/>
          <p:cNvSpPr/>
          <p:nvPr/>
        </p:nvSpPr>
        <p:spPr>
          <a:xfrm>
            <a:off x="4754880" y="1371600"/>
            <a:ext cx="3931920" cy="2011680"/>
          </a:xfrm>
          <a:prstGeom prst="roundRect">
            <a:avLst>
              <a:gd name="adj" fmla="val 3636"/>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MiniCode's TracingInvoker</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One line per tool call</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tool's outcome, in its own words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How long the tool took</a:t>
            </a:r>
            <a:endParaRPr lang="en-US" sz="1300" dirty="0"/>
          </a:p>
        </p:txBody>
      </p:sp>
      <p:sp>
        <p:nvSpPr>
          <p:cNvPr id="14" name="Text 10"/>
          <p:cNvSpPr txBox="1"/>
          <p:nvPr/>
        </p:nvSpPr>
        <p:spPr>
          <a:xfrm>
            <a:off x="457200" y="36576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syllabus example needs the fine grain, so MiniCode adds it as another invoker.</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17 — Observability</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Tracing sits inside approval</a:t>
            </a:r>
            <a:endParaRPr lang="en-US" sz="2800" dirty="0"/>
          </a:p>
        </p:txBody>
      </p:sp>
      <p:sp>
        <p:nvSpPr>
          <p:cNvPr id="4" name="Shape 2"/>
          <p:cNvSpPr/>
          <p:nvPr/>
        </p:nvSpPr>
        <p:spPr>
          <a:xfrm>
            <a:off x="457200" y="1417320"/>
            <a:ext cx="1796796" cy="19933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LoopGuardInvoker</a:t>
            </a:r>
            <a:endParaRPr lang="en-US" sz="1300" dirty="0"/>
          </a:p>
        </p:txBody>
      </p:sp>
      <p:sp>
        <p:nvSpPr>
          <p:cNvPr id="8" name="Text 5"/>
          <p:cNvSpPr txBox="1"/>
          <p:nvPr/>
        </p:nvSpPr>
        <p:spPr>
          <a:xfrm>
            <a:off x="640080"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Module 12: stops a chain that never converges</a:t>
            </a:r>
            <a:endParaRPr lang="en-US" sz="1200" dirty="0"/>
          </a:p>
        </p:txBody>
      </p:sp>
      <p:sp>
        <p:nvSpPr>
          <p:cNvPr id="9" name="Shape 6"/>
          <p:cNvSpPr/>
          <p:nvPr/>
        </p:nvSpPr>
        <p:spPr>
          <a:xfrm>
            <a:off x="2318004"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19933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ApprovalInvoker</a:t>
            </a:r>
            <a:endParaRPr lang="en-US" sz="1300" dirty="0"/>
          </a:p>
        </p:txBody>
      </p:sp>
      <p:sp>
        <p:nvSpPr>
          <p:cNvPr id="14" name="Text 10"/>
          <p:cNvSpPr txBox="1"/>
          <p:nvPr/>
        </p:nvSpPr>
        <p:spPr>
          <a:xfrm>
            <a:off x="2784348"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Module 15: asks a human first</a:t>
            </a:r>
            <a:endParaRPr lang="en-US" sz="1200" dirty="0"/>
          </a:p>
        </p:txBody>
      </p:sp>
      <p:sp>
        <p:nvSpPr>
          <p:cNvPr id="15" name="Shape 11"/>
          <p:cNvSpPr/>
          <p:nvPr/>
        </p:nvSpPr>
        <p:spPr>
          <a:xfrm>
            <a:off x="4462272"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1993392"/>
          </a:xfrm>
          <a:prstGeom prst="roundRect">
            <a:avLst>
              <a:gd name="adj" fmla="val 4071"/>
            </a:avLst>
          </a:prstGeom>
          <a:solidFill>
            <a:srgbClr val="512BD4"/>
          </a:solidFill>
          <a:ln w="12700">
            <a:solidFill>
              <a:srgbClr val="512BD4"/>
            </a:solidFill>
            <a:prstDash val="solid"/>
          </a:ln>
        </p:spPr>
      </p:sp>
      <p:sp>
        <p:nvSpPr>
          <p:cNvPr id="17" name="Shape 13"/>
          <p:cNvSpPr/>
          <p:nvPr/>
        </p:nvSpPr>
        <p:spPr>
          <a:xfrm>
            <a:off x="4928616"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TracingInvoker</a:t>
            </a:r>
            <a:endParaRPr lang="en-US" sz="1300" dirty="0"/>
          </a:p>
        </p:txBody>
      </p:sp>
      <p:sp>
        <p:nvSpPr>
          <p:cNvPr id="20" name="Text 15"/>
          <p:cNvSpPr txBox="1"/>
          <p:nvPr/>
        </p:nvSpPr>
        <p:spPr>
          <a:xfrm>
            <a:off x="4928616" y="26060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Logs the call, starts the clock</a:t>
            </a:r>
            <a:endParaRPr lang="en-US" sz="1200" dirty="0"/>
          </a:p>
        </p:txBody>
      </p:sp>
      <p:sp>
        <p:nvSpPr>
          <p:cNvPr id="21" name="Shape 16"/>
          <p:cNvSpPr/>
          <p:nvPr/>
        </p:nvSpPr>
        <p:spPr>
          <a:xfrm>
            <a:off x="6606540"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1993392"/>
          </a:xfrm>
          <a:prstGeom prst="roundRect">
            <a:avLst>
              <a:gd name="adj" fmla="val 4071"/>
            </a:avLst>
          </a:prstGeom>
          <a:solidFill>
            <a:srgbClr val="EFEBFC"/>
          </a:solidFill>
          <a:ln w="12700">
            <a:solidFill>
              <a:srgbClr val="EFEBFC"/>
            </a:solidFill>
            <a:prstDash val="solid"/>
          </a:ln>
        </p:spPr>
      </p:sp>
      <p:sp>
        <p:nvSpPr>
          <p:cNvPr id="23" name="Shape 18"/>
          <p:cNvSpPr/>
          <p:nvPr/>
        </p:nvSpPr>
        <p:spPr>
          <a:xfrm>
            <a:off x="7072884"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DirectToolInvoker</a:t>
            </a:r>
            <a:endParaRPr lang="en-US" sz="1300" dirty="0"/>
          </a:p>
        </p:txBody>
      </p:sp>
      <p:sp>
        <p:nvSpPr>
          <p:cNvPr id="26" name="Text 20"/>
          <p:cNvSpPr txBox="1"/>
          <p:nvPr/>
        </p:nvSpPr>
        <p:spPr>
          <a:xfrm>
            <a:off x="7072884"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Runs the tool, never throws</a:t>
            </a:r>
            <a:endParaRPr lang="en-US" sz="1200" dirty="0"/>
          </a:p>
        </p:txBody>
      </p:sp>
      <p:sp>
        <p:nvSpPr>
          <p:cNvPr id="27" name="Text 21"/>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 human's time spent deciding is never counted as the tool's own duration.</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17 — Observability</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No classifier: the tool's own words</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68580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First line, verbatim</a:t>
            </a:r>
            <a:endParaRPr lang="en-US" sz="1600" dirty="0"/>
          </a:p>
        </p:txBody>
      </p:sp>
      <p:sp>
        <p:nvSpPr>
          <p:cNvPr id="8" name="Text 5"/>
          <p:cNvSpPr txBox="1"/>
          <p:nvPr/>
        </p:nvSpPr>
        <p:spPr>
          <a:xfrm>
            <a:off x="685800" y="2990088"/>
            <a:ext cx="2057400"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TracingInvoker logs what the tool already said. It never decides success.</a:t>
            </a:r>
            <a:endParaRPr lang="en-US" sz="12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Exit code 0</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run_command reports its own result</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…failed: …</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Every tool's error sentence says so</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Not allowed</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"…is not on the allow list." from Module 11b</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 failed operation is visible because its own words say so.</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17 — Observability</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category is the label</a:t>
            </a:r>
            <a:endParaRPr lang="en-US" sz="2800" dirty="0"/>
          </a:p>
        </p:txBody>
      </p:sp>
      <p:sp>
        <p:nvSpPr>
          <p:cNvPr id="4" name="Shape 2"/>
          <p:cNvSpPr/>
          <p:nvPr/>
        </p:nvSpPr>
        <p:spPr>
          <a:xfrm>
            <a:off x="457200" y="1371600"/>
            <a:ext cx="3977640" cy="1028700"/>
          </a:xfrm>
          <a:prstGeom prst="roundRect">
            <a:avLst>
              <a:gd name="adj" fmla="val 7111"/>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[Agent]</a:t>
            </a:r>
            <a:endParaRPr lang="en-US" sz="1500" dirty="0"/>
          </a:p>
        </p:txBody>
      </p:sp>
      <p:sp>
        <p:nvSpPr>
          <p:cNvPr id="8" name="Text 5"/>
          <p:cNvSpPr txBox="1"/>
          <p:nvPr/>
        </p:nvSpPr>
        <p:spPr>
          <a:xfrm>
            <a:off x="640080" y="2057400"/>
            <a:ext cx="3611880" cy="2514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CodingAgent: task started, the model's own words, task completed</a:t>
            </a:r>
            <a:endParaRPr lang="en-US" sz="1200" dirty="0"/>
          </a:p>
        </p:txBody>
      </p:sp>
      <p:sp>
        <p:nvSpPr>
          <p:cNvPr id="9" name="Shape 6"/>
          <p:cNvSpPr/>
          <p:nvPr/>
        </p:nvSpPr>
        <p:spPr>
          <a:xfrm>
            <a:off x="4709160" y="1371600"/>
            <a:ext cx="3977640" cy="1028700"/>
          </a:xfrm>
          <a:prstGeom prst="roundRect">
            <a:avLst>
              <a:gd name="adj" fmla="val 7111"/>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[Tool]</a:t>
            </a:r>
            <a:endParaRPr lang="en-US" sz="1500" dirty="0"/>
          </a:p>
        </p:txBody>
      </p:sp>
      <p:sp>
        <p:nvSpPr>
          <p:cNvPr id="13" name="Text 9"/>
          <p:cNvSpPr txBox="1"/>
          <p:nvPr/>
        </p:nvSpPr>
        <p:spPr>
          <a:xfrm>
            <a:off x="4892040" y="2057400"/>
            <a:ext cx="3611880" cy="2514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TracingInvoker: which tool ran</a:t>
            </a:r>
            <a:endParaRPr lang="en-US" sz="1200" dirty="0"/>
          </a:p>
        </p:txBody>
      </p:sp>
      <p:sp>
        <p:nvSpPr>
          <p:cNvPr id="14" name="Shape 10"/>
          <p:cNvSpPr/>
          <p:nvPr/>
        </p:nvSpPr>
        <p:spPr>
          <a:xfrm>
            <a:off x="457200" y="2628900"/>
            <a:ext cx="3977640" cy="1028700"/>
          </a:xfrm>
          <a:prstGeom prst="roundRect">
            <a:avLst>
              <a:gd name="adj" fmla="val 7111"/>
            </a:avLst>
          </a:prstGeom>
          <a:solidFill>
            <a:srgbClr val="EFEBFC"/>
          </a:solidFill>
          <a:ln w="12700">
            <a:solidFill>
              <a:srgbClr val="EFEBFC"/>
            </a:solidFill>
            <a:prstDash val="solid"/>
          </a:ln>
        </p:spPr>
      </p:sp>
      <p:sp>
        <p:nvSpPr>
          <p:cNvPr id="15" name="Shape 11"/>
          <p:cNvSpPr/>
          <p:nvPr/>
        </p:nvSpPr>
        <p:spPr>
          <a:xfrm>
            <a:off x="640080" y="28117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2911632"/>
            <a:ext cx="184343" cy="184343"/>
          </a:xfrm>
          <a:prstGeom prst="rect">
            <a:avLst/>
          </a:prstGeom>
        </p:spPr>
      </p:pic>
      <p:sp>
        <p:nvSpPr>
          <p:cNvPr id="17" name="Text 12"/>
          <p:cNvSpPr txBox="1"/>
          <p:nvPr/>
        </p:nvSpPr>
        <p:spPr>
          <a:xfrm>
            <a:off x="1143000" y="28117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[Result]</a:t>
            </a:r>
            <a:endParaRPr lang="en-US" sz="1500" dirty="0"/>
          </a:p>
        </p:txBody>
      </p:sp>
      <p:sp>
        <p:nvSpPr>
          <p:cNvPr id="18" name="Text 13"/>
          <p:cNvSpPr txBox="1"/>
          <p:nvPr/>
        </p:nvSpPr>
        <p:spPr>
          <a:xfrm>
            <a:off x="640080" y="3314700"/>
            <a:ext cx="3611880" cy="2514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tool's first line, and its duration</a:t>
            </a:r>
            <a:endParaRPr lang="en-US" sz="1200" dirty="0"/>
          </a:p>
        </p:txBody>
      </p:sp>
      <p:sp>
        <p:nvSpPr>
          <p:cNvPr id="19" name="Shape 14"/>
          <p:cNvSpPr/>
          <p:nvPr/>
        </p:nvSpPr>
        <p:spPr>
          <a:xfrm>
            <a:off x="4709160" y="2628900"/>
            <a:ext cx="3977640" cy="1028700"/>
          </a:xfrm>
          <a:prstGeom prst="roundRect">
            <a:avLst>
              <a:gd name="adj" fmla="val 7111"/>
            </a:avLst>
          </a:prstGeom>
          <a:solidFill>
            <a:srgbClr val="512BD4"/>
          </a:solidFill>
          <a:ln w="12700">
            <a:solidFill>
              <a:srgbClr val="512BD4"/>
            </a:solidFill>
            <a:prstDash val="solid"/>
          </a:ln>
        </p:spPr>
      </p:sp>
      <p:sp>
        <p:nvSpPr>
          <p:cNvPr id="20" name="Shape 15"/>
          <p:cNvSpPr/>
          <p:nvPr/>
        </p:nvSpPr>
        <p:spPr>
          <a:xfrm>
            <a:off x="4892040" y="2811780"/>
            <a:ext cx="384048" cy="384048"/>
          </a:xfrm>
          <a:prstGeom prst="ellipse">
            <a:avLst/>
          </a:prstGeom>
          <a:solidFill>
            <a:srgbClr val="FFFFFF"/>
          </a:solidFill>
          <a:ln w="12700">
            <a:solidFill>
              <a:srgbClr val="FFFFFF"/>
            </a:solidFill>
            <a:prstDash val="solid"/>
          </a:ln>
        </p:spPr>
      </p:sp>
      <p:pic>
        <p:nvPicPr>
          <p:cNvPr id="21" name="Image 3" descr="preencoded.png">    </p:cNvPr>
          <p:cNvPicPr>
            <a:picLocks noChangeAspect="1"/>
          </p:cNvPicPr>
          <p:nvPr/>
        </p:nvPicPr>
        <p:blipFill>
          <a:blip r:embed="rId4"/>
          <a:stretch>
            <a:fillRect/>
          </a:stretch>
        </p:blipFill>
        <p:spPr>
          <a:xfrm>
            <a:off x="4991892" y="2911632"/>
            <a:ext cx="184343" cy="184343"/>
          </a:xfrm>
          <a:prstGeom prst="rect">
            <a:avLst/>
          </a:prstGeom>
        </p:spPr>
      </p:pic>
      <p:sp>
        <p:nvSpPr>
          <p:cNvPr id="22" name="Text 16"/>
          <p:cNvSpPr txBox="1"/>
          <p:nvPr/>
        </p:nvSpPr>
        <p:spPr>
          <a:xfrm>
            <a:off x="5394960" y="2811780"/>
            <a:ext cx="3154680" cy="384048"/>
          </a:xfrm>
          <a:prstGeom prst="rect">
            <a:avLst/>
          </a:prstGeom>
          <a:noFill/>
          <a:ln/>
        </p:spPr>
        <p:txBody>
          <a:bodyPr wrap="square" lIns="0" tIns="0" rIns="0" bIns="0" rtlCol="0" anchor="ctr">
            <a:normAutofit/>
          </a:bodyPr>
          <a:lstStyle/>
          <a:p>
            <a:pPr indent="0" marL="0">
              <a:buNone/>
            </a:pPr>
            <a:r>
              <a:rPr lang="en-US" sz="1200" b="1" dirty="0">
                <a:solidFill>
                  <a:srgbClr val="FFFFFF"/>
                </a:solidFill>
                <a:latin typeface="Courier New" pitchFamily="34" charset="0"/>
                <a:ea typeface="Courier New" pitchFamily="34" charset="-122"/>
                <a:cs typeface="Courier New" pitchFamily="34" charset="-120"/>
              </a:rPr>
              <a:t>[…ChatClientAgent]</a:t>
            </a:r>
            <a:endParaRPr lang="en-US" sz="1200" dirty="0"/>
          </a:p>
        </p:txBody>
      </p:sp>
      <p:sp>
        <p:nvSpPr>
          <p:cNvPr id="23" name="Text 17"/>
          <p:cNvSpPr txBox="1"/>
          <p:nvPr/>
        </p:nvSpPr>
        <p:spPr>
          <a:xfrm>
            <a:off x="4892040" y="3314700"/>
            <a:ext cx="3611880" cy="2514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MAF's own category, through the same sink, unrelabelled</a:t>
            </a:r>
            <a:endParaRPr lang="en-US" sz="1200" dirty="0"/>
          </a:p>
        </p:txBody>
      </p:sp>
      <p:sp>
        <p:nvSpPr>
          <p:cNvPr id="24" name="Text 18"/>
          <p:cNvSpPr txBox="1"/>
          <p:nvPr/>
        </p:nvSpPr>
        <p:spPr>
          <a:xfrm>
            <a:off x="457200" y="38862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BracketLoggerProvider brackets any category: no severity, no timestamps, no scopes.</a:t>
            </a:r>
            <a:endParaRPr lang="en-US" sz="1400" dirty="0"/>
          </a:p>
        </p:txBody>
      </p:sp>
      <p:sp>
        <p:nvSpPr>
          <p:cNvPr id="25"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17 — Observability</a:t>
            </a:r>
            <a:endParaRPr lang="en-US" sz="900" dirty="0"/>
          </a:p>
        </p:txBody>
      </p:sp>
      <p:sp>
        <p:nvSpPr>
          <p:cNvPr id="26"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Trace on stderr, chat on stdout</a:t>
            </a:r>
            <a:endParaRPr lang="en-US" sz="2800" dirty="0"/>
          </a:p>
        </p:txBody>
      </p:sp>
      <p:sp>
        <p:nvSpPr>
          <p:cNvPr id="4" name="Shape 2"/>
          <p:cNvSpPr/>
          <p:nvPr/>
        </p:nvSpPr>
        <p:spPr>
          <a:xfrm>
            <a:off x="457200" y="1371600"/>
            <a:ext cx="3931920" cy="2011680"/>
          </a:xfrm>
          <a:prstGeom prst="roundRect">
            <a:avLst>
              <a:gd name="adj" fmla="val 3636"/>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stdout</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chat transcript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Exactly what the operator was reading</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Not one trace line in it</a:t>
            </a:r>
            <a:endParaRPr lang="en-US" sz="1300" dirty="0"/>
          </a:p>
        </p:txBody>
      </p:sp>
      <p:sp>
        <p:nvSpPr>
          <p:cNvPr id="9" name="Shape 6"/>
          <p:cNvSpPr/>
          <p:nvPr/>
        </p:nvSpPr>
        <p:spPr>
          <a:xfrm>
            <a:off x="4754880" y="1371600"/>
            <a:ext cx="3931920" cy="2011680"/>
          </a:xfrm>
          <a:prstGeom prst="roundRect">
            <a:avLst>
              <a:gd name="adj" fmla="val 3636"/>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stderr</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Every [Agent], [Tool] and [Result] line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Captured with 2&gt; trace.log</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complete run's record</a:t>
            </a:r>
            <a:endParaRPr lang="en-US" sz="1300" dirty="0"/>
          </a:p>
        </p:txBody>
      </p:sp>
      <p:sp>
        <p:nvSpPr>
          <p:cNvPr id="14" name="Text 10"/>
          <p:cNvSpPr txBox="1"/>
          <p:nvPr/>
        </p:nvSpPr>
        <p:spPr>
          <a:xfrm>
            <a:off x="457200" y="36576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CodingAgentFactory builds the logger factory, so Program.cs does not change at all.</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17 — Observability</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Warn when a tool fails</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Log a tool's result at Warning when it reports a failure, and at Information otherwise.</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900" dirty="0">
                <a:solidFill>
                  <a:srgbClr val="B8B2E6"/>
                </a:solidFill>
                <a:latin typeface="Courier New" pitchFamily="34" charset="0"/>
                <a:ea typeface="Courier New" pitchFamily="34" charset="-122"/>
                <a:cs typeface="Courier New" pitchFamily="34" charset="-120"/>
              </a:rPr>
              <a:t>src/MiniCode.Agent/TracingInvoker.cs</a:t>
            </a:r>
            <a:endParaRPr lang="en-US" sz="90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8077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Warning when the first line contains "failed" or is a nonzero "Exit code"</a:t>
            </a:r>
            <a:endParaRPr lang="en-US" sz="1300" dirty="0"/>
          </a:p>
        </p:txBody>
      </p:sp>
      <p:sp>
        <p:nvSpPr>
          <p:cNvPr id="13" name="Shape 9"/>
          <p:cNvSpPr/>
          <p:nvPr/>
        </p:nvSpPr>
        <p:spPr>
          <a:xfrm>
            <a:off x="3931920" y="265480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730886"/>
            <a:ext cx="140452" cy="140452"/>
          </a:xfrm>
          <a:prstGeom prst="rect">
            <a:avLst/>
          </a:prstGeom>
        </p:spPr>
      </p:pic>
      <p:sp>
        <p:nvSpPr>
          <p:cNvPr id="15" name="Text 10"/>
          <p:cNvSpPr txBox="1"/>
          <p:nvPr/>
        </p:nvSpPr>
        <p:spPr>
          <a:xfrm>
            <a:off x="4361688" y="2636520"/>
            <a:ext cx="4325112" cy="8077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successful run_command or file write still logs at Information</a:t>
            </a:r>
            <a:endParaRPr lang="en-US" sz="1300" dirty="0"/>
          </a:p>
        </p:txBody>
      </p:sp>
      <p:sp>
        <p:nvSpPr>
          <p:cNvPr id="16" name="Shape 11"/>
          <p:cNvSpPr/>
          <p:nvPr/>
        </p:nvSpPr>
        <p:spPr>
          <a:xfrm>
            <a:off x="3931920" y="350824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584326"/>
            <a:ext cx="140452" cy="140452"/>
          </a:xfrm>
          <a:prstGeom prst="rect">
            <a:avLst/>
          </a:prstGeom>
        </p:spPr>
      </p:pic>
      <p:sp>
        <p:nvSpPr>
          <p:cNvPr id="18" name="Text 12"/>
          <p:cNvSpPr txBox="1"/>
          <p:nvPr/>
        </p:nvSpPr>
        <p:spPr>
          <a:xfrm>
            <a:off x="4361688" y="3489960"/>
            <a:ext cx="4325112" cy="8077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BracketLoggerProvider needs no change</a:t>
            </a:r>
            <a:endParaRPr lang="en-US" sz="1300" dirty="0"/>
          </a:p>
        </p:txBody>
      </p:sp>
      <p:sp>
        <p:nvSpPr>
          <p:cNvPr id="19"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17 — Observability</a:t>
            </a:r>
            <a:endParaRPr lang="en-US" sz="900" dirty="0"/>
          </a:p>
        </p:txBody>
      </p:sp>
      <p:sp>
        <p:nvSpPr>
          <p:cNvPr id="20"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Three captures, one sink</a:t>
            </a:r>
            <a:endParaRPr lang="en-US" sz="2800" dirty="0"/>
          </a:p>
        </p:txBody>
      </p:sp>
      <p:sp>
        <p:nvSpPr>
          <p:cNvPr id="4" name="Shape 2"/>
          <p:cNvSpPr/>
          <p:nvPr/>
        </p:nvSpPr>
        <p:spPr>
          <a:xfrm>
            <a:off x="457200" y="1325880"/>
            <a:ext cx="8229600" cy="3246120"/>
          </a:xfrm>
          <a:prstGeom prst="roundRect">
            <a:avLst>
              <a:gd name="adj" fmla="val 2254"/>
            </a:avLst>
          </a:prstGeom>
          <a:solidFill>
            <a:srgbClr val="0F1420"/>
          </a:solidFill>
          <a:ln w="12700">
            <a:solidFill>
              <a:srgbClr val="0F1420"/>
            </a:solidFill>
            <a:prstDash val="solid"/>
          </a:ln>
        </p:spPr>
      </p:sp>
      <p:sp>
        <p:nvSpPr>
          <p:cNvPr id="5" name="Text 3"/>
          <p:cNvSpPr txBox="1"/>
          <p:nvPr/>
        </p:nvSpPr>
        <p:spPr>
          <a:xfrm>
            <a:off x="640080" y="1463040"/>
            <a:ext cx="7863840" cy="2971800"/>
          </a:xfrm>
          <a:prstGeom prst="rect">
            <a:avLst/>
          </a:prstGeom>
          <a:noFill/>
          <a:ln/>
        </p:spPr>
        <p:txBody>
          <a:bodyPr wrap="square" lIns="0" tIns="0" rIns="0" bIns="0" rtlCol="0" anchor="t"/>
          <a:lstStyle/>
          <a:p>
            <a:pPr indent="0" marL="0">
              <a:buNone/>
            </a:pPr>
            <a:r>
              <a:rPr lang="en-US" sz="1000" b="1" dirty="0">
                <a:solidFill>
                  <a:srgbClr val="F5A623"/>
                </a:solidFill>
                <a:latin typeface="Courier New" pitchFamily="34" charset="0"/>
                <a:ea typeface="Courier New" pitchFamily="34" charset="-122"/>
                <a:cs typeface="Courier New" pitchFamily="34" charset="-120"/>
              </a:rPr>
              <a:t>[Tool] list_files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[Result] Calculator.cs (10ms)</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[Tool] run_command</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[Result] run_command failed: 'git status --porcelain' is not on the allow list.</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         Allowed: dotnet restore, dotnet build, dotnet test, dotnet format, git commit. (3ms)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[Microsoft.Agents.AI.ChatClientAgent] [RunStreamingAsync] Agent 3f3c.../MiniCode</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Invoking client ScriptedChatClient.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[Microsoft.Agents.AI.ChatClientAgent] [RunStreamingAsync] Agent 3f3c.../MiniCode</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Invoked client ScriptedChatClient.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[Agent] Task started</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[Agent] I've inspected Calculator.cs — Add looks correct.</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[Agent] Task completed</a:t>
            </a:r>
            <a:endParaRPr lang="en-US" sz="1000" dirty="0"/>
          </a:p>
        </p:txBody>
      </p:sp>
      <p:sp>
        <p:nvSpPr>
          <p:cNvPr id="6" name="Text 4"/>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17 — Observability</a:t>
            </a:r>
            <a:endParaRPr lang="en-US" sz="900" dirty="0"/>
          </a:p>
        </p:txBody>
      </p:sp>
      <p:sp>
        <p:nvSpPr>
          <p:cNvPr id="7" name="Text 5"/>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93776"/>
          </a:xfrm>
          <a:prstGeom prst="roundRect">
            <a:avLst>
              <a:gd name="adj" fmla="val 14815"/>
            </a:avLst>
          </a:prstGeom>
          <a:solidFill>
            <a:srgbClr val="1F2943"/>
          </a:solidFill>
          <a:ln w="12700">
            <a:solidFill>
              <a:srgbClr val="1F2943"/>
            </a:solidFill>
            <a:prstDash val="solid"/>
          </a:ln>
        </p:spPr>
      </p:sp>
      <p:sp>
        <p:nvSpPr>
          <p:cNvPr id="5" name="Text 3"/>
          <p:cNvSpPr txBox="1"/>
          <p:nvPr/>
        </p:nvSpPr>
        <p:spPr>
          <a:xfrm>
            <a:off x="621792" y="1234440"/>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[Agent] lines around RunStreamingAsync</a:t>
            </a:r>
            <a:endParaRPr lang="en-US" sz="1300" dirty="0"/>
          </a:p>
        </p:txBody>
      </p:sp>
      <p:sp>
        <p:nvSpPr>
          <p:cNvPr id="6" name="Shape 4"/>
          <p:cNvSpPr/>
          <p:nvPr/>
        </p:nvSpPr>
        <p:spPr>
          <a:xfrm>
            <a:off x="3493008" y="138988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Phase 4 Capstone  </a:t>
            </a:r>
            <a:pPr indent="0" marL="0">
              <a:buNone/>
            </a:pPr>
            <a:r>
              <a:rPr lang="en-US" sz="1250" dirty="0">
                <a:solidFill>
                  <a:srgbClr val="FFFFFF"/>
                </a:solidFill>
                <a:latin typeface="Calibri" pitchFamily="34" charset="0"/>
                <a:ea typeface="Calibri" pitchFamily="34" charset="-122"/>
                <a:cs typeface="Calibri" pitchFamily="34" charset="-120"/>
              </a:rPr>
              <a:t>/plan and /review, which bypass that method, get [Agent] lines too</a:t>
            </a:r>
            <a:endParaRPr lang="en-US" sz="1250" dirty="0"/>
          </a:p>
        </p:txBody>
      </p:sp>
      <p:sp>
        <p:nvSpPr>
          <p:cNvPr id="8" name="Shape 6"/>
          <p:cNvSpPr/>
          <p:nvPr/>
        </p:nvSpPr>
        <p:spPr>
          <a:xfrm>
            <a:off x="457200" y="1837944"/>
            <a:ext cx="2926080" cy="493776"/>
          </a:xfrm>
          <a:prstGeom prst="roundRect">
            <a:avLst>
              <a:gd name="adj" fmla="val 14815"/>
            </a:avLst>
          </a:prstGeom>
          <a:solidFill>
            <a:srgbClr val="1F2943"/>
          </a:solidFill>
          <a:ln w="12700">
            <a:solidFill>
              <a:srgbClr val="1F2943"/>
            </a:solidFill>
            <a:prstDash val="solid"/>
          </a:ln>
        </p:spPr>
      </p:sp>
      <p:sp>
        <p:nvSpPr>
          <p:cNvPr id="9" name="Text 7"/>
          <p:cNvSpPr txBox="1"/>
          <p:nvPr/>
        </p:nvSpPr>
        <p:spPr>
          <a:xfrm>
            <a:off x="621792" y="1837944"/>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trace on stderr</a:t>
            </a:r>
            <a:endParaRPr lang="en-US" sz="1300" dirty="0"/>
          </a:p>
        </p:txBody>
      </p:sp>
      <p:sp>
        <p:nvSpPr>
          <p:cNvPr id="10" name="Shape 8"/>
          <p:cNvSpPr/>
          <p:nvPr/>
        </p:nvSpPr>
        <p:spPr>
          <a:xfrm>
            <a:off x="3493008" y="199339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837944"/>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Phase 4 Capstone  </a:t>
            </a:r>
            <a:pPr indent="0" marL="0">
              <a:buNone/>
            </a:pPr>
            <a:r>
              <a:rPr lang="en-US" sz="1250" dirty="0">
                <a:solidFill>
                  <a:srgbClr val="FFFFFF"/>
                </a:solidFill>
                <a:latin typeface="Calibri" pitchFamily="34" charset="0"/>
                <a:ea typeface="Calibri" pitchFamily="34" charset="-122"/>
                <a:cs typeface="Calibri" pitchFamily="34" charset="-120"/>
              </a:rPr>
              <a:t>A turn that dies mid-stream now leaves its failure in the trace</a:t>
            </a:r>
            <a:endParaRPr lang="en-US" sz="1250" dirty="0"/>
          </a:p>
        </p:txBody>
      </p:sp>
      <p:sp>
        <p:nvSpPr>
          <p:cNvPr id="12" name="Shape 10"/>
          <p:cNvSpPr/>
          <p:nvPr/>
        </p:nvSpPr>
        <p:spPr>
          <a:xfrm>
            <a:off x="457200" y="2441448"/>
            <a:ext cx="2926080" cy="493776"/>
          </a:xfrm>
          <a:prstGeom prst="roundRect">
            <a:avLst>
              <a:gd name="adj" fmla="val 14815"/>
            </a:avLst>
          </a:prstGeom>
          <a:solidFill>
            <a:srgbClr val="1F2943"/>
          </a:solidFill>
          <a:ln w="12700">
            <a:solidFill>
              <a:srgbClr val="1F2943"/>
            </a:solidFill>
            <a:prstDash val="solid"/>
          </a:ln>
        </p:spPr>
      </p:sp>
      <p:sp>
        <p:nvSpPr>
          <p:cNvPr id="13" name="Text 11"/>
          <p:cNvSpPr txBox="1"/>
          <p:nvPr/>
        </p:nvSpPr>
        <p:spPr>
          <a:xfrm>
            <a:off x="621792" y="2441448"/>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TracingInvoker on every tool call</a:t>
            </a:r>
            <a:endParaRPr lang="en-US" sz="1300" dirty="0"/>
          </a:p>
        </p:txBody>
      </p:sp>
      <p:sp>
        <p:nvSpPr>
          <p:cNvPr id="14" name="Shape 12"/>
          <p:cNvSpPr/>
          <p:nvPr/>
        </p:nvSpPr>
        <p:spPr>
          <a:xfrm>
            <a:off x="3493008" y="25968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441448"/>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19  </a:t>
            </a:r>
            <a:pPr indent="0" marL="0">
              <a:buNone/>
            </a:pPr>
            <a:r>
              <a:rPr lang="en-US" sz="1250" dirty="0">
                <a:solidFill>
                  <a:srgbClr val="FFFFFF"/>
                </a:solidFill>
                <a:latin typeface="Calibri" pitchFamily="34" charset="0"/>
                <a:ea typeface="Calibri" pitchFamily="34" charset="-122"/>
                <a:cs typeface="Calibri" pitchFamily="34" charset="-120"/>
              </a:rPr>
              <a:t>The 2&gt; trace.log of a real autonomous run is the record of what ran</a:t>
            </a:r>
            <a:endParaRPr lang="en-US" sz="1250" dirty="0"/>
          </a:p>
        </p:txBody>
      </p:sp>
      <p:sp>
        <p:nvSpPr>
          <p:cNvPr id="16" name="Text 14"/>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Phase 4 Capstone — Developer CLI (v0.4)</a:t>
            </a:r>
            <a:endParaRPr lang="en-US" sz="1300" dirty="0"/>
          </a:p>
        </p:txBody>
      </p:sp>
      <p:sp>
        <p:nvSpPr>
          <p:cNvPr id="17"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17 — Observability</a:t>
            </a:r>
            <a:endParaRPr lang="en-US" sz="900" dirty="0"/>
          </a:p>
        </p:txBody>
      </p:sp>
      <p:sp>
        <p:nvSpPr>
          <p:cNvPr id="18"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17 — Observability</dc:title>
  <dc:subject>PptxGenJS Presentation</dc:subject>
  <dc:creator>MiniCode Course</dc:creator>
  <cp:lastModifiedBy>MiniCode Course</cp:lastModifiedBy>
  <cp:revision>1</cp:revision>
  <dcterms:created xsi:type="dcterms:W3CDTF">2026-10-01T22:01:23Z</dcterms:created>
  <dcterms:modified xsi:type="dcterms:W3CDTF">2026-10-01T22:01:23Z</dcterms:modified>
</cp:coreProperties>
</file>