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tool MiniCode has, build, search, read, edit, build again, has existed since Module 11b. Until now a human has driven each step by hand. This Module is what lets the model chain them itself, inside a single request, and adds a guard that keeps that chain from spinning if it never converges. We start from the Module 11b folder. Module 5a's IToolInvoker seam and Module 11b's AllowListedShellExecutor: this Module reuses that exact wrap-don't-touch shape a second time. Nothing about IShellExecutor, ShellTools or the allow list changes. Setup: nothing new; System.Text.Json is in the shared framework. This is the first Module of the back half of Phase 3, and it ships as part of the Phase 3 Capstone, Autonomous Fixer, version 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loop: the user says fix the build; the agent runs dotnet build, examines the errors, searches, reads, edits, and runs dotnet build again. If it failed, continue; if it succeeded, stop. MAF already loops tool calls inside one request, and every Module since 5a has been relying on this without needing to look at it. ChatClientAgent wraps the model in a FunctionInvokingChatClient: the model asks for a tool, MAF runs it, feeds the result back, and asks the model again, repeating until it stops asking for tools. One call to RunStreamingAsync can already contain the whole build-fix-rebuild sequence. This Module is the first time that loop needs a policy of MiniCode's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loop already has its own settings, and MiniCode still doesn't touch them. FunctionInvokingChatClient exposes MaximumIterationsPerRequest, default 40, and MaximumConsecutiveErrorsPerRequest, default 3, and the instance ChatClientAgent builds internally is reachable: agent.GetService of FunctionInvokingChatClient returns it, and its properties are settable. MiniCode leaves both alone. 40 sits comfortably above the cap this Module adds, so it stays a distant, silent backstop that should never fire. MaximumConsecutiveErrorsPerRequest counts thrown exceptions, which Module 5a's never-throw rule means MiniCode's tools never produce: a build that fails is a normal, successful call returning Exit code 1, not an exception. MAF's unit is the iteration, a model round trip that can itself make several tool calls; this Module's unit is the call. Different things being counted is why 20 is deliberately well under MAF's 40, not equal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guard belongs exactly where Module 5a already put the seam. Wrap IToolInvoker: the same shape as Module 11b's AllowListedShellExecutor, one seam over. MiniCode.Infrastructure could not host this even if it wanted to: it does not reference MiniCode.Tools, so it cannot see IToolInvoker at all. The rule of thumb from the project layout holds: the loop is MiniCode.Agent's job. LoopGuardInvoker lives in MiniCode.Agent, not MiniCode.Tools, though it implements an interface Tools owns. Both of its checks run before the inner InvokeAsync is called: a refused call, capped or repeated, never reaches DirectToolInvoker, never starts a process, never touches a file. CodingAgentFactory builds one LoopGuardInvoker wrapping a DirectToolInvoker, passes it to ToolCatalog exactly where DirectToolInvoker used to go, and passes the same instance to CodingAgent so it can be reset.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identical call, back to back, cannot produce new information. Every one of MiniCode's tools is deterministic for the same input unless something else changed the file in between, so refusing an exact repeat costs nothing real. Comparing arguments has to serialize them, not call ToString on them. Verified directly: an AIFunctionArguments holding a string array prints System.String[] from ToString regardless of contents, but serializes to the real JSON array, which is the only thing that actually distinguishes build from nuget push. A hard ceiling on total calls is the backstop for a model that never repeats exactly but still wanders. Varying one argument slightly every time defeats a repeat check completely; a flat count per request does not care what the pattern looked like. The cap is MaxCallsPerRequest,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guard resets once per request, not once per session. Its state must not survive into whatever the user asks next: a second, unrelated request for the same command a minute later is not a repeat of anything. Reset runs once, at the top of RunStreamingAsync, before the await foreach: one guard state per request, not per streamed fragment. AgentInstructions.Core changes for the first time since Module 7. No tool changed to justify it; the model's own idea of what done looks like did. When fixing a problem, run the relevant command, usually dotnet build or dotnet test, before guessing at a cause, and run it again after editing to confirm the fix actually worked; do not declare something fixed without rerunning it. If a command fails the same way twice, stop and explain what you tried instead of repeating it. What this Module deliberately does not do: the guard catches an exact repeat and a runaway count. It does not catch a short cycle, edit file A, edit it back, edit A again, because no individual call ever repeats the one immediately before it. That gap is the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 a short cycle, not just an immediate repeat. Today, alternating between two different calls, edit file A, edit it back, edit A again, never trips LoopGuardInvoker, because neither call ever repeats the one directly before it. Extend the guard to remember the last few call keys, four is enough, and refuse a call that already appears among them, not only one that matches the single most recent call. Acceptance criteria: the four existing behaviors are unaffected: the cap, the exact repeat, differing arguments, and Reset. A period-2 oscillation, A, B, A, is refused on that third call. Three or more genuinely different calls in a row are never refused. Detecting a longer cycle than two is not required. This belongs in src/MiniCode.Agent/LoopGuardInvoker.cs. No later Module needs this; Module 13 calls the same tools without hitting this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guard's two messages are real output, captured by driving LoopGuardInvoker directly against the real run_command tool; no model and no API key are needed for this part. The excerpt is trimmed: the build's restore lines, warning and error counts and elapsed time are cut, and the long messages are rewrapped. The first call, dotnet build, passes straight through: Exit code 0. The exact repeat, dotnet build again with nothing changed, is refused with a message telling the model to try a different command, argument or file. After Reset, the 21st call in a fresh request is stopped with a message asking the model to summarize what it found or changed. The Lab itself, Find and fix the build problem against a repository with a dropped semicolon, needs a live OPENAI_API_KEY, since it is the model, not this lesson's code, driving the sequence. What it produces is not new behavior: run_command returns the same CS1002 semicolon-expected error Module 11a's own Expected Output captured, the model locates and edits the line, and run_command runs again to confirm, Exit code 0 where it was 1. Module 12 is what lets that sequence happen unattended, inside one request, instead of needing a human to drive each step and decide when to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this goes. LoopGuardInvoker sits at the seam, and in Module 15 ApprovalInvoker goes inside it: a call the loop guard would refuse for repeating never reaches a human, and a call waiting on an answer still counts toward the 20-call cap. The loop belongs to the Agent: Module 17's TracingInvoker lands in the same chain, in MiniCode.Agent, for the same reason. The instruction to rerun before declaring success grows in Module 13, where the whole test suite is rerun to catch regressions, not just the target. Reset once per request carries into Module 16a, where a slash command typed between two turns resets the guard as well, so it doesn't eat into either turn's budget. And up to 20 tool calls in one turn is what the Phase 3 Capstone's context budget finally starts charging for: every tool call and its result, not just the model's text. This ships in the Phase 3 Capstone, Autonomous Fixer, version 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MODULE 12  ·  PHASE 3</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The Autonomous Coding Loop</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Letting the model chain its own tools</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Module11b-TheCommandAllowList/</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Module12-TheAutonomousCodingLoop/</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tool loop MAF already runs inside one request</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Why MiniCode leaves MAF's own limits alone</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 loop guard at the Module 5a seam</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Refusing exact repeats and capping total calls</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Resetting the guard once per request</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Module 12 — The Autonomous Coding Loop</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One request, many tool calls</a:t>
            </a:r>
            <a:endParaRPr lang="en-US" sz="2800" dirty="0"/>
          </a:p>
        </p:txBody>
      </p:sp>
      <p:sp>
        <p:nvSpPr>
          <p:cNvPr id="4" name="Shape 2"/>
          <p:cNvSpPr/>
          <p:nvPr/>
        </p:nvSpPr>
        <p:spPr>
          <a:xfrm>
            <a:off x="457200" y="1417320"/>
            <a:ext cx="1367942" cy="2221992"/>
          </a:xfrm>
          <a:prstGeom prst="roundRect">
            <a:avLst>
              <a:gd name="adj" fmla="val 5348"/>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047902" cy="6400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"Fix the build."</a:t>
            </a:r>
            <a:endParaRPr lang="en-US" sz="1400" dirty="0"/>
          </a:p>
        </p:txBody>
      </p:sp>
      <p:sp>
        <p:nvSpPr>
          <p:cNvPr id="8" name="Text 5"/>
          <p:cNvSpPr txBox="1"/>
          <p:nvPr/>
        </p:nvSpPr>
        <p:spPr>
          <a:xfrm>
            <a:off x="640080" y="28346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One request from the user</a:t>
            </a:r>
            <a:endParaRPr lang="en-US" sz="1200" dirty="0"/>
          </a:p>
        </p:txBody>
      </p:sp>
      <p:sp>
        <p:nvSpPr>
          <p:cNvPr id="9" name="Shape 6"/>
          <p:cNvSpPr/>
          <p:nvPr/>
        </p:nvSpPr>
        <p:spPr>
          <a:xfrm>
            <a:off x="1889150" y="2418588"/>
            <a:ext cx="219456" cy="219456"/>
          </a:xfrm>
          <a:prstGeom prst="rightArrow">
            <a:avLst/>
          </a:prstGeom>
          <a:solidFill>
            <a:srgbClr val="F5A623"/>
          </a:solidFill>
          <a:ln w="12700">
            <a:solidFill>
              <a:srgbClr val="F5A623"/>
            </a:solidFill>
            <a:prstDash val="solid"/>
          </a:ln>
        </p:spPr>
      </p:sp>
      <p:sp>
        <p:nvSpPr>
          <p:cNvPr id="10" name="Shape 7"/>
          <p:cNvSpPr/>
          <p:nvPr/>
        </p:nvSpPr>
        <p:spPr>
          <a:xfrm>
            <a:off x="2172614" y="1417320"/>
            <a:ext cx="1367942" cy="2221992"/>
          </a:xfrm>
          <a:prstGeom prst="roundRect">
            <a:avLst>
              <a:gd name="adj" fmla="val 5348"/>
            </a:avLst>
          </a:prstGeom>
          <a:solidFill>
            <a:srgbClr val="EFEBFC"/>
          </a:solidFill>
          <a:ln w="12700">
            <a:solidFill>
              <a:srgbClr val="EFEBFC"/>
            </a:solidFill>
            <a:prstDash val="solid"/>
          </a:ln>
        </p:spPr>
      </p:sp>
      <p:sp>
        <p:nvSpPr>
          <p:cNvPr id="11" name="Shape 8"/>
          <p:cNvSpPr/>
          <p:nvPr/>
        </p:nvSpPr>
        <p:spPr>
          <a:xfrm>
            <a:off x="235549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474366" y="1737360"/>
            <a:ext cx="219456" cy="219456"/>
          </a:xfrm>
          <a:prstGeom prst="rect">
            <a:avLst/>
          </a:prstGeom>
        </p:spPr>
      </p:pic>
      <p:sp>
        <p:nvSpPr>
          <p:cNvPr id="13" name="Text 9"/>
          <p:cNvSpPr txBox="1"/>
          <p:nvPr/>
        </p:nvSpPr>
        <p:spPr>
          <a:xfrm>
            <a:off x="2355494" y="2194560"/>
            <a:ext cx="1047902"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dotnet build</a:t>
            </a:r>
            <a:endParaRPr lang="en-US" sz="1500" dirty="0"/>
          </a:p>
        </p:txBody>
      </p:sp>
      <p:sp>
        <p:nvSpPr>
          <p:cNvPr id="14" name="Text 10"/>
          <p:cNvSpPr txBox="1"/>
          <p:nvPr/>
        </p:nvSpPr>
        <p:spPr>
          <a:xfrm>
            <a:off x="2355494" y="28346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Examine the errors</a:t>
            </a:r>
            <a:endParaRPr lang="en-US" sz="1200" dirty="0"/>
          </a:p>
        </p:txBody>
      </p:sp>
      <p:sp>
        <p:nvSpPr>
          <p:cNvPr id="15" name="Shape 11"/>
          <p:cNvSpPr/>
          <p:nvPr/>
        </p:nvSpPr>
        <p:spPr>
          <a:xfrm>
            <a:off x="3604565" y="2418588"/>
            <a:ext cx="219456" cy="219456"/>
          </a:xfrm>
          <a:prstGeom prst="rightArrow">
            <a:avLst/>
          </a:prstGeom>
          <a:solidFill>
            <a:srgbClr val="F5A623"/>
          </a:solidFill>
          <a:ln w="12700">
            <a:solidFill>
              <a:srgbClr val="F5A623"/>
            </a:solidFill>
            <a:prstDash val="solid"/>
          </a:ln>
        </p:spPr>
      </p:sp>
      <p:sp>
        <p:nvSpPr>
          <p:cNvPr id="16" name="Shape 12"/>
          <p:cNvSpPr/>
          <p:nvPr/>
        </p:nvSpPr>
        <p:spPr>
          <a:xfrm>
            <a:off x="3888029" y="1417320"/>
            <a:ext cx="1367942" cy="2221992"/>
          </a:xfrm>
          <a:prstGeom prst="roundRect">
            <a:avLst>
              <a:gd name="adj" fmla="val 5348"/>
            </a:avLst>
          </a:prstGeom>
          <a:solidFill>
            <a:srgbClr val="EFEBFC"/>
          </a:solidFill>
          <a:ln w="12700">
            <a:solidFill>
              <a:srgbClr val="EFEBFC"/>
            </a:solidFill>
            <a:prstDash val="solid"/>
          </a:ln>
        </p:spPr>
      </p:sp>
      <p:sp>
        <p:nvSpPr>
          <p:cNvPr id="17" name="Shape 13"/>
          <p:cNvSpPr/>
          <p:nvPr/>
        </p:nvSpPr>
        <p:spPr>
          <a:xfrm>
            <a:off x="4070909"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4189781" y="1737360"/>
            <a:ext cx="219456" cy="219456"/>
          </a:xfrm>
          <a:prstGeom prst="rect">
            <a:avLst/>
          </a:prstGeom>
        </p:spPr>
      </p:pic>
      <p:sp>
        <p:nvSpPr>
          <p:cNvPr id="19" name="Text 14"/>
          <p:cNvSpPr txBox="1"/>
          <p:nvPr/>
        </p:nvSpPr>
        <p:spPr>
          <a:xfrm>
            <a:off x="4070909" y="2194560"/>
            <a:ext cx="1047902"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Search, read</a:t>
            </a:r>
            <a:endParaRPr lang="en-US" sz="1500" dirty="0"/>
          </a:p>
        </p:txBody>
      </p:sp>
      <p:sp>
        <p:nvSpPr>
          <p:cNvPr id="20" name="Text 15"/>
          <p:cNvSpPr txBox="1"/>
          <p:nvPr/>
        </p:nvSpPr>
        <p:spPr>
          <a:xfrm>
            <a:off x="4070909" y="28346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Find the line that broke</a:t>
            </a:r>
            <a:endParaRPr lang="en-US" sz="1200" dirty="0"/>
          </a:p>
        </p:txBody>
      </p:sp>
      <p:sp>
        <p:nvSpPr>
          <p:cNvPr id="21" name="Shape 16"/>
          <p:cNvSpPr/>
          <p:nvPr/>
        </p:nvSpPr>
        <p:spPr>
          <a:xfrm>
            <a:off x="5319979" y="2418588"/>
            <a:ext cx="219456" cy="219456"/>
          </a:xfrm>
          <a:prstGeom prst="rightArrow">
            <a:avLst/>
          </a:prstGeom>
          <a:solidFill>
            <a:srgbClr val="F5A623"/>
          </a:solidFill>
          <a:ln w="12700">
            <a:solidFill>
              <a:srgbClr val="F5A623"/>
            </a:solidFill>
            <a:prstDash val="solid"/>
          </a:ln>
        </p:spPr>
      </p:sp>
      <p:sp>
        <p:nvSpPr>
          <p:cNvPr id="22" name="Shape 17"/>
          <p:cNvSpPr/>
          <p:nvPr/>
        </p:nvSpPr>
        <p:spPr>
          <a:xfrm>
            <a:off x="5603443" y="1417320"/>
            <a:ext cx="1367942" cy="2221992"/>
          </a:xfrm>
          <a:prstGeom prst="roundRect">
            <a:avLst>
              <a:gd name="adj" fmla="val 5348"/>
            </a:avLst>
          </a:prstGeom>
          <a:solidFill>
            <a:srgbClr val="EFEBFC"/>
          </a:solidFill>
          <a:ln w="12700">
            <a:solidFill>
              <a:srgbClr val="EFEBFC"/>
            </a:solidFill>
            <a:prstDash val="solid"/>
          </a:ln>
        </p:spPr>
      </p:sp>
      <p:sp>
        <p:nvSpPr>
          <p:cNvPr id="23" name="Shape 18"/>
          <p:cNvSpPr/>
          <p:nvPr/>
        </p:nvSpPr>
        <p:spPr>
          <a:xfrm>
            <a:off x="5786323"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5905195" y="1737360"/>
            <a:ext cx="219456" cy="219456"/>
          </a:xfrm>
          <a:prstGeom prst="rect">
            <a:avLst/>
          </a:prstGeom>
        </p:spPr>
      </p:pic>
      <p:sp>
        <p:nvSpPr>
          <p:cNvPr id="25" name="Text 19"/>
          <p:cNvSpPr txBox="1"/>
          <p:nvPr/>
        </p:nvSpPr>
        <p:spPr>
          <a:xfrm>
            <a:off x="5786323" y="2194560"/>
            <a:ext cx="1047902"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Edit</a:t>
            </a:r>
            <a:endParaRPr lang="en-US" sz="1500" dirty="0"/>
          </a:p>
        </p:txBody>
      </p:sp>
      <p:sp>
        <p:nvSpPr>
          <p:cNvPr id="26" name="Text 20"/>
          <p:cNvSpPr txBox="1"/>
          <p:nvPr/>
        </p:nvSpPr>
        <p:spPr>
          <a:xfrm>
            <a:off x="5786323" y="28346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Change the code</a:t>
            </a:r>
            <a:endParaRPr lang="en-US" sz="1200" dirty="0"/>
          </a:p>
        </p:txBody>
      </p:sp>
      <p:sp>
        <p:nvSpPr>
          <p:cNvPr id="27" name="Shape 21"/>
          <p:cNvSpPr/>
          <p:nvPr/>
        </p:nvSpPr>
        <p:spPr>
          <a:xfrm>
            <a:off x="7035394" y="2418588"/>
            <a:ext cx="219456" cy="219456"/>
          </a:xfrm>
          <a:prstGeom prst="rightArrow">
            <a:avLst/>
          </a:prstGeom>
          <a:solidFill>
            <a:srgbClr val="F5A623"/>
          </a:solidFill>
          <a:ln w="12700">
            <a:solidFill>
              <a:srgbClr val="F5A623"/>
            </a:solidFill>
            <a:prstDash val="solid"/>
          </a:ln>
        </p:spPr>
      </p:sp>
      <p:sp>
        <p:nvSpPr>
          <p:cNvPr id="28" name="Shape 22"/>
          <p:cNvSpPr/>
          <p:nvPr/>
        </p:nvSpPr>
        <p:spPr>
          <a:xfrm>
            <a:off x="7318858" y="1417320"/>
            <a:ext cx="1367942" cy="2221992"/>
          </a:xfrm>
          <a:prstGeom prst="roundRect">
            <a:avLst>
              <a:gd name="adj" fmla="val 5348"/>
            </a:avLst>
          </a:prstGeom>
          <a:solidFill>
            <a:srgbClr val="512BD4"/>
          </a:solidFill>
          <a:ln w="12700">
            <a:solidFill>
              <a:srgbClr val="512BD4"/>
            </a:solidFill>
            <a:prstDash val="solid"/>
          </a:ln>
        </p:spPr>
      </p:sp>
      <p:sp>
        <p:nvSpPr>
          <p:cNvPr id="29" name="Shape 23"/>
          <p:cNvSpPr/>
          <p:nvPr/>
        </p:nvSpPr>
        <p:spPr>
          <a:xfrm>
            <a:off x="7501738" y="1618488"/>
            <a:ext cx="457200" cy="457200"/>
          </a:xfrm>
          <a:prstGeom prst="ellipse">
            <a:avLst/>
          </a:prstGeom>
          <a:solidFill>
            <a:srgbClr val="FFFFFF"/>
          </a:solidFill>
          <a:ln w="12700">
            <a:solidFill>
              <a:srgbClr val="FFFFFF"/>
            </a:solidFill>
            <a:prstDash val="solid"/>
          </a:ln>
        </p:spPr>
      </p:sp>
      <p:pic>
        <p:nvPicPr>
          <p:cNvPr id="30" name="Image 4" descr="preencoded.png">    </p:cNvPr>
          <p:cNvPicPr>
            <a:picLocks noChangeAspect="1"/>
          </p:cNvPicPr>
          <p:nvPr/>
        </p:nvPicPr>
        <p:blipFill>
          <a:blip r:embed="rId5"/>
          <a:stretch>
            <a:fillRect/>
          </a:stretch>
        </p:blipFill>
        <p:spPr>
          <a:xfrm>
            <a:off x="7620610" y="1737360"/>
            <a:ext cx="219456" cy="219456"/>
          </a:xfrm>
          <a:prstGeom prst="rect">
            <a:avLst/>
          </a:prstGeom>
        </p:spPr>
      </p:pic>
      <p:sp>
        <p:nvSpPr>
          <p:cNvPr id="31" name="Text 24"/>
          <p:cNvSpPr txBox="1"/>
          <p:nvPr/>
        </p:nvSpPr>
        <p:spPr>
          <a:xfrm>
            <a:off x="7501738" y="2194560"/>
            <a:ext cx="1047902" cy="6400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Build again</a:t>
            </a:r>
            <a:endParaRPr lang="en-US" sz="1500" dirty="0"/>
          </a:p>
        </p:txBody>
      </p:sp>
      <p:sp>
        <p:nvSpPr>
          <p:cNvPr id="32" name="Text 25"/>
          <p:cNvSpPr txBox="1"/>
          <p:nvPr/>
        </p:nvSpPr>
        <p:spPr>
          <a:xfrm>
            <a:off x="7501738" y="2834640"/>
            <a:ext cx="1047902"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Failed: continue. Succeeded: stop.</a:t>
            </a:r>
            <a:endParaRPr lang="en-US" sz="1200" dirty="0"/>
          </a:p>
        </p:txBody>
      </p:sp>
      <p:sp>
        <p:nvSpPr>
          <p:cNvPr id="33" name="Text 26"/>
          <p:cNvSpPr txBox="1"/>
          <p:nvPr/>
        </p:nvSpPr>
        <p:spPr>
          <a:xfrm>
            <a:off x="457200" y="39593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MAF already runs this loop. This Module gives it a policy of MiniCode's own.</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12 — The Autonomous Coding Loop</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MAF's own limits stay a silent backstop</a:t>
            </a:r>
            <a:endParaRPr lang="en-US" sz="2800" dirty="0"/>
          </a:p>
        </p:txBody>
      </p:sp>
      <p:sp>
        <p:nvSpPr>
          <p:cNvPr id="4" name="Shape 2"/>
          <p:cNvSpPr/>
          <p:nvPr/>
        </p:nvSpPr>
        <p:spPr>
          <a:xfrm>
            <a:off x="457200" y="1371600"/>
            <a:ext cx="3931920" cy="1920240"/>
          </a:xfrm>
          <a:prstGeom prst="roundRect">
            <a:avLst>
              <a:gd name="adj" fmla="val 381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40 iterations per request</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Counts model round trips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Sits well above MiniCode's 20-call cap</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Should never fire</a:t>
            </a:r>
            <a:endParaRPr lang="en-US" sz="1300" dirty="0"/>
          </a:p>
        </p:txBody>
      </p:sp>
      <p:sp>
        <p:nvSpPr>
          <p:cNvPr id="9" name="Shape 6"/>
          <p:cNvSpPr/>
          <p:nvPr/>
        </p:nvSpPr>
        <p:spPr>
          <a:xfrm>
            <a:off x="4754880" y="1371600"/>
            <a:ext cx="3931920" cy="1920240"/>
          </a:xfrm>
          <a:prstGeom prst="roundRect">
            <a:avLst>
              <a:gd name="adj" fmla="val 3810"/>
            </a:avLst>
          </a:prstGeom>
          <a:solidFill>
            <a:srgbClr val="F6F4FE"/>
          </a:solidFill>
          <a:ln w="12700">
            <a:solidFill>
              <a:srgbClr val="F6F4FE"/>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3 consecutive errors</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Counts thrown exceptions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MiniCode's tools never throw (Module 5a)</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 failed build is Exit code 1, a normal result</a:t>
            </a:r>
            <a:endParaRPr lang="en-US" sz="1300" dirty="0"/>
          </a:p>
        </p:txBody>
      </p:sp>
      <p:sp>
        <p:nvSpPr>
          <p:cNvPr id="14" name="Text 10"/>
          <p:cNvSpPr txBox="1"/>
          <p:nvPr/>
        </p:nvSpPr>
        <p:spPr>
          <a:xfrm>
            <a:off x="457200" y="35661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Both are reachable and settable. MiniCode leaves them alone.</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12 — The Autonomous Coding Loop</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So the guard sits at the Module 5a seam</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LoopGuardInvoker</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Every tool call passes through it, whether or not it has anything to say.</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Wraps</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IToolInvoker, as 11b's AllowListedShellExecutor wraps IShellExecutor</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Lives in Agent</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Infrastructure has no reference to Tools and cannot see IToolInvoker</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Refuses first</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 refused call never starts a process or touches a file</a:t>
            </a:r>
            <a:endParaRPr lang="en-US" sz="1200" dirty="0"/>
          </a:p>
        </p:txBody>
      </p:sp>
      <p:sp>
        <p:nvSpPr>
          <p:cNvPr id="27" name="Text 2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12 — The Autonomous Coding Loop</a:t>
            </a:r>
            <a:endParaRPr lang="en-US" sz="900" dirty="0"/>
          </a:p>
        </p:txBody>
      </p:sp>
      <p:sp>
        <p:nvSpPr>
          <p:cNvPr id="28" name="Text 2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Two checks for two kinds of spinning</a:t>
            </a:r>
            <a:endParaRPr lang="en-US" sz="2800" dirty="0"/>
          </a:p>
        </p:txBody>
      </p:sp>
      <p:sp>
        <p:nvSpPr>
          <p:cNvPr id="4" name="Shape 2"/>
          <p:cNvSpPr/>
          <p:nvPr/>
        </p:nvSpPr>
        <p:spPr>
          <a:xfrm>
            <a:off x="457200" y="1371600"/>
            <a:ext cx="3931920" cy="1920240"/>
          </a:xfrm>
          <a:prstGeom prst="roundRect">
            <a:avLst>
              <a:gd name="adj" fmla="val 381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An exact repeat</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Same tool, same arguments, back to back</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Cannot produce new information</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Compared as serialized JSON, never ToString()</a:t>
            </a:r>
            <a:endParaRPr lang="en-US" sz="1300" dirty="0"/>
          </a:p>
        </p:txBody>
      </p:sp>
      <p:sp>
        <p:nvSpPr>
          <p:cNvPr id="9" name="Shape 6"/>
          <p:cNvSpPr/>
          <p:nvPr/>
        </p:nvSpPr>
        <p:spPr>
          <a:xfrm>
            <a:off x="4754880" y="1371600"/>
            <a:ext cx="3931920" cy="1920240"/>
          </a:xfrm>
          <a:prstGeom prst="roundRect">
            <a:avLst>
              <a:gd name="adj" fmla="val 3810"/>
            </a:avLst>
          </a:prstGeom>
          <a:solidFill>
            <a:srgbClr val="F6F4FE"/>
          </a:solidFill>
          <a:ln w="12700">
            <a:solidFill>
              <a:srgbClr val="F6F4FE"/>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A hard cap: 20 calls</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Per request, whatever the pattern</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Catches a model that wanders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Varying one argument does not defeat it</a:t>
            </a:r>
            <a:endParaRPr lang="en-US" sz="1300" dirty="0"/>
          </a:p>
        </p:txBody>
      </p:sp>
      <p:sp>
        <p:nvSpPr>
          <p:cNvPr id="14" name="Text 10"/>
          <p:cNvSpPr txBox="1"/>
          <p:nvPr/>
        </p:nvSpPr>
        <p:spPr>
          <a:xfrm>
            <a:off x="457200" y="35661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An array's ToString() prints its type name, so two different calls would look identical.</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12 — The Autonomous Coding Loop</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Per request, and told when to stop</a:t>
            </a:r>
            <a:endParaRPr lang="en-US" sz="2800" dirty="0"/>
          </a:p>
        </p:txBody>
      </p:sp>
      <p:sp>
        <p:nvSpPr>
          <p:cNvPr id="4" name="Shape 2"/>
          <p:cNvSpPr/>
          <p:nvPr/>
        </p:nvSpPr>
        <p:spPr>
          <a:xfrm>
            <a:off x="457200" y="1371600"/>
            <a:ext cx="2560320" cy="2606040"/>
          </a:xfrm>
          <a:prstGeom prst="roundRect">
            <a:avLst>
              <a:gd name="adj" fmla="val 2857"/>
            </a:avLst>
          </a:prstGeom>
          <a:solidFill>
            <a:srgbClr val="512BD4"/>
          </a:solidFill>
          <a:ln w="12700">
            <a:solidFill>
              <a:srgbClr val="512BD4"/>
            </a:solidFill>
            <a:prstDash val="solid"/>
          </a:ln>
        </p:spPr>
      </p:sp>
      <p:sp>
        <p:nvSpPr>
          <p:cNvPr id="5" name="Shape 3"/>
          <p:cNvSpPr/>
          <p:nvPr/>
        </p:nvSpPr>
        <p:spPr>
          <a:xfrm>
            <a:off x="640080" y="1554480"/>
            <a:ext cx="384048" cy="384048"/>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Calibri" pitchFamily="34" charset="0"/>
                <a:ea typeface="Calibri" pitchFamily="34" charset="-122"/>
                <a:cs typeface="Calibri" pitchFamily="34" charset="-120"/>
              </a:rPr>
              <a:t>Reset() per request</a:t>
            </a:r>
            <a:endParaRPr lang="en-US" sz="1400" dirty="0"/>
          </a:p>
        </p:txBody>
      </p:sp>
      <p:sp>
        <p:nvSpPr>
          <p:cNvPr id="8" name="Text 5"/>
          <p:cNvSpPr txBox="1"/>
          <p:nvPr/>
        </p:nvSpPr>
        <p:spPr>
          <a:xfrm>
            <a:off x="640080" y="2057400"/>
            <a:ext cx="2194560" cy="182880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Called once at the top of RunStreamingAsync. The next question repeats nothing.</a:t>
            </a:r>
            <a:endParaRPr lang="en-US" sz="1200" dirty="0"/>
          </a:p>
        </p:txBody>
      </p:sp>
      <p:sp>
        <p:nvSpPr>
          <p:cNvPr id="9" name="Shape 6"/>
          <p:cNvSpPr/>
          <p:nvPr/>
        </p:nvSpPr>
        <p:spPr>
          <a:xfrm>
            <a:off x="3291840" y="1371600"/>
            <a:ext cx="2560320" cy="2606040"/>
          </a:xfrm>
          <a:prstGeom prst="roundRect">
            <a:avLst>
              <a:gd name="adj" fmla="val 2857"/>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New instructions</a:t>
            </a:r>
            <a:endParaRPr lang="en-US" sz="1500" dirty="0"/>
          </a:p>
        </p:txBody>
      </p:sp>
      <p:sp>
        <p:nvSpPr>
          <p:cNvPr id="13" name="Text 9"/>
          <p:cNvSpPr txBox="1"/>
          <p:nvPr/>
        </p:nvSpPr>
        <p:spPr>
          <a:xfrm>
            <a:off x="3474720" y="2057400"/>
            <a:ext cx="2194560" cy="18288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Run the command before guessing, rerun after editing, stop after failing twice.</a:t>
            </a:r>
            <a:endParaRPr lang="en-US" sz="1200" dirty="0"/>
          </a:p>
        </p:txBody>
      </p:sp>
      <p:sp>
        <p:nvSpPr>
          <p:cNvPr id="14" name="Shape 10"/>
          <p:cNvSpPr/>
          <p:nvPr/>
        </p:nvSpPr>
        <p:spPr>
          <a:xfrm>
            <a:off x="6126480" y="1371600"/>
            <a:ext cx="2560320" cy="2606040"/>
          </a:xfrm>
          <a:prstGeom prst="roundRect">
            <a:avLst>
              <a:gd name="adj" fmla="val 2857"/>
            </a:avLst>
          </a:prstGeom>
          <a:solidFill>
            <a:srgbClr val="EFEBFC"/>
          </a:solidFill>
          <a:ln w="12700">
            <a:solidFill>
              <a:srgbClr val="EFEBFC"/>
            </a:solidFill>
            <a:prstDash val="solid"/>
          </a:ln>
        </p:spPr>
      </p:sp>
      <p:sp>
        <p:nvSpPr>
          <p:cNvPr id="15" name="Shape 11"/>
          <p:cNvSpPr/>
          <p:nvPr/>
        </p:nvSpPr>
        <p:spPr>
          <a:xfrm>
            <a:off x="630936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Not caught yet</a:t>
            </a:r>
            <a:endParaRPr lang="en-US" sz="1500" dirty="0"/>
          </a:p>
        </p:txBody>
      </p:sp>
      <p:sp>
        <p:nvSpPr>
          <p:cNvPr id="18" name="Text 13"/>
          <p:cNvSpPr txBox="1"/>
          <p:nvPr/>
        </p:nvSpPr>
        <p:spPr>
          <a:xfrm>
            <a:off x="6309360" y="2057400"/>
            <a:ext cx="2194560" cy="18288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Edit A, edit it back, edit A: no call repeats the one before it.</a:t>
            </a:r>
            <a:endParaRPr lang="en-US" sz="1200" dirty="0"/>
          </a:p>
        </p:txBody>
      </p:sp>
      <p:sp>
        <p:nvSpPr>
          <p:cNvPr id="19" name="Text 14"/>
          <p:cNvSpPr txBox="1"/>
          <p:nvPr/>
        </p:nvSpPr>
        <p:spPr>
          <a:xfrm>
            <a:off x="457200" y="42062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AgentInstructions.Core changes for the first time since Module 7.</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12 — The Autonomous Coding Loop</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Detect a short cycle</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Remember the last four call keys, and refuse a call that already appears among them, not only one that matches the most recent call.</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src/MiniCode.Agent/LoopGuardInvoker.cs</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cap, the exact repeat, differing arguments and Reset() behave as before</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An A, B, A oscillation is refused on that third call</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Three or more genuinely different calls in a row are never refused</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Detecting a cycle longer than two is not required</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12 — The Autonomous Coding Loop</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guard's two messages</a:t>
            </a:r>
            <a:endParaRPr lang="en-US" sz="2800" dirty="0"/>
          </a:p>
        </p:txBody>
      </p:sp>
      <p:sp>
        <p:nvSpPr>
          <p:cNvPr id="4" name="Shape 2"/>
          <p:cNvSpPr/>
          <p:nvPr/>
        </p:nvSpPr>
        <p:spPr>
          <a:xfrm>
            <a:off x="457200" y="1325880"/>
            <a:ext cx="5257800" cy="3200400"/>
          </a:xfrm>
          <a:prstGeom prst="roundRect">
            <a:avLst>
              <a:gd name="adj" fmla="val 2286"/>
            </a:avLst>
          </a:prstGeom>
          <a:solidFill>
            <a:srgbClr val="0F1420"/>
          </a:solidFill>
          <a:ln w="12700">
            <a:solidFill>
              <a:srgbClr val="0F1420"/>
            </a:solidFill>
            <a:prstDash val="solid"/>
          </a:ln>
        </p:spPr>
      </p:sp>
      <p:sp>
        <p:nvSpPr>
          <p:cNvPr id="5" name="Text 3"/>
          <p:cNvSpPr txBox="1"/>
          <p:nvPr/>
        </p:nvSpPr>
        <p:spPr>
          <a:xfrm>
            <a:off x="640080" y="1463040"/>
            <a:ext cx="4892040" cy="292608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 first call: dotnet build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Exit code 0</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Shop -&gt; ...\bin\Debug\net10.0\Shop.dll</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Build succeeded.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exact repeat: dotnet build again, nothing changed ===</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'run_command' was just called with these exact</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arguments. Repeating it will not produce new</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information — try a different command, argument,</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or file.</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after Reset(): the 21st call in a fresh request ===</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Stopped after 20 tool calls in this request.</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Summarize what you found or changed instead of</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continuing.</a:t>
            </a:r>
            <a:endParaRPr lang="en-US" sz="1000" dirty="0"/>
          </a:p>
        </p:txBody>
      </p:sp>
      <p:sp>
        <p:nvSpPr>
          <p:cNvPr id="6" name="Shape 4"/>
          <p:cNvSpPr/>
          <p:nvPr/>
        </p:nvSpPr>
        <p:spPr>
          <a:xfrm>
            <a:off x="6035040" y="1325880"/>
            <a:ext cx="384048" cy="384048"/>
          </a:xfrm>
          <a:prstGeom prst="ellipse">
            <a:avLst/>
          </a:prstGeom>
          <a:solidFill>
            <a:srgbClr val="16A34A"/>
          </a:solidFill>
          <a:ln w="12700">
            <a:solidFill>
              <a:srgbClr val="16A34A"/>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First call</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Passes straight through to run_command</a:t>
            </a:r>
            <a:endParaRPr lang="en-US" sz="1200" dirty="0"/>
          </a:p>
        </p:txBody>
      </p:sp>
      <p:sp>
        <p:nvSpPr>
          <p:cNvPr id="10" name="Shape 7"/>
          <p:cNvSpPr/>
          <p:nvPr/>
        </p:nvSpPr>
        <p:spPr>
          <a:xfrm>
            <a:off x="6035040" y="2423160"/>
            <a:ext cx="384048" cy="384048"/>
          </a:xfrm>
          <a:prstGeom prst="ellipse">
            <a:avLst/>
          </a:prstGeom>
          <a:solidFill>
            <a:srgbClr val="DC2626"/>
          </a:solidFill>
          <a:ln w="12700">
            <a:solidFill>
              <a:srgbClr val="DC2626"/>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Exact repeat</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Refused before a process starts</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Over the cap</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Tells the model to summarize instead</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12 — The Autonomous Coding Loop</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48056"/>
          </a:xfrm>
          <a:prstGeom prst="roundRect">
            <a:avLst>
              <a:gd name="adj" fmla="val 16327"/>
            </a:avLst>
          </a:prstGeom>
          <a:solidFill>
            <a:srgbClr val="1F2943"/>
          </a:solidFill>
          <a:ln w="12700">
            <a:solidFill>
              <a:srgbClr val="1F2943"/>
            </a:solidFill>
            <a:prstDash val="solid"/>
          </a:ln>
        </p:spPr>
      </p:sp>
      <p:sp>
        <p:nvSpPr>
          <p:cNvPr id="5" name="Text 3"/>
          <p:cNvSpPr txBox="1"/>
          <p:nvPr/>
        </p:nvSpPr>
        <p:spPr>
          <a:xfrm>
            <a:off x="621792" y="1234440"/>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LoopGuardInvoker at the seam</a:t>
            </a:r>
            <a:endParaRPr lang="en-US" sz="1300" dirty="0"/>
          </a:p>
        </p:txBody>
      </p:sp>
      <p:sp>
        <p:nvSpPr>
          <p:cNvPr id="6" name="Shape 4"/>
          <p:cNvSpPr/>
          <p:nvPr/>
        </p:nvSpPr>
        <p:spPr>
          <a:xfrm>
            <a:off x="3493008" y="136702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15  </a:t>
            </a:r>
            <a:pPr indent="0" marL="0">
              <a:buNone/>
            </a:pPr>
            <a:r>
              <a:rPr lang="en-US" sz="1250" dirty="0">
                <a:solidFill>
                  <a:srgbClr val="FFFFFF"/>
                </a:solidFill>
                <a:latin typeface="Calibri" pitchFamily="34" charset="0"/>
                <a:ea typeface="Calibri" pitchFamily="34" charset="-122"/>
                <a:cs typeface="Calibri" pitchFamily="34" charset="-120"/>
              </a:rPr>
              <a:t>ApprovalInvoker sits inside it: a refused repeat never reaches a human</a:t>
            </a:r>
            <a:endParaRPr lang="en-US" sz="1250" dirty="0"/>
          </a:p>
        </p:txBody>
      </p:sp>
      <p:sp>
        <p:nvSpPr>
          <p:cNvPr id="8" name="Shape 6"/>
          <p:cNvSpPr/>
          <p:nvPr/>
        </p:nvSpPr>
        <p:spPr>
          <a:xfrm>
            <a:off x="457200" y="1792224"/>
            <a:ext cx="2926080" cy="448056"/>
          </a:xfrm>
          <a:prstGeom prst="roundRect">
            <a:avLst>
              <a:gd name="adj" fmla="val 16327"/>
            </a:avLst>
          </a:prstGeom>
          <a:solidFill>
            <a:srgbClr val="1F2943"/>
          </a:solidFill>
          <a:ln w="12700">
            <a:solidFill>
              <a:srgbClr val="1F2943"/>
            </a:solidFill>
            <a:prstDash val="solid"/>
          </a:ln>
        </p:spPr>
      </p:sp>
      <p:sp>
        <p:nvSpPr>
          <p:cNvPr id="9" name="Text 7"/>
          <p:cNvSpPr txBox="1"/>
          <p:nvPr/>
        </p:nvSpPr>
        <p:spPr>
          <a:xfrm>
            <a:off x="621792" y="1792224"/>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loop belongs to the Agent</a:t>
            </a:r>
            <a:endParaRPr lang="en-US" sz="1300" dirty="0"/>
          </a:p>
        </p:txBody>
      </p:sp>
      <p:sp>
        <p:nvSpPr>
          <p:cNvPr id="10" name="Shape 8"/>
          <p:cNvSpPr/>
          <p:nvPr/>
        </p:nvSpPr>
        <p:spPr>
          <a:xfrm>
            <a:off x="3493008" y="192481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792224"/>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17  </a:t>
            </a:r>
            <a:pPr indent="0" marL="0">
              <a:buNone/>
            </a:pPr>
            <a:r>
              <a:rPr lang="en-US" sz="1250" dirty="0">
                <a:solidFill>
                  <a:srgbClr val="FFFFFF"/>
                </a:solidFill>
                <a:latin typeface="Calibri" pitchFamily="34" charset="0"/>
                <a:ea typeface="Calibri" pitchFamily="34" charset="-122"/>
                <a:cs typeface="Calibri" pitchFamily="34" charset="-120"/>
              </a:rPr>
              <a:t>TracingInvoker joins the same chain, in MiniCode.Agent</a:t>
            </a:r>
            <a:endParaRPr lang="en-US" sz="1250" dirty="0"/>
          </a:p>
        </p:txBody>
      </p:sp>
      <p:sp>
        <p:nvSpPr>
          <p:cNvPr id="12" name="Shape 10"/>
          <p:cNvSpPr/>
          <p:nvPr/>
        </p:nvSpPr>
        <p:spPr>
          <a:xfrm>
            <a:off x="457200" y="2350008"/>
            <a:ext cx="2926080" cy="448056"/>
          </a:xfrm>
          <a:prstGeom prst="roundRect">
            <a:avLst>
              <a:gd name="adj" fmla="val 16327"/>
            </a:avLst>
          </a:prstGeom>
          <a:solidFill>
            <a:srgbClr val="1F2943"/>
          </a:solidFill>
          <a:ln w="12700">
            <a:solidFill>
              <a:srgbClr val="1F2943"/>
            </a:solidFill>
            <a:prstDash val="solid"/>
          </a:ln>
        </p:spPr>
      </p:sp>
      <p:sp>
        <p:nvSpPr>
          <p:cNvPr id="13" name="Text 11"/>
          <p:cNvSpPr txBox="1"/>
          <p:nvPr/>
        </p:nvSpPr>
        <p:spPr>
          <a:xfrm>
            <a:off x="621792" y="2350008"/>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Rerun before declaring success</a:t>
            </a:r>
            <a:endParaRPr lang="en-US" sz="1300" dirty="0"/>
          </a:p>
        </p:txBody>
      </p:sp>
      <p:sp>
        <p:nvSpPr>
          <p:cNvPr id="14" name="Shape 12"/>
          <p:cNvSpPr/>
          <p:nvPr/>
        </p:nvSpPr>
        <p:spPr>
          <a:xfrm>
            <a:off x="3493008" y="24825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350008"/>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13  </a:t>
            </a:r>
            <a:pPr indent="0" marL="0">
              <a:buNone/>
            </a:pPr>
            <a:r>
              <a:rPr lang="en-US" sz="1250" dirty="0">
                <a:solidFill>
                  <a:srgbClr val="FFFFFF"/>
                </a:solidFill>
                <a:latin typeface="Calibri" pitchFamily="34" charset="0"/>
                <a:ea typeface="Calibri" pitchFamily="34" charset="-122"/>
                <a:cs typeface="Calibri" pitchFamily="34" charset="-120"/>
              </a:rPr>
              <a:t>The whole test suite is rerun, to catch regressions</a:t>
            </a:r>
            <a:endParaRPr lang="en-US" sz="1250" dirty="0"/>
          </a:p>
        </p:txBody>
      </p:sp>
      <p:sp>
        <p:nvSpPr>
          <p:cNvPr id="16" name="Shape 14"/>
          <p:cNvSpPr/>
          <p:nvPr/>
        </p:nvSpPr>
        <p:spPr>
          <a:xfrm>
            <a:off x="457200" y="2907792"/>
            <a:ext cx="2926080" cy="448056"/>
          </a:xfrm>
          <a:prstGeom prst="roundRect">
            <a:avLst>
              <a:gd name="adj" fmla="val 16327"/>
            </a:avLst>
          </a:prstGeom>
          <a:solidFill>
            <a:srgbClr val="1F2943"/>
          </a:solidFill>
          <a:ln w="12700">
            <a:solidFill>
              <a:srgbClr val="1F2943"/>
            </a:solidFill>
            <a:prstDash val="solid"/>
          </a:ln>
        </p:spPr>
      </p:sp>
      <p:sp>
        <p:nvSpPr>
          <p:cNvPr id="17" name="Text 15"/>
          <p:cNvSpPr txBox="1"/>
          <p:nvPr/>
        </p:nvSpPr>
        <p:spPr>
          <a:xfrm>
            <a:off x="621792" y="2907792"/>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Reset once per request</a:t>
            </a:r>
            <a:endParaRPr lang="en-US" sz="1300" dirty="0"/>
          </a:p>
        </p:txBody>
      </p:sp>
      <p:sp>
        <p:nvSpPr>
          <p:cNvPr id="18" name="Shape 16"/>
          <p:cNvSpPr/>
          <p:nvPr/>
        </p:nvSpPr>
        <p:spPr>
          <a:xfrm>
            <a:off x="3493008" y="304038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907792"/>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16a  </a:t>
            </a:r>
            <a:pPr indent="0" marL="0">
              <a:buNone/>
            </a:pPr>
            <a:r>
              <a:rPr lang="en-US" sz="1250" dirty="0">
                <a:solidFill>
                  <a:srgbClr val="FFFFFF"/>
                </a:solidFill>
                <a:latin typeface="Calibri" pitchFamily="34" charset="0"/>
                <a:ea typeface="Calibri" pitchFamily="34" charset="-122"/>
                <a:cs typeface="Calibri" pitchFamily="34" charset="-120"/>
              </a:rPr>
              <a:t>A slash command resets the guard too</a:t>
            </a:r>
            <a:endParaRPr lang="en-US" sz="1250" dirty="0"/>
          </a:p>
        </p:txBody>
      </p:sp>
      <p:sp>
        <p:nvSpPr>
          <p:cNvPr id="20" name="Shape 18"/>
          <p:cNvSpPr/>
          <p:nvPr/>
        </p:nvSpPr>
        <p:spPr>
          <a:xfrm>
            <a:off x="457200" y="3465576"/>
            <a:ext cx="2926080" cy="448056"/>
          </a:xfrm>
          <a:prstGeom prst="roundRect">
            <a:avLst>
              <a:gd name="adj" fmla="val 16327"/>
            </a:avLst>
          </a:prstGeom>
          <a:solidFill>
            <a:srgbClr val="1F2943"/>
          </a:solidFill>
          <a:ln w="12700">
            <a:solidFill>
              <a:srgbClr val="1F2943"/>
            </a:solidFill>
            <a:prstDash val="solid"/>
          </a:ln>
        </p:spPr>
      </p:sp>
      <p:sp>
        <p:nvSpPr>
          <p:cNvPr id="21" name="Text 19"/>
          <p:cNvSpPr txBox="1"/>
          <p:nvPr/>
        </p:nvSpPr>
        <p:spPr>
          <a:xfrm>
            <a:off x="621792" y="3465576"/>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Up to 20 calls in one turn</a:t>
            </a:r>
            <a:endParaRPr lang="en-US" sz="1300" dirty="0"/>
          </a:p>
        </p:txBody>
      </p:sp>
      <p:sp>
        <p:nvSpPr>
          <p:cNvPr id="22" name="Shape 20"/>
          <p:cNvSpPr/>
          <p:nvPr/>
        </p:nvSpPr>
        <p:spPr>
          <a:xfrm>
            <a:off x="3493008" y="3598164"/>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465576"/>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Phase 3 Capstone  </a:t>
            </a:r>
            <a:pPr indent="0" marL="0">
              <a:buNone/>
            </a:pPr>
            <a:r>
              <a:rPr lang="en-US" sz="1250" dirty="0">
                <a:solidFill>
                  <a:srgbClr val="FFFFFF"/>
                </a:solidFill>
                <a:latin typeface="Calibri" pitchFamily="34" charset="0"/>
                <a:ea typeface="Calibri" pitchFamily="34" charset="-122"/>
                <a:cs typeface="Calibri" pitchFamily="34" charset="-120"/>
              </a:rPr>
              <a:t>The context budget starts charging every tool call and result</a:t>
            </a:r>
            <a:endParaRPr lang="en-US" sz="1250" dirty="0"/>
          </a:p>
        </p:txBody>
      </p:sp>
      <p:sp>
        <p:nvSpPr>
          <p:cNvPr id="24" name="Text 22"/>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Phase 3 Capstone — Autonomous Fixer (v0.3)</a:t>
            </a:r>
            <a:endParaRPr lang="en-US" sz="1300" dirty="0"/>
          </a:p>
        </p:txBody>
      </p:sp>
      <p:sp>
        <p:nvSpPr>
          <p:cNvPr id="25" name="Text 2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Module 12 — The Autonomous Coding Loop</a:t>
            </a:r>
            <a:endParaRPr lang="en-US" sz="900" dirty="0"/>
          </a:p>
        </p:txBody>
      </p:sp>
      <p:sp>
        <p:nvSpPr>
          <p:cNvPr id="26" name="Text 2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12 — The Autonomous Coding Loop</dc:title>
  <dc:subject>PptxGenJS Presentation</dc:subject>
  <dc:creator>MiniCode Course</dc:creator>
  <cp:lastModifiedBy>MiniCode Course</cp:lastModifiedBy>
  <cp:revision>1</cp:revision>
  <dcterms:created xsi:type="dcterms:W3CDTF">2026-10-01T23:15:07Z</dcterms:created>
  <dcterms:modified xsi:type="dcterms:W3CDTF">2026-10-01T23:15:07Z</dcterms:modified>
</cp:coreProperties>
</file>